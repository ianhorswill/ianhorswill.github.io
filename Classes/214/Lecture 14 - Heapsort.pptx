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79"/>
  </p:notesMasterIdLst>
  <p:sldIdLst>
    <p:sldId id="256" r:id="rId2"/>
    <p:sldId id="258" r:id="rId3"/>
    <p:sldId id="259" r:id="rId4"/>
    <p:sldId id="262" r:id="rId5"/>
    <p:sldId id="263" r:id="rId6"/>
    <p:sldId id="277" r:id="rId7"/>
    <p:sldId id="278" r:id="rId8"/>
    <p:sldId id="279" r:id="rId9"/>
    <p:sldId id="281" r:id="rId10"/>
    <p:sldId id="295" r:id="rId11"/>
    <p:sldId id="296" r:id="rId12"/>
    <p:sldId id="297" r:id="rId13"/>
    <p:sldId id="300" r:id="rId14"/>
    <p:sldId id="301" r:id="rId15"/>
    <p:sldId id="302" r:id="rId16"/>
    <p:sldId id="304" r:id="rId17"/>
    <p:sldId id="303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340" r:id="rId54"/>
    <p:sldId id="341" r:id="rId55"/>
    <p:sldId id="342" r:id="rId56"/>
    <p:sldId id="343" r:id="rId57"/>
    <p:sldId id="344" r:id="rId58"/>
    <p:sldId id="345" r:id="rId59"/>
    <p:sldId id="346" r:id="rId60"/>
    <p:sldId id="347" r:id="rId61"/>
    <p:sldId id="348" r:id="rId62"/>
    <p:sldId id="349" r:id="rId63"/>
    <p:sldId id="350" r:id="rId64"/>
    <p:sldId id="351" r:id="rId65"/>
    <p:sldId id="352" r:id="rId66"/>
    <p:sldId id="354" r:id="rId67"/>
    <p:sldId id="355" r:id="rId68"/>
    <p:sldId id="356" r:id="rId69"/>
    <p:sldId id="357" r:id="rId70"/>
    <p:sldId id="358" r:id="rId71"/>
    <p:sldId id="359" r:id="rId72"/>
    <p:sldId id="360" r:id="rId73"/>
    <p:sldId id="361" r:id="rId74"/>
    <p:sldId id="362" r:id="rId75"/>
    <p:sldId id="363" r:id="rId76"/>
    <p:sldId id="369" r:id="rId77"/>
    <p:sldId id="370" r:id="rId7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100" d="100"/>
          <a:sy n="100" d="100"/>
        </p:scale>
        <p:origin x="130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0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45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D3E7-C549-4407-9713-049056E9ED75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44051-E6B5-4F68-B648-F441DC832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1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8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28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6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36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92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98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95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7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27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51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13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93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17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32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80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11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95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9675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08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13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62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97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703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982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411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328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833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28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45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766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57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448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781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067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561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610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94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69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317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830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007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12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906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37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455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556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137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02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574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334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846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898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4601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897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2968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815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7050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0517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46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156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2146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3630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5670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7207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6341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1845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0224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8894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380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3682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586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7718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5320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0753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4272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44051-E6B5-4F68-B648-F441DC8320B9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66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78F7F9AA-A437-4C1D-B7A7-132C663DC277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otenay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xkcd.com/835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+mn-lt"/>
                <a:ea typeface="Verdana" pitchFamily="34" charset="0"/>
                <a:cs typeface="Verdana" pitchFamily="34" charset="0"/>
              </a:rPr>
              <a:t>Lecture 14</a:t>
            </a:r>
            <a:br>
              <a:rPr lang="en-US" sz="4000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sz="4000" dirty="0">
                <a:latin typeface="+mn-lt"/>
                <a:ea typeface="Verdana" pitchFamily="34" charset="0"/>
                <a:cs typeface="Verdana" pitchFamily="34" charset="0"/>
              </a:rPr>
              <a:t>Applications of priority queues: </a:t>
            </a:r>
            <a:r>
              <a:rPr lang="en-US" sz="4000" b="1" dirty="0">
                <a:latin typeface="+mn-lt"/>
                <a:ea typeface="Verdana" pitchFamily="34" charset="0"/>
                <a:cs typeface="Verdana" pitchFamily="34" charset="0"/>
              </a:rPr>
              <a:t>sorting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  <p:pic>
        <p:nvPicPr>
          <p:cNvPr id="1026" name="Picture 2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304800"/>
            <a:ext cx="5353050" cy="38862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87792" y="4191000"/>
            <a:ext cx="1327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hlinkClick r:id="rId4"/>
              </a:rPr>
              <a:t>http://xkcd.com/835/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Like normal queues</a:t>
            </a:r>
          </a:p>
          <a:p>
            <a:pPr lvl="1"/>
            <a:r>
              <a:rPr lang="en-US" dirty="0"/>
              <a:t>Objects wait in line to be processed</a:t>
            </a:r>
          </a:p>
          <a:p>
            <a:r>
              <a:rPr lang="en-US" dirty="0"/>
              <a:t>However, items have an associated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numeric priority</a:t>
            </a:r>
          </a:p>
          <a:p>
            <a:pPr lvl="1"/>
            <a:r>
              <a:rPr lang="en-US" dirty="0"/>
              <a:t>Priority specified when added to queue</a:t>
            </a:r>
          </a:p>
          <a:p>
            <a:pPr lvl="1"/>
            <a:r>
              <a:rPr lang="en-US" dirty="0"/>
              <a:t>Objects removed from queue in order of priority</a:t>
            </a:r>
          </a:p>
          <a:p>
            <a:endParaRPr lang="en-US" dirty="0"/>
          </a:p>
          <a:p>
            <a:r>
              <a:rPr lang="en-US" dirty="0"/>
              <a:t>Slightly different API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Insert</a:t>
            </a:r>
            <a:r>
              <a:rPr lang="en-US" dirty="0"/>
              <a:t>(object, priority)</a:t>
            </a:r>
          </a:p>
          <a:p>
            <a:pPr lvl="2"/>
            <a:r>
              <a:rPr lang="en-US" dirty="0"/>
              <a:t>Adds object with specified priority</a:t>
            </a: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ExtractMax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Returns highest priority object</a:t>
            </a:r>
          </a:p>
        </p:txBody>
      </p:sp>
      <p:pic>
        <p:nvPicPr>
          <p:cNvPr id="2054" name="Picture 6" descr="http://tarpification.tarpify.com/wp-content/uploads/2008/10/priority_aacces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86000"/>
            <a:ext cx="4038600" cy="16356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77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76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Like normal queues</a:t>
            </a:r>
          </a:p>
          <a:p>
            <a:pPr lvl="1"/>
            <a:r>
              <a:rPr lang="en-US" dirty="0"/>
              <a:t>Objects wait in line to be processed</a:t>
            </a:r>
          </a:p>
          <a:p>
            <a:r>
              <a:rPr lang="en-US" dirty="0"/>
              <a:t>However, items have an associated numeric priority</a:t>
            </a:r>
          </a:p>
          <a:p>
            <a:pPr lvl="1"/>
            <a:r>
              <a:rPr lang="en-US" dirty="0"/>
              <a:t>Priority specified when added to queue</a:t>
            </a:r>
          </a:p>
          <a:p>
            <a:pPr lvl="1"/>
            <a:r>
              <a:rPr lang="en-US" dirty="0"/>
              <a:t>Objects removed from queue in order of priority</a:t>
            </a:r>
          </a:p>
          <a:p>
            <a:endParaRPr lang="en-US" dirty="0"/>
          </a:p>
          <a:p>
            <a:r>
              <a:rPr lang="en-US" dirty="0"/>
              <a:t>Slightly different API</a:t>
            </a:r>
          </a:p>
          <a:p>
            <a:pPr lvl="1"/>
            <a:r>
              <a:rPr lang="en-US" dirty="0"/>
              <a:t>Insert(object, priority)</a:t>
            </a:r>
          </a:p>
          <a:p>
            <a:pPr lvl="2"/>
            <a:r>
              <a:rPr lang="en-US" dirty="0"/>
              <a:t>Adds object with specified priority</a:t>
            </a:r>
          </a:p>
          <a:p>
            <a:pPr lvl="1"/>
            <a:r>
              <a:rPr lang="en-US" dirty="0" err="1"/>
              <a:t>Extract</a:t>
            </a:r>
            <a:r>
              <a:rPr lang="en-US" b="1" dirty="0" err="1">
                <a:solidFill>
                  <a:srgbClr val="FF0000"/>
                </a:solidFill>
              </a:rPr>
              <a:t>Min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Min priority queue</a:t>
            </a:r>
            <a:r>
              <a:rPr lang="en-US" dirty="0"/>
              <a:t>”</a:t>
            </a:r>
          </a:p>
          <a:p>
            <a:pPr lvl="2"/>
            <a:r>
              <a:rPr lang="en-US" dirty="0"/>
              <a:t>Returns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lowest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priority object</a:t>
            </a:r>
          </a:p>
          <a:p>
            <a:pPr lvl="2"/>
            <a:r>
              <a:rPr lang="en-US" dirty="0"/>
              <a:t>Except that in most applications, we usually want the lower “priorities” first</a:t>
            </a:r>
          </a:p>
        </p:txBody>
      </p:sp>
      <p:pic>
        <p:nvPicPr>
          <p:cNvPr id="2054" name="Picture 6" descr="http://tarpification.tarpify.com/wp-content/uploads/2008/10/priority_aacces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86000"/>
            <a:ext cx="7149630" cy="289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68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Heaps are a simple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tree structure </a:t>
            </a:r>
            <a:r>
              <a:rPr lang="en-US" dirty="0"/>
              <a:t>for implementing priority queues</a:t>
            </a:r>
          </a:p>
          <a:p>
            <a:endParaRPr lang="en-US" dirty="0"/>
          </a:p>
          <a:p>
            <a:r>
              <a:rPr lang="en-US" dirty="0"/>
              <a:t>Rather than requiring their in-order </a:t>
            </a:r>
            <a:r>
              <a:rPr lang="en-US" dirty="0" err="1"/>
              <a:t>traveral</a:t>
            </a:r>
            <a:r>
              <a:rPr lang="en-US" dirty="0"/>
              <a:t> to be sorted</a:t>
            </a:r>
          </a:p>
          <a:p>
            <a:pPr lvl="1"/>
            <a:r>
              <a:rPr lang="en-US" dirty="0"/>
              <a:t>We just require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 nodes be larger than</a:t>
            </a:r>
            <a:r>
              <a:rPr lang="en-US" b="1" dirty="0"/>
              <a:t> </a:t>
            </a:r>
            <a:r>
              <a:rPr lang="en-US" dirty="0"/>
              <a:t>their child nodes</a:t>
            </a:r>
          </a:p>
          <a:p>
            <a:pPr lvl="1"/>
            <a:endParaRPr lang="en-US" dirty="0"/>
          </a:p>
          <a:p>
            <a:r>
              <a:rPr lang="en-US" dirty="0"/>
              <a:t>There are lots of exotic types of heaps</a:t>
            </a:r>
          </a:p>
          <a:p>
            <a:pPr lvl="1"/>
            <a:r>
              <a:rPr lang="en-US" dirty="0"/>
              <a:t>We’ll focus on binary heaps</a:t>
            </a:r>
          </a:p>
          <a:p>
            <a:pPr lvl="1"/>
            <a:r>
              <a:rPr lang="en-US" dirty="0"/>
              <a:t>Which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complete binary trees </a:t>
            </a:r>
            <a:r>
              <a:rPr lang="en-US" dirty="0"/>
              <a:t>with the heap property</a:t>
            </a:r>
          </a:p>
          <a:p>
            <a:pPr lvl="1"/>
            <a:r>
              <a:rPr lang="en-US" dirty="0"/>
              <a:t>We’ll get to the completeness thing in a minute…</a:t>
            </a:r>
          </a:p>
          <a:p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8" name="Straight Arrow Connector 27"/>
          <p:cNvCxnSpPr>
            <a:stCxn id="24" idx="5"/>
            <a:endCxn id="26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7" idx="7"/>
            <a:endCxn id="24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7"/>
            <a:endCxn id="22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5"/>
            <a:endCxn id="25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3" name="Straight Connector 32"/>
          <p:cNvCxnSpPr>
            <a:stCxn id="32" idx="3"/>
            <a:endCxn id="22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5" idx="3"/>
            <a:endCxn id="24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36" name="Straight Arrow Connector 35"/>
          <p:cNvCxnSpPr>
            <a:stCxn id="25" idx="5"/>
            <a:endCxn id="35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8" name="Straight Arrow Connector 37"/>
          <p:cNvCxnSpPr>
            <a:stCxn id="32" idx="5"/>
            <a:endCxn id="37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7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Proposition: </a:t>
            </a:r>
            <a:r>
              <a:rPr lang="en-US" dirty="0"/>
              <a:t>the largest element of a heap is always its root</a:t>
            </a:r>
          </a:p>
          <a:p>
            <a:pPr marL="0" indent="0">
              <a:buNone/>
            </a:pPr>
            <a:r>
              <a:rPr lang="en-US" b="1" dirty="0"/>
              <a:t>Proof: </a:t>
            </a:r>
          </a:p>
          <a:p>
            <a:r>
              <a:rPr lang="en-US" dirty="0"/>
              <a:t>Suppose some other element is the largest element</a:t>
            </a:r>
          </a:p>
          <a:p>
            <a:r>
              <a:rPr lang="en-US" dirty="0"/>
              <a:t>Since it isn’t the root, it must have a parent</a:t>
            </a:r>
          </a:p>
          <a:p>
            <a:r>
              <a:rPr lang="en-US" dirty="0"/>
              <a:t>Since it’s the largest element, it must be larger than its parent</a:t>
            </a:r>
          </a:p>
          <a:p>
            <a:r>
              <a:rPr lang="en-US" dirty="0"/>
              <a:t>But that contradicts the definition of a heap</a:t>
            </a:r>
          </a:p>
          <a:p>
            <a:r>
              <a:rPr lang="en-US" dirty="0"/>
              <a:t>So the largest element must be the root</a:t>
            </a:r>
          </a:p>
        </p:txBody>
      </p:sp>
      <p:sp>
        <p:nvSpPr>
          <p:cNvPr id="22" name="Oval 21"/>
          <p:cNvSpPr/>
          <p:nvPr/>
        </p:nvSpPr>
        <p:spPr>
          <a:xfrm>
            <a:off x="1618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2685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5943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8" name="Straight Arrow Connector 27"/>
          <p:cNvCxnSpPr>
            <a:stCxn id="24" idx="5"/>
            <a:endCxn id="26" idx="1"/>
          </p:cNvCxnSpPr>
          <p:nvPr/>
        </p:nvCxnSpPr>
        <p:spPr>
          <a:xfrm>
            <a:off x="21428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7" idx="7"/>
            <a:endCxn id="24" idx="3"/>
          </p:cNvCxnSpPr>
          <p:nvPr/>
        </p:nvCxnSpPr>
        <p:spPr>
          <a:xfrm flipV="1">
            <a:off x="1152245" y="5114645"/>
            <a:ext cx="667310" cy="8959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7"/>
            <a:endCxn id="22" idx="3"/>
          </p:cNvCxnSpPr>
          <p:nvPr/>
        </p:nvCxnSpPr>
        <p:spPr>
          <a:xfrm flipV="1">
            <a:off x="1076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5"/>
            <a:endCxn id="25" idx="1"/>
          </p:cNvCxnSpPr>
          <p:nvPr/>
        </p:nvCxnSpPr>
        <p:spPr>
          <a:xfrm>
            <a:off x="2009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514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33" name="Straight Connector 32"/>
          <p:cNvCxnSpPr>
            <a:stCxn id="32" idx="3"/>
            <a:endCxn id="22" idx="7"/>
          </p:cNvCxnSpPr>
          <p:nvPr/>
        </p:nvCxnSpPr>
        <p:spPr>
          <a:xfrm flipH="1">
            <a:off x="2009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5" idx="3"/>
            <a:endCxn id="24" idx="7"/>
          </p:cNvCxnSpPr>
          <p:nvPr/>
        </p:nvCxnSpPr>
        <p:spPr>
          <a:xfrm flipH="1">
            <a:off x="2142845" y="3990622"/>
            <a:ext cx="609844" cy="8007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657600" y="4724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36" name="Straight Arrow Connector 35"/>
          <p:cNvCxnSpPr>
            <a:stCxn id="25" idx="5"/>
            <a:endCxn id="35" idx="1"/>
          </p:cNvCxnSpPr>
          <p:nvPr/>
        </p:nvCxnSpPr>
        <p:spPr>
          <a:xfrm>
            <a:off x="3075979" y="3990622"/>
            <a:ext cx="648576" cy="8007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477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8" name="Straight Arrow Connector 37"/>
          <p:cNvCxnSpPr>
            <a:stCxn id="32" idx="5"/>
            <a:endCxn id="37" idx="1"/>
          </p:cNvCxnSpPr>
          <p:nvPr/>
        </p:nvCxnSpPr>
        <p:spPr>
          <a:xfrm>
            <a:off x="2904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90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heaps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binary heap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a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  <a:r>
              <a:rPr lang="en-US" b="1" dirty="0"/>
              <a:t> </a:t>
            </a:r>
            <a:r>
              <a:rPr lang="en-US" dirty="0"/>
              <a:t>binary tree</a:t>
            </a:r>
          </a:p>
          <a:p>
            <a:pPr lvl="1"/>
            <a:r>
              <a:rPr lang="en-US" dirty="0"/>
              <a:t>That satisfies the heap property</a:t>
            </a:r>
          </a:p>
          <a:p>
            <a:pPr lvl="1"/>
            <a:endParaRPr lang="en-US" dirty="0"/>
          </a:p>
          <a:p>
            <a:r>
              <a:rPr lang="en-US" dirty="0"/>
              <a:t>Great!</a:t>
            </a:r>
          </a:p>
          <a:p>
            <a:r>
              <a:rPr lang="en-US" dirty="0"/>
              <a:t>How do we ensure that the heap is a complete binary tree?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922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in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It turns out that any complete binary tree can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embedded an array </a:t>
            </a:r>
            <a:r>
              <a:rPr lang="en-US" dirty="0"/>
              <a:t>in a particularly cleaver way</a:t>
            </a:r>
          </a:p>
          <a:p>
            <a:endParaRPr lang="en-US" dirty="0"/>
          </a:p>
          <a:p>
            <a:r>
              <a:rPr lang="en-US" dirty="0"/>
              <a:t>We can compute</a:t>
            </a:r>
          </a:p>
          <a:p>
            <a:pPr lvl="1"/>
            <a:r>
              <a:rPr lang="en-US" dirty="0"/>
              <a:t>The position of its parent in the array,</a:t>
            </a:r>
          </a:p>
          <a:p>
            <a:pPr lvl="1"/>
            <a:r>
              <a:rPr lang="en-US" dirty="0"/>
              <a:t>and the positions of its children,</a:t>
            </a:r>
          </a:p>
          <a:p>
            <a:pPr lvl="1"/>
            <a:r>
              <a:rPr lang="en-US" dirty="0"/>
              <a:t>directly from its own position</a:t>
            </a:r>
          </a:p>
          <a:p>
            <a:pPr lv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6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in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191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Store it 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breadth-first order</a:t>
                </a:r>
              </a:p>
              <a:p>
                <a:r>
                  <a:rPr lang="en-US" dirty="0"/>
                  <a:t>Store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root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in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first element</a:t>
                </a:r>
                <a:r>
                  <a:rPr lang="en-US" dirty="0"/>
                  <a:t> (element 0)</a:t>
                </a:r>
              </a:p>
              <a:p>
                <a:r>
                  <a:rPr lang="en-US" dirty="0"/>
                  <a:t>For any node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be its position in the array (for the root,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Store its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left child </a:t>
                </a:r>
                <a:r>
                  <a:rPr lang="en-US" dirty="0"/>
                  <a:t>at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Store its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right child </a:t>
                </a:r>
                <a:r>
                  <a:rPr lang="en-US" dirty="0"/>
                  <a:t>at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2</m:t>
                    </m:r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+2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parent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can be found at position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(</m:t>
                        </m:r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  <m:r>
                          <a:rPr lang="en-US" i="1" dirty="0" smtClean="0">
                            <a:latin typeface="Cambria Math"/>
                          </a:rPr>
                          <m:t>−1)/2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Trust me that this works :-)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191000"/>
              </a:xfrm>
              <a:blipFill rotWithShape="0">
                <a:blip r:embed="rId3"/>
                <a:stretch>
                  <a:fillRect l="-1762" t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13679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Heap insertion using the array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HeapInsert</a:t>
            </a:r>
            <a:r>
              <a:rPr lang="en-US" dirty="0"/>
              <a:t>(A, key)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/>
              <a:t> i = </a:t>
            </a:r>
            <a:r>
              <a:rPr lang="en-US" dirty="0" err="1" smtClean="0"/>
              <a:t>A.size</a:t>
            </a:r>
            <a:r>
              <a:rPr lang="en-US" smtClean="0"/>
              <a:t/>
            </a:r>
            <a:br>
              <a:rPr lang="en-US" smtClean="0"/>
            </a:br>
            <a:r>
              <a:rPr lang="en-US"/>
              <a:t> </a:t>
            </a:r>
            <a:r>
              <a:rPr lang="en-US" smtClean="0"/>
              <a:t>   A.size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A.size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 smtClean="0"/>
              <a:t>    while i&gt;0 and</a:t>
            </a:r>
            <a:br>
              <a:rPr lang="en-US" dirty="0" smtClean="0"/>
            </a:br>
            <a:r>
              <a:rPr lang="en-US" dirty="0" smtClean="0"/>
              <a:t>              A[Parent(i)] &lt; key</a:t>
            </a: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/>
              <a:t>A[i] = A[Parent(i)]</a:t>
            </a:r>
          </a:p>
          <a:p>
            <a:pPr marL="0" indent="0">
              <a:buNone/>
            </a:pPr>
            <a:r>
              <a:rPr lang="en-US" dirty="0"/>
              <a:t>        i = Parent(i)</a:t>
            </a:r>
          </a:p>
          <a:p>
            <a:pPr marL="0" indent="0">
              <a:buNone/>
            </a:pPr>
            <a:r>
              <a:rPr lang="en-US" dirty="0"/>
              <a:t>    A[i] = key</a:t>
            </a:r>
          </a:p>
        </p:txBody>
      </p:sp>
      <p:sp>
        <p:nvSpPr>
          <p:cNvPr id="5" name="Oval 4"/>
          <p:cNvSpPr/>
          <p:nvPr/>
        </p:nvSpPr>
        <p:spPr>
          <a:xfrm>
            <a:off x="6190934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257734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609844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581179" y="2901244"/>
            <a:ext cx="743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581179" y="19142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9221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29884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HeapExtractMax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max = A[0]</a:t>
            </a:r>
          </a:p>
          <a:p>
            <a:pPr marL="0" indent="0">
              <a:buNone/>
            </a:pPr>
            <a:r>
              <a:rPr lang="en-US" dirty="0"/>
              <a:t>   A[0] = A[</a:t>
            </a:r>
            <a:r>
              <a:rPr lang="en-US" dirty="0" err="1"/>
              <a:t>A.size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A.size</a:t>
            </a: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Heapify</a:t>
            </a:r>
            <a:r>
              <a:rPr lang="en-US" dirty="0"/>
              <a:t>(A,0)</a:t>
            </a:r>
          </a:p>
          <a:p>
            <a:pPr marL="0" indent="0">
              <a:buNone/>
            </a:pPr>
            <a:r>
              <a:rPr lang="en-US" dirty="0"/>
              <a:t>   return max</a:t>
            </a:r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4678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Extracting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495800" cy="4191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Heapify</a:t>
            </a:r>
            <a:r>
              <a:rPr lang="en-US" dirty="0"/>
              <a:t>(A, i)</a:t>
            </a:r>
          </a:p>
          <a:p>
            <a:pPr marL="0" indent="0">
              <a:buNone/>
            </a:pPr>
            <a:r>
              <a:rPr lang="en-US" dirty="0"/>
              <a:t>   l = Left(i)</a:t>
            </a:r>
          </a:p>
          <a:p>
            <a:pPr marL="0" indent="0">
              <a:buNone/>
            </a:pPr>
            <a:r>
              <a:rPr lang="en-US" dirty="0"/>
              <a:t>   r = Right(i)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if </a:t>
            </a:r>
            <a:r>
              <a:rPr lang="en-US" dirty="0" err="1"/>
              <a:t>l</a:t>
            </a:r>
            <a:r>
              <a:rPr lang="en-US" dirty="0" err="1">
                <a:sym typeface="Symbol"/>
              </a:rPr>
              <a:t>A.size</a:t>
            </a:r>
            <a:r>
              <a:rPr lang="en-US" dirty="0">
                <a:sym typeface="Symbol"/>
              </a:rPr>
              <a:t> and A[l]&gt;A[i]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l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i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rA.size</a:t>
            </a:r>
            <a:r>
              <a:rPr lang="en-US" dirty="0">
                <a:sym typeface="Symbol"/>
              </a:rPr>
              <a:t> and A[r]&gt;A[largest]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largest = r</a:t>
            </a:r>
          </a:p>
          <a:p>
            <a:pPr marL="0" indent="0">
              <a:buNone/>
            </a:pP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if </a:t>
            </a:r>
            <a:r>
              <a:rPr lang="en-US" dirty="0" err="1">
                <a:sym typeface="Symbol"/>
              </a:rPr>
              <a:t>largesti</a:t>
            </a:r>
            <a:endParaRPr lang="en-US" dirty="0">
              <a:sym typeface="Symbol"/>
            </a:endParaRPr>
          </a:p>
          <a:p>
            <a:pPr marL="0" indent="0">
              <a:buNone/>
            </a:pPr>
            <a:r>
              <a:rPr lang="en-US" dirty="0">
                <a:sym typeface="Symbol"/>
              </a:rPr>
              <a:t>      swap A[i] and A[largest]</a:t>
            </a:r>
          </a:p>
          <a:p>
            <a:pPr marL="0" indent="0">
              <a:buNone/>
            </a:pPr>
            <a:r>
              <a:rPr lang="en-US" dirty="0">
                <a:sym typeface="Symbol"/>
              </a:rPr>
              <a:t>      </a:t>
            </a:r>
            <a:r>
              <a:rPr lang="en-US" dirty="0" err="1">
                <a:sym typeface="Symbol"/>
              </a:rPr>
              <a:t>Heapify</a:t>
            </a:r>
            <a:r>
              <a:rPr lang="en-US" dirty="0">
                <a:sym typeface="Symbol"/>
              </a:rPr>
              <a:t>(A, largest)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6019800" y="25109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5052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05600" y="3600377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3" name="Straight Arrow Connector 12"/>
          <p:cNvCxnSpPr>
            <a:stCxn id="6" idx="7"/>
            <a:endCxn id="5" idx="3"/>
          </p:cNvCxnSpPr>
          <p:nvPr/>
        </p:nvCxnSpPr>
        <p:spPr>
          <a:xfrm flipV="1">
            <a:off x="5648045" y="2901244"/>
            <a:ext cx="438710" cy="670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8" idx="1"/>
          </p:cNvCxnSpPr>
          <p:nvPr/>
        </p:nvCxnSpPr>
        <p:spPr>
          <a:xfrm>
            <a:off x="6410045" y="2901244"/>
            <a:ext cx="362510" cy="766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86600" y="15240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Connector 15"/>
          <p:cNvCxnSpPr>
            <a:stCxn id="15" idx="3"/>
            <a:endCxn id="5" idx="7"/>
          </p:cNvCxnSpPr>
          <p:nvPr/>
        </p:nvCxnSpPr>
        <p:spPr>
          <a:xfrm flipH="1">
            <a:off x="6410045" y="1914245"/>
            <a:ext cx="743510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25146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Arrow Connector 20"/>
          <p:cNvCxnSpPr>
            <a:stCxn id="15" idx="5"/>
            <a:endCxn id="20" idx="1"/>
          </p:cNvCxnSpPr>
          <p:nvPr/>
        </p:nvCxnSpPr>
        <p:spPr>
          <a:xfrm>
            <a:off x="7476845" y="1914245"/>
            <a:ext cx="819710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57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58674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70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70866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391400" y="357575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8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8" idx="7"/>
            <a:endCxn id="20" idx="3"/>
          </p:cNvCxnSpPr>
          <p:nvPr/>
        </p:nvCxnSpPr>
        <p:spPr>
          <a:xfrm flipV="1">
            <a:off x="7781645" y="2904845"/>
            <a:ext cx="514910" cy="7378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05800" y="47244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5848" y="15679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89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[Pretend I had found some awesome clipart about sorting here]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Priority queues can be used 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sort algorithms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all items</a:t>
            </a:r>
            <a:r>
              <a:rPr lang="en-US" dirty="0"/>
              <a:t> to the queue</a:t>
            </a:r>
          </a:p>
          <a:p>
            <a:pPr lvl="1"/>
            <a:r>
              <a:rPr lang="en-US" dirty="0"/>
              <a:t>Repeatedly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extract max</a:t>
            </a:r>
          </a:p>
          <a:p>
            <a:pPr lvl="2"/>
            <a:r>
              <a:rPr lang="en-US" dirty="0"/>
              <a:t>Or min, if it’s a min queue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Write them in order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9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Here’s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straightforward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way of sorting using a heap</a:t>
                </a:r>
              </a:p>
              <a:p>
                <a:pPr lvl="1"/>
                <a:r>
                  <a:rPr lang="en-US" dirty="0"/>
                  <a:t>We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make the heap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Insert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all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elements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into it</a:t>
                </a:r>
              </a:p>
              <a:p>
                <a:pPr lvl="1"/>
                <a:r>
                  <a:rPr lang="en-US" dirty="0"/>
                  <a:t>Pull them out one at a time, 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write them back </a:t>
                </a:r>
                <a:r>
                  <a:rPr lang="en-US" dirty="0"/>
                  <a:t>into A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However, we’re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copying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all the data</a:t>
                </a:r>
              </a:p>
              <a:p>
                <a:pPr lvl="1"/>
                <a:r>
                  <a:rPr lang="en-US" dirty="0"/>
                  <a:t>From one array, A</a:t>
                </a:r>
              </a:p>
              <a:p>
                <a:pPr lvl="1"/>
                <a:r>
                  <a:rPr lang="en-US" dirty="0"/>
                  <a:t>To the heap, H, which is also an array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space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l="-1961" t="-1887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err="1"/>
              <a:t>Heapsort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H = new, empty heap</a:t>
            </a:r>
          </a:p>
          <a:p>
            <a:pPr marL="0" indent="0">
              <a:buNone/>
            </a:pPr>
            <a:r>
              <a:rPr lang="en-US" dirty="0"/>
              <a:t>   for each e in A</a:t>
            </a:r>
          </a:p>
          <a:p>
            <a:pPr marL="0" indent="0">
              <a:buNone/>
            </a:pPr>
            <a:r>
              <a:rPr lang="en-US" dirty="0"/>
              <a:t>      Insert(H, e)</a:t>
            </a:r>
          </a:p>
          <a:p>
            <a:pPr marL="0" indent="0">
              <a:buNone/>
            </a:pPr>
            <a:r>
              <a:rPr lang="en-US" dirty="0"/>
              <a:t>   for i = A.Length-1 to 0</a:t>
            </a:r>
          </a:p>
          <a:p>
            <a:pPr marL="0" indent="0">
              <a:buNone/>
            </a:pPr>
            <a:r>
              <a:rPr lang="en-US" dirty="0"/>
              <a:t>       A[i] = </a:t>
            </a:r>
            <a:r>
              <a:rPr lang="en-US" dirty="0" err="1"/>
              <a:t>ExtractMax</a:t>
            </a:r>
            <a:r>
              <a:rPr lang="en-US" dirty="0"/>
              <a:t>(H)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250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</a:t>
            </a:r>
            <a:r>
              <a:rPr lang="en-US" dirty="0" err="1"/>
              <a:t>heapsort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would be cooler if we could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build the heap inside A itself</a:t>
            </a:r>
          </a:p>
          <a:p>
            <a:endParaRPr lang="en-US" dirty="0"/>
          </a:p>
          <a:p>
            <a:r>
              <a:rPr lang="en-US" dirty="0"/>
              <a:t>How do we do that?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HeapSort</a:t>
            </a:r>
            <a:r>
              <a:rPr lang="en-US" sz="2400" dirty="0"/>
              <a:t>(A)</a:t>
            </a:r>
          </a:p>
          <a:p>
            <a:pPr marL="0" indent="0">
              <a:buNone/>
            </a:pPr>
            <a:r>
              <a:rPr lang="en-US" sz="2400" dirty="0"/>
              <a:t>   H = new, empty heap</a:t>
            </a:r>
          </a:p>
          <a:p>
            <a:pPr marL="0" indent="0">
              <a:buNone/>
            </a:pPr>
            <a:r>
              <a:rPr lang="en-US" sz="2400" dirty="0"/>
              <a:t>   for each e in A</a:t>
            </a:r>
          </a:p>
          <a:p>
            <a:pPr marL="0" indent="0">
              <a:buNone/>
            </a:pPr>
            <a:r>
              <a:rPr lang="en-US" sz="2400" dirty="0"/>
              <a:t>      Insert(H, e)</a:t>
            </a:r>
          </a:p>
          <a:p>
            <a:pPr marL="0" indent="0">
              <a:buNone/>
            </a:pPr>
            <a:r>
              <a:rPr lang="en-US" sz="2400" dirty="0"/>
              <a:t>   for i = A.Length-1 to 0</a:t>
            </a:r>
          </a:p>
          <a:p>
            <a:pPr marL="0" indent="0">
              <a:buNone/>
            </a:pPr>
            <a:r>
              <a:rPr lang="en-US" sz="2400" dirty="0"/>
              <a:t>       A[i] = </a:t>
            </a:r>
            <a:r>
              <a:rPr lang="en-US" sz="2400" dirty="0" err="1"/>
              <a:t>ExtractMax</a:t>
            </a:r>
            <a:r>
              <a:rPr lang="en-US" sz="2400" dirty="0"/>
              <a:t>(H)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0724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08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 with the array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0825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 with the array</a:t>
            </a:r>
          </a:p>
          <a:p>
            <a:r>
              <a:rPr lang="en-US" dirty="0"/>
              <a:t>Pretend that it’s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complete binary tree</a:t>
            </a:r>
          </a:p>
          <a:p>
            <a:r>
              <a:rPr lang="en-US" dirty="0"/>
              <a:t>It probably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doesn’t satisfy</a:t>
            </a:r>
            <a:r>
              <a:rPr lang="en-US" dirty="0"/>
              <a:t>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heap property</a:t>
            </a:r>
          </a:p>
          <a:p>
            <a:pPr lvl="1"/>
            <a:r>
              <a:rPr lang="en-US" dirty="0"/>
              <a:t>i.e. there are probably nodes that are larger than their parents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525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But we can think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each leaf </a:t>
            </a:r>
            <a:r>
              <a:rPr lang="en-US" dirty="0"/>
              <a:t>as a little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1-element heap</a:t>
            </a:r>
          </a:p>
          <a:p>
            <a:pPr lvl="1"/>
            <a:r>
              <a:rPr lang="en-US" dirty="0"/>
              <a:t>And they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automatically satisfy </a:t>
            </a:r>
            <a:r>
              <a:rPr lang="en-US" dirty="0"/>
              <a:t>the heap property </a:t>
            </a:r>
          </a:p>
          <a:p>
            <a:pPr lvl="1"/>
            <a:r>
              <a:rPr lang="en-US" dirty="0"/>
              <a:t>Because the only have one element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231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Now run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heapify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on each of their parents</a:t>
            </a:r>
          </a:p>
          <a:p>
            <a:r>
              <a:rPr lang="en-US" dirty="0" err="1"/>
              <a:t>Heapify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Checks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larger that both children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207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Now run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heapify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on each of their parents</a:t>
            </a:r>
          </a:p>
          <a:p>
            <a:r>
              <a:rPr lang="en-US" dirty="0" err="1"/>
              <a:t>Heapify</a:t>
            </a:r>
            <a:endParaRPr lang="en-US" dirty="0"/>
          </a:p>
          <a:p>
            <a:pPr lvl="1"/>
            <a:r>
              <a:rPr lang="en-US" dirty="0"/>
              <a:t>Checks if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is larger that both children</a:t>
            </a:r>
          </a:p>
          <a:p>
            <a:pPr lvl="1"/>
            <a:r>
              <a:rPr lang="en-US" dirty="0"/>
              <a:t>If not, it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swaps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it with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larger child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39" idx="7"/>
            <a:endCxn id="13" idx="6"/>
          </p:cNvCxnSpPr>
          <p:nvPr/>
        </p:nvCxnSpPr>
        <p:spPr>
          <a:xfrm rot="16200000" flipV="1">
            <a:off x="7823689" y="2858865"/>
            <a:ext cx="911821" cy="528092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7" idx="1"/>
            <a:endCxn id="6" idx="2"/>
          </p:cNvCxnSpPr>
          <p:nvPr/>
        </p:nvCxnSpPr>
        <p:spPr>
          <a:xfrm rot="5400000" flipH="1" flipV="1">
            <a:off x="4961665" y="2840421"/>
            <a:ext cx="915422" cy="561379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716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we have</a:t>
            </a:r>
          </a:p>
          <a:p>
            <a:pPr lvl="1"/>
            <a:r>
              <a:rPr lang="en-US" dirty="0"/>
              <a:t>A bunch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2-level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subtrees</a:t>
            </a:r>
            <a:r>
              <a:rPr lang="en-US" dirty="0"/>
              <a:t> that</a:t>
            </a:r>
          </a:p>
          <a:p>
            <a:pPr lvl="1"/>
            <a:r>
              <a:rPr lang="en-US" dirty="0"/>
              <a:t>Each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satisfy the heap property 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916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Repeat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at the next level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/>
          <p:cNvCxnSpPr>
            <a:stCxn id="11" idx="2"/>
            <a:endCxn id="6" idx="0"/>
          </p:cNvCxnSpPr>
          <p:nvPr/>
        </p:nvCxnSpPr>
        <p:spPr>
          <a:xfrm rot="10800000" flipV="1">
            <a:off x="5928666" y="1676399"/>
            <a:ext cx="667066" cy="758399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013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Repeat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at the next level</a:t>
            </a:r>
          </a:p>
          <a:p>
            <a:r>
              <a:rPr lang="en-US" dirty="0"/>
              <a:t>This may require </a:t>
            </a:r>
            <a:r>
              <a:rPr lang="en-US" dirty="0" err="1"/>
              <a:t>Heapify</a:t>
            </a:r>
            <a:r>
              <a:rPr lang="en-US" dirty="0"/>
              <a:t> to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recurse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6" idx="2"/>
            <a:endCxn id="7" idx="1"/>
          </p:cNvCxnSpPr>
          <p:nvPr/>
        </p:nvCxnSpPr>
        <p:spPr>
          <a:xfrm rot="10800000" flipV="1">
            <a:off x="5138688" y="2663399"/>
            <a:ext cx="561379" cy="915422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704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Repeat at the next level</a:t>
            </a:r>
          </a:p>
          <a:p>
            <a:r>
              <a:rPr lang="en-US" dirty="0"/>
              <a:t>This may require </a:t>
            </a:r>
            <a:r>
              <a:rPr lang="en-US" dirty="0" err="1"/>
              <a:t>Heapify</a:t>
            </a:r>
            <a:r>
              <a:rPr lang="en-US" dirty="0"/>
              <a:t> to </a:t>
            </a:r>
            <a:r>
              <a:rPr lang="en-US" dirty="0" err="1"/>
              <a:t>recurse</a:t>
            </a:r>
            <a:endParaRPr lang="en-US" dirty="0"/>
          </a:p>
          <a:p>
            <a:r>
              <a:rPr lang="en-US" dirty="0"/>
              <a:t>But when we’ve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done every level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607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Sketch of in-place</a:t>
            </a:r>
            <a:br>
              <a:rPr lang="en-US" dirty="0"/>
            </a:br>
            <a:r>
              <a:rPr lang="en-US" dirty="0"/>
              <a:t>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Repeat at the next level</a:t>
            </a:r>
          </a:p>
          <a:p>
            <a:r>
              <a:rPr lang="en-US" dirty="0"/>
              <a:t>This may require </a:t>
            </a:r>
            <a:r>
              <a:rPr lang="en-US" dirty="0" err="1"/>
              <a:t>Heapify</a:t>
            </a:r>
            <a:r>
              <a:rPr lang="en-US" dirty="0"/>
              <a:t> to </a:t>
            </a:r>
            <a:r>
              <a:rPr lang="en-US" dirty="0" err="1"/>
              <a:t>recurse</a:t>
            </a:r>
            <a:endParaRPr lang="en-US" dirty="0"/>
          </a:p>
          <a:p>
            <a:r>
              <a:rPr lang="en-US" dirty="0"/>
              <a:t>But when we’ve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done every level</a:t>
            </a:r>
          </a:p>
          <a:p>
            <a:r>
              <a:rPr lang="en-US" dirty="0"/>
              <a:t>We’ve transformed the data,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in-place</a:t>
            </a:r>
            <a:r>
              <a:rPr lang="en-US" dirty="0"/>
              <a:t>, into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binary heap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206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for</a:t>
            </a:r>
            <a:br>
              <a:rPr lang="en-US" dirty="0"/>
            </a:br>
            <a:r>
              <a:rPr lang="en-US" dirty="0"/>
              <a:t>in-place 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last half </a:t>
            </a:r>
            <a:r>
              <a:rPr lang="en-US" dirty="0"/>
              <a:t>of the array is guaranteed to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leaves</a:t>
            </a:r>
          </a:p>
          <a:p>
            <a:pPr lvl="1"/>
            <a:r>
              <a:rPr lang="en-US" dirty="0"/>
              <a:t>So we don’t have to do anything with 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BuildHeap</a:t>
            </a:r>
            <a:r>
              <a:rPr lang="en-US" sz="2400" dirty="0"/>
              <a:t>(A)</a:t>
            </a:r>
          </a:p>
          <a:p>
            <a:pPr marL="0" indent="0">
              <a:buNone/>
            </a:pPr>
            <a:r>
              <a:rPr lang="en-US" sz="2400" dirty="0"/>
              <a:t>   for i = </a:t>
            </a:r>
            <a:r>
              <a:rPr lang="en-US" sz="2400" dirty="0" err="1"/>
              <a:t>A.Length</a:t>
            </a:r>
            <a:r>
              <a:rPr lang="en-US" sz="2400" dirty="0"/>
              <a:t>/2 to 0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dirty="0" err="1"/>
              <a:t>Heapify</a:t>
            </a:r>
            <a:r>
              <a:rPr lang="en-US" sz="2400" dirty="0"/>
              <a:t>(A, i, </a:t>
            </a:r>
            <a:r>
              <a:rPr lang="en-US" sz="2400" dirty="0" err="1"/>
              <a:t>A.Length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6745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for</a:t>
            </a:r>
            <a:br>
              <a:rPr lang="en-US" dirty="0"/>
            </a:br>
            <a:r>
              <a:rPr lang="en-US" dirty="0"/>
              <a:t>in-place heap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want to call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Heapify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On every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non-leaf</a:t>
            </a:r>
            <a:r>
              <a:rPr lang="en-US" dirty="0"/>
              <a:t> node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Starting at the bottom </a:t>
            </a:r>
            <a:r>
              <a:rPr lang="en-US" dirty="0"/>
              <a:t>of the tree</a:t>
            </a:r>
          </a:p>
          <a:p>
            <a:pPr lvl="1"/>
            <a:r>
              <a:rPr lang="en-US" dirty="0"/>
              <a:t>And moving upwards</a:t>
            </a:r>
          </a:p>
          <a:p>
            <a:endParaRPr lang="en-US" dirty="0"/>
          </a:p>
          <a:p>
            <a:r>
              <a:rPr lang="en-US" dirty="0"/>
              <a:t>Since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lower parts </a:t>
            </a:r>
            <a:r>
              <a:rPr lang="en-US" dirty="0"/>
              <a:t>of the tree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at the end</a:t>
            </a:r>
            <a:r>
              <a:rPr lang="en-US" dirty="0"/>
              <a:t> of the array,</a:t>
            </a:r>
          </a:p>
          <a:p>
            <a:pPr lvl="1"/>
            <a:r>
              <a:rPr lang="en-US" dirty="0"/>
              <a:t>All we have to do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start halfway</a:t>
            </a:r>
            <a:r>
              <a:rPr lang="en-US" dirty="0"/>
              <a:t> through the array</a:t>
            </a:r>
          </a:p>
          <a:p>
            <a:pPr lvl="1"/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move back</a:t>
            </a:r>
          </a:p>
          <a:p>
            <a:pPr lvl="1"/>
            <a:r>
              <a:rPr lang="en-US" dirty="0"/>
              <a:t>Calling </a:t>
            </a:r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BuildHeap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for i = </a:t>
            </a:r>
            <a:r>
              <a:rPr lang="en-US" dirty="0" err="1"/>
              <a:t>A.Length</a:t>
            </a:r>
            <a:r>
              <a:rPr lang="en-US" dirty="0"/>
              <a:t>/2 to 0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Heapify</a:t>
            </a:r>
            <a:r>
              <a:rPr lang="en-US" dirty="0"/>
              <a:t>(A, i, </a:t>
            </a:r>
            <a:r>
              <a:rPr lang="en-US" dirty="0" err="1"/>
              <a:t>A.Length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5620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Now this is really kind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cool</a:t>
            </a:r>
          </a:p>
          <a:p>
            <a:r>
              <a:rPr lang="en-US" dirty="0"/>
              <a:t>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build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heap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 place</a:t>
            </a:r>
          </a:p>
          <a:p>
            <a:r>
              <a:rPr lang="en-US" dirty="0"/>
              <a:t>Then 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loop</a:t>
            </a:r>
          </a:p>
          <a:p>
            <a:pPr lvl="1"/>
            <a:r>
              <a:rPr lang="en-US" dirty="0"/>
              <a:t>Each iteration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removes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maximal</a:t>
            </a:r>
            <a:r>
              <a:rPr lang="en-US" dirty="0"/>
              <a:t> element</a:t>
            </a:r>
          </a:p>
          <a:p>
            <a:pPr lvl="1"/>
            <a:r>
              <a:rPr lang="en-US" dirty="0"/>
              <a:t>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shrinks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heap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Making room </a:t>
            </a:r>
            <a:r>
              <a:rPr lang="en-US" dirty="0"/>
              <a:t>at the end of the array</a:t>
            </a:r>
          </a:p>
          <a:p>
            <a:pPr lvl="1"/>
            <a:r>
              <a:rPr lang="en-US" dirty="0"/>
              <a:t>Which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where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we would want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maximal element, anyway!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Heapsort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BuildHeap</a:t>
            </a:r>
            <a:r>
              <a:rPr lang="en-US" dirty="0"/>
              <a:t>(A)</a:t>
            </a:r>
          </a:p>
          <a:p>
            <a:pPr marL="0" indent="0">
              <a:buNone/>
            </a:pPr>
            <a:r>
              <a:rPr lang="en-US" dirty="0"/>
              <a:t>   for i = A.Length-1 to 1</a:t>
            </a:r>
          </a:p>
          <a:p>
            <a:pPr marL="0" indent="0">
              <a:buNone/>
            </a:pPr>
            <a:r>
              <a:rPr lang="en-US" dirty="0"/>
              <a:t>       A[i] = </a:t>
            </a:r>
            <a:r>
              <a:rPr lang="en-US" dirty="0" err="1"/>
              <a:t>ExtractMax</a:t>
            </a:r>
            <a:r>
              <a:rPr lang="en-US" dirty="0"/>
              <a:t>(A)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endParaRPr lang="en-US" dirty="0"/>
          </a:p>
          <a:p>
            <a:r>
              <a:rPr lang="en-US" dirty="0"/>
              <a:t>Grabs the maximal element, 7</a:t>
            </a:r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22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endParaRPr lang="en-US" dirty="0"/>
          </a:p>
          <a:p>
            <a:r>
              <a:rPr lang="en-US" dirty="0"/>
              <a:t>Grabs the maximal element, 7</a:t>
            </a:r>
          </a:p>
          <a:p>
            <a:r>
              <a:rPr lang="en-US" dirty="0"/>
              <a:t>Replaces it with the last leaf, 2</a:t>
            </a:r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8153400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9" idx="0"/>
          </p:cNvCxnSpPr>
          <p:nvPr/>
        </p:nvCxnSpPr>
        <p:spPr>
          <a:xfrm>
            <a:off x="7952779" y="2819400"/>
            <a:ext cx="429221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50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endParaRPr lang="en-US" dirty="0"/>
          </a:p>
          <a:p>
            <a:r>
              <a:rPr lang="en-US" dirty="0"/>
              <a:t>Grabs the maximal element, 7</a:t>
            </a:r>
          </a:p>
          <a:p>
            <a:r>
              <a:rPr lang="en-US" dirty="0"/>
              <a:t>Replaces it with the last leaf, 2</a:t>
            </a:r>
          </a:p>
          <a:p>
            <a:r>
              <a:rPr lang="en-US" dirty="0"/>
              <a:t>And calls </a:t>
            </a:r>
            <a:r>
              <a:rPr lang="en-US" dirty="0" err="1"/>
              <a:t>Heapify</a:t>
            </a:r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14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endParaRPr lang="en-US" dirty="0"/>
          </a:p>
          <a:p>
            <a:r>
              <a:rPr lang="en-US" dirty="0"/>
              <a:t>Grabs the maximal element, 7</a:t>
            </a:r>
          </a:p>
          <a:p>
            <a:r>
              <a:rPr lang="en-US" dirty="0"/>
              <a:t>Replaces it with the last leaf, 2</a:t>
            </a:r>
          </a:p>
          <a:p>
            <a:r>
              <a:rPr lang="en-US" dirty="0"/>
              <a:t>And calls </a:t>
            </a:r>
            <a:r>
              <a:rPr lang="en-US"/>
              <a:t>Heapify</a:t>
            </a:r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/>
          <p:cNvCxnSpPr>
            <a:stCxn id="11" idx="2"/>
            <a:endCxn id="6" idx="0"/>
          </p:cNvCxnSpPr>
          <p:nvPr/>
        </p:nvCxnSpPr>
        <p:spPr>
          <a:xfrm rot="10800000" flipV="1">
            <a:off x="5928666" y="1676399"/>
            <a:ext cx="667066" cy="758399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882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endParaRPr lang="en-US" dirty="0"/>
          </a:p>
          <a:p>
            <a:r>
              <a:rPr lang="en-US" dirty="0"/>
              <a:t>Grabs the maximal element, 7</a:t>
            </a:r>
          </a:p>
          <a:p>
            <a:r>
              <a:rPr lang="en-US" dirty="0"/>
              <a:t>Replaces it with the last leaf, 2</a:t>
            </a:r>
          </a:p>
          <a:p>
            <a:r>
              <a:rPr lang="en-US" dirty="0"/>
              <a:t>And calls </a:t>
            </a:r>
            <a:r>
              <a:rPr lang="en-US"/>
              <a:t>Heapify</a:t>
            </a:r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/>
          <p:cNvCxnSpPr>
            <a:stCxn id="6" idx="2"/>
            <a:endCxn id="7" idx="1"/>
          </p:cNvCxnSpPr>
          <p:nvPr/>
        </p:nvCxnSpPr>
        <p:spPr>
          <a:xfrm rot="10800000" flipV="1">
            <a:off x="5138688" y="2663399"/>
            <a:ext cx="561379" cy="915422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916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endParaRPr lang="en-US" dirty="0"/>
          </a:p>
          <a:p>
            <a:r>
              <a:rPr lang="en-US" dirty="0"/>
              <a:t>Grabs the maximal element, 7</a:t>
            </a:r>
          </a:p>
          <a:p>
            <a:r>
              <a:rPr lang="en-US" dirty="0"/>
              <a:t>Replaces it with the last leaf, 2</a:t>
            </a:r>
          </a:p>
          <a:p>
            <a:r>
              <a:rPr lang="en-US" dirty="0"/>
              <a:t>And calls </a:t>
            </a:r>
            <a:r>
              <a:rPr lang="en-US"/>
              <a:t>Heapify</a:t>
            </a:r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162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endParaRPr lang="en-US" dirty="0"/>
          </a:p>
          <a:p>
            <a:r>
              <a:rPr lang="en-US" dirty="0"/>
              <a:t>Grabs the maximal element, 7</a:t>
            </a:r>
          </a:p>
          <a:p>
            <a:r>
              <a:rPr lang="en-US" dirty="0"/>
              <a:t>Replaces it with the last leaf, 2</a:t>
            </a:r>
          </a:p>
          <a:p>
            <a:r>
              <a:rPr lang="en-US" dirty="0"/>
              <a:t>And calls </a:t>
            </a:r>
            <a:r>
              <a:rPr lang="en-US" dirty="0" err="1"/>
              <a:t>Heapify</a:t>
            </a:r>
            <a:endParaRPr lang="en-US" dirty="0"/>
          </a:p>
          <a:p>
            <a:pPr lvl="1"/>
            <a:r>
              <a:rPr lang="en-US" dirty="0"/>
              <a:t>Thereby reestablishing the heap property</a:t>
            </a:r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987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ExtractMax</a:t>
            </a:r>
            <a:endParaRPr lang="en-US" dirty="0"/>
          </a:p>
          <a:p>
            <a:r>
              <a:rPr lang="en-US" dirty="0"/>
              <a:t>Grabs the maximal element, 7</a:t>
            </a:r>
          </a:p>
          <a:p>
            <a:r>
              <a:rPr lang="en-US" dirty="0"/>
              <a:t>Replaces it with the last leaf, 2</a:t>
            </a:r>
          </a:p>
          <a:p>
            <a:r>
              <a:rPr lang="en-US" dirty="0"/>
              <a:t>And calls </a:t>
            </a:r>
            <a:r>
              <a:rPr lang="en-US" dirty="0" err="1"/>
              <a:t>Heapify</a:t>
            </a:r>
            <a:endParaRPr lang="en-US" dirty="0"/>
          </a:p>
          <a:p>
            <a:pPr lvl="1"/>
            <a:r>
              <a:rPr lang="en-US" dirty="0"/>
              <a:t>Thereby reestablishing the heap property</a:t>
            </a:r>
          </a:p>
          <a:p>
            <a:r>
              <a:rPr lang="en-US" dirty="0"/>
              <a:t>And now we store 7 (the max) at the end of the array)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822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Repeat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158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6</a:t>
            </a:r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604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6</a:t>
            </a:r>
          </a:p>
          <a:p>
            <a:r>
              <a:rPr lang="en-US" dirty="0"/>
              <a:t>Replace it with the last leaf, 1</a:t>
            </a:r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38" name="Oval 37"/>
          <p:cNvSpPr/>
          <p:nvPr/>
        </p:nvSpPr>
        <p:spPr>
          <a:xfrm>
            <a:off x="6934200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0" name="Straight Arrow Connector 39"/>
          <p:cNvCxnSpPr>
            <a:stCxn id="38" idx="0"/>
          </p:cNvCxnSpPr>
          <p:nvPr/>
        </p:nvCxnSpPr>
        <p:spPr>
          <a:xfrm flipV="1">
            <a:off x="7162800" y="2819400"/>
            <a:ext cx="466689" cy="6924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7813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6</a:t>
            </a:r>
          </a:p>
          <a:p>
            <a:r>
              <a:rPr lang="en-US" dirty="0"/>
              <a:t>Replace it with the last leaf, 1</a:t>
            </a:r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6532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6</a:t>
            </a:r>
          </a:p>
          <a:p>
            <a:r>
              <a:rPr lang="en-US" dirty="0"/>
              <a:t>Replace it with the last leaf, 1</a:t>
            </a:r>
          </a:p>
          <a:p>
            <a:r>
              <a:rPr lang="en-US" dirty="0" err="1"/>
              <a:t>Heapify</a:t>
            </a:r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24525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6</a:t>
            </a:r>
          </a:p>
          <a:p>
            <a:r>
              <a:rPr lang="en-US" dirty="0"/>
              <a:t>Replace it with the last leaf, 1</a:t>
            </a:r>
          </a:p>
          <a:p>
            <a:r>
              <a:rPr lang="en-US"/>
              <a:t>Heapify</a:t>
            </a:r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cxnSp>
        <p:nvCxnSpPr>
          <p:cNvPr id="5" name="Curved Connector 4"/>
          <p:cNvCxnSpPr>
            <a:stCxn id="11" idx="6"/>
            <a:endCxn id="13" idx="0"/>
          </p:cNvCxnSpPr>
          <p:nvPr/>
        </p:nvCxnSpPr>
        <p:spPr>
          <a:xfrm>
            <a:off x="7052932" y="1676400"/>
            <a:ext cx="734021" cy="762000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059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6</a:t>
            </a:r>
          </a:p>
          <a:p>
            <a:r>
              <a:rPr lang="en-US" dirty="0"/>
              <a:t>Replace it with the last leaf, 1</a:t>
            </a:r>
          </a:p>
          <a:p>
            <a:r>
              <a:rPr lang="en-US"/>
              <a:t>Heapify</a:t>
            </a:r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cxnSp>
        <p:nvCxnSpPr>
          <p:cNvPr id="5" name="Curved Connector 4"/>
          <p:cNvCxnSpPr>
            <a:stCxn id="11" idx="6"/>
            <a:endCxn id="13" idx="0"/>
          </p:cNvCxnSpPr>
          <p:nvPr/>
        </p:nvCxnSpPr>
        <p:spPr>
          <a:xfrm>
            <a:off x="7052932" y="1676400"/>
            <a:ext cx="734021" cy="762000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829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6</a:t>
            </a:r>
          </a:p>
          <a:p>
            <a:r>
              <a:rPr lang="en-US" dirty="0"/>
              <a:t>Replace it with the last leaf, 1</a:t>
            </a:r>
          </a:p>
          <a:p>
            <a:r>
              <a:rPr lang="en-US" dirty="0" err="1"/>
              <a:t>Heapify</a:t>
            </a:r>
            <a:endParaRPr lang="en-US" dirty="0"/>
          </a:p>
          <a:p>
            <a:r>
              <a:rPr lang="en-US" dirty="0"/>
              <a:t>Store the max, 6, in the next-to-last slot</a:t>
            </a:r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871535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Repeat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36753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5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46920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5</a:t>
            </a:r>
          </a:p>
          <a:p>
            <a:r>
              <a:rPr lang="en-US" dirty="0"/>
              <a:t>Replace with the last leaf, 3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6290932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8" idx="0"/>
          </p:cNvCxnSpPr>
          <p:nvPr/>
        </p:nvCxnSpPr>
        <p:spPr>
          <a:xfrm>
            <a:off x="6090311" y="2825044"/>
            <a:ext cx="429221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582560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5</a:t>
            </a:r>
          </a:p>
          <a:p>
            <a:r>
              <a:rPr lang="en-US" dirty="0"/>
              <a:t>Replace with the last leaf, 3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55149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5</a:t>
            </a:r>
          </a:p>
          <a:p>
            <a:r>
              <a:rPr lang="en-US" dirty="0"/>
              <a:t>Replace with the last leaf, 3</a:t>
            </a:r>
          </a:p>
          <a:p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5858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5</a:t>
            </a:r>
          </a:p>
          <a:p>
            <a:r>
              <a:rPr lang="en-US" dirty="0"/>
              <a:t>Replace with the last leaf, 3</a:t>
            </a:r>
          </a:p>
          <a:p>
            <a:r>
              <a:rPr lang="en-US"/>
              <a:t>Heapify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cxnSp>
        <p:nvCxnSpPr>
          <p:cNvPr id="5" name="Curved Connector 4"/>
          <p:cNvCxnSpPr>
            <a:stCxn id="11" idx="2"/>
            <a:endCxn id="6" idx="0"/>
          </p:cNvCxnSpPr>
          <p:nvPr/>
        </p:nvCxnSpPr>
        <p:spPr>
          <a:xfrm rot="10800000" flipV="1">
            <a:off x="5928666" y="1676399"/>
            <a:ext cx="667066" cy="758399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3445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5</a:t>
            </a:r>
          </a:p>
          <a:p>
            <a:r>
              <a:rPr lang="en-US" dirty="0"/>
              <a:t>Replace with the last leaf, 3</a:t>
            </a:r>
          </a:p>
          <a:p>
            <a:r>
              <a:rPr lang="en-US"/>
              <a:t>Heapify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598940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5</a:t>
            </a:r>
          </a:p>
          <a:p>
            <a:r>
              <a:rPr lang="en-US" dirty="0"/>
              <a:t>Replace with the last leaf, 3</a:t>
            </a:r>
          </a:p>
          <a:p>
            <a:r>
              <a:rPr lang="en-US" dirty="0" err="1"/>
              <a:t>Heapify</a:t>
            </a:r>
            <a:endParaRPr lang="en-US" dirty="0"/>
          </a:p>
          <a:p>
            <a:r>
              <a:rPr lang="en-US" dirty="0"/>
              <a:t>Store the max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220525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Repeat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130441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4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66805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4</a:t>
            </a:r>
          </a:p>
          <a:p>
            <a:r>
              <a:rPr lang="en-US" dirty="0"/>
              <a:t>Replace with the last leaf, 2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071732" y="3511866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7" idx="0"/>
            <a:endCxn id="6" idx="3"/>
          </p:cNvCxnSpPr>
          <p:nvPr/>
        </p:nvCxnSpPr>
        <p:spPr>
          <a:xfrm flipV="1">
            <a:off x="5300332" y="2825044"/>
            <a:ext cx="466689" cy="6868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57186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4</a:t>
            </a:r>
          </a:p>
          <a:p>
            <a:r>
              <a:rPr lang="en-US"/>
              <a:t>Replace with the last leaf, 2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262197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4</a:t>
            </a:r>
          </a:p>
          <a:p>
            <a:r>
              <a:rPr lang="en-US" dirty="0"/>
              <a:t>Replace with the last leaf, 2</a:t>
            </a:r>
          </a:p>
          <a:p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558701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4</a:t>
            </a:r>
          </a:p>
          <a:p>
            <a:r>
              <a:rPr lang="en-US" dirty="0"/>
              <a:t>Replace with the last leaf, 2</a:t>
            </a:r>
          </a:p>
          <a:p>
            <a:r>
              <a:rPr lang="en-US"/>
              <a:t>Heapify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cxnSp>
        <p:nvCxnSpPr>
          <p:cNvPr id="5" name="Curved Connector 4"/>
          <p:cNvCxnSpPr>
            <a:stCxn id="11" idx="2"/>
            <a:endCxn id="6" idx="0"/>
          </p:cNvCxnSpPr>
          <p:nvPr/>
        </p:nvCxnSpPr>
        <p:spPr>
          <a:xfrm rot="10800000" flipV="1">
            <a:off x="5928666" y="1676399"/>
            <a:ext cx="667066" cy="758399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8882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4</a:t>
            </a:r>
          </a:p>
          <a:p>
            <a:r>
              <a:rPr lang="en-US" dirty="0"/>
              <a:t>Replace with the last leaf, 2</a:t>
            </a:r>
          </a:p>
          <a:p>
            <a:r>
              <a:rPr lang="en-US"/>
              <a:t>Heapify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77722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4</a:t>
            </a:r>
          </a:p>
          <a:p>
            <a:r>
              <a:rPr lang="en-US" dirty="0"/>
              <a:t>Replace with the last leaf, 2</a:t>
            </a:r>
          </a:p>
          <a:p>
            <a:r>
              <a:rPr lang="en-US" dirty="0" err="1"/>
              <a:t>Heapify</a:t>
            </a:r>
            <a:endParaRPr lang="en-US" dirty="0"/>
          </a:p>
          <a:p>
            <a:r>
              <a:rPr lang="en-US" dirty="0"/>
              <a:t>Store the max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642662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Repeat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425841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3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775342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3</a:t>
            </a:r>
          </a:p>
          <a:p>
            <a:r>
              <a:rPr lang="en-US" dirty="0"/>
              <a:t>Replace with the last leaf, 1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8353" y="24384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6985977" y="1838045"/>
            <a:ext cx="639331" cy="6673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793714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3</a:t>
            </a:r>
          </a:p>
          <a:p>
            <a:r>
              <a:rPr lang="en-US" dirty="0"/>
              <a:t>Replace with the last leaf, 1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51834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3</a:t>
            </a:r>
          </a:p>
          <a:p>
            <a:r>
              <a:rPr lang="en-US" dirty="0"/>
              <a:t>Replace with the last leaf, 1</a:t>
            </a:r>
          </a:p>
          <a:p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cxnSp>
        <p:nvCxnSpPr>
          <p:cNvPr id="14" name="Curved Connector 13"/>
          <p:cNvCxnSpPr/>
          <p:nvPr/>
        </p:nvCxnSpPr>
        <p:spPr>
          <a:xfrm rot="10800000" flipV="1">
            <a:off x="5928666" y="1676399"/>
            <a:ext cx="667066" cy="758399"/>
          </a:xfrm>
          <a:prstGeom prst="curvedConnector2">
            <a:avLst/>
          </a:prstGeom>
          <a:ln w="76200">
            <a:solidFill>
              <a:schemeClr val="accent6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7213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3</a:t>
            </a:r>
          </a:p>
          <a:p>
            <a:r>
              <a:rPr lang="en-US" dirty="0"/>
              <a:t>Replace with the last leaf, 1</a:t>
            </a:r>
          </a:p>
          <a:p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24204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3</a:t>
            </a:r>
          </a:p>
          <a:p>
            <a:r>
              <a:rPr lang="en-US" dirty="0"/>
              <a:t>Replace with the last leaf, 1</a:t>
            </a:r>
          </a:p>
          <a:p>
            <a:r>
              <a:rPr lang="en-US" dirty="0" err="1"/>
              <a:t>Heapify</a:t>
            </a:r>
            <a:endParaRPr lang="en-US" dirty="0"/>
          </a:p>
          <a:p>
            <a:r>
              <a:rPr lang="en-US" dirty="0"/>
              <a:t>Store the max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965573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Repeat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917468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2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04437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2</a:t>
            </a:r>
          </a:p>
          <a:p>
            <a:r>
              <a:rPr lang="en-US" dirty="0"/>
              <a:t>Replace with the last leaf, 1</a:t>
            </a:r>
          </a:p>
        </p:txBody>
      </p:sp>
      <p:sp>
        <p:nvSpPr>
          <p:cNvPr id="6" name="Oval 5"/>
          <p:cNvSpPr/>
          <p:nvPr/>
        </p:nvSpPr>
        <p:spPr>
          <a:xfrm>
            <a:off x="5700066" y="2434799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Connector 11"/>
          <p:cNvCxnSpPr>
            <a:stCxn id="11" idx="3"/>
            <a:endCxn id="6" idx="7"/>
          </p:cNvCxnSpPr>
          <p:nvPr/>
        </p:nvCxnSpPr>
        <p:spPr>
          <a:xfrm flipH="1">
            <a:off x="6090311" y="1838045"/>
            <a:ext cx="572376" cy="663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097868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2</a:t>
            </a:r>
          </a:p>
          <a:p>
            <a:r>
              <a:rPr lang="en-US" dirty="0"/>
              <a:t>Replace with the last leaf, 1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08871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2</a:t>
            </a:r>
          </a:p>
          <a:p>
            <a:r>
              <a:rPr lang="en-US" dirty="0"/>
              <a:t>Replace with the last leaf, 1</a:t>
            </a:r>
          </a:p>
          <a:p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367394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2</a:t>
            </a:r>
          </a:p>
          <a:p>
            <a:r>
              <a:rPr lang="en-US" dirty="0"/>
              <a:t>Replace with the last leaf, 1</a:t>
            </a:r>
          </a:p>
          <a:p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199039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Grab the max, 2</a:t>
            </a:r>
          </a:p>
          <a:p>
            <a:r>
              <a:rPr lang="en-US" dirty="0"/>
              <a:t>Replace with the last leaf, 1</a:t>
            </a:r>
          </a:p>
          <a:p>
            <a:r>
              <a:rPr lang="en-US" dirty="0" err="1"/>
              <a:t>Heapify</a:t>
            </a:r>
            <a:endParaRPr lang="en-US" dirty="0"/>
          </a:p>
          <a:p>
            <a:r>
              <a:rPr lang="en-US" dirty="0"/>
              <a:t>Store the max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807911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Completing the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/>
          </a:bodyPr>
          <a:lstStyle/>
          <a:p>
            <a:r>
              <a:rPr lang="en-US" dirty="0"/>
              <a:t>Only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element left</a:t>
            </a:r>
          </a:p>
          <a:p>
            <a:r>
              <a:rPr lang="en-US" dirty="0"/>
              <a:t>So it has to be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smallest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element</a:t>
            </a:r>
          </a:p>
          <a:p>
            <a:r>
              <a:rPr lang="en-US" dirty="0"/>
              <a:t>And it has to be in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position 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We’re done!</a:t>
            </a:r>
          </a:p>
        </p:txBody>
      </p:sp>
      <p:sp>
        <p:nvSpPr>
          <p:cNvPr id="11" name="Oval 10"/>
          <p:cNvSpPr/>
          <p:nvPr/>
        </p:nvSpPr>
        <p:spPr>
          <a:xfrm>
            <a:off x="6595732" y="1447800"/>
            <a:ext cx="457200" cy="4572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28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2000" y="4800600"/>
            <a:ext cx="609600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828001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Every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heap operation</a:t>
                </a:r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𝒍𝒐𝒈</m:t>
                        </m:r>
                      </m:fName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b="1" i="1" dirty="0">
                  <a:solidFill>
                    <a:schemeClr val="accent6">
                      <a:lumMod val="75000"/>
                    </a:schemeClr>
                  </a:solidFill>
                  <a:latin typeface="Cambria Math"/>
                </a:endParaRPr>
              </a:p>
              <a:p>
                <a:r>
                  <a:rPr lang="en-US" dirty="0"/>
                  <a:t>We do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/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calls to </a:t>
                </a:r>
                <a:r>
                  <a:rPr lang="en-US" dirty="0" err="1"/>
                  <a:t>Heapify</a:t>
                </a:r>
                <a:r>
                  <a:rPr lang="en-US" dirty="0"/>
                  <a:t> to build the heap</a:t>
                </a:r>
              </a:p>
              <a:p>
                <a:r>
                  <a:rPr lang="en-US" dirty="0"/>
                  <a:t>We do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 calls to </a:t>
                </a:r>
                <a:r>
                  <a:rPr lang="en-US" dirty="0" err="1"/>
                  <a:t>ExtractMax</a:t>
                </a:r>
                <a:r>
                  <a:rPr lang="en-US" dirty="0"/>
                  <a:t> to do the final sorting</a:t>
                </a:r>
              </a:p>
              <a:p>
                <a:r>
                  <a:rPr lang="en-US" dirty="0"/>
                  <a:t>So execution time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𝒍𝒐𝒈</m:t>
                        </m:r>
                      </m:fName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dirty="0"/>
                  <a:t>The nice thing about </a:t>
                </a:r>
                <a:r>
                  <a:rPr lang="en-US" dirty="0" err="1"/>
                  <a:t>Heapsort</a:t>
                </a:r>
                <a:r>
                  <a:rPr lang="en-US" dirty="0"/>
                  <a:t> is that it’s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worst-case</a:t>
                </a:r>
                <a:r>
                  <a:rPr lang="en-US" dirty="0"/>
                  <a:t>, so it’s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never quadratic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617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9818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CLR Chapter 6 (Heapsort)</a:t>
            </a:r>
          </a:p>
        </p:txBody>
      </p:sp>
    </p:spTree>
    <p:extLst>
      <p:ext uri="{BB962C8B-B14F-4D97-AF65-F5344CB8AC3E}">
        <p14:creationId xmlns:p14="http://schemas.microsoft.com/office/powerpoint/2010/main" val="187220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6727</TotalTime>
  <Words>2627</Words>
  <Application>Microsoft Office PowerPoint</Application>
  <PresentationFormat>On-screen Show (4:3)</PresentationFormat>
  <Paragraphs>1180</Paragraphs>
  <Slides>77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4" baseType="lpstr">
      <vt:lpstr>Arial</vt:lpstr>
      <vt:lpstr>Calibri</vt:lpstr>
      <vt:lpstr>Cambria Math</vt:lpstr>
      <vt:lpstr>Kootenay</vt:lpstr>
      <vt:lpstr>Symbol</vt:lpstr>
      <vt:lpstr>Verdana</vt:lpstr>
      <vt:lpstr>Office Theme</vt:lpstr>
      <vt:lpstr>Lecture 14 Applications of priority queues: sorting</vt:lpstr>
      <vt:lpstr>Priority queues</vt:lpstr>
      <vt:lpstr>Priority queues</vt:lpstr>
      <vt:lpstr>Heaps</vt:lpstr>
      <vt:lpstr>Heaps</vt:lpstr>
      <vt:lpstr>Binary heaps</vt:lpstr>
      <vt:lpstr>Embedding in an array</vt:lpstr>
      <vt:lpstr>Embedding in an array</vt:lpstr>
      <vt:lpstr>Heap insertion using the array representation</vt:lpstr>
      <vt:lpstr>Extracting an element</vt:lpstr>
      <vt:lpstr>Extracting an element</vt:lpstr>
      <vt:lpstr>Sorting</vt:lpstr>
      <vt:lpstr>Version 1</vt:lpstr>
      <vt:lpstr>In-place heapsort</vt:lpstr>
      <vt:lpstr>Sketch of in-place heap construction</vt:lpstr>
      <vt:lpstr>Sketch of in-place heap construction</vt:lpstr>
      <vt:lpstr>Sketch of in-place heap construction</vt:lpstr>
      <vt:lpstr>Sketch of in-place heap construction</vt:lpstr>
      <vt:lpstr>Sketch of in-place heap construction</vt:lpstr>
      <vt:lpstr>Sketch of in-place heap construction</vt:lpstr>
      <vt:lpstr>Sketch of in-place heap construction</vt:lpstr>
      <vt:lpstr>Sketch of in-place heap construction</vt:lpstr>
      <vt:lpstr>Sketch of in-place heap construction</vt:lpstr>
      <vt:lpstr>Sketch of in-place heap construction</vt:lpstr>
      <vt:lpstr>Sketch of in-place heap construction</vt:lpstr>
      <vt:lpstr>Algorithm for in-place heap construction</vt:lpstr>
      <vt:lpstr>Algorithm for in-place heap construction</vt:lpstr>
      <vt:lpstr>Version 2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Completing the sort</vt:lpstr>
      <vt:lpstr>Analysis</vt:lpstr>
      <vt:lpstr>Reading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272</cp:revision>
  <cp:lastPrinted>2010-06-04T14:52:17Z</cp:lastPrinted>
  <dcterms:created xsi:type="dcterms:W3CDTF">2010-03-27T22:31:10Z</dcterms:created>
  <dcterms:modified xsi:type="dcterms:W3CDTF">2019-05-31T16:44:13Z</dcterms:modified>
</cp:coreProperties>
</file>