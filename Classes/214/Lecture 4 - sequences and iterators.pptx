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97"/>
  </p:notesMasterIdLst>
  <p:sldIdLst>
    <p:sldId id="256" r:id="rId2"/>
    <p:sldId id="257" r:id="rId3"/>
    <p:sldId id="271" r:id="rId4"/>
    <p:sldId id="273" r:id="rId5"/>
    <p:sldId id="272" r:id="rId6"/>
    <p:sldId id="270" r:id="rId7"/>
    <p:sldId id="262" r:id="rId8"/>
    <p:sldId id="263" r:id="rId9"/>
    <p:sldId id="265" r:id="rId10"/>
    <p:sldId id="275" r:id="rId11"/>
    <p:sldId id="274" r:id="rId12"/>
    <p:sldId id="286" r:id="rId13"/>
    <p:sldId id="319" r:id="rId14"/>
    <p:sldId id="320" r:id="rId15"/>
    <p:sldId id="321" r:id="rId16"/>
    <p:sldId id="322" r:id="rId17"/>
    <p:sldId id="323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313" r:id="rId39"/>
    <p:sldId id="314" r:id="rId40"/>
    <p:sldId id="315" r:id="rId41"/>
    <p:sldId id="312" r:id="rId42"/>
    <p:sldId id="316" r:id="rId43"/>
    <p:sldId id="317" r:id="rId44"/>
    <p:sldId id="318" r:id="rId45"/>
    <p:sldId id="266" r:id="rId46"/>
    <p:sldId id="276" r:id="rId47"/>
    <p:sldId id="278" r:id="rId48"/>
    <p:sldId id="279" r:id="rId49"/>
    <p:sldId id="280" r:id="rId50"/>
    <p:sldId id="282" r:id="rId51"/>
    <p:sldId id="283" r:id="rId52"/>
    <p:sldId id="281" r:id="rId53"/>
    <p:sldId id="289" r:id="rId54"/>
    <p:sldId id="267" r:id="rId55"/>
    <p:sldId id="284" r:id="rId56"/>
    <p:sldId id="277" r:id="rId57"/>
    <p:sldId id="269" r:id="rId58"/>
    <p:sldId id="290" r:id="rId59"/>
    <p:sldId id="291" r:id="rId60"/>
    <p:sldId id="358" r:id="rId61"/>
    <p:sldId id="343" r:id="rId62"/>
    <p:sldId id="325" r:id="rId63"/>
    <p:sldId id="326" r:id="rId64"/>
    <p:sldId id="327" r:id="rId65"/>
    <p:sldId id="328" r:id="rId66"/>
    <p:sldId id="329" r:id="rId67"/>
    <p:sldId id="330" r:id="rId68"/>
    <p:sldId id="331" r:id="rId69"/>
    <p:sldId id="332" r:id="rId70"/>
    <p:sldId id="333" r:id="rId71"/>
    <p:sldId id="334" r:id="rId72"/>
    <p:sldId id="335" r:id="rId73"/>
    <p:sldId id="336" r:id="rId74"/>
    <p:sldId id="337" r:id="rId75"/>
    <p:sldId id="338" r:id="rId76"/>
    <p:sldId id="339" r:id="rId77"/>
    <p:sldId id="340" r:id="rId78"/>
    <p:sldId id="341" r:id="rId79"/>
    <p:sldId id="342" r:id="rId80"/>
    <p:sldId id="259" r:id="rId81"/>
    <p:sldId id="345" r:id="rId82"/>
    <p:sldId id="346" r:id="rId83"/>
    <p:sldId id="347" r:id="rId84"/>
    <p:sldId id="348" r:id="rId85"/>
    <p:sldId id="349" r:id="rId86"/>
    <p:sldId id="350" r:id="rId87"/>
    <p:sldId id="351" r:id="rId88"/>
    <p:sldId id="352" r:id="rId89"/>
    <p:sldId id="353" r:id="rId90"/>
    <p:sldId id="354" r:id="rId91"/>
    <p:sldId id="355" r:id="rId92"/>
    <p:sldId id="260" r:id="rId93"/>
    <p:sldId id="344" r:id="rId94"/>
    <p:sldId id="356" r:id="rId95"/>
    <p:sldId id="357" r:id="rId9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0" autoAdjust="0"/>
    <p:restoredTop sz="86376" autoAdjust="0"/>
  </p:normalViewPr>
  <p:slideViewPr>
    <p:cSldViewPr>
      <p:cViewPr varScale="1">
        <p:scale>
          <a:sx n="91" d="100"/>
          <a:sy n="91" d="100"/>
        </p:scale>
        <p:origin x="106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2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B8BAC-AD12-41E9-8B58-CF3C8610650C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72F60-FBF2-46DB-9CC1-71AF7836E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75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86200"/>
            <a:ext cx="7772400" cy="1470025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334000"/>
            <a:ext cx="6400800" cy="762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6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40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07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8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20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80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4/15/2019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886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20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1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980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78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fld id="{78F7F9AA-A437-4C1D-B7A7-132C663DC277}" type="datetimeFigureOut">
              <a:rPr lang="en-US" smtClean="0"/>
              <a:pPr/>
              <a:t>4/15/2019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71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Kootenay" pitchFamily="2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latin typeface="Kootenay" pitchFamily="2" charset="0"/>
                <a:ea typeface="Verdana" pitchFamily="34" charset="0"/>
                <a:cs typeface="Verdana" pitchFamily="34" charset="0"/>
              </a:rPr>
              <a:t>Lecture 4</a:t>
            </a:r>
            <a:br>
              <a:rPr lang="en-US" dirty="0">
                <a:latin typeface="Kootenay" pitchFamily="2" charset="0"/>
                <a:ea typeface="Verdana" pitchFamily="34" charset="0"/>
                <a:cs typeface="Verdana" pitchFamily="34" charset="0"/>
              </a:rPr>
            </a:br>
            <a:r>
              <a:rPr lang="en-US" dirty="0">
                <a:latin typeface="Kootenay" pitchFamily="2" charset="0"/>
                <a:ea typeface="Verdana" pitchFamily="34" charset="0"/>
                <a:cs typeface="Verdana" pitchFamily="34" charset="0"/>
              </a:rPr>
              <a:t>Sequences and iterators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Kootenay" pitchFamily="2" charset="0"/>
              </a:rPr>
              <a:t>EECS-214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Kooten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322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aseline="0" dirty="0"/>
              <a:t>Ultimately, the computer’s memory is </a:t>
            </a:r>
            <a:r>
              <a:rPr lang="en-US" b="1" baseline="0" dirty="0">
                <a:solidFill>
                  <a:srgbClr val="984807"/>
                </a:solidFill>
              </a:rPr>
              <a:t>one big array of bytes</a:t>
            </a:r>
          </a:p>
          <a:p>
            <a:pPr>
              <a:spcBef>
                <a:spcPts val="1800"/>
              </a:spcBef>
            </a:pPr>
            <a:r>
              <a:rPr lang="en-US" baseline="0" dirty="0"/>
              <a:t>Objects are represented by discrete </a:t>
            </a:r>
            <a:r>
              <a:rPr lang="en-US" b="1" baseline="0" dirty="0">
                <a:solidFill>
                  <a:srgbClr val="984807"/>
                </a:solidFill>
              </a:rPr>
              <a:t>chunks</a:t>
            </a:r>
            <a:r>
              <a:rPr lang="en-US" baseline="0" dirty="0">
                <a:solidFill>
                  <a:srgbClr val="984807"/>
                </a:solidFill>
              </a:rPr>
              <a:t> </a:t>
            </a:r>
            <a:r>
              <a:rPr lang="en-US" baseline="0" dirty="0"/>
              <a:t>of the array</a:t>
            </a:r>
            <a:endParaRPr lang="en-US" b="1" baseline="0" dirty="0">
              <a:solidFill>
                <a:srgbClr val="984807"/>
              </a:solidFill>
            </a:endParaRPr>
          </a:p>
          <a:p>
            <a:pPr lvl="1"/>
            <a:r>
              <a:rPr lang="en-US" b="1" baseline="0" dirty="0">
                <a:solidFill>
                  <a:srgbClr val="984807"/>
                </a:solidFill>
              </a:rPr>
              <a:t>Identified by the location </a:t>
            </a:r>
            <a:r>
              <a:rPr lang="en-US" baseline="0" dirty="0"/>
              <a:t>(address) within the array</a:t>
            </a:r>
          </a:p>
          <a:p>
            <a:pPr>
              <a:spcBef>
                <a:spcPts val="1800"/>
              </a:spcBef>
            </a:pPr>
            <a:r>
              <a:rPr lang="en-US" b="1" baseline="0" dirty="0">
                <a:solidFill>
                  <a:srgbClr val="984807"/>
                </a:solidFill>
              </a:rPr>
              <a:t>Memory management </a:t>
            </a:r>
            <a:r>
              <a:rPr lang="en-US" baseline="0" dirty="0"/>
              <a:t>is the process of keeping track of</a:t>
            </a:r>
          </a:p>
          <a:p>
            <a:pPr lvl="1"/>
            <a:r>
              <a:rPr lang="en-US" b="1" baseline="0" dirty="0">
                <a:solidFill>
                  <a:srgbClr val="984807"/>
                </a:solidFill>
              </a:rPr>
              <a:t>Which chunks are used </a:t>
            </a:r>
            <a:r>
              <a:rPr lang="en-US" baseline="0" dirty="0"/>
              <a:t>to represent which objects</a:t>
            </a:r>
          </a:p>
          <a:p>
            <a:pPr lvl="1"/>
            <a:r>
              <a:rPr lang="en-US" b="1" baseline="0" dirty="0">
                <a:solidFill>
                  <a:srgbClr val="984807"/>
                </a:solidFill>
              </a:rPr>
              <a:t>Which chunks are free </a:t>
            </a:r>
            <a:r>
              <a:rPr lang="en-US" baseline="0" dirty="0"/>
              <a:t>(available to allocation)</a:t>
            </a:r>
          </a:p>
        </p:txBody>
      </p:sp>
    </p:spTree>
    <p:extLst>
      <p:ext uri="{BB962C8B-B14F-4D97-AF65-F5344CB8AC3E}">
        <p14:creationId xmlns:p14="http://schemas.microsoft.com/office/powerpoint/2010/main" val="2496929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Statically allocated</a:t>
            </a:r>
            <a:r>
              <a:rPr lang="en-US" baseline="0" dirty="0"/>
              <a:t> structures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dirty="0"/>
              <a:t>Memory</a:t>
            </a:r>
            <a:r>
              <a:rPr lang="en-US" baseline="0" dirty="0"/>
              <a:t> management makes it </a:t>
            </a:r>
            <a:r>
              <a:rPr lang="en-US" b="1" baseline="0" dirty="0">
                <a:solidFill>
                  <a:srgbClr val="984807"/>
                </a:solidFill>
              </a:rPr>
              <a:t>easy to allocate chunks</a:t>
            </a:r>
          </a:p>
          <a:p>
            <a:pPr lvl="1"/>
            <a:r>
              <a:rPr lang="en-US" baseline="0" dirty="0"/>
              <a:t>But </a:t>
            </a:r>
            <a:r>
              <a:rPr lang="en-US" b="1" baseline="0" dirty="0">
                <a:solidFill>
                  <a:srgbClr val="984807"/>
                </a:solidFill>
              </a:rPr>
              <a:t>hard to grow or shrink </a:t>
            </a:r>
            <a:r>
              <a:rPr lang="en-US" baseline="0" dirty="0"/>
              <a:t>them after allocation</a:t>
            </a:r>
          </a:p>
          <a:p>
            <a:endParaRPr lang="en-US" baseline="0" dirty="0"/>
          </a:p>
          <a:p>
            <a:r>
              <a:rPr lang="en-US" baseline="0" dirty="0"/>
              <a:t>So all data structures are ultimately built out of </a:t>
            </a:r>
            <a:r>
              <a:rPr lang="en-US" b="1" baseline="0" dirty="0">
                <a:solidFill>
                  <a:srgbClr val="984807"/>
                </a:solidFill>
              </a:rPr>
              <a:t>static-sized chunks</a:t>
            </a:r>
            <a:endParaRPr lang="en-US" b="1" dirty="0">
              <a:solidFill>
                <a:srgbClr val="984807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b="1" dirty="0">
                <a:solidFill>
                  <a:srgbClr val="984807"/>
                </a:solidFill>
              </a:rPr>
              <a:t>Arrays</a:t>
            </a:r>
          </a:p>
          <a:p>
            <a:pPr lvl="1"/>
            <a:r>
              <a:rPr lang="en-US" dirty="0"/>
              <a:t>Fast</a:t>
            </a:r>
          </a:p>
          <a:p>
            <a:pPr lvl="1"/>
            <a:r>
              <a:rPr lang="en-US" dirty="0"/>
              <a:t>Let you access elements by number</a:t>
            </a:r>
          </a:p>
          <a:p>
            <a:pPr lvl="1"/>
            <a:r>
              <a:rPr lang="en-US" dirty="0"/>
              <a:t>Can’t be resized</a:t>
            </a:r>
          </a:p>
          <a:p>
            <a:pPr lvl="0">
              <a:spcBef>
                <a:spcPts val="1800"/>
              </a:spcBef>
            </a:pPr>
            <a:r>
              <a:rPr lang="en-US" b="1" dirty="0">
                <a:solidFill>
                  <a:srgbClr val="984807"/>
                </a:solidFill>
              </a:rPr>
              <a:t>Record structures </a:t>
            </a:r>
            <a:r>
              <a:rPr lang="en-US" dirty="0"/>
              <a:t>(classes, </a:t>
            </a:r>
            <a:r>
              <a:rPr lang="en-US" dirty="0" err="1"/>
              <a:t>structs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Fields accessed by name rather than number</a:t>
            </a:r>
          </a:p>
          <a:p>
            <a:pPr lvl="1"/>
            <a:r>
              <a:rPr lang="en-US" dirty="0"/>
              <a:t>Set of fields is fixed at compile time</a:t>
            </a:r>
          </a:p>
          <a:p>
            <a:pPr lvl="1"/>
            <a:r>
              <a:rPr lang="en-US" dirty="0"/>
              <a:t>Compiler effectively turns field references into array references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51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profile of</a:t>
            </a:r>
            <a:r>
              <a:rPr lang="en-US" baseline="0" dirty="0"/>
              <a:t> arrays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How fast </a:t>
                </a:r>
                <a:r>
                  <a:rPr lang="en-US" dirty="0"/>
                  <a:t>are basic array operations? (n=array size)</a:t>
                </a:r>
              </a:p>
              <a:p>
                <a:pPr lvl="1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Create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(and initialize) array: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Access</a:t>
                </a:r>
                <a:r>
                  <a:rPr lang="en-US" dirty="0"/>
                  <a:t> an element: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𝑶</m:t>
                    </m:r>
                    <m:d>
                      <m:dPr>
                        <m:ctrlPr>
                          <a:rPr lang="en-US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endParaRPr lang="en-US" b="1" i="1" dirty="0">
                  <a:latin typeface="Cambria Math"/>
                </a:endParaRPr>
              </a:p>
              <a:p>
                <a:pPr lvl="1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Mutate</a:t>
                </a:r>
                <a:r>
                  <a:rPr lang="en-US" dirty="0"/>
                  <a:t> (modify) an element: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𝟏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Find position </a:t>
                </a:r>
                <a:r>
                  <a:rPr lang="en-US" dirty="0"/>
                  <a:t>of an element: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Add or remove</a:t>
                </a:r>
                <a:r>
                  <a:rPr lang="en-US" dirty="0"/>
                  <a:t> element: </a:t>
                </a:r>
                <a:r>
                  <a:rPr lang="en-US" b="1" i="1" dirty="0">
                    <a:solidFill>
                      <a:schemeClr val="accent6">
                        <a:lumMod val="50000"/>
                      </a:schemeClr>
                    </a:solidFill>
                  </a:rPr>
                  <a:t>impossible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3017" t="-2291" r="-2564"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334000" y="2362200"/>
            <a:ext cx="26479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 err="1"/>
              <a:t>int</a:t>
            </a:r>
            <a:r>
              <a:rPr lang="en-US" sz="7200" dirty="0"/>
              <a:t>[] a;</a:t>
            </a:r>
          </a:p>
        </p:txBody>
      </p:sp>
    </p:spTree>
    <p:extLst>
      <p:ext uri="{BB962C8B-B14F-4D97-AF65-F5344CB8AC3E}">
        <p14:creationId xmlns:p14="http://schemas.microsoft.com/office/powerpoint/2010/main" val="321251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Dynamic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2362199"/>
          </a:xfrm>
        </p:spPr>
        <p:txBody>
          <a:bodyPr>
            <a:normAutofit fontScale="62500" lnSpcReduction="20000"/>
          </a:bodyPr>
          <a:lstStyle/>
          <a:p>
            <a:pPr lvl="0"/>
            <a:r>
              <a:rPr lang="en-US" dirty="0"/>
              <a:t>If we want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add or remove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elements</a:t>
            </a:r>
            <a:r>
              <a:rPr lang="en-US" dirty="0"/>
              <a:t>, we have to be fancier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029200"/>
          </a:xfrm>
        </p:spPr>
        <p:txBody>
          <a:bodyPr>
            <a:normAutofit fontScale="62500" lnSpcReduction="20000"/>
          </a:bodyPr>
          <a:lstStyle/>
          <a:p>
            <a:pPr lvl="0"/>
            <a:r>
              <a:rPr lang="en-US" b="1" dirty="0" err="1">
                <a:solidFill>
                  <a:srgbClr val="984807"/>
                </a:solidFill>
              </a:rPr>
              <a:t>Preallocate</a:t>
            </a:r>
            <a:r>
              <a:rPr lang="en-US" b="1" dirty="0">
                <a:solidFill>
                  <a:srgbClr val="984807"/>
                </a:solidFill>
              </a:rPr>
              <a:t> a fixed amount</a:t>
            </a:r>
          </a:p>
          <a:p>
            <a:pPr lvl="1"/>
            <a:r>
              <a:rPr lang="en-US" dirty="0"/>
              <a:t>Only use as much as you need at the moment</a:t>
            </a:r>
          </a:p>
          <a:p>
            <a:pPr lvl="1"/>
            <a:r>
              <a:rPr lang="en-US" dirty="0"/>
              <a:t>Throw an exception if you run out of space</a:t>
            </a:r>
          </a:p>
          <a:p>
            <a:pPr marL="457200" lvl="1" indent="0">
              <a:buNone/>
            </a:pPr>
            <a:endParaRPr lang="en-US" b="1" dirty="0">
              <a:solidFill>
                <a:srgbClr val="984807"/>
              </a:solidFill>
            </a:endParaRPr>
          </a:p>
          <a:p>
            <a:pPr lvl="0"/>
            <a:r>
              <a:rPr lang="en-US" b="1" dirty="0">
                <a:solidFill>
                  <a:srgbClr val="984807"/>
                </a:solidFill>
              </a:rPr>
              <a:t>Indirection</a:t>
            </a:r>
          </a:p>
          <a:p>
            <a:pPr lvl="1"/>
            <a:r>
              <a:rPr lang="en-US" dirty="0"/>
              <a:t>Store data in a normal array</a:t>
            </a:r>
          </a:p>
          <a:p>
            <a:pPr lvl="1"/>
            <a:r>
              <a:rPr lang="en-US" dirty="0"/>
              <a:t>Represent sequence object as a pointer to the array</a:t>
            </a:r>
          </a:p>
          <a:p>
            <a:pPr lvl="1"/>
            <a:r>
              <a:rPr lang="en-US" dirty="0"/>
              <a:t>Replace it with a whole new array when you need to change size</a:t>
            </a:r>
          </a:p>
          <a:p>
            <a:pPr lvl="0"/>
            <a:endParaRPr lang="en-US" dirty="0"/>
          </a:p>
          <a:p>
            <a:pPr lvl="0"/>
            <a:r>
              <a:rPr lang="en-US" b="1" dirty="0">
                <a:solidFill>
                  <a:srgbClr val="984807"/>
                </a:solidFill>
              </a:rPr>
              <a:t>Chained</a:t>
            </a:r>
            <a:r>
              <a:rPr lang="en-US" dirty="0">
                <a:solidFill>
                  <a:srgbClr val="984807"/>
                </a:solidFill>
              </a:rPr>
              <a:t> </a:t>
            </a:r>
            <a:r>
              <a:rPr lang="en-US" dirty="0"/>
              <a:t>structures</a:t>
            </a:r>
          </a:p>
          <a:p>
            <a:pPr lvl="1"/>
            <a:r>
              <a:rPr lang="en-US" dirty="0"/>
              <a:t>Break structure into chunks</a:t>
            </a:r>
          </a:p>
          <a:p>
            <a:pPr lvl="1"/>
            <a:r>
              <a:rPr lang="en-US" dirty="0"/>
              <a:t>Each chunk points to next chunk</a:t>
            </a:r>
          </a:p>
          <a:p>
            <a:pPr lvl="1"/>
            <a:r>
              <a:rPr lang="en-US" dirty="0"/>
              <a:t>Resize by adding or removing chunks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/>
              <a:t>Linked lists</a:t>
            </a:r>
          </a:p>
          <a:p>
            <a:pPr lvl="2"/>
            <a:r>
              <a:rPr lang="en-US" dirty="0"/>
              <a:t>Files on disk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28650" y="4495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4900" y="4495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7" name="Rectangle 6"/>
          <p:cNvSpPr/>
          <p:nvPr/>
        </p:nvSpPr>
        <p:spPr>
          <a:xfrm>
            <a:off x="1581150" y="4495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4495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3650" y="4495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09900" y="4495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8550" y="4495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4495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5" name="Rectangle 14"/>
          <p:cNvSpPr/>
          <p:nvPr/>
        </p:nvSpPr>
        <p:spPr>
          <a:xfrm rot="20142265">
            <a:off x="3409951" y="4040989"/>
            <a:ext cx="457200" cy="457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4289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Aka “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container classes</a:t>
            </a:r>
            <a:r>
              <a:rPr lang="en-US" dirty="0"/>
              <a:t>”</a:t>
            </a:r>
          </a:p>
          <a:p>
            <a:r>
              <a:rPr lang="en-US" dirty="0"/>
              <a:t>Called “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dynamic sets</a:t>
            </a:r>
            <a:r>
              <a:rPr lang="en-US" dirty="0"/>
              <a:t>” in CLR</a:t>
            </a:r>
          </a:p>
          <a:p>
            <a:pPr>
              <a:spcBef>
                <a:spcPts val="1800"/>
              </a:spcBef>
            </a:pPr>
            <a:r>
              <a:rPr lang="en-US" dirty="0"/>
              <a:t>Store</a:t>
            </a:r>
            <a:r>
              <a:rPr lang="en-US" baseline="0" dirty="0"/>
              <a:t> a collection of </a:t>
            </a:r>
            <a:r>
              <a:rPr lang="en-US" b="1" baseline="0" dirty="0">
                <a:solidFill>
                  <a:schemeClr val="accent6">
                    <a:lumMod val="75000"/>
                  </a:schemeClr>
                </a:solidFill>
              </a:rPr>
              <a:t>objects associated with “keys” </a:t>
            </a:r>
            <a:r>
              <a:rPr lang="en-US" baseline="0" dirty="0"/>
              <a:t>used to access them</a:t>
            </a:r>
          </a:p>
          <a:p>
            <a:pPr lvl="1"/>
            <a:r>
              <a:rPr lang="en-US" dirty="0"/>
              <a:t>For </a:t>
            </a:r>
            <a:r>
              <a:rPr lang="en-US" b="1" dirty="0">
                <a:solidFill>
                  <a:srgbClr val="984807"/>
                </a:solidFill>
              </a:rPr>
              <a:t>arrays</a:t>
            </a:r>
            <a:r>
              <a:rPr lang="en-US" dirty="0"/>
              <a:t>, the keys are </a:t>
            </a:r>
            <a:r>
              <a:rPr lang="en-US" b="1" dirty="0">
                <a:solidFill>
                  <a:srgbClr val="984807"/>
                </a:solidFill>
              </a:rPr>
              <a:t>indices</a:t>
            </a:r>
            <a:r>
              <a:rPr lang="en-US" dirty="0">
                <a:solidFill>
                  <a:srgbClr val="984807"/>
                </a:solidFill>
              </a:rPr>
              <a:t> </a:t>
            </a:r>
            <a:r>
              <a:rPr lang="en-US" dirty="0"/>
              <a:t>into the array</a:t>
            </a:r>
          </a:p>
          <a:p>
            <a:pPr lvl="1"/>
            <a:r>
              <a:rPr lang="en-US" baseline="0" dirty="0"/>
              <a:t>For</a:t>
            </a:r>
            <a:r>
              <a:rPr lang="en-US" dirty="0"/>
              <a:t> “</a:t>
            </a:r>
            <a:r>
              <a:rPr lang="en-US" b="1" dirty="0">
                <a:solidFill>
                  <a:srgbClr val="984807"/>
                </a:solidFill>
              </a:rPr>
              <a:t>dictionaries</a:t>
            </a:r>
            <a:r>
              <a:rPr lang="en-US" dirty="0"/>
              <a:t>”, the keys can be </a:t>
            </a:r>
            <a:r>
              <a:rPr lang="en-US" b="1" dirty="0">
                <a:solidFill>
                  <a:srgbClr val="984807"/>
                </a:solidFill>
              </a:rPr>
              <a:t>arbitrary objects</a:t>
            </a:r>
            <a:endParaRPr lang="en-US" b="1" baseline="0" dirty="0">
              <a:solidFill>
                <a:srgbClr val="98480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475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Ordered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collection of objects</a:t>
            </a:r>
          </a:p>
          <a:p>
            <a:pPr lvl="1"/>
            <a:r>
              <a:rPr lang="en-US" dirty="0"/>
              <a:t>Objects are stored in a definite order, as in arrays</a:t>
            </a:r>
          </a:p>
          <a:p>
            <a:r>
              <a:rPr lang="en-US" dirty="0"/>
              <a:t>Can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add or remove</a:t>
            </a:r>
            <a:r>
              <a:rPr lang="en-US" b="1" dirty="0">
                <a:solidFill>
                  <a:srgbClr val="984807"/>
                </a:solidFill>
              </a:rPr>
              <a:t> </a:t>
            </a:r>
            <a:r>
              <a:rPr lang="en-US" dirty="0"/>
              <a:t>objects</a:t>
            </a:r>
          </a:p>
          <a:p>
            <a:r>
              <a:rPr lang="en-US" dirty="0"/>
              <a:t>Vary by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restrictions</a:t>
            </a:r>
            <a:r>
              <a:rPr lang="en-US" dirty="0">
                <a:solidFill>
                  <a:srgbClr val="984807"/>
                </a:solidFill>
              </a:rPr>
              <a:t> </a:t>
            </a:r>
            <a:r>
              <a:rPr lang="en-US" dirty="0"/>
              <a:t>on what elements can</a:t>
            </a:r>
          </a:p>
          <a:p>
            <a:pPr lvl="1"/>
            <a:r>
              <a:rPr lang="en-US" dirty="0"/>
              <a:t>Be </a:t>
            </a:r>
            <a:r>
              <a:rPr lang="en-US" b="1" dirty="0">
                <a:solidFill>
                  <a:srgbClr val="984807"/>
                </a:solidFill>
              </a:rPr>
              <a:t>accessed</a:t>
            </a:r>
          </a:p>
          <a:p>
            <a:pPr lvl="1"/>
            <a:r>
              <a:rPr lang="en-US" dirty="0"/>
              <a:t>Be </a:t>
            </a:r>
            <a:r>
              <a:rPr lang="en-US" b="1" dirty="0">
                <a:solidFill>
                  <a:srgbClr val="984807"/>
                </a:solidFill>
              </a:rPr>
              <a:t>added or removed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903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(aka sequences)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Generalization of arrays</a:t>
            </a:r>
          </a:p>
          <a:p>
            <a:pPr lvl="1"/>
            <a:r>
              <a:rPr lang="en-US" dirty="0"/>
              <a:t>Essentially</a:t>
            </a:r>
            <a:r>
              <a:rPr lang="en-US" baseline="0" dirty="0"/>
              <a:t> a mapping from </a:t>
            </a:r>
            <a:r>
              <a:rPr lang="en-US" b="1" baseline="0" dirty="0">
                <a:solidFill>
                  <a:schemeClr val="accent6">
                    <a:lumMod val="50000"/>
                  </a:schemeClr>
                </a:solidFill>
              </a:rPr>
              <a:t>integers </a:t>
            </a:r>
            <a:r>
              <a:rPr lang="en-US" baseline="0" dirty="0"/>
              <a:t>(positions in the array) </a:t>
            </a:r>
            <a:r>
              <a:rPr lang="en-US" b="1" baseline="0" dirty="0">
                <a:solidFill>
                  <a:schemeClr val="accent6">
                    <a:lumMod val="50000"/>
                  </a:schemeClr>
                </a:solidFill>
              </a:rPr>
              <a:t>to objects </a:t>
            </a:r>
            <a:r>
              <a:rPr lang="en-US" baseline="0" dirty="0"/>
              <a:t>of some type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 restrictions</a:t>
            </a:r>
            <a:r>
              <a:rPr lang="en-US" dirty="0"/>
              <a:t> on</a:t>
            </a:r>
          </a:p>
          <a:p>
            <a:pPr lvl="1"/>
            <a:r>
              <a:rPr lang="en-US" dirty="0"/>
              <a:t>What elements can be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accessed</a:t>
            </a:r>
          </a:p>
          <a:p>
            <a:pPr lvl="1"/>
            <a:r>
              <a:rPr lang="en-US" baseline="0" dirty="0"/>
              <a:t>Generally</a:t>
            </a:r>
            <a:r>
              <a:rPr lang="en-US" dirty="0"/>
              <a:t> no restrictions on where elements can be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added or removed</a:t>
            </a:r>
            <a:endParaRPr lang="en-US" b="1" baseline="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350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arrays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Just an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object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pointing to an array</a:t>
            </a:r>
          </a:p>
          <a:p>
            <a:r>
              <a:rPr lang="en-US" dirty="0"/>
              <a:t>The the real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data is in the array</a:t>
            </a:r>
          </a:p>
          <a:p>
            <a:r>
              <a:rPr lang="en-US" dirty="0"/>
              <a:t>When you need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change the size</a:t>
            </a:r>
          </a:p>
          <a:p>
            <a:pPr lvl="1"/>
            <a:r>
              <a:rPr lang="en-US" dirty="0"/>
              <a:t>Make a </a:t>
            </a:r>
            <a:r>
              <a:rPr lang="en-US" b="1" dirty="0">
                <a:solidFill>
                  <a:srgbClr val="984807"/>
                </a:solidFill>
              </a:rPr>
              <a:t>new array</a:t>
            </a:r>
          </a:p>
          <a:p>
            <a:pPr lvl="1"/>
            <a:r>
              <a:rPr lang="en-US" b="1" dirty="0">
                <a:solidFill>
                  <a:srgbClr val="984807"/>
                </a:solidFill>
              </a:rPr>
              <a:t>Copy</a:t>
            </a:r>
            <a:r>
              <a:rPr lang="en-US" dirty="0">
                <a:solidFill>
                  <a:srgbClr val="984807"/>
                </a:solidFill>
              </a:rPr>
              <a:t> </a:t>
            </a:r>
            <a:r>
              <a:rPr lang="en-US" dirty="0"/>
              <a:t>the data</a:t>
            </a:r>
          </a:p>
          <a:p>
            <a:pPr lvl="1"/>
            <a:r>
              <a:rPr lang="en-US" b="1" dirty="0">
                <a:solidFill>
                  <a:srgbClr val="984807"/>
                </a:solidFill>
              </a:rPr>
              <a:t>Change the pointer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1600" y="17526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705600" y="2286000"/>
            <a:ext cx="20002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array </a:t>
            </a:r>
          </a:p>
          <a:p>
            <a:r>
              <a:rPr lang="en-US" dirty="0"/>
              <a:t>containing the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8400" y="3048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81800" y="3048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0" y="3048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848600" y="3048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382000" y="3048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Elbow Connector 20"/>
          <p:cNvCxnSpPr>
            <a:stCxn id="6" idx="3"/>
            <a:endCxn id="9" idx="0"/>
          </p:cNvCxnSpPr>
          <p:nvPr/>
        </p:nvCxnSpPr>
        <p:spPr>
          <a:xfrm>
            <a:off x="5715000" y="2019300"/>
            <a:ext cx="800100" cy="1028700"/>
          </a:xfrm>
          <a:prstGeom prst="bentConnector2">
            <a:avLst/>
          </a:prstGeom>
          <a:ln>
            <a:solidFill>
              <a:schemeClr val="tx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57800" y="1295400"/>
            <a:ext cx="239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pointer to current array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816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7150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2484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67818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3152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Elbow Connector 29"/>
          <p:cNvCxnSpPr>
            <a:stCxn id="6" idx="3"/>
            <a:endCxn id="24" idx="0"/>
          </p:cNvCxnSpPr>
          <p:nvPr/>
        </p:nvCxnSpPr>
        <p:spPr>
          <a:xfrm flipH="1">
            <a:off x="5448300" y="2019300"/>
            <a:ext cx="266700" cy="2324100"/>
          </a:xfrm>
          <a:prstGeom prst="bentConnector4">
            <a:avLst>
              <a:gd name="adj1" fmla="val -100000"/>
              <a:gd name="adj2" fmla="val 55738"/>
            </a:avLst>
          </a:prstGeom>
          <a:ln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848600" y="43434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5308768" y="5029200"/>
            <a:ext cx="2946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array with extra element</a:t>
            </a:r>
          </a:p>
        </p:txBody>
      </p:sp>
      <p:sp>
        <p:nvSpPr>
          <p:cNvPr id="34" name="TextBox 33"/>
          <p:cNvSpPr txBox="1"/>
          <p:nvPr/>
        </p:nvSpPr>
        <p:spPr>
          <a:xfrm rot="5400000">
            <a:off x="4639969" y="3476700"/>
            <a:ext cx="970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updated</a:t>
            </a:r>
          </a:p>
          <a:p>
            <a:r>
              <a:rPr lang="en-US" dirty="0"/>
              <a:t>pointer</a:t>
            </a:r>
          </a:p>
        </p:txBody>
      </p:sp>
    </p:spTree>
    <p:extLst>
      <p:ext uri="{BB962C8B-B14F-4D97-AF65-F5344CB8AC3E}">
        <p14:creationId xmlns:p14="http://schemas.microsoft.com/office/powerpoint/2010/main" val="4033982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Element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access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𝟏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Element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mutation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𝟏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Element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insertion/deletion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0">
                <a:blip r:embed="rId2"/>
                <a:stretch>
                  <a:fillRect l="-2715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5181600" y="17526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705600" y="2286000"/>
            <a:ext cx="20002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array </a:t>
            </a:r>
          </a:p>
          <a:p>
            <a:r>
              <a:rPr lang="en-US" dirty="0"/>
              <a:t>containing the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8400" y="3048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81800" y="3048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0" y="3048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848600" y="3048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382000" y="3048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Elbow Connector 20"/>
          <p:cNvCxnSpPr>
            <a:stCxn id="6" idx="3"/>
            <a:endCxn id="9" idx="0"/>
          </p:cNvCxnSpPr>
          <p:nvPr/>
        </p:nvCxnSpPr>
        <p:spPr>
          <a:xfrm>
            <a:off x="5715000" y="2019300"/>
            <a:ext cx="800100" cy="1028700"/>
          </a:xfrm>
          <a:prstGeom prst="bentConnector2">
            <a:avLst/>
          </a:prstGeom>
          <a:ln>
            <a:solidFill>
              <a:schemeClr val="tx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57800" y="1295400"/>
            <a:ext cx="239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pointer to current array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816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7150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2484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67818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3152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Elbow Connector 29"/>
          <p:cNvCxnSpPr>
            <a:stCxn id="6" idx="3"/>
            <a:endCxn id="24" idx="0"/>
          </p:cNvCxnSpPr>
          <p:nvPr/>
        </p:nvCxnSpPr>
        <p:spPr>
          <a:xfrm flipH="1">
            <a:off x="5448300" y="2019300"/>
            <a:ext cx="266700" cy="2324100"/>
          </a:xfrm>
          <a:prstGeom prst="bentConnector4">
            <a:avLst>
              <a:gd name="adj1" fmla="val -100000"/>
              <a:gd name="adj2" fmla="val 55738"/>
            </a:avLst>
          </a:prstGeom>
          <a:ln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848600" y="43434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5308768" y="5029200"/>
            <a:ext cx="2946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array with extra element</a:t>
            </a:r>
          </a:p>
        </p:txBody>
      </p:sp>
      <p:sp>
        <p:nvSpPr>
          <p:cNvPr id="34" name="TextBox 33"/>
          <p:cNvSpPr txBox="1"/>
          <p:nvPr/>
        </p:nvSpPr>
        <p:spPr>
          <a:xfrm rot="5400000">
            <a:off x="4639969" y="3476700"/>
            <a:ext cx="970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updated</a:t>
            </a:r>
          </a:p>
          <a:p>
            <a:r>
              <a:rPr lang="en-US" dirty="0"/>
              <a:t>pointer</a:t>
            </a:r>
          </a:p>
        </p:txBody>
      </p:sp>
    </p:spTree>
    <p:extLst>
      <p:ext uri="{BB962C8B-B14F-4D97-AF65-F5344CB8AC3E}">
        <p14:creationId xmlns:p14="http://schemas.microsoft.com/office/powerpoint/2010/main" val="2957994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array in C#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28600" y="1600200"/>
            <a:ext cx="4038600" cy="52578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 public class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DynamicArray</a:t>
            </a:r>
            <a:r>
              <a:rPr lang="en-US" dirty="0"/>
              <a:t>  {</a:t>
            </a:r>
          </a:p>
          <a:p>
            <a:pPr marL="0" indent="0">
              <a:buNone/>
            </a:pPr>
            <a:r>
              <a:rPr lang="en-US" dirty="0"/>
              <a:t>        object[]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realArray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br>
              <a:rPr lang="en-US" dirty="0"/>
            </a:br>
            <a:r>
              <a:rPr lang="en-US" dirty="0"/>
              <a:t>                       = new object[0];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// This overloads</a:t>
            </a:r>
            <a:br>
              <a:rPr lang="en-US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        // the [ ] operator</a:t>
            </a:r>
          </a:p>
          <a:p>
            <a:pPr marL="0" indent="0">
              <a:buNone/>
            </a:pPr>
            <a:r>
              <a:rPr lang="en-US" dirty="0"/>
              <a:t>        public object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this[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index]</a:t>
            </a:r>
            <a:r>
              <a:rPr lang="en-US" dirty="0"/>
              <a:t>  {</a:t>
            </a:r>
          </a:p>
          <a:p>
            <a:pPr marL="0" indent="0">
              <a:buNone/>
            </a:pPr>
            <a:r>
              <a:rPr lang="en-US" dirty="0"/>
              <a:t>            get</a:t>
            </a:r>
          </a:p>
          <a:p>
            <a:pPr marL="0" indent="0">
              <a:buNone/>
            </a:pPr>
            <a:r>
              <a:rPr lang="en-US" dirty="0"/>
              <a:t>            {</a:t>
            </a:r>
          </a:p>
          <a:p>
            <a:pPr marL="0" indent="0">
              <a:buNone/>
            </a:pPr>
            <a:r>
              <a:rPr lang="en-US" dirty="0"/>
              <a:t>                return </a:t>
            </a:r>
            <a:r>
              <a:rPr lang="en-US" dirty="0" err="1"/>
              <a:t>realArray</a:t>
            </a:r>
            <a:r>
              <a:rPr lang="en-US" dirty="0"/>
              <a:t>[index];</a:t>
            </a:r>
          </a:p>
          <a:p>
            <a:pPr marL="0" indent="0">
              <a:buNone/>
            </a:pPr>
            <a:r>
              <a:rPr lang="en-US" dirty="0"/>
              <a:t>            }</a:t>
            </a:r>
          </a:p>
          <a:p>
            <a:pPr marL="0" indent="0">
              <a:buNone/>
            </a:pPr>
            <a:r>
              <a:rPr lang="en-US" dirty="0"/>
              <a:t>            set</a:t>
            </a:r>
          </a:p>
          <a:p>
            <a:pPr marL="0" indent="0">
              <a:buNone/>
            </a:pPr>
            <a:r>
              <a:rPr lang="en-US" dirty="0"/>
              <a:t>            {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realArray</a:t>
            </a:r>
            <a:r>
              <a:rPr lang="en-US" dirty="0"/>
              <a:t>[index] = value;</a:t>
            </a:r>
          </a:p>
          <a:p>
            <a:pPr marL="0" indent="0">
              <a:buNone/>
            </a:pPr>
            <a:r>
              <a:rPr lang="en-US" dirty="0"/>
              <a:t>            }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191000" y="1951037"/>
            <a:ext cx="5105400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// Add an element at position</a:t>
            </a:r>
            <a:br>
              <a:rPr lang="en-US" dirty="0"/>
            </a:br>
            <a:r>
              <a:rPr lang="en-US" dirty="0"/>
              <a:t>        void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Add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position,</a:t>
            </a:r>
            <a:br>
              <a:rPr lang="en-US" dirty="0"/>
            </a:br>
            <a:r>
              <a:rPr lang="en-US" dirty="0"/>
              <a:t>                       object </a:t>
            </a:r>
            <a:r>
              <a:rPr lang="en-US" dirty="0" err="1"/>
              <a:t>newValue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{</a:t>
            </a:r>
          </a:p>
          <a:p>
            <a:pPr marL="0" indent="0">
              <a:buNone/>
            </a:pPr>
            <a:r>
              <a:rPr lang="en-US" dirty="0"/>
              <a:t>            object[] </a:t>
            </a:r>
            <a:r>
              <a:rPr lang="en-US" dirty="0" err="1"/>
              <a:t>newArray</a:t>
            </a:r>
            <a:br>
              <a:rPr lang="en-US" dirty="0"/>
            </a:br>
            <a:r>
              <a:rPr lang="en-US" dirty="0"/>
              <a:t>               = new object[</a:t>
            </a:r>
            <a:r>
              <a:rPr lang="en-US" dirty="0" err="1"/>
              <a:t>realArray.Length</a:t>
            </a:r>
            <a:r>
              <a:rPr lang="en-US" dirty="0"/>
              <a:t> + 1];</a:t>
            </a:r>
          </a:p>
          <a:p>
            <a:pPr marL="0" indent="0">
              <a:buNone/>
            </a:pPr>
            <a:r>
              <a:rPr lang="en-US" dirty="0"/>
              <a:t>            for (</a:t>
            </a:r>
            <a:r>
              <a:rPr lang="en-US" dirty="0" err="1"/>
              <a:t>int</a:t>
            </a:r>
            <a:r>
              <a:rPr lang="en-US" dirty="0"/>
              <a:t> i = 0; i &lt; position; i++)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newArray</a:t>
            </a:r>
            <a:r>
              <a:rPr lang="en-US" dirty="0"/>
              <a:t>[i] = </a:t>
            </a:r>
            <a:r>
              <a:rPr lang="en-US" dirty="0" err="1"/>
              <a:t>realArray</a:t>
            </a:r>
            <a:r>
              <a:rPr lang="en-US" dirty="0"/>
              <a:t>[i];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newArray</a:t>
            </a:r>
            <a:r>
              <a:rPr lang="en-US" dirty="0"/>
              <a:t>[position] = </a:t>
            </a:r>
            <a:r>
              <a:rPr lang="en-US" dirty="0" err="1"/>
              <a:t>newValue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    for (</a:t>
            </a:r>
            <a:r>
              <a:rPr lang="en-US" dirty="0" err="1"/>
              <a:t>int</a:t>
            </a:r>
            <a:r>
              <a:rPr lang="en-US" dirty="0"/>
              <a:t> i = position+1; </a:t>
            </a:r>
            <a:br>
              <a:rPr lang="en-US" dirty="0"/>
            </a:br>
            <a:r>
              <a:rPr lang="en-US" dirty="0"/>
              <a:t>                   i&lt;</a:t>
            </a:r>
            <a:r>
              <a:rPr lang="en-US" dirty="0" err="1"/>
              <a:t>newArray.Length</a:t>
            </a:r>
            <a:r>
              <a:rPr lang="en-US" dirty="0"/>
              <a:t>; i++)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newArray</a:t>
            </a:r>
            <a:r>
              <a:rPr lang="en-US" dirty="0"/>
              <a:t>[i] = </a:t>
            </a:r>
            <a:r>
              <a:rPr lang="en-US" dirty="0" err="1"/>
              <a:t>realArray</a:t>
            </a:r>
            <a:r>
              <a:rPr lang="en-US" dirty="0"/>
              <a:t>[i-1];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realArray</a:t>
            </a:r>
            <a:r>
              <a:rPr lang="en-US" dirty="0"/>
              <a:t> = </a:t>
            </a:r>
            <a:r>
              <a:rPr lang="en-US" dirty="0" err="1"/>
              <a:t>newArray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        // Removing an element is similar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        // but won’t fit on the slide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648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Provide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standard interface </a:t>
            </a:r>
            <a:r>
              <a:rPr lang="en-US" dirty="0"/>
              <a:t>for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iterating over items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in a data structure</a:t>
            </a:r>
          </a:p>
          <a:p>
            <a:pPr lvl="1"/>
            <a:r>
              <a:rPr lang="en-US" dirty="0"/>
              <a:t>In C# they’re used as the interface to </a:t>
            </a:r>
            <a:r>
              <a:rPr lang="en-US" dirty="0" err="1"/>
              <a:t>foreach</a:t>
            </a:r>
            <a:endParaRPr lang="en-US" dirty="0"/>
          </a:p>
          <a:p>
            <a:endParaRPr lang="en-US" dirty="0"/>
          </a:p>
          <a:p>
            <a:r>
              <a:rPr lang="en-US" dirty="0"/>
              <a:t>Specify</a:t>
            </a:r>
          </a:p>
          <a:p>
            <a:pPr lvl="1"/>
            <a:r>
              <a:rPr lang="en-US" dirty="0"/>
              <a:t>Where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start</a:t>
            </a:r>
          </a:p>
          <a:p>
            <a:pPr lvl="1"/>
            <a:r>
              <a:rPr lang="en-US" dirty="0"/>
              <a:t>How to move to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next element</a:t>
            </a:r>
          </a:p>
          <a:p>
            <a:pPr lvl="1"/>
            <a:r>
              <a:rPr lang="en-US" dirty="0"/>
              <a:t>How to know when you’re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done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err="1"/>
              <a:t>foreach</a:t>
            </a:r>
            <a:r>
              <a:rPr lang="en-US" sz="2400" dirty="0"/>
              <a:t> (</a:t>
            </a:r>
            <a:r>
              <a:rPr lang="en-US" sz="2400" dirty="0" err="1"/>
              <a:t>var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984807"/>
                </a:solidFill>
              </a:rPr>
              <a:t>e in collection</a:t>
            </a:r>
            <a:r>
              <a:rPr lang="en-US" sz="2400" dirty="0"/>
              <a:t>) {</a:t>
            </a:r>
            <a:br>
              <a:rPr lang="en-US" sz="2400" dirty="0"/>
            </a:br>
            <a:r>
              <a:rPr lang="en-US" sz="2400" dirty="0"/>
              <a:t>    </a:t>
            </a:r>
            <a:r>
              <a:rPr lang="en-US" sz="2400" b="1" dirty="0" err="1">
                <a:solidFill>
                  <a:srgbClr val="984807"/>
                </a:solidFill>
              </a:rPr>
              <a:t>do_something</a:t>
            </a:r>
            <a:r>
              <a:rPr lang="en-US" sz="2400" b="1" dirty="0">
                <a:solidFill>
                  <a:srgbClr val="984807"/>
                </a:solidFill>
              </a:rPr>
              <a:t>(e);</a:t>
            </a:r>
            <a:br>
              <a:rPr lang="en-US" sz="2400" b="1" dirty="0">
                <a:solidFill>
                  <a:srgbClr val="984807"/>
                </a:solidFill>
              </a:rPr>
            </a:br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695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Subroutines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You all know what subroutines are</a:t>
            </a:r>
          </a:p>
          <a:p>
            <a:pPr lvl="1"/>
            <a:r>
              <a:rPr lang="en-US" dirty="0" err="1"/>
              <a:t>A.k.a</a:t>
            </a:r>
            <a:r>
              <a:rPr lang="en-US" dirty="0"/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procedures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functions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Methods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are a special case</a:t>
            </a:r>
          </a:p>
          <a:p>
            <a:pPr lvl="1"/>
            <a:endParaRPr lang="en-US" dirty="0"/>
          </a:p>
          <a:p>
            <a:r>
              <a:rPr lang="en-US" dirty="0"/>
              <a:t>They’re pieces of code that perform a service for other pieces of code</a:t>
            </a:r>
          </a:p>
          <a:p>
            <a:pPr lvl="1"/>
            <a:endParaRPr lang="en-US" dirty="0"/>
          </a:p>
          <a:p>
            <a:r>
              <a:rPr lang="en-US" dirty="0"/>
              <a:t>Control is passed</a:t>
            </a:r>
          </a:p>
          <a:p>
            <a:pPr lvl="1"/>
            <a:r>
              <a:rPr lang="en-US" dirty="0"/>
              <a:t>First from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caller to the subroutine</a:t>
            </a:r>
          </a:p>
          <a:p>
            <a:pPr lvl="1"/>
            <a:r>
              <a:rPr lang="en-US" dirty="0"/>
              <a:t>Them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back to the caller</a:t>
            </a:r>
            <a:r>
              <a:rPr lang="en-US" dirty="0"/>
              <a:t>, along with the return value</a:t>
            </a:r>
          </a:p>
          <a:p>
            <a:pPr lvl="1"/>
            <a:r>
              <a:rPr lang="en-US" dirty="0"/>
              <a:t>After which,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call is done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371600"/>
            <a:ext cx="1295400" cy="1752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086600" y="3429000"/>
            <a:ext cx="1295400" cy="1752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029200" y="5562600"/>
            <a:ext cx="1295400" cy="7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324600" y="3124200"/>
            <a:ext cx="762000" cy="304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6324600" y="5181600"/>
            <a:ext cx="762000" cy="381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9669" y="2799834"/>
            <a:ext cx="2024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with arguments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734" y="5416034"/>
            <a:ext cx="1833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with result</a:t>
            </a:r>
          </a:p>
        </p:txBody>
      </p:sp>
    </p:spTree>
    <p:extLst>
      <p:ext uri="{BB962C8B-B14F-4D97-AF65-F5344CB8AC3E}">
        <p14:creationId xmlns:p14="http://schemas.microsoft.com/office/powerpoint/2010/main" val="2153078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Producer-consumer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What if you want to return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multiple values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Could return the values in an array or other sequence structure</a:t>
            </a:r>
          </a:p>
          <a:p>
            <a:pPr lvl="1"/>
            <a:r>
              <a:rPr lang="en-US" dirty="0"/>
              <a:t>But that’s inefficient because you need to allocate new memory</a:t>
            </a:r>
          </a:p>
          <a:p>
            <a:endParaRPr lang="en-US" dirty="0"/>
          </a:p>
          <a:p>
            <a:r>
              <a:rPr lang="en-US" dirty="0"/>
              <a:t>What you wish is that the subroutine could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“return” multiple times</a:t>
            </a:r>
          </a:p>
          <a:p>
            <a:pPr lvl="1"/>
            <a:r>
              <a:rPr lang="en-US" dirty="0"/>
              <a:t>Once per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371600"/>
            <a:ext cx="1295400" cy="1752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086600" y="3429000"/>
            <a:ext cx="1295400" cy="1752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subroutine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5562600"/>
            <a:ext cx="1295400" cy="7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caller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324600" y="3124200"/>
            <a:ext cx="762000" cy="304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6324600" y="5181600"/>
            <a:ext cx="762000" cy="381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9669" y="2799834"/>
            <a:ext cx="2024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with arguments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734" y="5416034"/>
            <a:ext cx="130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array</a:t>
            </a:r>
          </a:p>
        </p:txBody>
      </p:sp>
    </p:spTree>
    <p:extLst>
      <p:ext uri="{BB962C8B-B14F-4D97-AF65-F5344CB8AC3E}">
        <p14:creationId xmlns:p14="http://schemas.microsoft.com/office/powerpoint/2010/main" val="333125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Coroutines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Way of letting a procedure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return multiple values</a:t>
            </a:r>
          </a:p>
          <a:p>
            <a:pPr>
              <a:spcBef>
                <a:spcPts val="180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Remember their place</a:t>
            </a:r>
            <a:r>
              <a:rPr lang="en-US" dirty="0"/>
              <a:t> (and local variables) when they return</a:t>
            </a:r>
          </a:p>
          <a:p>
            <a:pPr>
              <a:spcBef>
                <a:spcPts val="1800"/>
              </a:spcBef>
            </a:pPr>
            <a:r>
              <a:rPr lang="en-US" dirty="0"/>
              <a:t>Can be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resumed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by caller to request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another value</a:t>
            </a:r>
          </a:p>
          <a:p>
            <a:pPr lvl="1"/>
            <a:r>
              <a:rPr lang="en-US" dirty="0" err="1"/>
              <a:t>Coroutine</a:t>
            </a:r>
            <a:r>
              <a:rPr lang="en-US" dirty="0"/>
              <a:t> then continues where it left off</a:t>
            </a:r>
          </a:p>
          <a:p>
            <a:pPr lvl="1"/>
            <a:r>
              <a:rPr lang="en-US" dirty="0"/>
              <a:t>Computes another value</a:t>
            </a:r>
          </a:p>
          <a:p>
            <a:pPr lvl="1"/>
            <a:r>
              <a:rPr lang="en-US" dirty="0"/>
              <a:t>And returns it, again remembering its place</a:t>
            </a:r>
          </a:p>
          <a:p>
            <a:pPr>
              <a:spcBef>
                <a:spcPts val="1800"/>
              </a:spcBef>
            </a:pPr>
            <a:r>
              <a:rPr lang="en-US" dirty="0"/>
              <a:t>Eventually, they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signal completion</a:t>
            </a:r>
          </a:p>
          <a:p>
            <a:pPr lvl="1"/>
            <a:r>
              <a:rPr lang="en-US" dirty="0"/>
              <a:t>I.e. it returns for the last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914400"/>
            <a:ext cx="12954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086600" y="1905000"/>
            <a:ext cx="12954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029200" y="2743200"/>
            <a:ext cx="12954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324600" y="1600200"/>
            <a:ext cx="762000" cy="304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6324600" y="2362200"/>
            <a:ext cx="762000" cy="381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9669" y="1275834"/>
            <a:ext cx="2024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with arguments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7357" y="2450068"/>
            <a:ext cx="1363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3429000"/>
            <a:ext cx="12954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029200" y="4267200"/>
            <a:ext cx="12954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324600" y="3124200"/>
            <a:ext cx="762000" cy="304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6324600" y="3886200"/>
            <a:ext cx="762000" cy="381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9669" y="2907268"/>
            <a:ext cx="88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962400"/>
            <a:ext cx="1827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next result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4972566"/>
            <a:ext cx="12954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029200" y="5810766"/>
            <a:ext cx="12954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6324600" y="4667766"/>
            <a:ext cx="762000" cy="304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6324600" y="5429766"/>
            <a:ext cx="762000" cy="381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9669" y="4431268"/>
            <a:ext cx="88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200" y="5602069"/>
            <a:ext cx="1744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last result</a:t>
            </a:r>
          </a:p>
        </p:txBody>
      </p:sp>
    </p:spTree>
    <p:extLst>
      <p:ext uri="{BB962C8B-B14F-4D97-AF65-F5344CB8AC3E}">
        <p14:creationId xmlns:p14="http://schemas.microsoft.com/office/powerpoint/2010/main" val="1117102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Iterators in C#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953000"/>
          </a:xfrm>
        </p:spPr>
        <p:txBody>
          <a:bodyPr>
            <a:normAutofit/>
          </a:bodyPr>
          <a:lstStyle/>
          <a:p>
            <a:r>
              <a:rPr lang="en-US" sz="2400" dirty="0"/>
              <a:t>Must return the magic type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IEnumerable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(or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IEnumerable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&lt;T&gt;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</a:p>
          <a:p>
            <a:pPr>
              <a:spcBef>
                <a:spcPts val="1800"/>
              </a:spcBef>
            </a:pPr>
            <a:r>
              <a:rPr lang="en-US" sz="2400" dirty="0"/>
              <a:t>Called using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foreach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sz="2000" dirty="0"/>
              <a:t>Return values by saying “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yield return </a:t>
            </a:r>
            <a:r>
              <a:rPr lang="en-US" sz="2000" i="1" dirty="0"/>
              <a:t>value</a:t>
            </a:r>
            <a:r>
              <a:rPr lang="en-US" sz="2000" dirty="0"/>
              <a:t>”</a:t>
            </a:r>
          </a:p>
          <a:p>
            <a:pPr lvl="1"/>
            <a:r>
              <a:rPr lang="en-US" sz="2000" b="1" dirty="0">
                <a:solidFill>
                  <a:srgbClr val="984807"/>
                </a:solidFill>
              </a:rPr>
              <a:t>Continue where they left off </a:t>
            </a:r>
            <a:r>
              <a:rPr lang="en-US" sz="2000" dirty="0"/>
              <a:t>when </a:t>
            </a:r>
            <a:r>
              <a:rPr lang="en-US" sz="2000" dirty="0" err="1"/>
              <a:t>when</a:t>
            </a:r>
            <a:r>
              <a:rPr lang="en-US" sz="2000" dirty="0"/>
              <a:t> </a:t>
            </a:r>
            <a:r>
              <a:rPr lang="en-US" sz="2000" dirty="0" err="1"/>
              <a:t>foreach</a:t>
            </a:r>
            <a:r>
              <a:rPr lang="en-US" sz="2000" dirty="0"/>
              <a:t> requests the next value</a:t>
            </a:r>
          </a:p>
          <a:p>
            <a:pPr lvl="1"/>
            <a:r>
              <a:rPr lang="en-US" sz="2000" dirty="0"/>
              <a:t>Continues until the </a:t>
            </a:r>
            <a:r>
              <a:rPr lang="en-US" sz="2000" dirty="0" err="1"/>
              <a:t>coroutine</a:t>
            </a:r>
            <a:r>
              <a:rPr lang="en-US" sz="2000" dirty="0"/>
              <a:t> exits</a:t>
            </a:r>
          </a:p>
          <a:p>
            <a:pPr lvl="2"/>
            <a:r>
              <a:rPr lang="en-US" sz="1600" dirty="0"/>
              <a:t>I.e. it hits the last 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public </a:t>
            </a:r>
            <a:r>
              <a:rPr lang="en-US" sz="2000" b="1" dirty="0" err="1"/>
              <a:t>IEnumerable</a:t>
            </a:r>
            <a:r>
              <a:rPr lang="en-US" sz="2000" b="1" dirty="0"/>
              <a:t>     </a:t>
            </a:r>
            <a:br>
              <a:rPr lang="en-US" sz="2000" b="1" dirty="0"/>
            </a:br>
            <a:r>
              <a:rPr lang="en-US" sz="2000" b="1" dirty="0"/>
              <a:t>   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GetEnumerator</a:t>
            </a:r>
            <a:r>
              <a:rPr lang="en-US" sz="2000" b="1" dirty="0"/>
              <a:t>() {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i="1" dirty="0"/>
              <a:t>loop over all the elements</a:t>
            </a:r>
          </a:p>
          <a:p>
            <a:pPr marL="0" indent="0">
              <a:buNone/>
            </a:pPr>
            <a:r>
              <a:rPr lang="en-US" sz="2000" i="1" dirty="0"/>
              <a:t>          </a:t>
            </a:r>
            <a:r>
              <a:rPr lang="en-US" sz="2000" b="1" i="1" dirty="0"/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yield return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000" i="1" dirty="0"/>
              <a:t>current-element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2000" b="1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4084218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 for dynamic arrays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public </a:t>
            </a:r>
            <a:r>
              <a:rPr lang="en-US" sz="2800" dirty="0" err="1"/>
              <a:t>IEnumerator</a:t>
            </a:r>
            <a:r>
              <a:rPr lang="en-US" sz="2800" dirty="0"/>
              <a:t>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</a:rPr>
              <a:t>GetEnumerator</a:t>
            </a:r>
            <a:r>
              <a:rPr lang="en-US" sz="2800" dirty="0"/>
              <a:t>() {</a:t>
            </a:r>
            <a:br>
              <a:rPr lang="en-US" sz="2800" dirty="0"/>
            </a:br>
            <a:r>
              <a:rPr lang="en-US" dirty="0"/>
              <a:t>   for (</a:t>
            </a:r>
            <a:r>
              <a:rPr lang="en-US" dirty="0" err="1"/>
              <a:t>int</a:t>
            </a:r>
            <a:r>
              <a:rPr lang="en-US" dirty="0"/>
              <a:t> i=0; i&lt;</a:t>
            </a:r>
            <a:r>
              <a:rPr lang="en-US" dirty="0" err="1"/>
              <a:t>realArray.Length</a:t>
            </a:r>
            <a:r>
              <a:rPr lang="en-US" dirty="0"/>
              <a:t>; i++)</a:t>
            </a:r>
            <a:br>
              <a:rPr lang="en-US" dirty="0"/>
            </a:br>
            <a:r>
              <a:rPr lang="en-US" dirty="0"/>
              <a:t>     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yield return </a:t>
            </a:r>
            <a:r>
              <a:rPr lang="en-US" dirty="0" err="1"/>
              <a:t>realArray</a:t>
            </a:r>
            <a:r>
              <a:rPr lang="en-US" dirty="0"/>
              <a:t>[i];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Now you can use a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foreach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statement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loop over a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DynamicArray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084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Main</a:t>
            </a:r>
            <a:r>
              <a:rPr lang="en-US" sz="2400" dirty="0"/>
              <a:t>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</a:rPr>
              <a:t>DynamicArray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 d</a:t>
            </a:r>
            <a:r>
              <a:rPr lang="en-US" sz="2400" dirty="0"/>
              <a:t>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b="1" dirty="0" err="1">
                <a:solidFill>
                  <a:srgbClr val="C00000"/>
                </a:solidFill>
              </a:rPr>
              <a:t>int</a:t>
            </a:r>
            <a:r>
              <a:rPr lang="en-US" sz="2400" b="1" dirty="0">
                <a:solidFill>
                  <a:srgbClr val="C00000"/>
                </a:solidFill>
              </a:rPr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foreach</a:t>
            </a:r>
            <a:r>
              <a:rPr lang="en-US" sz="2400" dirty="0"/>
              <a:t> (object e in d)</a:t>
            </a:r>
            <a:br>
              <a:rPr lang="en-US" sz="2400" dirty="0"/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class </a:t>
            </a:r>
            <a:r>
              <a:rPr lang="en-US" sz="2200" b="1" dirty="0" err="1">
                <a:solidFill>
                  <a:schemeClr val="accent6">
                    <a:lumMod val="75000"/>
                  </a:schemeClr>
                </a:solidFill>
              </a:rPr>
              <a:t>DynamicArray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200" dirty="0"/>
              <a:t>: </a:t>
            </a:r>
            <a:r>
              <a:rPr lang="en-US" sz="2200" dirty="0" err="1"/>
              <a:t>IEnumerable</a:t>
            </a:r>
            <a:r>
              <a:rPr lang="en-US" sz="2200" dirty="0"/>
              <a:t> {</a:t>
            </a:r>
          </a:p>
          <a:p>
            <a:pPr marL="0" indent="0">
              <a:buNone/>
            </a:pPr>
            <a:r>
              <a:rPr lang="en-US" sz="1900" dirty="0"/>
              <a:t>   public </a:t>
            </a:r>
            <a:r>
              <a:rPr lang="en-US" sz="1900" dirty="0" err="1"/>
              <a:t>IEnumerator</a:t>
            </a:r>
            <a:r>
              <a:rPr lang="en-US" sz="1900" dirty="0"/>
              <a:t> </a:t>
            </a:r>
            <a:r>
              <a:rPr lang="en-US" sz="1900" b="1" dirty="0" err="1">
                <a:solidFill>
                  <a:schemeClr val="accent6">
                    <a:lumMod val="50000"/>
                  </a:schemeClr>
                </a:solidFill>
              </a:rPr>
              <a:t>GetEnumerator</a:t>
            </a:r>
            <a:r>
              <a:rPr lang="en-US" sz="1900" dirty="0"/>
              <a:t>() </a:t>
            </a:r>
            <a:br>
              <a:rPr lang="en-US" sz="1900" dirty="0"/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i&lt;</a:t>
            </a:r>
            <a:r>
              <a:rPr lang="en-US" sz="2400" dirty="0" err="1"/>
              <a:t>realArray.Length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yield return </a:t>
            </a:r>
            <a:r>
              <a:rPr lang="en-US" sz="2400" dirty="0" err="1"/>
              <a:t>realArray</a:t>
            </a:r>
            <a:r>
              <a:rPr lang="en-US" sz="2400" dirty="0"/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rest of the members </a:t>
            </a:r>
            <a:r>
              <a:rPr lang="en-US" sz="2400" dirty="0"/>
              <a:t>…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= 0</a:t>
            </a:r>
          </a:p>
        </p:txBody>
      </p:sp>
    </p:spTree>
    <p:extLst>
      <p:ext uri="{BB962C8B-B14F-4D97-AF65-F5344CB8AC3E}">
        <p14:creationId xmlns:p14="http://schemas.microsoft.com/office/powerpoint/2010/main" val="2642040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b="1" dirty="0" err="1">
                <a:solidFill>
                  <a:srgbClr val="C00000"/>
                </a:solidFill>
              </a:rPr>
              <a:t>foreach</a:t>
            </a:r>
            <a:r>
              <a:rPr lang="en-US" sz="2400" b="1" dirty="0">
                <a:solidFill>
                  <a:srgbClr val="C00000"/>
                </a:solidFill>
              </a:rPr>
              <a:t> (object e in d)</a:t>
            </a:r>
            <a:br>
              <a:rPr lang="en-US" sz="2400" dirty="0"/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class </a:t>
            </a:r>
            <a:r>
              <a:rPr lang="en-US" sz="2200" dirty="0" err="1"/>
              <a:t>DynamicArray</a:t>
            </a:r>
            <a:r>
              <a:rPr lang="en-US" sz="2200" dirty="0"/>
              <a:t> : </a:t>
            </a:r>
            <a:r>
              <a:rPr lang="en-US" sz="2200" dirty="0" err="1"/>
              <a:t>IEnumerable</a:t>
            </a:r>
            <a:r>
              <a:rPr lang="en-US" sz="2200" dirty="0"/>
              <a:t> {</a:t>
            </a:r>
          </a:p>
          <a:p>
            <a:pPr marL="0" indent="0">
              <a:buNone/>
            </a:pPr>
            <a:r>
              <a:rPr lang="en-US" sz="1800" dirty="0"/>
              <a:t>   public </a:t>
            </a:r>
            <a:r>
              <a:rPr lang="en-US" sz="1800" dirty="0" err="1"/>
              <a:t>IEnumerator</a:t>
            </a:r>
            <a:r>
              <a:rPr lang="en-US" sz="1800" dirty="0"/>
              <a:t> </a:t>
            </a:r>
            <a:r>
              <a:rPr lang="en-US" sz="1800" dirty="0" err="1"/>
              <a:t>GetEnumerator</a:t>
            </a:r>
            <a:r>
              <a:rPr lang="en-US" sz="1800" dirty="0"/>
              <a:t>() </a:t>
            </a:r>
            <a:br>
              <a:rPr lang="en-US" sz="2400" dirty="0"/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i&lt;</a:t>
            </a:r>
            <a:r>
              <a:rPr lang="en-US" sz="2400" dirty="0" err="1"/>
              <a:t>realArray.Length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yield return </a:t>
            </a:r>
            <a:r>
              <a:rPr lang="en-US" sz="2400" dirty="0" err="1"/>
              <a:t>realArray</a:t>
            </a:r>
            <a:r>
              <a:rPr lang="en-US" sz="2400" dirty="0"/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rest of the members </a:t>
            </a:r>
            <a:r>
              <a:rPr lang="en-US" sz="2400" dirty="0"/>
              <a:t>…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= 0</a:t>
            </a:r>
          </a:p>
        </p:txBody>
      </p:sp>
    </p:spTree>
    <p:extLst>
      <p:ext uri="{BB962C8B-B14F-4D97-AF65-F5344CB8AC3E}">
        <p14:creationId xmlns:p14="http://schemas.microsoft.com/office/powerpoint/2010/main" val="975238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foreach</a:t>
            </a:r>
            <a:r>
              <a:rPr lang="en-US" sz="2400" dirty="0"/>
              <a:t> (object e in d)</a:t>
            </a:r>
            <a:br>
              <a:rPr lang="en-US" sz="2400" dirty="0"/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class </a:t>
            </a:r>
            <a:r>
              <a:rPr lang="en-US" sz="2000" dirty="0" err="1"/>
              <a:t>DynamicArray</a:t>
            </a:r>
            <a:r>
              <a:rPr lang="en-US" sz="2000" dirty="0"/>
              <a:t> : </a:t>
            </a:r>
            <a:r>
              <a:rPr lang="en-US" sz="2000" dirty="0" err="1"/>
              <a:t>IEnumerable</a:t>
            </a:r>
            <a:r>
              <a:rPr lang="en-US" sz="2000" dirty="0"/>
              <a:t> {</a:t>
            </a:r>
          </a:p>
          <a:p>
            <a:pPr marL="0" indent="0">
              <a:buNone/>
            </a:pPr>
            <a:r>
              <a:rPr lang="en-US" sz="1800" dirty="0"/>
              <a:t>   public </a:t>
            </a:r>
            <a:r>
              <a:rPr lang="en-US" sz="1800" dirty="0" err="1"/>
              <a:t>IEnumerator</a:t>
            </a:r>
            <a:r>
              <a:rPr lang="en-US" sz="1800" dirty="0"/>
              <a:t> </a:t>
            </a:r>
            <a:r>
              <a:rPr lang="en-US" sz="1800" dirty="0" err="1"/>
              <a:t>GetEnumerator</a:t>
            </a:r>
            <a:r>
              <a:rPr lang="en-US" sz="1800" dirty="0"/>
              <a:t>() </a:t>
            </a:r>
            <a:br>
              <a:rPr lang="en-US" sz="2400" dirty="0"/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b="1" dirty="0" err="1">
                <a:solidFill>
                  <a:srgbClr val="C00000"/>
                </a:solidFill>
              </a:rPr>
              <a:t>int</a:t>
            </a:r>
            <a:r>
              <a:rPr lang="en-US" sz="2400" b="1" dirty="0">
                <a:solidFill>
                  <a:srgbClr val="C00000"/>
                </a:solidFill>
              </a:rPr>
              <a:t> i=0;          </a:t>
            </a:r>
            <a:br>
              <a:rPr lang="en-US" sz="2400" dirty="0"/>
            </a:br>
            <a:r>
              <a:rPr lang="en-US" sz="2400" dirty="0"/>
              <a:t>            i&lt;</a:t>
            </a:r>
            <a:r>
              <a:rPr lang="en-US" sz="2400" dirty="0" err="1"/>
              <a:t>realArray.Length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yield return </a:t>
            </a:r>
            <a:r>
              <a:rPr lang="en-US" sz="2400" dirty="0" err="1"/>
              <a:t>realArray</a:t>
            </a:r>
            <a:r>
              <a:rPr lang="en-US" sz="2400" dirty="0"/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245" y="5522893"/>
            <a:ext cx="2412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i =                     0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 err="1">
                <a:solidFill>
                  <a:schemeClr val="accent3">
                    <a:lumMod val="50000"/>
                  </a:schemeClr>
                </a:solidFill>
              </a:rPr>
              <a:t>realArray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[i] = 2</a:t>
            </a:r>
          </a:p>
        </p:txBody>
      </p:sp>
    </p:spTree>
    <p:extLst>
      <p:ext uri="{BB962C8B-B14F-4D97-AF65-F5344CB8AC3E}">
        <p14:creationId xmlns:p14="http://schemas.microsoft.com/office/powerpoint/2010/main" val="1872528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foreach</a:t>
            </a:r>
            <a:r>
              <a:rPr lang="en-US" sz="2400" dirty="0"/>
              <a:t> (object e in d)</a:t>
            </a:r>
            <a:br>
              <a:rPr lang="en-US" sz="2400" dirty="0"/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class </a:t>
            </a:r>
            <a:r>
              <a:rPr lang="en-US" sz="2000" dirty="0" err="1"/>
              <a:t>DynamicArray</a:t>
            </a:r>
            <a:r>
              <a:rPr lang="en-US" sz="2000" dirty="0"/>
              <a:t> : </a:t>
            </a:r>
            <a:r>
              <a:rPr lang="en-US" sz="2000" dirty="0" err="1"/>
              <a:t>IEnumerable</a:t>
            </a:r>
            <a:r>
              <a:rPr lang="en-US" sz="2000" dirty="0"/>
              <a:t> {</a:t>
            </a:r>
          </a:p>
          <a:p>
            <a:pPr marL="0" indent="0">
              <a:buNone/>
            </a:pPr>
            <a:r>
              <a:rPr lang="en-US" sz="1800" dirty="0"/>
              <a:t>   public </a:t>
            </a:r>
            <a:r>
              <a:rPr lang="en-US" sz="1800" dirty="0" err="1"/>
              <a:t>IEnumerator</a:t>
            </a:r>
            <a:r>
              <a:rPr lang="en-US" sz="1800" dirty="0"/>
              <a:t> </a:t>
            </a:r>
            <a:r>
              <a:rPr lang="en-US" sz="1800" dirty="0" err="1"/>
              <a:t>GetEnumerator</a:t>
            </a:r>
            <a:r>
              <a:rPr lang="en-US" sz="1800" dirty="0"/>
              <a:t>() </a:t>
            </a:r>
            <a:br>
              <a:rPr lang="en-US" sz="1800" dirty="0"/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</a:t>
            </a:r>
            <a:r>
              <a:rPr lang="en-US" sz="2400" b="1" dirty="0">
                <a:solidFill>
                  <a:srgbClr val="C00000"/>
                </a:solidFill>
              </a:rPr>
              <a:t>i&lt;</a:t>
            </a:r>
            <a:r>
              <a:rPr lang="en-US" sz="2400" b="1" dirty="0" err="1">
                <a:solidFill>
                  <a:srgbClr val="C00000"/>
                </a:solidFill>
              </a:rPr>
              <a:t>realArray.Length</a:t>
            </a:r>
            <a:r>
              <a:rPr lang="en-US" sz="2400" b="1" dirty="0">
                <a:solidFill>
                  <a:srgbClr val="C00000"/>
                </a:solidFill>
              </a:rPr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yield return </a:t>
            </a:r>
            <a:r>
              <a:rPr lang="en-US" sz="2400" dirty="0" err="1"/>
              <a:t>realArray</a:t>
            </a:r>
            <a:r>
              <a:rPr lang="en-US" sz="2400" dirty="0"/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245" y="5522893"/>
            <a:ext cx="2412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i =                     0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 err="1">
                <a:solidFill>
                  <a:schemeClr val="accent3">
                    <a:lumMod val="50000"/>
                  </a:schemeClr>
                </a:solidFill>
              </a:rPr>
              <a:t>realArray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[i] = 2</a:t>
            </a:r>
          </a:p>
        </p:txBody>
      </p:sp>
    </p:spTree>
    <p:extLst>
      <p:ext uri="{BB962C8B-B14F-4D97-AF65-F5344CB8AC3E}">
        <p14:creationId xmlns:p14="http://schemas.microsoft.com/office/powerpoint/2010/main" val="9290118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foreach</a:t>
            </a:r>
            <a:r>
              <a:rPr lang="en-US" sz="2400" dirty="0"/>
              <a:t> (object e in d)</a:t>
            </a:r>
            <a:br>
              <a:rPr lang="en-US" sz="2400" dirty="0"/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class </a:t>
            </a:r>
            <a:r>
              <a:rPr lang="en-US" sz="2000" dirty="0" err="1"/>
              <a:t>DynamicArray</a:t>
            </a:r>
            <a:r>
              <a:rPr lang="en-US" sz="2000" dirty="0"/>
              <a:t> : </a:t>
            </a:r>
            <a:r>
              <a:rPr lang="en-US" sz="2000" dirty="0" err="1"/>
              <a:t>IEnumerable</a:t>
            </a:r>
            <a:r>
              <a:rPr lang="en-US" sz="2000" dirty="0"/>
              <a:t> {</a:t>
            </a:r>
          </a:p>
          <a:p>
            <a:pPr marL="0" indent="0">
              <a:buNone/>
            </a:pPr>
            <a:r>
              <a:rPr lang="en-US" sz="1800" dirty="0"/>
              <a:t>   public </a:t>
            </a:r>
            <a:r>
              <a:rPr lang="en-US" sz="1800" dirty="0" err="1"/>
              <a:t>IEnumerator</a:t>
            </a:r>
            <a:r>
              <a:rPr lang="en-US" sz="1800" dirty="0"/>
              <a:t> </a:t>
            </a:r>
            <a:r>
              <a:rPr lang="en-US" sz="1800" dirty="0" err="1"/>
              <a:t>GetEnumerator</a:t>
            </a:r>
            <a:r>
              <a:rPr lang="en-US" sz="1800" dirty="0"/>
              <a:t>() </a:t>
            </a:r>
            <a:br>
              <a:rPr lang="en-US" sz="1800" dirty="0"/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i&lt;</a:t>
            </a:r>
            <a:r>
              <a:rPr lang="en-US" sz="2400" dirty="0" err="1"/>
              <a:t>realArray.Length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</a:t>
            </a:r>
            <a:r>
              <a:rPr lang="en-US" sz="2400" b="1" dirty="0">
                <a:solidFill>
                  <a:srgbClr val="C00000"/>
                </a:solidFill>
              </a:rPr>
              <a:t>yield return </a:t>
            </a:r>
            <a:r>
              <a:rPr lang="en-US" sz="2400" b="1" dirty="0" err="1">
                <a:solidFill>
                  <a:srgbClr val="C00000"/>
                </a:solidFill>
              </a:rPr>
              <a:t>realArray</a:t>
            </a:r>
            <a:r>
              <a:rPr lang="en-US" sz="2400" b="1" dirty="0">
                <a:solidFill>
                  <a:srgbClr val="C00000"/>
                </a:solidFill>
              </a:rPr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245" y="5522893"/>
            <a:ext cx="2412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i =                     0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 err="1">
                <a:solidFill>
                  <a:schemeClr val="accent3">
                    <a:lumMod val="50000"/>
                  </a:schemeClr>
                </a:solidFill>
              </a:rPr>
              <a:t>realArray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[i] = 2</a:t>
            </a:r>
          </a:p>
        </p:txBody>
      </p:sp>
    </p:spTree>
    <p:extLst>
      <p:ext uri="{BB962C8B-B14F-4D97-AF65-F5344CB8AC3E}">
        <p14:creationId xmlns:p14="http://schemas.microsoft.com/office/powerpoint/2010/main" val="4003953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b="1" dirty="0" err="1">
                <a:solidFill>
                  <a:srgbClr val="C00000"/>
                </a:solidFill>
              </a:rPr>
              <a:t>foreach</a:t>
            </a:r>
            <a:r>
              <a:rPr lang="en-US" sz="2400" b="1" dirty="0">
                <a:solidFill>
                  <a:srgbClr val="C00000"/>
                </a:solidFill>
              </a:rPr>
              <a:t> (object e in d)</a:t>
            </a:r>
            <a:br>
              <a:rPr lang="en-US" sz="2400" dirty="0"/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class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DynamicArray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: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IEnumerable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public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</a:t>
            </a:r>
            <a:b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i&lt;</a:t>
            </a:r>
            <a:r>
              <a:rPr lang="en-US" sz="2400" dirty="0" err="1"/>
              <a:t>realArray.Length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yield return </a:t>
            </a:r>
            <a:r>
              <a:rPr lang="en-US" sz="2400" dirty="0" err="1"/>
              <a:t>realArray</a:t>
            </a:r>
            <a:r>
              <a:rPr lang="en-US" sz="2400" dirty="0"/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= 0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e =      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245" y="5522893"/>
            <a:ext cx="2412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i =                     0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 err="1">
                <a:solidFill>
                  <a:schemeClr val="accent3">
                    <a:lumMod val="50000"/>
                  </a:schemeClr>
                </a:solidFill>
              </a:rPr>
              <a:t>realArray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[i] = 2</a:t>
            </a:r>
          </a:p>
        </p:txBody>
      </p:sp>
    </p:spTree>
    <p:extLst>
      <p:ext uri="{BB962C8B-B14F-4D97-AF65-F5344CB8AC3E}">
        <p14:creationId xmlns:p14="http://schemas.microsoft.com/office/powerpoint/2010/main" val="21013156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foreach</a:t>
            </a:r>
            <a:r>
              <a:rPr lang="en-US" sz="2400" dirty="0"/>
              <a:t> (object e in d)</a:t>
            </a:r>
            <a:br>
              <a:rPr lang="en-US" sz="2400" dirty="0"/>
            </a:br>
            <a:r>
              <a:rPr lang="en-US" sz="2400" dirty="0"/>
              <a:t>      </a:t>
            </a:r>
            <a:r>
              <a:rPr lang="en-US" sz="2400" b="1" dirty="0">
                <a:solidFill>
                  <a:srgbClr val="C00000"/>
                </a:solidFill>
              </a:rPr>
              <a:t>sum += (</a:t>
            </a:r>
            <a:r>
              <a:rPr lang="en-US" sz="2400" b="1" dirty="0" err="1">
                <a:solidFill>
                  <a:srgbClr val="C00000"/>
                </a:solidFill>
              </a:rPr>
              <a:t>int</a:t>
            </a:r>
            <a:r>
              <a:rPr lang="en-US" sz="2400" b="1" dirty="0">
                <a:solidFill>
                  <a:srgbClr val="C00000"/>
                </a:solidFill>
              </a:rPr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class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DynamicArray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: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IEnumerable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public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</a:t>
            </a:r>
            <a:b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i&lt;</a:t>
            </a:r>
            <a:r>
              <a:rPr lang="en-US" sz="2400" dirty="0" err="1"/>
              <a:t>realArray.Length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yield return </a:t>
            </a:r>
            <a:r>
              <a:rPr lang="en-US" sz="2400" dirty="0" err="1"/>
              <a:t>realArray</a:t>
            </a:r>
            <a:r>
              <a:rPr lang="en-US" sz="2400" dirty="0"/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= 2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e =      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245" y="5522893"/>
            <a:ext cx="2412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i =                     0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 err="1">
                <a:solidFill>
                  <a:schemeClr val="accent3">
                    <a:lumMod val="50000"/>
                  </a:schemeClr>
                </a:solidFill>
              </a:rPr>
              <a:t>realArray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[i] = 2</a:t>
            </a:r>
          </a:p>
        </p:txBody>
      </p:sp>
    </p:spTree>
    <p:extLst>
      <p:ext uri="{BB962C8B-B14F-4D97-AF65-F5344CB8AC3E}">
        <p14:creationId xmlns:p14="http://schemas.microsoft.com/office/powerpoint/2010/main" val="986064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b="1" dirty="0" err="1">
                <a:solidFill>
                  <a:srgbClr val="C00000"/>
                </a:solidFill>
              </a:rPr>
              <a:t>foreach</a:t>
            </a:r>
            <a:r>
              <a:rPr lang="en-US" sz="2400" b="1" dirty="0">
                <a:solidFill>
                  <a:srgbClr val="C00000"/>
                </a:solidFill>
              </a:rPr>
              <a:t> (object e in d)</a:t>
            </a:r>
            <a:br>
              <a:rPr lang="en-US" sz="2400" dirty="0"/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class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DynamicArray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: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IEnumerable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public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</a:t>
            </a:r>
            <a:b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i&lt;</a:t>
            </a:r>
            <a:r>
              <a:rPr lang="en-US" sz="2400" dirty="0" err="1"/>
              <a:t>realArray.Length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yield return </a:t>
            </a:r>
            <a:r>
              <a:rPr lang="en-US" sz="2400" dirty="0" err="1"/>
              <a:t>realArray</a:t>
            </a:r>
            <a:r>
              <a:rPr lang="en-US" sz="2400" dirty="0"/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= 2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e =      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245" y="5522893"/>
            <a:ext cx="2412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i =                     0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 err="1">
                <a:solidFill>
                  <a:schemeClr val="accent3">
                    <a:lumMod val="50000"/>
                  </a:schemeClr>
                </a:solidFill>
              </a:rPr>
              <a:t>realArray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[i] = 2</a:t>
            </a:r>
          </a:p>
        </p:txBody>
      </p:sp>
    </p:spTree>
    <p:extLst>
      <p:ext uri="{BB962C8B-B14F-4D97-AF65-F5344CB8AC3E}">
        <p14:creationId xmlns:p14="http://schemas.microsoft.com/office/powerpoint/2010/main" val="2503213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foreach</a:t>
            </a:r>
            <a:r>
              <a:rPr lang="en-US" sz="2400" dirty="0"/>
              <a:t> (object e in d)</a:t>
            </a:r>
            <a:br>
              <a:rPr lang="en-US" sz="2400" dirty="0"/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class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DynamicArray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: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IEnumerable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public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</a:t>
            </a:r>
            <a:b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i&lt;</a:t>
            </a:r>
            <a:r>
              <a:rPr lang="en-US" sz="2400" dirty="0" err="1"/>
              <a:t>realArray.Length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</a:t>
            </a:r>
            <a:r>
              <a:rPr lang="en-US" sz="2400" b="1" dirty="0">
                <a:solidFill>
                  <a:srgbClr val="C00000"/>
                </a:solidFill>
              </a:rPr>
              <a:t>yield return </a:t>
            </a:r>
            <a:r>
              <a:rPr lang="en-US" sz="2400" b="1" dirty="0" err="1">
                <a:solidFill>
                  <a:srgbClr val="C00000"/>
                </a:solidFill>
              </a:rPr>
              <a:t>realArray</a:t>
            </a:r>
            <a:r>
              <a:rPr lang="en-US" sz="2400" b="1" dirty="0">
                <a:solidFill>
                  <a:srgbClr val="C00000"/>
                </a:solidFill>
              </a:rPr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2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e =      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245" y="5522893"/>
            <a:ext cx="2412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i =                     0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 err="1">
                <a:solidFill>
                  <a:schemeClr val="accent3">
                    <a:lumMod val="50000"/>
                  </a:schemeClr>
                </a:solidFill>
              </a:rPr>
              <a:t>realArray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[i] = 2</a:t>
            </a:r>
          </a:p>
        </p:txBody>
      </p:sp>
    </p:spTree>
    <p:extLst>
      <p:ext uri="{BB962C8B-B14F-4D97-AF65-F5344CB8AC3E}">
        <p14:creationId xmlns:p14="http://schemas.microsoft.com/office/powerpoint/2010/main" val="40988440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foreach</a:t>
            </a:r>
            <a:r>
              <a:rPr lang="en-US" sz="2400" dirty="0"/>
              <a:t> (object e in d)</a:t>
            </a:r>
            <a:br>
              <a:rPr lang="en-US" sz="2400" dirty="0"/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class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DynamicArray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: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IEnumerable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public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</a:t>
            </a:r>
            <a:b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i&lt;</a:t>
            </a:r>
            <a:r>
              <a:rPr lang="en-US" sz="2400" dirty="0" err="1"/>
              <a:t>realArray.Length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            </a:t>
            </a:r>
            <a:r>
              <a:rPr lang="en-US" sz="2400" b="1" dirty="0">
                <a:solidFill>
                  <a:srgbClr val="C00000"/>
                </a:solidFill>
              </a:rPr>
              <a:t>i++</a:t>
            </a:r>
            <a:r>
              <a:rPr lang="en-US" sz="2400" dirty="0"/>
              <a:t>)</a:t>
            </a:r>
            <a:br>
              <a:rPr lang="en-US" sz="2400" dirty="0"/>
            </a:br>
            <a:r>
              <a:rPr lang="en-US" sz="2400" dirty="0"/>
              <a:t>         yield return </a:t>
            </a:r>
            <a:r>
              <a:rPr lang="en-US" sz="2400" dirty="0" err="1"/>
              <a:t>realArray</a:t>
            </a:r>
            <a:r>
              <a:rPr lang="en-US" sz="2400" dirty="0"/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2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e =      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245" y="5522893"/>
            <a:ext cx="2412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i =                     1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 err="1">
                <a:solidFill>
                  <a:schemeClr val="accent3">
                    <a:lumMod val="50000"/>
                  </a:schemeClr>
                </a:solidFill>
              </a:rPr>
              <a:t>realArray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[i] = 4</a:t>
            </a:r>
          </a:p>
        </p:txBody>
      </p:sp>
    </p:spTree>
    <p:extLst>
      <p:ext uri="{BB962C8B-B14F-4D97-AF65-F5344CB8AC3E}">
        <p14:creationId xmlns:p14="http://schemas.microsoft.com/office/powerpoint/2010/main" val="8777535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foreach</a:t>
            </a:r>
            <a:r>
              <a:rPr lang="en-US" sz="2400" dirty="0"/>
              <a:t> (object e in d)</a:t>
            </a:r>
            <a:br>
              <a:rPr lang="en-US" sz="2400" dirty="0"/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class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DynamicArray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: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IEnumerable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public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</a:t>
            </a:r>
            <a:b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</a:t>
            </a:r>
            <a:r>
              <a:rPr lang="en-US" sz="2400" b="1" dirty="0">
                <a:solidFill>
                  <a:srgbClr val="C00000"/>
                </a:solidFill>
              </a:rPr>
              <a:t>i&lt;</a:t>
            </a:r>
            <a:r>
              <a:rPr lang="en-US" sz="2400" b="1" dirty="0" err="1">
                <a:solidFill>
                  <a:srgbClr val="C00000"/>
                </a:solidFill>
              </a:rPr>
              <a:t>realArray.Length</a:t>
            </a:r>
            <a:r>
              <a:rPr lang="en-US" sz="2400" b="1" dirty="0">
                <a:solidFill>
                  <a:srgbClr val="C00000"/>
                </a:solidFill>
              </a:rPr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yield return </a:t>
            </a:r>
            <a:r>
              <a:rPr lang="en-US" sz="2400" dirty="0" err="1"/>
              <a:t>realArray</a:t>
            </a:r>
            <a:r>
              <a:rPr lang="en-US" sz="2400" dirty="0"/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2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e =      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245" y="5522893"/>
            <a:ext cx="2412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i =                     1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 err="1">
                <a:solidFill>
                  <a:schemeClr val="accent3">
                    <a:lumMod val="50000"/>
                  </a:schemeClr>
                </a:solidFill>
              </a:rPr>
              <a:t>realArray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[i]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274723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foreach</a:t>
            </a:r>
            <a:r>
              <a:rPr lang="en-US" sz="2400" dirty="0"/>
              <a:t> (object e in d)</a:t>
            </a:r>
            <a:br>
              <a:rPr lang="en-US" sz="2400" dirty="0"/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class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DynamicArray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: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IEnumerable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public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</a:t>
            </a:r>
            <a:b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i&lt;</a:t>
            </a:r>
            <a:r>
              <a:rPr lang="en-US" sz="2400" dirty="0" err="1"/>
              <a:t>realArray.Length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</a:t>
            </a:r>
            <a:r>
              <a:rPr lang="en-US" sz="2400" b="1" dirty="0">
                <a:solidFill>
                  <a:srgbClr val="C00000"/>
                </a:solidFill>
              </a:rPr>
              <a:t>yield return </a:t>
            </a:r>
            <a:r>
              <a:rPr lang="en-US" sz="2400" b="1" dirty="0" err="1">
                <a:solidFill>
                  <a:srgbClr val="C00000"/>
                </a:solidFill>
              </a:rPr>
              <a:t>realArray</a:t>
            </a:r>
            <a:r>
              <a:rPr lang="en-US" sz="2400" b="1" dirty="0">
                <a:solidFill>
                  <a:srgbClr val="C00000"/>
                </a:solidFill>
              </a:rPr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2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e =      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245" y="5522893"/>
            <a:ext cx="2412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i =                     1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 err="1">
                <a:solidFill>
                  <a:schemeClr val="accent3">
                    <a:lumMod val="50000"/>
                  </a:schemeClr>
                </a:solidFill>
              </a:rPr>
              <a:t>realArray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[i]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801563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b="1" dirty="0" err="1">
                <a:solidFill>
                  <a:srgbClr val="C00000"/>
                </a:solidFill>
              </a:rPr>
              <a:t>foreach</a:t>
            </a:r>
            <a:r>
              <a:rPr lang="en-US" sz="2400" b="1" dirty="0">
                <a:solidFill>
                  <a:srgbClr val="C00000"/>
                </a:solidFill>
              </a:rPr>
              <a:t> (object e in d)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class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DynamicArray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: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IEnumerable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public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</a:t>
            </a:r>
            <a:b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i&lt;</a:t>
            </a:r>
            <a:r>
              <a:rPr lang="en-US" sz="2400" dirty="0" err="1"/>
              <a:t>realArray.Length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yield return </a:t>
            </a:r>
            <a:r>
              <a:rPr lang="en-US" sz="2400" dirty="0" err="1"/>
              <a:t>realArray</a:t>
            </a:r>
            <a:r>
              <a:rPr lang="en-US" sz="2400" dirty="0"/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= 2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e =      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245" y="5522893"/>
            <a:ext cx="2412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i =                     1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 err="1">
                <a:solidFill>
                  <a:schemeClr val="accent3">
                    <a:lumMod val="50000"/>
                  </a:schemeClr>
                </a:solidFill>
              </a:rPr>
              <a:t>realArray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[i]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595123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foreach</a:t>
            </a:r>
            <a:r>
              <a:rPr lang="en-US" sz="2400" dirty="0"/>
              <a:t> (object e in d)</a:t>
            </a:r>
            <a:br>
              <a:rPr lang="en-US" sz="2400" dirty="0"/>
            </a:br>
            <a:r>
              <a:rPr lang="en-US" sz="2400" dirty="0"/>
              <a:t>      </a:t>
            </a:r>
            <a:r>
              <a:rPr lang="en-US" sz="2400" b="1" dirty="0">
                <a:solidFill>
                  <a:srgbClr val="C00000"/>
                </a:solidFill>
              </a:rPr>
              <a:t>sum += (</a:t>
            </a:r>
            <a:r>
              <a:rPr lang="en-US" sz="2400" b="1" dirty="0" err="1">
                <a:solidFill>
                  <a:srgbClr val="C00000"/>
                </a:solidFill>
              </a:rPr>
              <a:t>int</a:t>
            </a:r>
            <a:r>
              <a:rPr lang="en-US" sz="2400" b="1" dirty="0">
                <a:solidFill>
                  <a:srgbClr val="C00000"/>
                </a:solidFill>
              </a:rPr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class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DynamicArray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: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IEnumerable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public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</a:t>
            </a:r>
            <a:b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i&lt;</a:t>
            </a:r>
            <a:r>
              <a:rPr lang="en-US" sz="2400" dirty="0" err="1"/>
              <a:t>realArray.Length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yield return </a:t>
            </a:r>
            <a:r>
              <a:rPr lang="en-US" sz="2400" dirty="0" err="1"/>
              <a:t>realArray</a:t>
            </a:r>
            <a:r>
              <a:rPr lang="en-US" sz="2400" dirty="0"/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= 6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e =      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245" y="5522893"/>
            <a:ext cx="2412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i =                     1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 err="1">
                <a:solidFill>
                  <a:schemeClr val="accent3">
                    <a:lumMod val="50000"/>
                  </a:schemeClr>
                </a:solidFill>
              </a:rPr>
              <a:t>realArray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[i]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281602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b="1" dirty="0" err="1">
                <a:solidFill>
                  <a:srgbClr val="C00000"/>
                </a:solidFill>
              </a:rPr>
              <a:t>foreach</a:t>
            </a:r>
            <a:r>
              <a:rPr lang="en-US" sz="2400" b="1" dirty="0">
                <a:solidFill>
                  <a:srgbClr val="C00000"/>
                </a:solidFill>
              </a:rPr>
              <a:t> (object e in d)</a:t>
            </a:r>
            <a:br>
              <a:rPr lang="en-US" sz="2400" dirty="0"/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class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DynamicArray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: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IEnumerable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public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</a:t>
            </a:r>
            <a:b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i&lt;</a:t>
            </a:r>
            <a:r>
              <a:rPr lang="en-US" sz="2400" dirty="0" err="1"/>
              <a:t>realArray.Length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yield return </a:t>
            </a:r>
            <a:r>
              <a:rPr lang="en-US" sz="2400" dirty="0" err="1"/>
              <a:t>realArray</a:t>
            </a:r>
            <a:r>
              <a:rPr lang="en-US" sz="2400" dirty="0"/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6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e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      4</a:t>
            </a:r>
            <a:endParaRPr lang="en-US" sz="28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3245" y="5522893"/>
            <a:ext cx="2412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i =                     1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 err="1">
                <a:solidFill>
                  <a:schemeClr val="accent3">
                    <a:lumMod val="50000"/>
                  </a:schemeClr>
                </a:solidFill>
              </a:rPr>
              <a:t>realArray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[i]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732195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foreach</a:t>
            </a:r>
            <a:r>
              <a:rPr lang="en-US" sz="2400" dirty="0"/>
              <a:t> (object e in d)</a:t>
            </a:r>
            <a:br>
              <a:rPr lang="en-US" sz="2400" dirty="0"/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class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DynamicArray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: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IEnumerable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public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</a:t>
            </a:r>
            <a:b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i&lt;</a:t>
            </a:r>
            <a:r>
              <a:rPr lang="en-US" sz="2400" dirty="0" err="1"/>
              <a:t>realArray.Length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</a:t>
            </a:r>
            <a:r>
              <a:rPr lang="en-US" sz="2400" b="1" dirty="0">
                <a:solidFill>
                  <a:srgbClr val="C00000"/>
                </a:solidFill>
              </a:rPr>
              <a:t>yield return </a:t>
            </a:r>
            <a:r>
              <a:rPr lang="en-US" sz="2400" b="1" dirty="0" err="1">
                <a:solidFill>
                  <a:srgbClr val="C00000"/>
                </a:solidFill>
              </a:rPr>
              <a:t>realArray</a:t>
            </a:r>
            <a:r>
              <a:rPr lang="en-US" sz="2400" b="1" dirty="0">
                <a:solidFill>
                  <a:srgbClr val="C00000"/>
                </a:solidFill>
              </a:rPr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6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e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      4</a:t>
            </a:r>
            <a:endParaRPr lang="en-US" sz="28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3245" y="5522893"/>
            <a:ext cx="2412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i =                     1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 err="1">
                <a:solidFill>
                  <a:schemeClr val="accent3">
                    <a:lumMod val="50000"/>
                  </a:schemeClr>
                </a:solidFill>
              </a:rPr>
              <a:t>realArray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[i]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586170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foreach</a:t>
            </a:r>
            <a:r>
              <a:rPr lang="en-US" sz="2400" dirty="0"/>
              <a:t> (object e in d)</a:t>
            </a:r>
            <a:br>
              <a:rPr lang="en-US" sz="2400" dirty="0"/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class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DynamicArray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: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IEnumerable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public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</a:t>
            </a:r>
            <a:b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i&lt;</a:t>
            </a:r>
            <a:r>
              <a:rPr lang="en-US" sz="2400" dirty="0" err="1"/>
              <a:t>realArray.Length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            </a:t>
            </a:r>
            <a:r>
              <a:rPr lang="en-US" sz="2400" b="1" dirty="0">
                <a:solidFill>
                  <a:srgbClr val="C00000"/>
                </a:solidFill>
              </a:rPr>
              <a:t>i++</a:t>
            </a:r>
            <a:r>
              <a:rPr lang="en-US" sz="2400" dirty="0"/>
              <a:t>)</a:t>
            </a:r>
            <a:br>
              <a:rPr lang="en-US" sz="2400" dirty="0"/>
            </a:br>
            <a:r>
              <a:rPr lang="en-US" sz="2400" dirty="0"/>
              <a:t>         yield return </a:t>
            </a:r>
            <a:r>
              <a:rPr lang="en-US" sz="2400" dirty="0" err="1"/>
              <a:t>realArray</a:t>
            </a:r>
            <a:r>
              <a:rPr lang="en-US" sz="2400" dirty="0"/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6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e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      4</a:t>
            </a:r>
            <a:endParaRPr lang="en-US" sz="28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3245" y="5522893"/>
            <a:ext cx="2412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i =                     2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 err="1">
                <a:solidFill>
                  <a:schemeClr val="accent3">
                    <a:lumMod val="50000"/>
                  </a:schemeClr>
                </a:solidFill>
              </a:rPr>
              <a:t>realArray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[i] = 6</a:t>
            </a:r>
          </a:p>
        </p:txBody>
      </p:sp>
    </p:spTree>
    <p:extLst>
      <p:ext uri="{BB962C8B-B14F-4D97-AF65-F5344CB8AC3E}">
        <p14:creationId xmlns:p14="http://schemas.microsoft.com/office/powerpoint/2010/main" val="4467270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foreach</a:t>
            </a:r>
            <a:r>
              <a:rPr lang="en-US" sz="2400" dirty="0"/>
              <a:t> (object e in d)</a:t>
            </a:r>
            <a:br>
              <a:rPr lang="en-US" sz="2400" dirty="0"/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class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DynamicArray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: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IEnumerable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public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</a:t>
            </a:r>
            <a:b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</a:t>
            </a:r>
            <a:r>
              <a:rPr lang="en-US" sz="2400" b="1" dirty="0">
                <a:solidFill>
                  <a:srgbClr val="C00000"/>
                </a:solidFill>
              </a:rPr>
              <a:t>i&lt;</a:t>
            </a:r>
            <a:r>
              <a:rPr lang="en-US" sz="2400" b="1" dirty="0" err="1">
                <a:solidFill>
                  <a:srgbClr val="C00000"/>
                </a:solidFill>
              </a:rPr>
              <a:t>realArray.Length</a:t>
            </a:r>
            <a:r>
              <a:rPr lang="en-US" sz="2400" b="1" dirty="0">
                <a:solidFill>
                  <a:srgbClr val="C00000"/>
                </a:solidFill>
              </a:rPr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yield return </a:t>
            </a:r>
            <a:r>
              <a:rPr lang="en-US" sz="2400" dirty="0" err="1"/>
              <a:t>realArray</a:t>
            </a:r>
            <a:r>
              <a:rPr lang="en-US" sz="2400" dirty="0"/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6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e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      4</a:t>
            </a:r>
            <a:endParaRPr lang="en-US" sz="28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3245" y="5522893"/>
            <a:ext cx="2412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i =                     2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 err="1">
                <a:solidFill>
                  <a:schemeClr val="accent3">
                    <a:lumMod val="50000"/>
                  </a:schemeClr>
                </a:solidFill>
              </a:rPr>
              <a:t>realArray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[i]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6</a:t>
            </a:r>
            <a:endParaRPr lang="en-US" sz="28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5763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foreach</a:t>
            </a:r>
            <a:r>
              <a:rPr lang="en-US" sz="2400" dirty="0"/>
              <a:t> (object e in d)</a:t>
            </a:r>
            <a:br>
              <a:rPr lang="en-US" sz="2400" dirty="0"/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class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DynamicArray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: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IEnumerable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public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</a:t>
            </a:r>
            <a:b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i&lt;</a:t>
            </a:r>
            <a:r>
              <a:rPr lang="en-US" sz="2400" dirty="0" err="1"/>
              <a:t>realArray.Length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</a:t>
            </a:r>
            <a:r>
              <a:rPr lang="en-US" sz="2400" b="1" dirty="0">
                <a:solidFill>
                  <a:srgbClr val="C00000"/>
                </a:solidFill>
              </a:rPr>
              <a:t>yield return </a:t>
            </a:r>
            <a:r>
              <a:rPr lang="en-US" sz="2400" b="1" dirty="0" err="1">
                <a:solidFill>
                  <a:srgbClr val="C00000"/>
                </a:solidFill>
              </a:rPr>
              <a:t>realArray</a:t>
            </a:r>
            <a:r>
              <a:rPr lang="en-US" sz="2400" b="1" dirty="0">
                <a:solidFill>
                  <a:srgbClr val="C00000"/>
                </a:solidFill>
              </a:rPr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6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e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      4</a:t>
            </a:r>
            <a:endParaRPr lang="en-US" sz="28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3245" y="5522893"/>
            <a:ext cx="2412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i =                     2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 err="1">
                <a:solidFill>
                  <a:schemeClr val="accent3">
                    <a:lumMod val="50000"/>
                  </a:schemeClr>
                </a:solidFill>
              </a:rPr>
              <a:t>realArray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[i]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6</a:t>
            </a:r>
            <a:endParaRPr lang="en-US" sz="28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9063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b="1" dirty="0" err="1">
                <a:solidFill>
                  <a:srgbClr val="C00000"/>
                </a:solidFill>
              </a:rPr>
              <a:t>foreach</a:t>
            </a:r>
            <a:r>
              <a:rPr lang="en-US" sz="2400" b="1" dirty="0">
                <a:solidFill>
                  <a:srgbClr val="C00000"/>
                </a:solidFill>
              </a:rPr>
              <a:t> (object e in d)</a:t>
            </a:r>
            <a:br>
              <a:rPr lang="en-US" sz="2400" dirty="0"/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class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DynamicArray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: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IEnumerable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public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</a:t>
            </a:r>
            <a:b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i&lt;</a:t>
            </a:r>
            <a:r>
              <a:rPr lang="en-US" sz="2400" dirty="0" err="1"/>
              <a:t>realArray.Length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yield return </a:t>
            </a:r>
            <a:r>
              <a:rPr lang="en-US" sz="2400" dirty="0" err="1"/>
              <a:t>realArray</a:t>
            </a:r>
            <a:r>
              <a:rPr lang="en-US" sz="2400" dirty="0"/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= 6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e =      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245" y="5522893"/>
            <a:ext cx="2412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i =                     2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 err="1">
                <a:solidFill>
                  <a:schemeClr val="accent3">
                    <a:lumMod val="50000"/>
                  </a:schemeClr>
                </a:solidFill>
              </a:rPr>
              <a:t>realArray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[i]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6</a:t>
            </a:r>
            <a:endParaRPr lang="en-US" sz="28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9058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foreach</a:t>
            </a:r>
            <a:r>
              <a:rPr lang="en-US" sz="2400" dirty="0"/>
              <a:t> (object e in d)</a:t>
            </a:r>
            <a:br>
              <a:rPr lang="en-US" sz="2400" dirty="0"/>
            </a:br>
            <a:r>
              <a:rPr lang="en-US" sz="2400" dirty="0"/>
              <a:t>      </a:t>
            </a:r>
            <a:r>
              <a:rPr lang="en-US" sz="2400" b="1" dirty="0">
                <a:solidFill>
                  <a:srgbClr val="C00000"/>
                </a:solidFill>
              </a:rPr>
              <a:t>sum += (</a:t>
            </a:r>
            <a:r>
              <a:rPr lang="en-US" sz="2400" b="1" dirty="0" err="1">
                <a:solidFill>
                  <a:srgbClr val="C00000"/>
                </a:solidFill>
              </a:rPr>
              <a:t>int</a:t>
            </a:r>
            <a:r>
              <a:rPr lang="en-US" sz="2400" b="1" dirty="0">
                <a:solidFill>
                  <a:srgbClr val="C00000"/>
                </a:solidFill>
              </a:rPr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class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DynamicArray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: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IEnumerable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public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</a:t>
            </a:r>
            <a:b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i&lt;</a:t>
            </a:r>
            <a:r>
              <a:rPr lang="en-US" sz="2400" dirty="0" err="1"/>
              <a:t>realArray.Length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yield return </a:t>
            </a:r>
            <a:r>
              <a:rPr lang="en-US" sz="2400" dirty="0" err="1"/>
              <a:t>realArray</a:t>
            </a:r>
            <a:r>
              <a:rPr lang="en-US" sz="2400" dirty="0"/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= 12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e =      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245" y="5522893"/>
            <a:ext cx="2412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i =                     2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 err="1">
                <a:solidFill>
                  <a:schemeClr val="accent3">
                    <a:lumMod val="50000"/>
                  </a:schemeClr>
                </a:solidFill>
              </a:rPr>
              <a:t>realArray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[i]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6</a:t>
            </a:r>
            <a:endParaRPr lang="en-US" sz="28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3845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foreach</a:t>
            </a:r>
            <a:r>
              <a:rPr lang="en-US" sz="2400" dirty="0"/>
              <a:t> (object e in d)</a:t>
            </a:r>
            <a:br>
              <a:rPr lang="en-US" sz="2400" dirty="0"/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class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DynamicArray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: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IEnumerable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public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</a:t>
            </a:r>
            <a:b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i&lt;</a:t>
            </a:r>
            <a:r>
              <a:rPr lang="en-US" sz="2400" dirty="0" err="1"/>
              <a:t>realArray.Length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</a:t>
            </a:r>
            <a:r>
              <a:rPr lang="en-US" sz="2400" b="1" dirty="0">
                <a:solidFill>
                  <a:srgbClr val="C00000"/>
                </a:solidFill>
              </a:rPr>
              <a:t>yield return </a:t>
            </a:r>
            <a:r>
              <a:rPr lang="en-US" sz="2400" b="1" dirty="0" err="1">
                <a:solidFill>
                  <a:srgbClr val="C00000"/>
                </a:solidFill>
              </a:rPr>
              <a:t>realArray</a:t>
            </a:r>
            <a:r>
              <a:rPr lang="en-US" sz="2400" b="1" dirty="0">
                <a:solidFill>
                  <a:srgbClr val="C00000"/>
                </a:solidFill>
              </a:rPr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12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e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      6</a:t>
            </a:r>
            <a:endParaRPr lang="en-US" sz="28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3245" y="5522893"/>
            <a:ext cx="2412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i =                     2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 err="1">
                <a:solidFill>
                  <a:schemeClr val="accent3">
                    <a:lumMod val="50000"/>
                  </a:schemeClr>
                </a:solidFill>
              </a:rPr>
              <a:t>realArray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[i]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6</a:t>
            </a:r>
            <a:endParaRPr lang="en-US" sz="28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0521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foreach</a:t>
            </a:r>
            <a:r>
              <a:rPr lang="en-US" sz="2400" dirty="0"/>
              <a:t> (object e in d)</a:t>
            </a:r>
            <a:br>
              <a:rPr lang="en-US" sz="2400" dirty="0"/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class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DynamicArray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: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IEnumerable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public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</a:t>
            </a:r>
            <a:b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i&lt;</a:t>
            </a:r>
            <a:r>
              <a:rPr lang="en-US" sz="2400" dirty="0" err="1"/>
              <a:t>realArray.Length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            </a:t>
            </a:r>
            <a:r>
              <a:rPr lang="en-US" sz="2400" b="1" dirty="0">
                <a:solidFill>
                  <a:srgbClr val="C00000"/>
                </a:solidFill>
              </a:rPr>
              <a:t>i++</a:t>
            </a:r>
            <a:r>
              <a:rPr lang="en-US" sz="2400" dirty="0"/>
              <a:t>)</a:t>
            </a:r>
            <a:br>
              <a:rPr lang="en-US" sz="2400" dirty="0"/>
            </a:br>
            <a:r>
              <a:rPr lang="en-US" sz="2400" dirty="0"/>
              <a:t>         yield return </a:t>
            </a:r>
            <a:r>
              <a:rPr lang="en-US" sz="2400" dirty="0" err="1"/>
              <a:t>realArray</a:t>
            </a:r>
            <a:r>
              <a:rPr lang="en-US" sz="2400" dirty="0"/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12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e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      6</a:t>
            </a:r>
            <a:endParaRPr lang="en-US" sz="28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3245" y="5522893"/>
            <a:ext cx="2412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i =                     3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 err="1">
                <a:solidFill>
                  <a:schemeClr val="accent3">
                    <a:lumMod val="50000"/>
                  </a:schemeClr>
                </a:solidFill>
              </a:rPr>
              <a:t>realArray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[i] = 6</a:t>
            </a:r>
          </a:p>
        </p:txBody>
      </p:sp>
    </p:spTree>
    <p:extLst>
      <p:ext uri="{BB962C8B-B14F-4D97-AF65-F5344CB8AC3E}">
        <p14:creationId xmlns:p14="http://schemas.microsoft.com/office/powerpoint/2010/main" val="40423244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foreach</a:t>
            </a:r>
            <a:r>
              <a:rPr lang="en-US" sz="2400" dirty="0"/>
              <a:t> (object e in d)</a:t>
            </a:r>
            <a:br>
              <a:rPr lang="en-US" sz="2400" dirty="0"/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class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DynamicArray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: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IEnumerable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public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</a:t>
            </a:r>
            <a:b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</a:t>
            </a:r>
            <a:r>
              <a:rPr lang="en-US" sz="2400" b="1" dirty="0">
                <a:solidFill>
                  <a:srgbClr val="C00000"/>
                </a:solidFill>
              </a:rPr>
              <a:t>i&lt;</a:t>
            </a:r>
            <a:r>
              <a:rPr lang="en-US" sz="2400" b="1" dirty="0" err="1">
                <a:solidFill>
                  <a:srgbClr val="C00000"/>
                </a:solidFill>
              </a:rPr>
              <a:t>realArray.Length</a:t>
            </a:r>
            <a:r>
              <a:rPr lang="en-US" sz="2400" b="1" dirty="0">
                <a:solidFill>
                  <a:srgbClr val="C00000"/>
                </a:solidFill>
              </a:rPr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yield return </a:t>
            </a:r>
            <a:r>
              <a:rPr lang="en-US" sz="2400" dirty="0" err="1"/>
              <a:t>realArray</a:t>
            </a:r>
            <a:r>
              <a:rPr lang="en-US" sz="2400" dirty="0"/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6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e </a:t>
            </a:r>
            <a:r>
              <a:rPr lang="en-US" sz="2800" b="1">
                <a:solidFill>
                  <a:schemeClr val="accent3">
                    <a:lumMod val="50000"/>
                  </a:schemeClr>
                </a:solidFill>
              </a:rPr>
              <a:t>=       4</a:t>
            </a:r>
            <a:endParaRPr lang="en-US" sz="28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3245" y="5522893"/>
            <a:ext cx="24120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i =                     3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 err="1">
                <a:solidFill>
                  <a:schemeClr val="accent3">
                    <a:lumMod val="50000"/>
                  </a:schemeClr>
                </a:solidFill>
              </a:rPr>
              <a:t>realArray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[i] = 6</a:t>
            </a:r>
          </a:p>
        </p:txBody>
      </p:sp>
    </p:spTree>
    <p:extLst>
      <p:ext uri="{BB962C8B-B14F-4D97-AF65-F5344CB8AC3E}">
        <p14:creationId xmlns:p14="http://schemas.microsoft.com/office/powerpoint/2010/main" val="11597732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foreach</a:t>
            </a:r>
            <a:r>
              <a:rPr lang="en-US" sz="2400" dirty="0"/>
              <a:t> (object e in d)</a:t>
            </a:r>
            <a:br>
              <a:rPr lang="en-US" sz="2400" dirty="0"/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class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DynamicArray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: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IEnumerable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public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</a:t>
            </a:r>
            <a:b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i&lt;</a:t>
            </a:r>
            <a:r>
              <a:rPr lang="en-US" sz="2400" dirty="0" err="1"/>
              <a:t>realArray.Length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yield return </a:t>
            </a:r>
            <a:r>
              <a:rPr lang="en-US" sz="2400" dirty="0" err="1"/>
              <a:t>realArray</a:t>
            </a:r>
            <a:r>
              <a:rPr lang="en-US" sz="2400" dirty="0"/>
              <a:t>[i];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b="1" dirty="0">
                <a:solidFill>
                  <a:srgbClr val="C00000"/>
                </a:solidFill>
              </a:rPr>
              <a:t>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= 6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e =       4</a:t>
            </a:r>
          </a:p>
        </p:txBody>
      </p:sp>
    </p:spTree>
    <p:extLst>
      <p:ext uri="{BB962C8B-B14F-4D97-AF65-F5344CB8AC3E}">
        <p14:creationId xmlns:p14="http://schemas.microsoft.com/office/powerpoint/2010/main" val="38188318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b="1" dirty="0" err="1">
                <a:solidFill>
                  <a:srgbClr val="C00000"/>
                </a:solidFill>
              </a:rPr>
              <a:t>foreach</a:t>
            </a:r>
            <a:r>
              <a:rPr lang="en-US" sz="2400" b="1" dirty="0">
                <a:solidFill>
                  <a:srgbClr val="C00000"/>
                </a:solidFill>
              </a:rPr>
              <a:t> (object e in d)</a:t>
            </a:r>
            <a:br>
              <a:rPr lang="en-US" sz="2400" dirty="0"/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class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DynamicArray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: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IEnumerable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public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</a:t>
            </a:r>
            <a:b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i&lt;</a:t>
            </a:r>
            <a:r>
              <a:rPr lang="en-US" sz="2400" dirty="0" err="1"/>
              <a:t>realArray.Length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yield return </a:t>
            </a:r>
            <a:r>
              <a:rPr lang="en-US" sz="2400" dirty="0" err="1"/>
              <a:t>realArray</a:t>
            </a:r>
            <a:r>
              <a:rPr lang="en-US" sz="2400" dirty="0"/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= 6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endParaRPr lang="en-US" sz="28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6990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over a </a:t>
            </a:r>
            <a:r>
              <a:rPr lang="en-US" dirty="0" err="1"/>
              <a:t>DynamicArray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void Main() {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/>
              <a:t>DynamicArray</a:t>
            </a:r>
            <a:r>
              <a:rPr lang="en-US" sz="2400" dirty="0"/>
              <a:t> d;</a:t>
            </a:r>
          </a:p>
          <a:p>
            <a:pPr marL="0" indent="0">
              <a:buNone/>
            </a:pPr>
            <a:r>
              <a:rPr lang="en-US" sz="2400" dirty="0"/>
              <a:t>   … </a:t>
            </a:r>
            <a:r>
              <a:rPr lang="en-US" sz="2400" i="1" dirty="0"/>
              <a:t>make d and fill it </a:t>
            </a:r>
            <a:br>
              <a:rPr lang="en-US" sz="2400" i="1" dirty="0"/>
            </a:br>
            <a:r>
              <a:rPr lang="en-US" sz="2400" i="1" dirty="0"/>
              <a:t>       with integers 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int</a:t>
            </a:r>
            <a:r>
              <a:rPr lang="en-US" sz="2400" dirty="0"/>
              <a:t> sum = 0;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foreach</a:t>
            </a:r>
            <a:r>
              <a:rPr lang="en-US" sz="2400" dirty="0"/>
              <a:t> (object e in d)</a:t>
            </a:r>
            <a:br>
              <a:rPr lang="en-US" sz="2400" dirty="0"/>
            </a:br>
            <a:r>
              <a:rPr lang="en-US" sz="2400" dirty="0"/>
              <a:t>      sum += (</a:t>
            </a:r>
            <a:r>
              <a:rPr lang="en-US" sz="2400" dirty="0" err="1"/>
              <a:t>int</a:t>
            </a:r>
            <a:r>
              <a:rPr lang="en-US" sz="2400" dirty="0"/>
              <a:t>)e;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class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DynamicArray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: </a:t>
            </a:r>
            <a:r>
              <a:rPr lang="en-US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IEnumerable</a:t>
            </a:r>
            <a:r>
              <a:rPr lang="en-U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  public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GetEnumerator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</a:t>
            </a:r>
            <a:b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r>
              <a:rPr lang="en-US" sz="2400" dirty="0"/>
              <a:t>   {</a:t>
            </a:r>
            <a:br>
              <a:rPr lang="en-US" sz="2400" dirty="0"/>
            </a:br>
            <a:r>
              <a:rPr lang="en-US" sz="2400" dirty="0"/>
              <a:t>      for (</a:t>
            </a:r>
            <a:r>
              <a:rPr lang="en-US" sz="2400" dirty="0" err="1"/>
              <a:t>int</a:t>
            </a:r>
            <a:r>
              <a:rPr lang="en-US" sz="2400" dirty="0"/>
              <a:t> i=0;          </a:t>
            </a:r>
            <a:br>
              <a:rPr lang="en-US" sz="2400" dirty="0"/>
            </a:br>
            <a:r>
              <a:rPr lang="en-US" sz="2400" dirty="0"/>
              <a:t>            i&lt;</a:t>
            </a:r>
            <a:r>
              <a:rPr lang="en-US" sz="2400" dirty="0" err="1"/>
              <a:t>realArray.Length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            i++)</a:t>
            </a:r>
            <a:br>
              <a:rPr lang="en-US" sz="2400" dirty="0"/>
            </a:br>
            <a:r>
              <a:rPr lang="en-US" sz="2400" dirty="0"/>
              <a:t>         yield return </a:t>
            </a:r>
            <a:r>
              <a:rPr lang="en-US" sz="2400" dirty="0" err="1"/>
              <a:t>realArray</a:t>
            </a:r>
            <a:r>
              <a:rPr lang="en-US" sz="2400" dirty="0"/>
              <a:t>[i];</a:t>
            </a:r>
          </a:p>
          <a:p>
            <a:pPr marL="0" indent="0">
              <a:buNone/>
            </a:pPr>
            <a:r>
              <a:rPr lang="en-US" sz="2400" dirty="0"/>
              <a:t>   }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522893"/>
            <a:ext cx="2794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d =      { 2, 4, 6, 8 }</a:t>
            </a:r>
          </a:p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sum = 6</a:t>
            </a:r>
            <a:b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</a:br>
            <a:endParaRPr lang="en-US" sz="28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1061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Break sequence into small objects (cells)</a:t>
            </a:r>
            <a:endParaRPr lang="en-US" dirty="0"/>
          </a:p>
          <a:p>
            <a:pPr lvl="1"/>
            <a:r>
              <a:rPr lang="en-US" dirty="0"/>
              <a:t>Usually one per element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Each cell </a:t>
            </a:r>
            <a:r>
              <a:rPr lang="en-US" dirty="0"/>
              <a:t>stores</a:t>
            </a:r>
          </a:p>
          <a:p>
            <a:pPr lvl="1"/>
            <a:r>
              <a:rPr lang="en-US" b="1" dirty="0">
                <a:solidFill>
                  <a:srgbClr val="984807"/>
                </a:solidFill>
              </a:rPr>
              <a:t>Value</a:t>
            </a:r>
            <a:r>
              <a:rPr lang="en-US" dirty="0">
                <a:solidFill>
                  <a:srgbClr val="984807"/>
                </a:solidFill>
              </a:rPr>
              <a:t> </a:t>
            </a:r>
            <a:r>
              <a:rPr lang="en-US" dirty="0"/>
              <a:t>of one element</a:t>
            </a:r>
          </a:p>
          <a:p>
            <a:pPr lvl="1"/>
            <a:r>
              <a:rPr lang="en-US" dirty="0"/>
              <a:t>Pointer to </a:t>
            </a:r>
            <a:r>
              <a:rPr lang="en-US" b="1" dirty="0">
                <a:solidFill>
                  <a:srgbClr val="984807"/>
                </a:solidFill>
              </a:rPr>
              <a:t>next object</a:t>
            </a:r>
          </a:p>
          <a:p>
            <a:pPr lvl="1"/>
            <a:endParaRPr lang="en-US" dirty="0"/>
          </a:p>
          <a:p>
            <a:r>
              <a:rPr lang="en-US" dirty="0"/>
              <a:t>Optional</a:t>
            </a:r>
          </a:p>
          <a:p>
            <a:pPr lvl="1"/>
            <a:r>
              <a:rPr lang="en-US" dirty="0"/>
              <a:t>Keep pointers to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first</a:t>
            </a:r>
            <a:r>
              <a:rPr lang="en-US" dirty="0"/>
              <a:t>, and/or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last cells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3000" y="4572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0200" y="4572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248400" y="4572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05600" y="4572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543800" y="4572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4572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8" idx="3"/>
            <a:endCxn id="9" idx="1"/>
          </p:cNvCxnSpPr>
          <p:nvPr/>
        </p:nvCxnSpPr>
        <p:spPr>
          <a:xfrm>
            <a:off x="5867400" y="4800600"/>
            <a:ext cx="3810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0" idx="3"/>
            <a:endCxn id="11" idx="1"/>
          </p:cNvCxnSpPr>
          <p:nvPr/>
        </p:nvCxnSpPr>
        <p:spPr>
          <a:xfrm>
            <a:off x="7162800" y="4800600"/>
            <a:ext cx="3810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" idx="3"/>
          </p:cNvCxnSpPr>
          <p:nvPr/>
        </p:nvCxnSpPr>
        <p:spPr>
          <a:xfrm>
            <a:off x="8458200" y="4800600"/>
            <a:ext cx="3810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953000" y="2971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>
            <a:stCxn id="19" idx="2"/>
            <a:endCxn id="6" idx="0"/>
          </p:cNvCxnSpPr>
          <p:nvPr/>
        </p:nvCxnSpPr>
        <p:spPr>
          <a:xfrm>
            <a:off x="5181600" y="3429000"/>
            <a:ext cx="0" cy="1143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38800" y="3059668"/>
            <a:ext cx="955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First cell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53000" y="1905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5638800" y="1992868"/>
            <a:ext cx="929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Last cell</a:t>
            </a:r>
          </a:p>
        </p:txBody>
      </p:sp>
      <p:cxnSp>
        <p:nvCxnSpPr>
          <p:cNvPr id="30" name="Elbow Connector 29"/>
          <p:cNvCxnSpPr>
            <a:stCxn id="27" idx="2"/>
            <a:endCxn id="11" idx="0"/>
          </p:cNvCxnSpPr>
          <p:nvPr/>
        </p:nvCxnSpPr>
        <p:spPr>
          <a:xfrm rot="16200000" flipH="1">
            <a:off x="5372100" y="2171700"/>
            <a:ext cx="2209800" cy="2590800"/>
          </a:xfrm>
          <a:prstGeom prst="bentConnector3">
            <a:avLst>
              <a:gd name="adj1" fmla="val 13793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2783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Element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access or mutation</a:t>
                </a:r>
              </a:p>
              <a:p>
                <a:pPr lvl="1"/>
                <a:r>
                  <a:rPr lang="en-US" dirty="0"/>
                  <a:t>By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element number: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If you already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have a pointer </a:t>
                </a:r>
                <a:r>
                  <a:rPr lang="en-US" dirty="0"/>
                  <a:t>to the cell: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𝟏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b="1" dirty="0"/>
              </a:p>
              <a:p>
                <a:endParaRPr lang="en-US" dirty="0"/>
              </a:p>
              <a:p>
                <a:r>
                  <a:rPr lang="en-US" dirty="0"/>
                  <a:t>Element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insertion or deletion</a:t>
                </a:r>
              </a:p>
              <a:p>
                <a:pPr lvl="1"/>
                <a:r>
                  <a:rPr lang="en-US" dirty="0"/>
                  <a:t>At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beginning: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𝟏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By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element number: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262" t="-1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4953000" y="4572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0200" y="4572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248400" y="4572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05600" y="4572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543800" y="4572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4572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8" idx="3"/>
            <a:endCxn id="9" idx="1"/>
          </p:cNvCxnSpPr>
          <p:nvPr/>
        </p:nvCxnSpPr>
        <p:spPr>
          <a:xfrm>
            <a:off x="5867400" y="4800600"/>
            <a:ext cx="3810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0" idx="3"/>
            <a:endCxn id="11" idx="1"/>
          </p:cNvCxnSpPr>
          <p:nvPr/>
        </p:nvCxnSpPr>
        <p:spPr>
          <a:xfrm>
            <a:off x="7162800" y="4800600"/>
            <a:ext cx="3810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" idx="3"/>
          </p:cNvCxnSpPr>
          <p:nvPr/>
        </p:nvCxnSpPr>
        <p:spPr>
          <a:xfrm>
            <a:off x="8458200" y="4800600"/>
            <a:ext cx="3810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953000" y="2971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>
            <a:stCxn id="19" idx="2"/>
            <a:endCxn id="6" idx="0"/>
          </p:cNvCxnSpPr>
          <p:nvPr/>
        </p:nvCxnSpPr>
        <p:spPr>
          <a:xfrm>
            <a:off x="5181600" y="3429000"/>
            <a:ext cx="0" cy="1143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38800" y="3059668"/>
            <a:ext cx="955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First cell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53000" y="1905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5638800" y="1992868"/>
            <a:ext cx="929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Last cell</a:t>
            </a:r>
          </a:p>
        </p:txBody>
      </p:sp>
      <p:cxnSp>
        <p:nvCxnSpPr>
          <p:cNvPr id="30" name="Elbow Connector 29"/>
          <p:cNvCxnSpPr>
            <a:stCxn id="27" idx="2"/>
            <a:endCxn id="11" idx="0"/>
          </p:cNvCxnSpPr>
          <p:nvPr/>
        </p:nvCxnSpPr>
        <p:spPr>
          <a:xfrm rot="16200000" flipH="1">
            <a:off x="5372100" y="2171700"/>
            <a:ext cx="2209800" cy="2590800"/>
          </a:xfrm>
          <a:prstGeom prst="bentConnector3">
            <a:avLst>
              <a:gd name="adj1" fmla="val 13793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7142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Single field</a:t>
            </a:r>
          </a:p>
          <a:p>
            <a:pPr lvl="1"/>
            <a:r>
              <a:rPr lang="en-US" dirty="0"/>
              <a:t>Points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first cell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1800" b="1" dirty="0"/>
              <a:t>Note: </a:t>
            </a:r>
            <a:r>
              <a:rPr lang="en-US" sz="1800" dirty="0"/>
              <a:t>This uses a feature of C# we haven’t mentioned</a:t>
            </a:r>
          </a:p>
          <a:p>
            <a:r>
              <a:rPr lang="en-US" sz="1800" dirty="0"/>
              <a:t>You can put a class inside a class</a:t>
            </a:r>
          </a:p>
          <a:p>
            <a:r>
              <a:rPr lang="en-US" sz="1800" dirty="0"/>
              <a:t>And then it’s only visible to the enclosing class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class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LinkedList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000" dirty="0"/>
              <a:t>: </a:t>
            </a:r>
            <a:r>
              <a:rPr lang="en-US" sz="2000" dirty="0" err="1"/>
              <a:t>IEnumerable</a:t>
            </a:r>
            <a:r>
              <a:rPr lang="en-US" sz="2000" dirty="0"/>
              <a:t> {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LinkedListCell</a:t>
            </a:r>
            <a:r>
              <a:rPr lang="en-US" sz="2000" dirty="0"/>
              <a:t> first;</a:t>
            </a:r>
          </a:p>
          <a:p>
            <a:pPr marL="0" indent="0">
              <a:buNone/>
            </a:pPr>
            <a:r>
              <a:rPr lang="en-US" sz="2000" dirty="0"/>
              <a:t>    </a:t>
            </a:r>
          </a:p>
          <a:p>
            <a:pPr marL="0" indent="0">
              <a:buNone/>
            </a:pPr>
            <a:r>
              <a:rPr lang="en-US" sz="2000" dirty="0"/>
              <a:t>    … </a:t>
            </a:r>
            <a:r>
              <a:rPr lang="en-US" sz="2000" i="1" dirty="0"/>
              <a:t>other members </a:t>
            </a:r>
            <a:r>
              <a:rPr lang="en-US" sz="2000" dirty="0"/>
              <a:t>…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class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LinkedListCell</a:t>
            </a:r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/>
              <a:t>    {</a:t>
            </a:r>
          </a:p>
          <a:p>
            <a:pPr marL="0" indent="0">
              <a:buNone/>
            </a:pPr>
            <a:r>
              <a:rPr lang="en-US" sz="2000" dirty="0"/>
              <a:t>         public object value;</a:t>
            </a:r>
          </a:p>
          <a:p>
            <a:pPr marL="0" indent="0">
              <a:buNone/>
            </a:pPr>
            <a:r>
              <a:rPr lang="en-US" sz="2000" dirty="0"/>
              <a:t>         public </a:t>
            </a:r>
            <a:r>
              <a:rPr lang="en-US" sz="2000" dirty="0" err="1"/>
              <a:t>LinkedListCell</a:t>
            </a:r>
            <a:r>
              <a:rPr lang="en-US" sz="2000" dirty="0"/>
              <a:t> next;</a:t>
            </a:r>
          </a:p>
          <a:p>
            <a:pPr marL="0" indent="0">
              <a:buNone/>
            </a:pPr>
            <a:r>
              <a:rPr lang="en-US" sz="2000" dirty="0"/>
              <a:t>    }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57438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Code to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find an element </a:t>
            </a:r>
            <a:r>
              <a:rPr lang="en-US" sz="2400" dirty="0"/>
              <a:t>of the list given index</a:t>
            </a:r>
          </a:p>
          <a:p>
            <a:endParaRPr lang="en-US" sz="2400" dirty="0"/>
          </a:p>
          <a:p>
            <a:r>
              <a:rPr lang="en-US" sz="2400" dirty="0"/>
              <a:t>Property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this[index] </a:t>
            </a:r>
          </a:p>
          <a:p>
            <a:pPr lvl="1"/>
            <a:r>
              <a:rPr lang="en-US" sz="2000" dirty="0"/>
              <a:t>Overloads the [ ] operator so that you can say, e.g.:</a:t>
            </a:r>
          </a:p>
          <a:p>
            <a:pPr marL="457200" lvl="1" indent="0">
              <a:buNone/>
            </a:pPr>
            <a:r>
              <a:rPr lang="en-US" dirty="0"/>
              <a:t>	list[7] = list[8];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50292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object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this[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index]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get</a:t>
            </a:r>
          </a:p>
          <a:p>
            <a:pPr marL="0" indent="0">
              <a:buNone/>
            </a:pPr>
            <a:r>
              <a:rPr lang="en-US" dirty="0"/>
              <a:t>    {</a:t>
            </a:r>
          </a:p>
          <a:p>
            <a:pPr marL="0" indent="0">
              <a:buNone/>
            </a:pPr>
            <a:r>
              <a:rPr lang="en-US" dirty="0"/>
              <a:t>        var c = first;</a:t>
            </a:r>
          </a:p>
          <a:p>
            <a:pPr marL="0" indent="0">
              <a:buNone/>
            </a:pPr>
            <a:r>
              <a:rPr lang="en-US" dirty="0"/>
              <a:t>        for (</a:t>
            </a:r>
            <a:r>
              <a:rPr lang="en-US" dirty="0" err="1"/>
              <a:t>int</a:t>
            </a:r>
            <a:r>
              <a:rPr lang="en-US" dirty="0"/>
              <a:t> i = 0; i &lt; index; i++)</a:t>
            </a:r>
          </a:p>
          <a:p>
            <a:pPr marL="0" indent="0">
              <a:buNone/>
            </a:pPr>
            <a:r>
              <a:rPr lang="en-US" dirty="0"/>
              <a:t>            c = </a:t>
            </a:r>
            <a:r>
              <a:rPr lang="en-US" dirty="0" err="1"/>
              <a:t>c.next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c.value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set</a:t>
            </a:r>
          </a:p>
          <a:p>
            <a:pPr marL="0" indent="0">
              <a:buNone/>
            </a:pPr>
            <a:r>
              <a:rPr lang="en-US" dirty="0"/>
              <a:t>    {</a:t>
            </a:r>
          </a:p>
          <a:p>
            <a:pPr marL="0" indent="0">
              <a:buNone/>
            </a:pPr>
            <a:r>
              <a:rPr lang="en-US" dirty="0"/>
              <a:t>        var c = first;</a:t>
            </a:r>
          </a:p>
          <a:p>
            <a:pPr marL="0" indent="0">
              <a:buNone/>
            </a:pPr>
            <a:r>
              <a:rPr lang="en-US" dirty="0"/>
              <a:t>        for (</a:t>
            </a:r>
            <a:r>
              <a:rPr lang="en-US" dirty="0" err="1"/>
              <a:t>int</a:t>
            </a:r>
            <a:r>
              <a:rPr lang="en-US" dirty="0"/>
              <a:t> i = 0; i &lt; index; i++)</a:t>
            </a:r>
          </a:p>
          <a:p>
            <a:pPr marL="0" indent="0">
              <a:buNone/>
            </a:pPr>
            <a:r>
              <a:rPr lang="en-US" dirty="0"/>
              <a:t>            c = </a:t>
            </a:r>
            <a:r>
              <a:rPr lang="en-US" dirty="0" err="1"/>
              <a:t>c.next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c.value</a:t>
            </a:r>
            <a:r>
              <a:rPr lang="en-US" dirty="0"/>
              <a:t> = value;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421024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Adding an element at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beginning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of list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is easy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dirty="0"/>
              <a:t>Note: </a:t>
            </a:r>
            <a:r>
              <a:rPr lang="en-US" sz="2000" dirty="0"/>
              <a:t>This uses another fancy C# feature:</a:t>
            </a:r>
          </a:p>
          <a:p>
            <a:r>
              <a:rPr lang="en-US" sz="2000" dirty="0"/>
              <a:t>Putting values of fields in constructor call</a:t>
            </a:r>
          </a:p>
          <a:p>
            <a:r>
              <a:rPr lang="en-US" sz="2000" dirty="0"/>
              <a:t>Wrapped in curly braces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void </a:t>
            </a:r>
            <a:r>
              <a:rPr lang="en-US" sz="2000" b="1" dirty="0" err="1">
                <a:solidFill>
                  <a:srgbClr val="984807"/>
                </a:solidFill>
              </a:rPr>
              <a:t>InsertBeginning</a:t>
            </a:r>
            <a:r>
              <a:rPr lang="en-US" sz="2000" dirty="0"/>
              <a:t>(object value)</a:t>
            </a:r>
          </a:p>
          <a:p>
            <a:pPr marL="0" indent="0">
              <a:buNone/>
            </a:pPr>
            <a:r>
              <a:rPr lang="en-US" sz="2000" dirty="0"/>
              <a:t>{</a:t>
            </a:r>
          </a:p>
          <a:p>
            <a:pPr marL="0" indent="0">
              <a:buNone/>
            </a:pPr>
            <a:r>
              <a:rPr lang="en-US" sz="2000" dirty="0"/>
              <a:t>    first = new </a:t>
            </a:r>
            <a:r>
              <a:rPr lang="en-US" sz="2000" dirty="0" err="1"/>
              <a:t>LinkedListCell</a:t>
            </a:r>
            <a:r>
              <a:rPr lang="en-US" sz="2000" dirty="0"/>
              <a:t>()</a:t>
            </a:r>
            <a:br>
              <a:rPr lang="en-US" sz="2000" dirty="0"/>
            </a:br>
            <a:r>
              <a:rPr lang="en-US" sz="2000" dirty="0"/>
              <a:t>              { </a:t>
            </a:r>
            <a:br>
              <a:rPr lang="en-US" sz="2000" dirty="0"/>
            </a:br>
            <a:r>
              <a:rPr lang="en-US" sz="2000" dirty="0"/>
              <a:t>                 value = value,</a:t>
            </a:r>
            <a:br>
              <a:rPr lang="en-US" sz="2000" dirty="0"/>
            </a:br>
            <a:r>
              <a:rPr lang="en-US" sz="2000" dirty="0"/>
              <a:t>                 next = first</a:t>
            </a:r>
            <a:br>
              <a:rPr lang="en-US" sz="2000" dirty="0"/>
            </a:br>
            <a:r>
              <a:rPr lang="en-US" sz="2000" dirty="0"/>
              <a:t>              };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239707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Many applications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manipulate list cells directly</a:t>
            </a:r>
          </a:p>
          <a:p>
            <a:endParaRPr lang="en-US" dirty="0"/>
          </a:p>
          <a:p>
            <a:r>
              <a:rPr lang="en-US" dirty="0"/>
              <a:t>If you’ve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already found a cell</a:t>
            </a:r>
            <a:r>
              <a:rPr lang="en-US" dirty="0"/>
              <a:t>, it’s easy to insert a new cell after 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void </a:t>
            </a:r>
            <a:r>
              <a:rPr lang="en-US" sz="2000" b="1" dirty="0" err="1">
                <a:solidFill>
                  <a:srgbClr val="984807"/>
                </a:solidFill>
              </a:rPr>
              <a:t>InsertAfter</a:t>
            </a:r>
            <a:r>
              <a:rPr lang="en-US" sz="2000" dirty="0"/>
              <a:t>(</a:t>
            </a:r>
            <a:r>
              <a:rPr lang="en-US" sz="2000" dirty="0" err="1"/>
              <a:t>LinkedListCell</a:t>
            </a:r>
            <a:r>
              <a:rPr lang="en-US" sz="2000" dirty="0"/>
              <a:t> c,</a:t>
            </a:r>
          </a:p>
          <a:p>
            <a:pPr marL="0" indent="0">
              <a:buNone/>
            </a:pPr>
            <a:r>
              <a:rPr lang="en-US" sz="2000" dirty="0"/>
              <a:t>                            object value)</a:t>
            </a:r>
            <a:br>
              <a:rPr lang="en-US" sz="2000" dirty="0"/>
            </a:br>
            <a:r>
              <a:rPr lang="en-US" sz="2000" dirty="0"/>
              <a:t>{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en-US" sz="2000" dirty="0" err="1"/>
              <a:t>c.next</a:t>
            </a:r>
            <a:r>
              <a:rPr lang="en-US" sz="2000" dirty="0"/>
              <a:t> = new </a:t>
            </a:r>
            <a:r>
              <a:rPr lang="en-US" sz="2000" dirty="0" err="1"/>
              <a:t>LinkedListCell</a:t>
            </a:r>
            <a:r>
              <a:rPr lang="en-US" sz="2000" dirty="0"/>
              <a:t>()</a:t>
            </a:r>
            <a:br>
              <a:rPr lang="en-US" sz="2000" dirty="0"/>
            </a:br>
            <a:r>
              <a:rPr lang="en-US" sz="2000" dirty="0"/>
              <a:t>                         { value = value,</a:t>
            </a:r>
            <a:br>
              <a:rPr lang="en-US" sz="2000" dirty="0"/>
            </a:br>
            <a:r>
              <a:rPr lang="en-US" sz="2000" dirty="0"/>
              <a:t>                           next = </a:t>
            </a:r>
            <a:r>
              <a:rPr lang="en-US" sz="2000" dirty="0" err="1"/>
              <a:t>c.next</a:t>
            </a:r>
            <a:r>
              <a:rPr lang="en-US" sz="2000" dirty="0"/>
              <a:t> };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002336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Unfortunately, it’s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hard to insert a cell before</a:t>
            </a:r>
            <a:r>
              <a:rPr lang="en-US" b="1" dirty="0">
                <a:solidFill>
                  <a:srgbClr val="984807"/>
                </a:solidFill>
              </a:rPr>
              <a:t> </a:t>
            </a:r>
            <a:r>
              <a:rPr lang="en-US" dirty="0"/>
              <a:t>it</a:t>
            </a:r>
          </a:p>
          <a:p>
            <a:pPr lvl="1"/>
            <a:r>
              <a:rPr lang="en-US" dirty="0"/>
              <a:t>Because you need to update the next pointer of the </a:t>
            </a:r>
            <a:r>
              <a:rPr lang="en-US" b="1" dirty="0">
                <a:solidFill>
                  <a:srgbClr val="984807"/>
                </a:solidFill>
              </a:rPr>
              <a:t>previous cell</a:t>
            </a:r>
          </a:p>
          <a:p>
            <a:pPr lvl="1"/>
            <a:r>
              <a:rPr lang="en-US" dirty="0"/>
              <a:t>And you don’t know what that cell is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void </a:t>
            </a:r>
            <a:r>
              <a:rPr lang="en-US" sz="2000" b="1" dirty="0" err="1">
                <a:solidFill>
                  <a:srgbClr val="984807"/>
                </a:solidFill>
              </a:rPr>
              <a:t>InsertAfter</a:t>
            </a:r>
            <a:r>
              <a:rPr lang="en-US" sz="2000" dirty="0"/>
              <a:t>(</a:t>
            </a:r>
            <a:r>
              <a:rPr lang="en-US" sz="2000" dirty="0" err="1"/>
              <a:t>LinkedListCell</a:t>
            </a:r>
            <a:r>
              <a:rPr lang="en-US" sz="2000" dirty="0"/>
              <a:t> c,</a:t>
            </a:r>
          </a:p>
          <a:p>
            <a:pPr marL="0" indent="0">
              <a:buNone/>
            </a:pPr>
            <a:r>
              <a:rPr lang="en-US" sz="2000" dirty="0"/>
              <a:t>                            object value)</a:t>
            </a:r>
            <a:br>
              <a:rPr lang="en-US" sz="2000" dirty="0"/>
            </a:br>
            <a:r>
              <a:rPr lang="en-US" sz="2000" dirty="0"/>
              <a:t>{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en-US" sz="2000" dirty="0" err="1"/>
              <a:t>c.next</a:t>
            </a:r>
            <a:r>
              <a:rPr lang="en-US" sz="2000" dirty="0"/>
              <a:t> = new </a:t>
            </a:r>
            <a:r>
              <a:rPr lang="en-US" sz="2000" dirty="0" err="1"/>
              <a:t>LinkedListCell</a:t>
            </a:r>
            <a:r>
              <a:rPr lang="en-US" sz="2000" dirty="0"/>
              <a:t>()</a:t>
            </a:r>
            <a:br>
              <a:rPr lang="en-US" sz="2000" dirty="0"/>
            </a:br>
            <a:r>
              <a:rPr lang="en-US" sz="2000" dirty="0"/>
              <a:t>                         { value = value,</a:t>
            </a:r>
            <a:br>
              <a:rPr lang="en-US" sz="2000" dirty="0"/>
            </a:br>
            <a:r>
              <a:rPr lang="en-US" sz="2000" dirty="0"/>
              <a:t>                           next = </a:t>
            </a:r>
            <a:r>
              <a:rPr lang="en-US" sz="2000" dirty="0" err="1"/>
              <a:t>c.next</a:t>
            </a:r>
            <a:r>
              <a:rPr lang="en-US" sz="2000" dirty="0"/>
              <a:t> };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55127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in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Adding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general element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is ugly</a:t>
            </a:r>
          </a:p>
          <a:p>
            <a:pPr lvl="1"/>
            <a:r>
              <a:rPr lang="en-US" dirty="0"/>
              <a:t>Special-case </a:t>
            </a:r>
            <a:r>
              <a:rPr lang="en-US" b="1" dirty="0">
                <a:solidFill>
                  <a:srgbClr val="984807"/>
                </a:solidFill>
              </a:rPr>
              <a:t>insertion at beginning</a:t>
            </a:r>
          </a:p>
          <a:p>
            <a:pPr lvl="1"/>
            <a:r>
              <a:rPr lang="en-US" dirty="0"/>
              <a:t>Otherwise search for element </a:t>
            </a:r>
            <a:r>
              <a:rPr lang="en-US" b="1" dirty="0">
                <a:solidFill>
                  <a:srgbClr val="984807"/>
                </a:solidFill>
              </a:rPr>
              <a:t>before</a:t>
            </a:r>
            <a:r>
              <a:rPr lang="en-US" dirty="0">
                <a:solidFill>
                  <a:srgbClr val="984807"/>
                </a:solidFill>
              </a:rPr>
              <a:t> </a:t>
            </a:r>
            <a:r>
              <a:rPr lang="en-US" dirty="0"/>
              <a:t>the place we’re inserting</a:t>
            </a:r>
          </a:p>
          <a:p>
            <a:pPr lvl="1"/>
            <a:r>
              <a:rPr lang="en-US" dirty="0"/>
              <a:t>Insert after that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void </a:t>
            </a:r>
            <a:r>
              <a:rPr lang="en-US" sz="2000" b="1" dirty="0">
                <a:solidFill>
                  <a:srgbClr val="984807"/>
                </a:solidFill>
              </a:rPr>
              <a:t>Insert</a:t>
            </a:r>
            <a:r>
              <a:rPr lang="en-US" sz="2000" dirty="0"/>
              <a:t>(</a:t>
            </a:r>
            <a:r>
              <a:rPr lang="en-US" sz="2000" dirty="0" err="1"/>
              <a:t>int</a:t>
            </a:r>
            <a:r>
              <a:rPr lang="en-US" sz="2000" dirty="0"/>
              <a:t> position, object value) {</a:t>
            </a:r>
          </a:p>
          <a:p>
            <a:pPr marL="0" indent="0">
              <a:buNone/>
            </a:pPr>
            <a:r>
              <a:rPr lang="en-US" sz="2000" dirty="0"/>
              <a:t>   if (position == 0)</a:t>
            </a:r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en-US" sz="2000" dirty="0" err="1"/>
              <a:t>InsertBeginning</a:t>
            </a:r>
            <a:r>
              <a:rPr lang="en-US" sz="2000" dirty="0"/>
              <a:t>(value);</a:t>
            </a:r>
          </a:p>
          <a:p>
            <a:pPr marL="0" indent="0">
              <a:buNone/>
            </a:pPr>
            <a:r>
              <a:rPr lang="en-US" sz="2000" dirty="0"/>
              <a:t>   else {</a:t>
            </a:r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en-US" sz="2000" dirty="0" err="1"/>
              <a:t>LinkedListCell</a:t>
            </a:r>
            <a:r>
              <a:rPr lang="en-US" sz="2000" dirty="0"/>
              <a:t> c = first;</a:t>
            </a:r>
          </a:p>
          <a:p>
            <a:pPr marL="0" indent="0">
              <a:buNone/>
            </a:pPr>
            <a:r>
              <a:rPr lang="en-US" sz="2000" dirty="0"/>
              <a:t>      for (</a:t>
            </a:r>
            <a:r>
              <a:rPr lang="en-US" sz="2000" dirty="0" err="1"/>
              <a:t>int</a:t>
            </a:r>
            <a:r>
              <a:rPr lang="en-US" sz="2000" dirty="0"/>
              <a:t> i = 0; i &lt; position-1; i++)</a:t>
            </a:r>
          </a:p>
          <a:p>
            <a:pPr marL="0" indent="0">
              <a:buNone/>
            </a:pPr>
            <a:r>
              <a:rPr lang="en-US" sz="2000" dirty="0"/>
              <a:t>         c = </a:t>
            </a:r>
            <a:r>
              <a:rPr lang="en-US" sz="2000" dirty="0" err="1"/>
              <a:t>c.next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en-US" sz="2000" dirty="0" err="1"/>
              <a:t>InsertAfter</a:t>
            </a:r>
            <a:r>
              <a:rPr lang="en-US" sz="2000" dirty="0"/>
              <a:t>(c);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757543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 for </a:t>
            </a:r>
            <a:r>
              <a:rPr lang="en-US" dirty="0" err="1"/>
              <a:t>LinkedLists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public </a:t>
            </a:r>
            <a:r>
              <a:rPr lang="en-US" sz="2800" dirty="0" err="1"/>
              <a:t>IEnumerator</a:t>
            </a:r>
            <a:r>
              <a:rPr lang="en-US" sz="2800" dirty="0"/>
              <a:t>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</a:rPr>
              <a:t>GetEnumerator</a:t>
            </a:r>
            <a:r>
              <a:rPr lang="en-US" sz="2800" dirty="0"/>
              <a:t>() {</a:t>
            </a:r>
          </a:p>
          <a:p>
            <a:pPr marL="0" indent="0">
              <a:buNone/>
            </a:pPr>
            <a:r>
              <a:rPr lang="en-US" dirty="0"/>
              <a:t>   var c = first;</a:t>
            </a:r>
          </a:p>
          <a:p>
            <a:pPr marL="0" indent="0">
              <a:buNone/>
            </a:pPr>
            <a:r>
              <a:rPr lang="en-US" dirty="0"/>
              <a:t>   while (c != null) {</a:t>
            </a:r>
            <a:br>
              <a:rPr lang="en-US" dirty="0"/>
            </a:br>
            <a:r>
              <a:rPr lang="en-US" dirty="0"/>
              <a:t>      yield return </a:t>
            </a:r>
            <a:r>
              <a:rPr lang="en-US" dirty="0" err="1"/>
              <a:t>c.value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  c = </a:t>
            </a:r>
            <a:r>
              <a:rPr lang="en-US" dirty="0" err="1"/>
              <a:t>c.next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26623832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Doubly linked lists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Linked lists make it easy to find the cell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after </a:t>
            </a:r>
            <a:r>
              <a:rPr lang="en-US" dirty="0"/>
              <a:t>a given cell but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not before</a:t>
            </a:r>
          </a:p>
          <a:p>
            <a:endParaRPr lang="en-US" dirty="0"/>
          </a:p>
          <a:p>
            <a:r>
              <a:rPr lang="en-US" dirty="0"/>
              <a:t>By adding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second</a:t>
            </a:r>
            <a:r>
              <a:rPr lang="en-US" b="1" dirty="0">
                <a:solidFill>
                  <a:srgbClr val="984807"/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pointer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to the cell that points to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previous cell</a:t>
            </a:r>
            <a:r>
              <a:rPr lang="en-US" dirty="0"/>
              <a:t>, we can make it easy to</a:t>
            </a:r>
          </a:p>
          <a:p>
            <a:pPr lvl="1"/>
            <a:r>
              <a:rPr lang="en-US" dirty="0"/>
              <a:t>Move </a:t>
            </a:r>
            <a:r>
              <a:rPr lang="en-US" b="1" dirty="0">
                <a:solidFill>
                  <a:srgbClr val="984807"/>
                </a:solidFill>
              </a:rPr>
              <a:t>forward</a:t>
            </a:r>
            <a:r>
              <a:rPr lang="en-US" dirty="0">
                <a:solidFill>
                  <a:srgbClr val="984807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984807"/>
                </a:solidFill>
              </a:rPr>
              <a:t>backward</a:t>
            </a:r>
          </a:p>
          <a:p>
            <a:pPr lvl="1"/>
            <a:r>
              <a:rPr lang="en-US" b="1" dirty="0">
                <a:solidFill>
                  <a:srgbClr val="984807"/>
                </a:solidFill>
              </a:rPr>
              <a:t>Insert elements before </a:t>
            </a:r>
            <a:r>
              <a:rPr lang="en-US" dirty="0"/>
              <a:t>a given cell (not just after)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3000" y="2667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10200" y="2667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248400" y="2667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705600" y="2667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43800" y="2667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2667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5867400" y="2819400"/>
            <a:ext cx="3810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7162800" y="2819400"/>
            <a:ext cx="3810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8458200" y="2819400"/>
            <a:ext cx="3810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7162800" y="2971800"/>
            <a:ext cx="381000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867400" y="2971800"/>
            <a:ext cx="381000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572000" y="2971800"/>
            <a:ext cx="381000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0667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Doubly-linked list insertion</a:t>
            </a:r>
            <a:br>
              <a:rPr lang="en-US" dirty="0"/>
            </a:br>
            <a:r>
              <a:rPr lang="en-US" sz="2700" dirty="0"/>
              <a:t>(note: this is a popular interview question)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343400" cy="45259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DLLCell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public object value;</a:t>
            </a:r>
            <a:br>
              <a:rPr lang="en-US" dirty="0"/>
            </a:br>
            <a:r>
              <a:rPr lang="en-US" dirty="0"/>
              <a:t>    public </a:t>
            </a:r>
            <a:r>
              <a:rPr lang="en-US" dirty="0" err="1"/>
              <a:t>DLLCell</a:t>
            </a:r>
            <a:r>
              <a:rPr lang="en-US" dirty="0"/>
              <a:t> </a:t>
            </a:r>
            <a:r>
              <a:rPr lang="en-US" dirty="0" err="1"/>
              <a:t>prev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public </a:t>
            </a:r>
            <a:r>
              <a:rPr lang="en-US" dirty="0" err="1"/>
              <a:t>DLLCell</a:t>
            </a:r>
            <a:r>
              <a:rPr lang="en-US" dirty="0"/>
              <a:t> next;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void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InsertBefore</a:t>
            </a:r>
            <a:r>
              <a:rPr lang="en-US" dirty="0"/>
              <a:t>(</a:t>
            </a:r>
            <a:r>
              <a:rPr lang="en-US" dirty="0" err="1"/>
              <a:t>DLLCell</a:t>
            </a:r>
            <a:r>
              <a:rPr lang="en-US" dirty="0"/>
              <a:t> c,  object </a:t>
            </a:r>
            <a:r>
              <a:rPr lang="en-US" dirty="0" err="1"/>
              <a:t>newValue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InsertBetween</a:t>
            </a:r>
            <a:r>
              <a:rPr lang="en-US" dirty="0"/>
              <a:t>(</a:t>
            </a:r>
            <a:r>
              <a:rPr lang="en-US" dirty="0" err="1"/>
              <a:t>c.prev</a:t>
            </a:r>
            <a:r>
              <a:rPr lang="en-US" dirty="0"/>
              <a:t>, c, </a:t>
            </a:r>
            <a:r>
              <a:rPr lang="en-US" dirty="0" err="1"/>
              <a:t>newValue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void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InsertAfter</a:t>
            </a:r>
            <a:r>
              <a:rPr lang="en-US" dirty="0"/>
              <a:t>(</a:t>
            </a:r>
            <a:r>
              <a:rPr lang="en-US" dirty="0" err="1"/>
              <a:t>DLLCell</a:t>
            </a:r>
            <a:r>
              <a:rPr lang="en-US" dirty="0"/>
              <a:t> c, object </a:t>
            </a:r>
            <a:r>
              <a:rPr lang="en-US" dirty="0" err="1"/>
              <a:t>newValue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InsertBetween</a:t>
            </a:r>
            <a:r>
              <a:rPr lang="en-US" dirty="0"/>
              <a:t>(c, </a:t>
            </a:r>
            <a:r>
              <a:rPr lang="en-US" dirty="0" err="1"/>
              <a:t>c.next</a:t>
            </a:r>
            <a:r>
              <a:rPr lang="en-US" dirty="0"/>
              <a:t>, </a:t>
            </a:r>
            <a:r>
              <a:rPr lang="en-US" dirty="0" err="1"/>
              <a:t>newValue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}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114800" cy="45259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void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InsertBetween</a:t>
            </a:r>
            <a:r>
              <a:rPr lang="en-US" dirty="0"/>
              <a:t>(</a:t>
            </a:r>
            <a:r>
              <a:rPr lang="en-US" dirty="0" err="1"/>
              <a:t>DLLCell</a:t>
            </a:r>
            <a:r>
              <a:rPr lang="en-US" dirty="0"/>
              <a:t> before,</a:t>
            </a:r>
            <a:br>
              <a:rPr lang="en-US" dirty="0"/>
            </a:br>
            <a:r>
              <a:rPr lang="en-US" dirty="0"/>
              <a:t>                                     </a:t>
            </a:r>
            <a:r>
              <a:rPr lang="en-US" dirty="0" err="1"/>
              <a:t>DLLCell</a:t>
            </a:r>
            <a:r>
              <a:rPr lang="en-US" dirty="0"/>
              <a:t> after,</a:t>
            </a:r>
            <a:br>
              <a:rPr lang="en-US" dirty="0"/>
            </a:br>
            <a:r>
              <a:rPr lang="en-US" dirty="0"/>
              <a:t>                                     object </a:t>
            </a:r>
            <a:r>
              <a:rPr lang="en-US" dirty="0" err="1"/>
              <a:t>newValue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   var </a:t>
            </a:r>
            <a:r>
              <a:rPr lang="en-US" dirty="0" err="1"/>
              <a:t>newCell</a:t>
            </a:r>
            <a:r>
              <a:rPr lang="en-US" dirty="0"/>
              <a:t> = new </a:t>
            </a:r>
            <a:r>
              <a:rPr lang="en-US" dirty="0" err="1"/>
              <a:t>DLLCell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>                                         { value = </a:t>
            </a:r>
            <a:r>
              <a:rPr lang="en-US" dirty="0" err="1"/>
              <a:t>newValue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                                       </a:t>
            </a:r>
            <a:r>
              <a:rPr lang="en-US" dirty="0" err="1"/>
              <a:t>prev</a:t>
            </a:r>
            <a:r>
              <a:rPr lang="en-US" dirty="0"/>
              <a:t> = before,</a:t>
            </a:r>
            <a:br>
              <a:rPr lang="en-US" dirty="0"/>
            </a:br>
            <a:r>
              <a:rPr lang="en-US" dirty="0"/>
              <a:t>                                           next = after 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before.next</a:t>
            </a:r>
            <a:r>
              <a:rPr lang="en-US" dirty="0"/>
              <a:t> = </a:t>
            </a:r>
            <a:r>
              <a:rPr lang="en-US" dirty="0" err="1"/>
              <a:t>after.prev</a:t>
            </a:r>
            <a:r>
              <a:rPr lang="en-US" dirty="0"/>
              <a:t> = </a:t>
            </a:r>
            <a:r>
              <a:rPr lang="en-US" dirty="0" err="1"/>
              <a:t>newCell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0030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Doubly linked lists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Element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access or mutation</a:t>
                </a:r>
              </a:p>
              <a:p>
                <a:pPr lvl="1"/>
                <a:r>
                  <a:rPr lang="en-US" dirty="0"/>
                  <a:t>By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element number: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If you already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have a pointer to the cell: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Element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insertion or deletion</a:t>
                </a:r>
              </a:p>
              <a:p>
                <a:pPr lvl="1"/>
                <a:r>
                  <a:rPr lang="en-US" dirty="0"/>
                  <a:t>At beginning, end, or any other cell you already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have a pointer to: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By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element number: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262" t="-2156" r="-2413" b="-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4953000" y="4572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10200" y="4572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248400" y="4572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705600" y="4572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43800" y="4572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4572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5867400" y="4724400"/>
            <a:ext cx="3810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7162800" y="4724400"/>
            <a:ext cx="3810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8458200" y="4724400"/>
            <a:ext cx="3810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953000" y="2971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>
            <a:stCxn id="15" idx="2"/>
            <a:endCxn id="6" idx="0"/>
          </p:cNvCxnSpPr>
          <p:nvPr/>
        </p:nvCxnSpPr>
        <p:spPr>
          <a:xfrm>
            <a:off x="5181600" y="3429000"/>
            <a:ext cx="0" cy="1143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38800" y="3059668"/>
            <a:ext cx="955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First cell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53000" y="1905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638800" y="1992868"/>
            <a:ext cx="929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Last cell</a:t>
            </a:r>
          </a:p>
        </p:txBody>
      </p:sp>
      <p:cxnSp>
        <p:nvCxnSpPr>
          <p:cNvPr id="20" name="Elbow Connector 19"/>
          <p:cNvCxnSpPr>
            <a:stCxn id="18" idx="2"/>
            <a:endCxn id="10" idx="0"/>
          </p:cNvCxnSpPr>
          <p:nvPr/>
        </p:nvCxnSpPr>
        <p:spPr>
          <a:xfrm rot="16200000" flipH="1">
            <a:off x="5372100" y="2171700"/>
            <a:ext cx="2209800" cy="2590800"/>
          </a:xfrm>
          <a:prstGeom prst="bentConnector3">
            <a:avLst>
              <a:gd name="adj1" fmla="val 13793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7162800" y="4876800"/>
            <a:ext cx="381000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867400" y="4876800"/>
            <a:ext cx="381000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572000" y="4876800"/>
            <a:ext cx="381000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4662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.NET list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.NET and C# provide two built-in interfaces for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List abstract data type</a:t>
            </a:r>
            <a:endParaRPr lang="en-US" b="1" dirty="0">
              <a:solidFill>
                <a:srgbClr val="984807"/>
              </a:solidFill>
            </a:endParaRPr>
          </a:p>
          <a:p>
            <a:pPr>
              <a:spcBef>
                <a:spcPts val="1800"/>
              </a:spcBef>
            </a:pP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IList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is a list of </a:t>
            </a:r>
            <a:r>
              <a:rPr lang="en-US" b="1" dirty="0">
                <a:solidFill>
                  <a:srgbClr val="984807"/>
                </a:solidFill>
              </a:rPr>
              <a:t>arbitrary objects</a:t>
            </a:r>
          </a:p>
          <a:p>
            <a:pPr lvl="1"/>
            <a:r>
              <a:rPr lang="en-US" dirty="0"/>
              <a:t>i.e. can contain any kind of data</a:t>
            </a:r>
          </a:p>
          <a:p>
            <a:pPr>
              <a:spcBef>
                <a:spcPts val="1800"/>
              </a:spcBef>
            </a:pP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IList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&lt;T&gt;</a:t>
            </a:r>
            <a:r>
              <a:rPr lang="en-US" dirty="0"/>
              <a:t> is an </a:t>
            </a:r>
            <a:r>
              <a:rPr lang="en-US" dirty="0" err="1"/>
              <a:t>IList</a:t>
            </a:r>
            <a:r>
              <a:rPr lang="en-US" dirty="0"/>
              <a:t> specialized only contain </a:t>
            </a:r>
            <a:r>
              <a:rPr lang="en-US" b="1" dirty="0">
                <a:solidFill>
                  <a:srgbClr val="984807"/>
                </a:solidFill>
              </a:rPr>
              <a:t>data of type T</a:t>
            </a:r>
          </a:p>
        </p:txBody>
      </p:sp>
    </p:spTree>
    <p:extLst>
      <p:ext uri="{BB962C8B-B14F-4D97-AF65-F5344CB8AC3E}">
        <p14:creationId xmlns:p14="http://schemas.microsoft.com/office/powerpoint/2010/main" val="27999905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IList</a:t>
            </a:r>
            <a:r>
              <a:rPr lang="en-US" dirty="0"/>
              <a:t> interface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0540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>
                <a:solidFill>
                  <a:srgbClr val="984807"/>
                </a:solidFill>
              </a:rPr>
              <a:t>Add</a:t>
            </a:r>
            <a:r>
              <a:rPr lang="en-US" b="1" dirty="0"/>
              <a:t>(object </a:t>
            </a:r>
            <a:r>
              <a:rPr lang="en-US" b="1" dirty="0" err="1"/>
              <a:t>newValue</a:t>
            </a:r>
            <a:r>
              <a:rPr lang="en-US" b="1" dirty="0"/>
              <a:t>)</a:t>
            </a:r>
            <a:br>
              <a:rPr lang="en-US" dirty="0"/>
            </a:br>
            <a:r>
              <a:rPr lang="en-US" dirty="0"/>
              <a:t>Adds an item to the </a:t>
            </a:r>
            <a:r>
              <a:rPr lang="en-US" dirty="0" err="1"/>
              <a:t>IList</a:t>
            </a:r>
            <a:r>
              <a:rPr lang="en-US" dirty="0"/>
              <a:t>.  Returns the position where it was added</a:t>
            </a:r>
          </a:p>
          <a:p>
            <a:endParaRPr lang="en-US" dirty="0"/>
          </a:p>
          <a:p>
            <a:r>
              <a:rPr lang="en-US" b="1" dirty="0"/>
              <a:t>void </a:t>
            </a:r>
            <a:r>
              <a:rPr lang="en-US" b="1" dirty="0">
                <a:solidFill>
                  <a:srgbClr val="984807"/>
                </a:solidFill>
              </a:rPr>
              <a:t>Clear</a:t>
            </a:r>
            <a:r>
              <a:rPr lang="en-US" b="1" dirty="0"/>
              <a:t>()</a:t>
            </a:r>
            <a:br>
              <a:rPr lang="en-US" b="1" dirty="0"/>
            </a:br>
            <a:r>
              <a:rPr lang="en-US" dirty="0"/>
              <a:t>Removes all items from the </a:t>
            </a:r>
            <a:r>
              <a:rPr lang="en-US" dirty="0" err="1"/>
              <a:t>IList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 err="1"/>
              <a:t>bool</a:t>
            </a:r>
            <a:r>
              <a:rPr lang="en-US" b="1" dirty="0"/>
              <a:t> </a:t>
            </a:r>
            <a:r>
              <a:rPr lang="en-US" b="1" dirty="0">
                <a:solidFill>
                  <a:srgbClr val="984807"/>
                </a:solidFill>
              </a:rPr>
              <a:t>Contains</a:t>
            </a:r>
            <a:r>
              <a:rPr lang="en-US" b="1" dirty="0"/>
              <a:t>(object value)</a:t>
            </a:r>
            <a:br>
              <a:rPr lang="en-US" b="1" dirty="0"/>
            </a:br>
            <a:r>
              <a:rPr lang="en-US" dirty="0"/>
              <a:t>Determines whether the </a:t>
            </a:r>
            <a:r>
              <a:rPr lang="en-US" dirty="0" err="1"/>
              <a:t>IList</a:t>
            </a:r>
            <a:r>
              <a:rPr lang="en-US" dirty="0"/>
              <a:t> contains a specific value.</a:t>
            </a:r>
          </a:p>
          <a:p>
            <a:endParaRPr lang="en-US" dirty="0"/>
          </a:p>
          <a:p>
            <a:r>
              <a:rPr lang="en-US" b="1" dirty="0"/>
              <a:t>void </a:t>
            </a:r>
            <a:r>
              <a:rPr lang="en-US" b="1" dirty="0" err="1">
                <a:solidFill>
                  <a:srgbClr val="984807"/>
                </a:solidFill>
              </a:rPr>
              <a:t>CopyTo</a:t>
            </a:r>
            <a:r>
              <a:rPr lang="en-US" b="1" dirty="0"/>
              <a:t>(object[] array,</a:t>
            </a:r>
            <a:br>
              <a:rPr lang="en-US" b="1" dirty="0"/>
            </a:br>
            <a:r>
              <a:rPr lang="en-US" b="1" dirty="0"/>
              <a:t>                       </a:t>
            </a:r>
            <a:r>
              <a:rPr lang="en-US" b="1" dirty="0" err="1"/>
              <a:t>int</a:t>
            </a:r>
            <a:r>
              <a:rPr lang="en-US" b="1" dirty="0"/>
              <a:t> position)</a:t>
            </a:r>
            <a:br>
              <a:rPr lang="en-US" dirty="0"/>
            </a:br>
            <a:r>
              <a:rPr lang="en-US" dirty="0"/>
              <a:t>Copies the elements of the </a:t>
            </a:r>
            <a:r>
              <a:rPr lang="en-US" dirty="0" err="1"/>
              <a:t>IList</a:t>
            </a:r>
            <a:r>
              <a:rPr lang="en-US" dirty="0"/>
              <a:t> to an array, starting at a particular position in the destination array</a:t>
            </a:r>
          </a:p>
          <a:p>
            <a:endParaRPr lang="en-US" dirty="0"/>
          </a:p>
          <a:p>
            <a:r>
              <a:rPr lang="en-US" b="1" dirty="0" err="1"/>
              <a:t>IEnumerator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984807"/>
                </a:solidFill>
              </a:rPr>
              <a:t>GetEnumerator</a:t>
            </a:r>
            <a:r>
              <a:rPr lang="en-US" b="1" dirty="0"/>
              <a:t>()</a:t>
            </a:r>
            <a:br>
              <a:rPr lang="en-US" dirty="0"/>
            </a:br>
            <a:r>
              <a:rPr lang="en-US" dirty="0"/>
              <a:t>Returns an enumerator that iterates through a collection.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10540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984807"/>
                </a:solidFill>
              </a:rPr>
              <a:t>IndexOf</a:t>
            </a:r>
            <a:r>
              <a:rPr lang="en-US" b="1" dirty="0"/>
              <a:t>(object value)</a:t>
            </a:r>
            <a:br>
              <a:rPr lang="en-US" dirty="0"/>
            </a:br>
            <a:r>
              <a:rPr lang="en-US" dirty="0"/>
              <a:t>Determines the index of a specific item in the </a:t>
            </a:r>
            <a:r>
              <a:rPr lang="en-US" dirty="0" err="1"/>
              <a:t>IList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void </a:t>
            </a:r>
            <a:r>
              <a:rPr lang="en-US" b="1" dirty="0">
                <a:solidFill>
                  <a:srgbClr val="984807"/>
                </a:solidFill>
              </a:rPr>
              <a:t>Insert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position,</a:t>
            </a:r>
            <a:br>
              <a:rPr lang="en-US" b="1" dirty="0"/>
            </a:br>
            <a:r>
              <a:rPr lang="en-US" b="1" dirty="0"/>
              <a:t>                   object </a:t>
            </a:r>
            <a:r>
              <a:rPr lang="en-US" b="1" dirty="0" err="1"/>
              <a:t>newValue</a:t>
            </a:r>
            <a:r>
              <a:rPr lang="en-US" b="1" dirty="0"/>
              <a:t>)</a:t>
            </a:r>
            <a:br>
              <a:rPr lang="en-US" dirty="0"/>
            </a:br>
            <a:r>
              <a:rPr lang="en-US" dirty="0"/>
              <a:t>Inserts an item to the </a:t>
            </a:r>
            <a:r>
              <a:rPr lang="en-US" dirty="0" err="1"/>
              <a:t>IList</a:t>
            </a:r>
            <a:r>
              <a:rPr lang="en-US" dirty="0"/>
              <a:t> at the specified position.</a:t>
            </a:r>
          </a:p>
          <a:p>
            <a:endParaRPr lang="en-US" dirty="0"/>
          </a:p>
          <a:p>
            <a:r>
              <a:rPr lang="en-US" b="1" dirty="0"/>
              <a:t>void </a:t>
            </a:r>
            <a:r>
              <a:rPr lang="en-US" b="1" dirty="0">
                <a:solidFill>
                  <a:srgbClr val="984807"/>
                </a:solidFill>
              </a:rPr>
              <a:t>Remove</a:t>
            </a:r>
            <a:r>
              <a:rPr lang="en-US" b="1" dirty="0"/>
              <a:t>(object value)</a:t>
            </a:r>
            <a:br>
              <a:rPr lang="en-US" dirty="0"/>
            </a:br>
            <a:r>
              <a:rPr lang="en-US" dirty="0"/>
              <a:t>Removes the first occurrence of a specific object from the </a:t>
            </a:r>
            <a:r>
              <a:rPr lang="en-US" dirty="0" err="1"/>
              <a:t>IList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void </a:t>
            </a:r>
            <a:r>
              <a:rPr lang="en-US" b="1" dirty="0" err="1">
                <a:solidFill>
                  <a:srgbClr val="984807"/>
                </a:solidFill>
              </a:rPr>
              <a:t>RemoveAt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position)</a:t>
            </a:r>
            <a:br>
              <a:rPr lang="en-US" dirty="0"/>
            </a:br>
            <a:r>
              <a:rPr lang="en-US" dirty="0"/>
              <a:t>Removes the </a:t>
            </a:r>
            <a:r>
              <a:rPr lang="en-US" dirty="0" err="1"/>
              <a:t>IList</a:t>
            </a:r>
            <a:r>
              <a:rPr lang="en-US" dirty="0"/>
              <a:t> item at the specified index.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0949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IList</a:t>
            </a:r>
            <a:r>
              <a:rPr lang="en-US" dirty="0"/>
              <a:t> interface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191000" cy="4525963"/>
          </a:xfrm>
        </p:spPr>
        <p:txBody>
          <a:bodyPr>
            <a:normAutofit/>
          </a:bodyPr>
          <a:lstStyle/>
          <a:p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>
                <a:solidFill>
                  <a:srgbClr val="984807"/>
                </a:solidFill>
              </a:rPr>
              <a:t>Count</a:t>
            </a:r>
            <a:r>
              <a:rPr lang="en-US" b="1" dirty="0"/>
              <a:t> { get; }</a:t>
            </a:r>
            <a:br>
              <a:rPr lang="en-US" dirty="0"/>
            </a:br>
            <a:r>
              <a:rPr lang="en-US" dirty="0"/>
              <a:t>Returns the number</a:t>
            </a:r>
            <a:br>
              <a:rPr lang="en-US" dirty="0"/>
            </a:br>
            <a:r>
              <a:rPr lang="en-US" dirty="0"/>
              <a:t>of items in the list</a:t>
            </a:r>
          </a:p>
          <a:p>
            <a:endParaRPr lang="en-US" dirty="0"/>
          </a:p>
          <a:p>
            <a:r>
              <a:rPr lang="en-US" b="1" dirty="0" err="1"/>
              <a:t>bool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984807"/>
                </a:solidFill>
              </a:rPr>
              <a:t>IsFixedSize</a:t>
            </a:r>
            <a:r>
              <a:rPr lang="en-US" b="1" dirty="0">
                <a:solidFill>
                  <a:srgbClr val="984807"/>
                </a:solidFill>
              </a:rPr>
              <a:t> </a:t>
            </a:r>
            <a:r>
              <a:rPr lang="en-US" b="1" dirty="0"/>
              <a:t>  </a:t>
            </a:r>
            <a:br>
              <a:rPr lang="en-US" b="1" dirty="0"/>
            </a:br>
            <a:r>
              <a:rPr lang="en-US" b="1" dirty="0"/>
              <a:t>         { get; }</a:t>
            </a:r>
            <a:br>
              <a:rPr lang="en-US" dirty="0"/>
            </a:br>
            <a:r>
              <a:rPr lang="en-US" dirty="0"/>
              <a:t>Tells whether elements can be added and deleted from the list.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object  </a:t>
            </a:r>
            <a:r>
              <a:rPr lang="en-US" b="1" dirty="0">
                <a:solidFill>
                  <a:srgbClr val="984807"/>
                </a:solidFill>
              </a:rPr>
              <a:t>this[</a:t>
            </a:r>
            <a:r>
              <a:rPr lang="en-US" sz="2400" b="1" dirty="0" err="1">
                <a:solidFill>
                  <a:srgbClr val="984807"/>
                </a:solidFill>
              </a:rPr>
              <a:t>int</a:t>
            </a:r>
            <a:r>
              <a:rPr lang="en-US" sz="2400" b="1" dirty="0">
                <a:solidFill>
                  <a:srgbClr val="984807"/>
                </a:solidFill>
              </a:rPr>
              <a:t> index</a:t>
            </a:r>
            <a:r>
              <a:rPr lang="en-US" b="1" dirty="0">
                <a:solidFill>
                  <a:srgbClr val="984807"/>
                </a:solidFill>
              </a:rPr>
              <a:t>]</a:t>
            </a:r>
            <a:br>
              <a:rPr lang="en-US" b="1" dirty="0"/>
            </a:br>
            <a:r>
              <a:rPr lang="en-US" b="1" dirty="0"/>
              <a:t>             { get; set; }</a:t>
            </a:r>
            <a:br>
              <a:rPr lang="en-US" dirty="0"/>
            </a:br>
            <a:r>
              <a:rPr lang="en-US" dirty="0"/>
              <a:t>Overloads the [ ] operator</a:t>
            </a:r>
          </a:p>
        </p:txBody>
      </p:sp>
    </p:spTree>
    <p:extLst>
      <p:ext uri="{BB962C8B-B14F-4D97-AF65-F5344CB8AC3E}">
        <p14:creationId xmlns:p14="http://schemas.microsoft.com/office/powerpoint/2010/main" val="38353051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.NET also includes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typed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versions of most of its collection-related interfaces</a:t>
            </a:r>
          </a:p>
          <a:p>
            <a:endParaRPr lang="en-US" dirty="0"/>
          </a:p>
          <a:p>
            <a:r>
              <a:rPr lang="en-US" dirty="0"/>
              <a:t>So you can use them to define a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DynamicArray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&lt;T&gt; </a:t>
            </a:r>
            <a:r>
              <a:rPr lang="en-US" dirty="0"/>
              <a:t>class, if you like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IEnumerator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&lt;T&gt;</a:t>
            </a:r>
          </a:p>
          <a:p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IEnumerable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&lt;T&gt;</a:t>
            </a:r>
          </a:p>
          <a:p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IList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&lt;T&gt;</a:t>
            </a:r>
          </a:p>
          <a:p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IStack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&lt;T&gt;</a:t>
            </a:r>
          </a:p>
          <a:p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IQueue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&lt;T&gt;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9481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Stacks are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special kind of sequence</a:t>
            </a:r>
          </a:p>
          <a:p>
            <a:endParaRPr lang="en-US" dirty="0"/>
          </a:p>
          <a:p>
            <a:r>
              <a:rPr lang="en-US" dirty="0"/>
              <a:t>Addition and deletion are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restricted to the beginning </a:t>
            </a:r>
            <a:r>
              <a:rPr lang="en-US" dirty="0"/>
              <a:t>of the sequence</a:t>
            </a:r>
          </a:p>
          <a:p>
            <a:pPr lvl="1"/>
            <a:r>
              <a:rPr lang="en-US" dirty="0"/>
              <a:t>Or you can think of it as restricted to the end, it doesn’t really make any difference</a:t>
            </a:r>
          </a:p>
          <a:p>
            <a:endParaRPr lang="en-US" dirty="0"/>
          </a:p>
          <a:p>
            <a:r>
              <a:rPr lang="en-US" dirty="0"/>
              <a:t>So stacks can be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implemented using any sequence data structure</a:t>
            </a:r>
          </a:p>
        </p:txBody>
      </p:sp>
      <p:pic>
        <p:nvPicPr>
          <p:cNvPr id="2050" name="Picture 2" descr="a simple stack from flickr user matthewpiatt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186" y="1600200"/>
            <a:ext cx="3014628" cy="452596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5253721" y="6096000"/>
            <a:ext cx="29758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flickr</a:t>
            </a:r>
            <a:r>
              <a:rPr lang="en-US" dirty="0"/>
              <a:t> user </a:t>
            </a:r>
            <a:r>
              <a:rPr lang="en-US" dirty="0" err="1"/>
              <a:t>matthewpiatt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0093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an array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ArrayStack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object[] values = new object[100];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top = 0;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void </a:t>
            </a:r>
            <a:r>
              <a:rPr lang="en-US" b="1" dirty="0">
                <a:solidFill>
                  <a:srgbClr val="984807"/>
                </a:solidFill>
              </a:rPr>
              <a:t>Push</a:t>
            </a:r>
            <a:r>
              <a:rPr lang="en-US" dirty="0"/>
              <a:t>(object v) {</a:t>
            </a:r>
            <a:br>
              <a:rPr lang="en-US" dirty="0"/>
            </a:br>
            <a:r>
              <a:rPr lang="en-US" dirty="0"/>
              <a:t>      values[top++] = v;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   object </a:t>
            </a:r>
            <a:r>
              <a:rPr lang="en-US" b="1" dirty="0">
                <a:solidFill>
                  <a:srgbClr val="984807"/>
                </a:solidFill>
              </a:rPr>
              <a:t>Pop</a:t>
            </a:r>
            <a:r>
              <a:rPr lang="en-US" dirty="0"/>
              <a:t>() {</a:t>
            </a:r>
            <a:br>
              <a:rPr lang="en-US" dirty="0"/>
            </a:br>
            <a:r>
              <a:rPr lang="en-US" dirty="0"/>
              <a:t>      return values[--top];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bool</a:t>
            </a:r>
            <a:r>
              <a:rPr lang="en-US" dirty="0"/>
              <a:t> </a:t>
            </a:r>
            <a:r>
              <a:rPr lang="en-US" b="1" dirty="0" err="1">
                <a:solidFill>
                  <a:srgbClr val="984807"/>
                </a:solidFill>
              </a:rPr>
              <a:t>IsEmpty</a:t>
            </a:r>
            <a:r>
              <a:rPr lang="en-US" dirty="0">
                <a:solidFill>
                  <a:srgbClr val="984807"/>
                </a:solidFill>
              </a:rPr>
              <a:t> </a:t>
            </a:r>
            <a:r>
              <a:rPr lang="en-US" dirty="0"/>
              <a:t>{ </a:t>
            </a:r>
            <a:br>
              <a:rPr lang="en-US" dirty="0"/>
            </a:br>
            <a:r>
              <a:rPr lang="en-US" dirty="0"/>
              <a:t>       get { return top==0; }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6439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s = new </a:t>
            </a:r>
            <a:r>
              <a:rPr lang="en-US" dirty="0" err="1"/>
              <a:t>ArrayStack</a:t>
            </a:r>
            <a:r>
              <a:rPr lang="en-US" dirty="0"/>
              <a:t>();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67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" y="2743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9600" y="32766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09600" y="3810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9600" y="4876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09600" y="5410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57200" y="6096000"/>
            <a:ext cx="77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600" y="3962400"/>
            <a:ext cx="1350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 = 0</a:t>
            </a:r>
          </a:p>
        </p:txBody>
      </p:sp>
      <p:cxnSp>
        <p:nvCxnSpPr>
          <p:cNvPr id="16" name="Elbow Connector 15"/>
          <p:cNvCxnSpPr>
            <a:stCxn id="14" idx="1"/>
            <a:endCxn id="12" idx="3"/>
          </p:cNvCxnSpPr>
          <p:nvPr/>
        </p:nvCxnSpPr>
        <p:spPr>
          <a:xfrm rot="10800000" flipV="1">
            <a:off x="1143000" y="4254788"/>
            <a:ext cx="1752600" cy="1422112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840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s = new </a:t>
            </a:r>
            <a:r>
              <a:rPr lang="en-US" dirty="0" err="1"/>
              <a:t>ArrayStack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7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" y="2743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9600" y="32766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09600" y="3810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9600" y="4876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09600" y="5410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96000"/>
            <a:ext cx="77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600" y="3962400"/>
            <a:ext cx="1350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 = 1</a:t>
            </a:r>
          </a:p>
        </p:txBody>
      </p:sp>
      <p:cxnSp>
        <p:nvCxnSpPr>
          <p:cNvPr id="16" name="Elbow Connector 15"/>
          <p:cNvCxnSpPr>
            <a:stCxn id="14" idx="1"/>
            <a:endCxn id="11" idx="3"/>
          </p:cNvCxnSpPr>
          <p:nvPr/>
        </p:nvCxnSpPr>
        <p:spPr>
          <a:xfrm rot="10800000" flipV="1">
            <a:off x="1143000" y="4254788"/>
            <a:ext cx="1752600" cy="888712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34249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s = new </a:t>
            </a:r>
            <a:r>
              <a:rPr lang="en-US" dirty="0" err="1"/>
              <a:t>ArrayStack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7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" y="2743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9600" y="32766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09600" y="3810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9600" y="4876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5410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96000"/>
            <a:ext cx="77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600" y="3962400"/>
            <a:ext cx="1350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 = 2</a:t>
            </a:r>
          </a:p>
        </p:txBody>
      </p:sp>
      <p:cxnSp>
        <p:nvCxnSpPr>
          <p:cNvPr id="16" name="Elbow Connector 15"/>
          <p:cNvCxnSpPr>
            <a:stCxn id="14" idx="1"/>
            <a:endCxn id="10" idx="3"/>
          </p:cNvCxnSpPr>
          <p:nvPr/>
        </p:nvCxnSpPr>
        <p:spPr>
          <a:xfrm rot="10800000" flipV="1">
            <a:off x="1143000" y="4254788"/>
            <a:ext cx="1752600" cy="355312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4365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s = new </a:t>
            </a:r>
            <a:r>
              <a:rPr lang="en-US" dirty="0" err="1"/>
              <a:t>ArrayStack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(3);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7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" y="2743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9600" y="32766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09600" y="3810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876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5410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96000"/>
            <a:ext cx="77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600" y="3962400"/>
            <a:ext cx="1350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 = 3</a:t>
            </a:r>
          </a:p>
        </p:txBody>
      </p:sp>
      <p:cxnSp>
        <p:nvCxnSpPr>
          <p:cNvPr id="16" name="Elbow Connector 15"/>
          <p:cNvCxnSpPr>
            <a:stCxn id="14" idx="1"/>
            <a:endCxn id="9" idx="3"/>
          </p:cNvCxnSpPr>
          <p:nvPr/>
        </p:nvCxnSpPr>
        <p:spPr>
          <a:xfrm rot="10800000">
            <a:off x="1143000" y="4076700"/>
            <a:ext cx="1752600" cy="178088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1434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s = new </a:t>
            </a:r>
            <a:r>
              <a:rPr lang="en-US" dirty="0" err="1"/>
              <a:t>ArrayStack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(3);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          // returns 3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7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" y="2743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9600" y="32766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09600" y="3810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876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5410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96000"/>
            <a:ext cx="77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600" y="3962400"/>
            <a:ext cx="1350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 </a:t>
            </a:r>
            <a:r>
              <a:rPr lang="en-US" sz="3200"/>
              <a:t>= 2</a:t>
            </a:r>
            <a:endParaRPr lang="en-US" sz="3200" dirty="0"/>
          </a:p>
        </p:txBody>
      </p:sp>
      <p:cxnSp>
        <p:nvCxnSpPr>
          <p:cNvPr id="16" name="Elbow Connector 15"/>
          <p:cNvCxnSpPr>
            <a:stCxn id="14" idx="1"/>
            <a:endCxn id="10" idx="3"/>
          </p:cNvCxnSpPr>
          <p:nvPr/>
        </p:nvCxnSpPr>
        <p:spPr>
          <a:xfrm rot="10800000" flipV="1">
            <a:off x="1143000" y="4254788"/>
            <a:ext cx="1752600" cy="355312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062029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s = new </a:t>
            </a:r>
            <a:r>
              <a:rPr lang="en-US" dirty="0" err="1"/>
              <a:t>ArrayStack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(3);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          // returns 3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          // returns 2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7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" y="2743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9600" y="32766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09600" y="3810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876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5410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96000"/>
            <a:ext cx="77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600" y="3962400"/>
            <a:ext cx="1350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 = 1</a:t>
            </a:r>
          </a:p>
        </p:txBody>
      </p:sp>
      <p:cxnSp>
        <p:nvCxnSpPr>
          <p:cNvPr id="16" name="Elbow Connector 15"/>
          <p:cNvCxnSpPr>
            <a:stCxn id="14" idx="1"/>
            <a:endCxn id="11" idx="3"/>
          </p:cNvCxnSpPr>
          <p:nvPr/>
        </p:nvCxnSpPr>
        <p:spPr>
          <a:xfrm rot="10800000" flipV="1">
            <a:off x="1143000" y="4254788"/>
            <a:ext cx="1752600" cy="888712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47238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s = new </a:t>
            </a:r>
            <a:r>
              <a:rPr lang="en-US" dirty="0" err="1"/>
              <a:t>ArrayStack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(3);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          // returns 3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          // returns 2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          // returns 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7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" y="2743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9600" y="32766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09600" y="3810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876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5410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96000"/>
            <a:ext cx="77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600" y="3962400"/>
            <a:ext cx="1350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 = 0</a:t>
            </a:r>
          </a:p>
        </p:txBody>
      </p:sp>
      <p:cxnSp>
        <p:nvCxnSpPr>
          <p:cNvPr id="16" name="Elbow Connector 15"/>
          <p:cNvCxnSpPr>
            <a:stCxn id="14" idx="1"/>
            <a:endCxn id="12" idx="3"/>
          </p:cNvCxnSpPr>
          <p:nvPr/>
        </p:nvCxnSpPr>
        <p:spPr>
          <a:xfrm rot="10800000" flipV="1">
            <a:off x="1143000" y="4254788"/>
            <a:ext cx="1752600" cy="1422112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05052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s = new </a:t>
            </a:r>
            <a:r>
              <a:rPr lang="en-US" dirty="0" err="1"/>
              <a:t>ArrayStack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(3);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          // returns 3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          // returns 2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          // returns 1</a:t>
            </a:r>
          </a:p>
          <a:p>
            <a:pPr marL="0" indent="0">
              <a:buNone/>
            </a:pPr>
            <a:r>
              <a:rPr lang="en-US" dirty="0" err="1"/>
              <a:t>s.IsEmpty</a:t>
            </a:r>
            <a:r>
              <a:rPr lang="en-US" dirty="0"/>
              <a:t>      // true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7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" y="2209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" y="2743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9600" y="32766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09600" y="3810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8768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54102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96000"/>
            <a:ext cx="77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600" y="3962400"/>
            <a:ext cx="1350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 = 0</a:t>
            </a:r>
          </a:p>
        </p:txBody>
      </p:sp>
      <p:cxnSp>
        <p:nvCxnSpPr>
          <p:cNvPr id="16" name="Elbow Connector 15"/>
          <p:cNvCxnSpPr>
            <a:stCxn id="14" idx="1"/>
            <a:endCxn id="12" idx="3"/>
          </p:cNvCxnSpPr>
          <p:nvPr/>
        </p:nvCxnSpPr>
        <p:spPr>
          <a:xfrm rot="10800000" flipV="1">
            <a:off x="1143000" y="4254788"/>
            <a:ext cx="1752600" cy="1422112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40709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 linked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LLStack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LLCell</a:t>
            </a:r>
            <a:r>
              <a:rPr lang="en-US" dirty="0"/>
              <a:t> top = null;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void </a:t>
            </a:r>
            <a:r>
              <a:rPr lang="en-US" b="1" dirty="0">
                <a:solidFill>
                  <a:srgbClr val="984807"/>
                </a:solidFill>
              </a:rPr>
              <a:t>Push</a:t>
            </a:r>
            <a:r>
              <a:rPr lang="en-US" dirty="0"/>
              <a:t>(object v) {</a:t>
            </a:r>
            <a:br>
              <a:rPr lang="en-US" dirty="0"/>
            </a:br>
            <a:r>
              <a:rPr lang="en-US" dirty="0"/>
              <a:t>      top = new </a:t>
            </a:r>
            <a:r>
              <a:rPr lang="en-US" dirty="0" err="1"/>
              <a:t>LLCell</a:t>
            </a:r>
            <a:r>
              <a:rPr lang="en-US" dirty="0"/>
              <a:t>(v, top);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object </a:t>
            </a:r>
            <a:r>
              <a:rPr lang="en-US" b="1" dirty="0">
                <a:solidFill>
                  <a:srgbClr val="984807"/>
                </a:solidFill>
              </a:rPr>
              <a:t>Pop</a:t>
            </a:r>
            <a:r>
              <a:rPr lang="en-US" dirty="0"/>
              <a:t>() {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LLCell</a:t>
            </a:r>
            <a:r>
              <a:rPr lang="en-US" dirty="0"/>
              <a:t> </a:t>
            </a:r>
            <a:r>
              <a:rPr lang="en-US" dirty="0" err="1"/>
              <a:t>oldTop</a:t>
            </a:r>
            <a:r>
              <a:rPr lang="en-US" dirty="0"/>
              <a:t> = top;</a:t>
            </a:r>
            <a:br>
              <a:rPr lang="en-US" dirty="0"/>
            </a:br>
            <a:r>
              <a:rPr lang="en-US" dirty="0"/>
              <a:t>      top = </a:t>
            </a:r>
            <a:r>
              <a:rPr lang="en-US" dirty="0" err="1"/>
              <a:t>top.next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  return </a:t>
            </a:r>
            <a:r>
              <a:rPr lang="en-US" dirty="0" err="1"/>
              <a:t>oldTop.value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}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bool</a:t>
            </a:r>
            <a:r>
              <a:rPr lang="en-US" dirty="0"/>
              <a:t> </a:t>
            </a:r>
            <a:r>
              <a:rPr lang="en-US" b="1" dirty="0" err="1">
                <a:solidFill>
                  <a:srgbClr val="984807"/>
                </a:solidFill>
              </a:rPr>
              <a:t>IsEmpty</a:t>
            </a:r>
            <a:r>
              <a:rPr lang="en-US" dirty="0">
                <a:solidFill>
                  <a:srgbClr val="984807"/>
                </a:solidFill>
              </a:rPr>
              <a:t> </a:t>
            </a:r>
            <a:r>
              <a:rPr lang="en-US" dirty="0"/>
              <a:t>{ </a:t>
            </a:r>
            <a:br>
              <a:rPr lang="en-US" dirty="0"/>
            </a:br>
            <a:r>
              <a:rPr lang="en-US" dirty="0"/>
              <a:t>       get { top==null; }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LLCell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public object value</a:t>
            </a:r>
            <a:br>
              <a:rPr lang="en-US" dirty="0"/>
            </a:br>
            <a:r>
              <a:rPr lang="en-US" dirty="0"/>
              <a:t>   public </a:t>
            </a:r>
            <a:r>
              <a:rPr lang="en-US" dirty="0" err="1"/>
              <a:t>LLCell</a:t>
            </a:r>
            <a:r>
              <a:rPr lang="en-US" dirty="0"/>
              <a:t> next;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public </a:t>
            </a:r>
            <a:r>
              <a:rPr lang="en-US" dirty="0" err="1"/>
              <a:t>LLCell</a:t>
            </a:r>
            <a:r>
              <a:rPr lang="en-US" dirty="0"/>
              <a:t>(object v, </a:t>
            </a:r>
            <a:r>
              <a:rPr lang="en-US" dirty="0" err="1"/>
              <a:t>LLCell</a:t>
            </a:r>
            <a:r>
              <a:rPr lang="en-US" dirty="0"/>
              <a:t> n)  {</a:t>
            </a:r>
            <a:br>
              <a:rPr lang="en-US" dirty="0"/>
            </a:br>
            <a:r>
              <a:rPr lang="en-US" dirty="0"/>
              <a:t>     value = v;</a:t>
            </a:r>
            <a:br>
              <a:rPr lang="en-US" dirty="0"/>
            </a:br>
            <a:r>
              <a:rPr lang="en-US" dirty="0"/>
              <a:t>     next = n;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448091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 = new </a:t>
            </a:r>
            <a:r>
              <a:rPr lang="en-US" dirty="0" err="1"/>
              <a:t>LLStack</a:t>
            </a:r>
            <a:r>
              <a:rPr lang="en-US" dirty="0"/>
              <a:t>();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6891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9600" y="2286000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cxnSp>
        <p:nvCxnSpPr>
          <p:cNvPr id="8" name="Elbow Connector 7"/>
          <p:cNvCxnSpPr>
            <a:stCxn id="6" idx="3"/>
          </p:cNvCxnSpPr>
          <p:nvPr/>
        </p:nvCxnSpPr>
        <p:spPr>
          <a:xfrm>
            <a:off x="1143000" y="1955800"/>
            <a:ext cx="609600" cy="158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05000" y="175260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6455468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 = new </a:t>
            </a:r>
            <a:r>
              <a:rPr lang="en-US" dirty="0" err="1"/>
              <a:t>LLStack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6891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9600" y="2286000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cxnSp>
        <p:nvCxnSpPr>
          <p:cNvPr id="8" name="Elbow Connector 7"/>
          <p:cNvCxnSpPr>
            <a:stCxn id="6" idx="3"/>
            <a:endCxn id="10" idx="0"/>
          </p:cNvCxnSpPr>
          <p:nvPr/>
        </p:nvCxnSpPr>
        <p:spPr>
          <a:xfrm flipH="1">
            <a:off x="1028700" y="1955800"/>
            <a:ext cx="114300" cy="3530600"/>
          </a:xfrm>
          <a:prstGeom prst="bentConnector4">
            <a:avLst>
              <a:gd name="adj1" fmla="val -200000"/>
              <a:gd name="adj2" fmla="val 5377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439121" y="5570022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48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95400" y="548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Elbow Connector 11"/>
          <p:cNvCxnSpPr>
            <a:stCxn id="11" idx="3"/>
          </p:cNvCxnSpPr>
          <p:nvPr/>
        </p:nvCxnSpPr>
        <p:spPr>
          <a:xfrm>
            <a:off x="1828800" y="5753100"/>
            <a:ext cx="533400" cy="158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8533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 = new </a:t>
            </a:r>
            <a:r>
              <a:rPr lang="en-US" dirty="0" err="1"/>
              <a:t>LLStack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6891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9600" y="2286000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cxnSp>
        <p:nvCxnSpPr>
          <p:cNvPr id="8" name="Elbow Connector 7"/>
          <p:cNvCxnSpPr>
            <a:stCxn id="6" idx="3"/>
            <a:endCxn id="18" idx="0"/>
          </p:cNvCxnSpPr>
          <p:nvPr/>
        </p:nvCxnSpPr>
        <p:spPr>
          <a:xfrm flipH="1">
            <a:off x="1027258" y="1955800"/>
            <a:ext cx="115742" cy="2387600"/>
          </a:xfrm>
          <a:prstGeom prst="bentConnector4">
            <a:avLst>
              <a:gd name="adj1" fmla="val -197508"/>
              <a:gd name="adj2" fmla="val 5558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39121" y="5570022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548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95400" y="548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Elbow Connector 15"/>
          <p:cNvCxnSpPr>
            <a:stCxn id="15" idx="3"/>
          </p:cNvCxnSpPr>
          <p:nvPr/>
        </p:nvCxnSpPr>
        <p:spPr>
          <a:xfrm>
            <a:off x="1828800" y="5753100"/>
            <a:ext cx="533400" cy="158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60558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93958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Elbow Connector 19"/>
          <p:cNvCxnSpPr>
            <a:stCxn id="19" idx="3"/>
            <a:endCxn id="14" idx="0"/>
          </p:cNvCxnSpPr>
          <p:nvPr/>
        </p:nvCxnSpPr>
        <p:spPr>
          <a:xfrm flipH="1">
            <a:off x="1028700" y="4610100"/>
            <a:ext cx="798658" cy="876300"/>
          </a:xfrm>
          <a:prstGeom prst="bentConnector4">
            <a:avLst>
              <a:gd name="adj1" fmla="val -28623"/>
              <a:gd name="adj2" fmla="val 6521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78445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 = new </a:t>
            </a:r>
            <a:r>
              <a:rPr lang="en-US" dirty="0" err="1"/>
              <a:t>LLStack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(3);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6891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9600" y="2286000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cxnSp>
        <p:nvCxnSpPr>
          <p:cNvPr id="8" name="Elbow Connector 7"/>
          <p:cNvCxnSpPr>
            <a:stCxn id="6" idx="3"/>
            <a:endCxn id="21" idx="0"/>
          </p:cNvCxnSpPr>
          <p:nvPr/>
        </p:nvCxnSpPr>
        <p:spPr>
          <a:xfrm flipH="1">
            <a:off x="1028700" y="1955800"/>
            <a:ext cx="114300" cy="1244600"/>
          </a:xfrm>
          <a:prstGeom prst="bentConnector4">
            <a:avLst>
              <a:gd name="adj1" fmla="val -200000"/>
              <a:gd name="adj2" fmla="val 6071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39121" y="5570022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548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95400" y="548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Elbow Connector 15"/>
          <p:cNvCxnSpPr>
            <a:stCxn id="15" idx="3"/>
          </p:cNvCxnSpPr>
          <p:nvPr/>
        </p:nvCxnSpPr>
        <p:spPr>
          <a:xfrm>
            <a:off x="1828800" y="5753100"/>
            <a:ext cx="533400" cy="158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60558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293958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Elbow Connector 19"/>
          <p:cNvCxnSpPr>
            <a:stCxn id="19" idx="3"/>
            <a:endCxn id="14" idx="0"/>
          </p:cNvCxnSpPr>
          <p:nvPr/>
        </p:nvCxnSpPr>
        <p:spPr>
          <a:xfrm flipH="1">
            <a:off x="1028700" y="4610100"/>
            <a:ext cx="798658" cy="876300"/>
          </a:xfrm>
          <a:prstGeom prst="bentConnector4">
            <a:avLst>
              <a:gd name="adj1" fmla="val -28623"/>
              <a:gd name="adj2" fmla="val 6521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62000" y="3200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95400" y="3200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Elbow Connector 22"/>
          <p:cNvCxnSpPr>
            <a:stCxn id="22" idx="3"/>
            <a:endCxn id="18" idx="0"/>
          </p:cNvCxnSpPr>
          <p:nvPr/>
        </p:nvCxnSpPr>
        <p:spPr>
          <a:xfrm flipH="1">
            <a:off x="1027258" y="3467100"/>
            <a:ext cx="801542" cy="876300"/>
          </a:xfrm>
          <a:prstGeom prst="bentConnector4">
            <a:avLst>
              <a:gd name="adj1" fmla="val -28520"/>
              <a:gd name="adj2" fmla="val 6521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8293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 = new </a:t>
            </a:r>
            <a:r>
              <a:rPr lang="en-US" dirty="0" err="1"/>
              <a:t>LLStack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(3);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();       // returns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6891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9600" y="2286000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cxnSp>
        <p:nvCxnSpPr>
          <p:cNvPr id="8" name="Elbow Connector 7"/>
          <p:cNvCxnSpPr>
            <a:stCxn id="6" idx="3"/>
            <a:endCxn id="18" idx="0"/>
          </p:cNvCxnSpPr>
          <p:nvPr/>
        </p:nvCxnSpPr>
        <p:spPr>
          <a:xfrm flipH="1">
            <a:off x="1027258" y="1955800"/>
            <a:ext cx="115742" cy="2387600"/>
          </a:xfrm>
          <a:prstGeom prst="bentConnector4">
            <a:avLst>
              <a:gd name="adj1" fmla="val -197508"/>
              <a:gd name="adj2" fmla="val 5558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39121" y="5570022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548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95400" y="548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Elbow Connector 15"/>
          <p:cNvCxnSpPr>
            <a:stCxn id="15" idx="3"/>
          </p:cNvCxnSpPr>
          <p:nvPr/>
        </p:nvCxnSpPr>
        <p:spPr>
          <a:xfrm>
            <a:off x="1828800" y="5753100"/>
            <a:ext cx="533400" cy="158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60558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293958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Elbow Connector 19"/>
          <p:cNvCxnSpPr>
            <a:stCxn id="19" idx="3"/>
            <a:endCxn id="14" idx="0"/>
          </p:cNvCxnSpPr>
          <p:nvPr/>
        </p:nvCxnSpPr>
        <p:spPr>
          <a:xfrm flipH="1">
            <a:off x="1028700" y="4610100"/>
            <a:ext cx="798658" cy="876300"/>
          </a:xfrm>
          <a:prstGeom prst="bentConnector4">
            <a:avLst>
              <a:gd name="adj1" fmla="val -28623"/>
              <a:gd name="adj2" fmla="val 6521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85175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 = new </a:t>
            </a:r>
            <a:r>
              <a:rPr lang="en-US" dirty="0" err="1"/>
              <a:t>LLStack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(3);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();       // returns 3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();       // returns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6891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9600" y="2286000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cxnSp>
        <p:nvCxnSpPr>
          <p:cNvPr id="8" name="Elbow Connector 7"/>
          <p:cNvCxnSpPr>
            <a:stCxn id="6" idx="3"/>
            <a:endCxn id="14" idx="0"/>
          </p:cNvCxnSpPr>
          <p:nvPr/>
        </p:nvCxnSpPr>
        <p:spPr>
          <a:xfrm flipH="1">
            <a:off x="1028700" y="1955800"/>
            <a:ext cx="114300" cy="3530600"/>
          </a:xfrm>
          <a:prstGeom prst="bentConnector4">
            <a:avLst>
              <a:gd name="adj1" fmla="val -200000"/>
              <a:gd name="adj2" fmla="val 5377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39121" y="5570022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548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95400" y="5486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Elbow Connector 15"/>
          <p:cNvCxnSpPr>
            <a:stCxn id="15" idx="3"/>
          </p:cNvCxnSpPr>
          <p:nvPr/>
        </p:nvCxnSpPr>
        <p:spPr>
          <a:xfrm>
            <a:off x="1828800" y="5753100"/>
            <a:ext cx="533400" cy="158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78627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 = new </a:t>
            </a:r>
            <a:r>
              <a:rPr lang="en-US" dirty="0" err="1"/>
              <a:t>LLStack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(3);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();       // returns 3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();       // returns 2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();       // returns 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09600" y="16891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09600" y="2286000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cxnSp>
        <p:nvCxnSpPr>
          <p:cNvPr id="17" name="Elbow Connector 16"/>
          <p:cNvCxnSpPr>
            <a:stCxn id="11" idx="3"/>
          </p:cNvCxnSpPr>
          <p:nvPr/>
        </p:nvCxnSpPr>
        <p:spPr>
          <a:xfrm>
            <a:off x="1143000" y="1955800"/>
            <a:ext cx="609600" cy="158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05000" y="175260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47428707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 stack</a:t>
            </a:r>
            <a:br>
              <a:rPr lang="en-US" dirty="0"/>
            </a:br>
            <a:r>
              <a:rPr lang="en-US" dirty="0"/>
              <a:t>with a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 = new </a:t>
            </a:r>
            <a:r>
              <a:rPr lang="en-US" dirty="0" err="1"/>
              <a:t>LLStack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(2);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(3);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();       // returns 3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();       // returns 2</a:t>
            </a:r>
          </a:p>
          <a:p>
            <a:pPr marL="0" indent="0">
              <a:buNone/>
            </a:pPr>
            <a:r>
              <a:rPr lang="en-US" dirty="0" err="1"/>
              <a:t>s.Pop</a:t>
            </a:r>
            <a:r>
              <a:rPr lang="en-US" dirty="0"/>
              <a:t>();       // returns 1</a:t>
            </a:r>
          </a:p>
          <a:p>
            <a:pPr marL="0" indent="0">
              <a:buNone/>
            </a:pPr>
            <a:r>
              <a:rPr lang="en-US" dirty="0" err="1"/>
              <a:t>s.IsEmpty</a:t>
            </a:r>
            <a:r>
              <a:rPr lang="en-US" dirty="0"/>
              <a:t>    // true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09600" y="16891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09600" y="2286000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cxnSp>
        <p:nvCxnSpPr>
          <p:cNvPr id="17" name="Elbow Connector 16"/>
          <p:cNvCxnSpPr>
            <a:stCxn id="11" idx="3"/>
          </p:cNvCxnSpPr>
          <p:nvPr/>
        </p:nvCxnSpPr>
        <p:spPr>
          <a:xfrm>
            <a:off x="1143000" y="1955800"/>
            <a:ext cx="609600" cy="158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05000" y="175260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19099338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the French for “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line</a:t>
            </a:r>
            <a:r>
              <a:rPr lang="en-US" dirty="0"/>
              <a:t>” or “tail”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specialized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type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sequence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where</a:t>
            </a:r>
          </a:p>
          <a:p>
            <a:pPr lvl="1"/>
            <a:r>
              <a:rPr lang="en-US" b="1" dirty="0">
                <a:solidFill>
                  <a:srgbClr val="984807"/>
                </a:solidFill>
              </a:rPr>
              <a:t>Additions</a:t>
            </a:r>
            <a:r>
              <a:rPr lang="en-US" dirty="0">
                <a:solidFill>
                  <a:srgbClr val="984807"/>
                </a:solidFill>
              </a:rPr>
              <a:t> </a:t>
            </a:r>
            <a:r>
              <a:rPr lang="en-US" dirty="0"/>
              <a:t>can only be performed at the “</a:t>
            </a:r>
            <a:r>
              <a:rPr lang="en-US" b="1" dirty="0">
                <a:solidFill>
                  <a:srgbClr val="984807"/>
                </a:solidFill>
              </a:rPr>
              <a:t>end</a:t>
            </a:r>
            <a:r>
              <a:rPr lang="en-US" dirty="0"/>
              <a:t>” or “</a:t>
            </a:r>
            <a:r>
              <a:rPr lang="en-US" b="1" dirty="0">
                <a:solidFill>
                  <a:srgbClr val="984807"/>
                </a:solidFill>
              </a:rPr>
              <a:t>tail</a:t>
            </a:r>
            <a:r>
              <a:rPr lang="en-US" dirty="0"/>
              <a:t>”</a:t>
            </a:r>
          </a:p>
          <a:p>
            <a:pPr lvl="1"/>
            <a:r>
              <a:rPr lang="en-US" b="1" dirty="0">
                <a:solidFill>
                  <a:srgbClr val="984807"/>
                </a:solidFill>
              </a:rPr>
              <a:t>Removals</a:t>
            </a:r>
            <a:r>
              <a:rPr lang="en-US" dirty="0">
                <a:solidFill>
                  <a:srgbClr val="984807"/>
                </a:solidFill>
              </a:rPr>
              <a:t> </a:t>
            </a:r>
            <a:r>
              <a:rPr lang="en-US" dirty="0"/>
              <a:t>can only be performed at the “</a:t>
            </a:r>
            <a:r>
              <a:rPr lang="en-US" b="1" dirty="0">
                <a:solidFill>
                  <a:srgbClr val="984807"/>
                </a:solidFill>
              </a:rPr>
              <a:t>beginning</a:t>
            </a:r>
            <a:r>
              <a:rPr lang="en-US" dirty="0"/>
              <a:t>” or “</a:t>
            </a:r>
            <a:r>
              <a:rPr lang="en-US" b="1" dirty="0">
                <a:solidFill>
                  <a:srgbClr val="984807"/>
                </a:solidFill>
              </a:rPr>
              <a:t>head</a:t>
            </a:r>
            <a:r>
              <a:rPr lang="en-US" dirty="0"/>
              <a:t>”</a:t>
            </a:r>
          </a:p>
        </p:txBody>
      </p:sp>
      <p:pic>
        <p:nvPicPr>
          <p:cNvPr id="1031" name="Picture 7" descr="http://farm2.static.flickr.com/1322/1216559418_ec512b79fc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319" y="1600200"/>
            <a:ext cx="3916362" cy="391636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705600" y="5715000"/>
            <a:ext cx="1950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flickr</a:t>
            </a:r>
            <a:r>
              <a:rPr lang="en-US" dirty="0"/>
              <a:t> user </a:t>
            </a:r>
            <a:r>
              <a:rPr lang="en-US" dirty="0" err="1"/>
              <a:t>DaveKav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24517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Like stacks, queues give their add and delete operations funny names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Enqueue</a:t>
            </a:r>
            <a:r>
              <a:rPr lang="en-US" dirty="0"/>
              <a:t>(item)</a:t>
            </a:r>
            <a:br>
              <a:rPr lang="en-US" dirty="0"/>
            </a:br>
            <a:r>
              <a:rPr lang="en-US" dirty="0"/>
              <a:t>Adds item to the end of the queue</a:t>
            </a:r>
          </a:p>
          <a:p>
            <a:endParaRPr lang="en-US" dirty="0"/>
          </a:p>
          <a:p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Dequeue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>Removes item at the head of the queue and returns it</a:t>
            </a:r>
          </a:p>
        </p:txBody>
      </p:sp>
      <p:pic>
        <p:nvPicPr>
          <p:cNvPr id="1031" name="Picture 7" descr="http://farm2.static.flickr.com/1322/1216559418_ec512b79fc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319" y="1600200"/>
            <a:ext cx="3916362" cy="391636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705600" y="5715000"/>
            <a:ext cx="1950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flickr</a:t>
            </a:r>
            <a:r>
              <a:rPr lang="en-US" dirty="0"/>
              <a:t> user </a:t>
            </a:r>
            <a:r>
              <a:rPr lang="en-US" dirty="0" err="1"/>
              <a:t>DaveKav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07099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Like stacks, queues can be </a:t>
            </a:r>
            <a:r>
              <a:rPr lang="en-US" dirty="0">
                <a:solidFill>
                  <a:schemeClr val="tx1"/>
                </a:solidFill>
              </a:rPr>
              <a:t>implemented using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any sequence structure</a:t>
            </a:r>
          </a:p>
          <a:p>
            <a:r>
              <a:rPr lang="en-US" dirty="0"/>
              <a:t>Arrays</a:t>
            </a:r>
          </a:p>
          <a:p>
            <a:r>
              <a:rPr lang="en-US" dirty="0"/>
              <a:t>Linked lists</a:t>
            </a:r>
          </a:p>
        </p:txBody>
      </p:sp>
      <p:pic>
        <p:nvPicPr>
          <p:cNvPr id="1031" name="Picture 7" descr="http://farm2.static.flickr.com/1322/1216559418_ec512b79fc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319" y="1600200"/>
            <a:ext cx="3916362" cy="391636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705600" y="5715000"/>
            <a:ext cx="1950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flickr</a:t>
            </a:r>
            <a:r>
              <a:rPr lang="en-US" dirty="0"/>
              <a:t> user </a:t>
            </a:r>
            <a:r>
              <a:rPr lang="en-US" dirty="0" err="1"/>
              <a:t>DaveKav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19932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Simple queue implementation using a static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One simple way to implement a queue is to use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fixed-size array</a:t>
            </a:r>
          </a:p>
          <a:p>
            <a:pPr lvl="1"/>
            <a:r>
              <a:rPr lang="en-US" dirty="0"/>
              <a:t>Limits number of elements that can be in the queue</a:t>
            </a:r>
          </a:p>
          <a:p>
            <a:pPr lvl="1"/>
            <a:endParaRPr lang="en-US" dirty="0"/>
          </a:p>
          <a:p>
            <a:r>
              <a:rPr lang="en-US" dirty="0"/>
              <a:t>Also uses two fields to keep track of data in the queue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Head</a:t>
            </a:r>
            <a:r>
              <a:rPr lang="en-US" dirty="0"/>
              <a:t>: index in the array of the next element to </a:t>
            </a:r>
            <a:r>
              <a:rPr lang="en-US" dirty="0" err="1"/>
              <a:t>dequeue</a:t>
            </a:r>
            <a:endParaRPr lang="en-US" dirty="0"/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Tail</a:t>
            </a:r>
            <a:r>
              <a:rPr lang="en-US" dirty="0"/>
              <a:t>: index in the array of where the next </a:t>
            </a:r>
            <a:r>
              <a:rPr lang="en-US" dirty="0" err="1"/>
              <a:t>enqueued</a:t>
            </a:r>
            <a:r>
              <a:rPr lang="en-US" dirty="0"/>
              <a:t> element should be stored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51054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object[] data = new object[100];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head;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tail;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void </a:t>
            </a:r>
            <a:r>
              <a:rPr lang="en-US" b="1" dirty="0" err="1">
                <a:solidFill>
                  <a:srgbClr val="984807"/>
                </a:solidFill>
              </a:rPr>
              <a:t>Enqueue</a:t>
            </a:r>
            <a:r>
              <a:rPr lang="en-US" dirty="0"/>
              <a:t>(object o) {</a:t>
            </a:r>
            <a:br>
              <a:rPr lang="en-US" dirty="0"/>
            </a:br>
            <a:r>
              <a:rPr lang="en-US" dirty="0"/>
              <a:t>   data[tail] = o;</a:t>
            </a:r>
          </a:p>
          <a:p>
            <a:pPr marL="0" indent="0">
              <a:buNone/>
            </a:pPr>
            <a:r>
              <a:rPr lang="en-US" dirty="0"/>
              <a:t>   tail = (tail+1)%</a:t>
            </a:r>
            <a:r>
              <a:rPr lang="en-US" dirty="0" err="1"/>
              <a:t>data.Length</a:t>
            </a:r>
            <a:r>
              <a:rPr lang="en-US" dirty="0"/>
              <a:t>;;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object </a:t>
            </a:r>
            <a:r>
              <a:rPr lang="en-US" b="1" dirty="0" err="1">
                <a:solidFill>
                  <a:srgbClr val="984807"/>
                </a:solidFill>
              </a:rPr>
              <a:t>Dequeue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object item = data[head];</a:t>
            </a:r>
            <a:br>
              <a:rPr lang="en-US" dirty="0"/>
            </a:br>
            <a:r>
              <a:rPr lang="en-US" dirty="0"/>
              <a:t>   head = (head+1)%</a:t>
            </a:r>
            <a:r>
              <a:rPr lang="en-US" dirty="0" err="1"/>
              <a:t>data.Length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return item;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337452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Array-based queue</a:t>
            </a:r>
            <a:br>
              <a:rPr lang="en-US" dirty="0"/>
            </a:br>
            <a:r>
              <a:rPr lang="en-US" sz="2700" dirty="0"/>
              <a:t>(with a capacity of 3 elements)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3340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198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7056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3914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018897" y="3657600"/>
            <a:ext cx="1058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7895" y="4242375"/>
            <a:ext cx="7393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Tail</a:t>
            </a:r>
          </a:p>
        </p:txBody>
      </p:sp>
      <p:cxnSp>
        <p:nvCxnSpPr>
          <p:cNvPr id="13" name="Elbow Connector 12"/>
          <p:cNvCxnSpPr>
            <a:stCxn id="10" idx="1"/>
            <a:endCxn id="6" idx="2"/>
          </p:cNvCxnSpPr>
          <p:nvPr/>
        </p:nvCxnSpPr>
        <p:spPr>
          <a:xfrm rot="10800000">
            <a:off x="5676901" y="2895600"/>
            <a:ext cx="1341997" cy="1054388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11" idx="1"/>
            <a:endCxn id="6" idx="2"/>
          </p:cNvCxnSpPr>
          <p:nvPr/>
        </p:nvCxnSpPr>
        <p:spPr>
          <a:xfrm rot="10800000">
            <a:off x="5676901" y="2895601"/>
            <a:ext cx="1660995" cy="1639163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82349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Array-based queue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Enqueue</a:t>
            </a:r>
            <a:r>
              <a:rPr lang="en-US" dirty="0"/>
              <a:t>(0)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60198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7056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3914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018897" y="3657600"/>
            <a:ext cx="1058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7895" y="4242375"/>
            <a:ext cx="7393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Tail</a:t>
            </a:r>
          </a:p>
        </p:txBody>
      </p:sp>
      <p:cxnSp>
        <p:nvCxnSpPr>
          <p:cNvPr id="13" name="Elbow Connector 12"/>
          <p:cNvCxnSpPr>
            <a:stCxn id="10" idx="1"/>
            <a:endCxn id="6" idx="2"/>
          </p:cNvCxnSpPr>
          <p:nvPr/>
        </p:nvCxnSpPr>
        <p:spPr>
          <a:xfrm rot="10800000">
            <a:off x="5676901" y="2895600"/>
            <a:ext cx="1341997" cy="1054388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11" idx="1"/>
          </p:cNvCxnSpPr>
          <p:nvPr/>
        </p:nvCxnSpPr>
        <p:spPr>
          <a:xfrm rot="10800000">
            <a:off x="6362701" y="2895601"/>
            <a:ext cx="975195" cy="1639162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37659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Array-based queue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Enqueue</a:t>
            </a:r>
            <a:r>
              <a:rPr lang="en-US" dirty="0"/>
              <a:t>(0)</a:t>
            </a:r>
          </a:p>
          <a:p>
            <a:r>
              <a:rPr lang="en-US" dirty="0" err="1"/>
              <a:t>Enqueue</a:t>
            </a:r>
            <a:r>
              <a:rPr lang="en-US" dirty="0"/>
              <a:t>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60198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56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3914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018897" y="3657600"/>
            <a:ext cx="1058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7895" y="4242375"/>
            <a:ext cx="7393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Tail</a:t>
            </a:r>
          </a:p>
        </p:txBody>
      </p:sp>
      <p:cxnSp>
        <p:nvCxnSpPr>
          <p:cNvPr id="13" name="Elbow Connector 12"/>
          <p:cNvCxnSpPr>
            <a:stCxn id="10" idx="1"/>
            <a:endCxn id="6" idx="2"/>
          </p:cNvCxnSpPr>
          <p:nvPr/>
        </p:nvCxnSpPr>
        <p:spPr>
          <a:xfrm rot="10800000">
            <a:off x="5676901" y="2895600"/>
            <a:ext cx="1341997" cy="1054388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11" idx="1"/>
            <a:endCxn id="8" idx="2"/>
          </p:cNvCxnSpPr>
          <p:nvPr/>
        </p:nvCxnSpPr>
        <p:spPr>
          <a:xfrm rot="10800000">
            <a:off x="7048501" y="2895601"/>
            <a:ext cx="289395" cy="1639163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32268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Array-based queue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Enqueue</a:t>
            </a:r>
            <a:r>
              <a:rPr lang="en-US" dirty="0"/>
              <a:t>(0)</a:t>
            </a:r>
          </a:p>
          <a:p>
            <a:r>
              <a:rPr lang="en-US" dirty="0" err="1"/>
              <a:t>Enqueue</a:t>
            </a:r>
            <a:r>
              <a:rPr lang="en-US" dirty="0"/>
              <a:t>(1)</a:t>
            </a:r>
          </a:p>
          <a:p>
            <a:r>
              <a:rPr lang="en-US" dirty="0" err="1"/>
              <a:t>Dequeue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Returns 0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60198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56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3914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018897" y="3657600"/>
            <a:ext cx="1058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7895" y="4242375"/>
            <a:ext cx="7393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Tail</a:t>
            </a:r>
          </a:p>
        </p:txBody>
      </p:sp>
      <p:cxnSp>
        <p:nvCxnSpPr>
          <p:cNvPr id="13" name="Elbow Connector 12"/>
          <p:cNvCxnSpPr>
            <a:stCxn id="10" idx="1"/>
            <a:endCxn id="7" idx="2"/>
          </p:cNvCxnSpPr>
          <p:nvPr/>
        </p:nvCxnSpPr>
        <p:spPr>
          <a:xfrm rot="10800000">
            <a:off x="6362701" y="2895600"/>
            <a:ext cx="656197" cy="1054388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11" idx="1"/>
            <a:endCxn id="8" idx="2"/>
          </p:cNvCxnSpPr>
          <p:nvPr/>
        </p:nvCxnSpPr>
        <p:spPr>
          <a:xfrm rot="10800000">
            <a:off x="7048501" y="2895601"/>
            <a:ext cx="289395" cy="1639163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28472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Array-based queue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Enqueue</a:t>
            </a:r>
            <a:r>
              <a:rPr lang="en-US" dirty="0"/>
              <a:t>(0)</a:t>
            </a:r>
          </a:p>
          <a:p>
            <a:r>
              <a:rPr lang="en-US" dirty="0" err="1"/>
              <a:t>Enqueue</a:t>
            </a:r>
            <a:r>
              <a:rPr lang="en-US" dirty="0"/>
              <a:t>(1)</a:t>
            </a:r>
          </a:p>
          <a:p>
            <a:r>
              <a:rPr lang="en-US" dirty="0" err="1"/>
              <a:t>Dequeue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Returns 0</a:t>
            </a:r>
          </a:p>
          <a:p>
            <a:r>
              <a:rPr lang="en-US" dirty="0" err="1"/>
              <a:t>Enqueue</a:t>
            </a:r>
            <a:r>
              <a:rPr lang="en-US" dirty="0"/>
              <a:t>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60198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56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914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018897" y="3657600"/>
            <a:ext cx="1058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7895" y="4242375"/>
            <a:ext cx="7393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Tail</a:t>
            </a:r>
          </a:p>
        </p:txBody>
      </p:sp>
      <p:cxnSp>
        <p:nvCxnSpPr>
          <p:cNvPr id="13" name="Elbow Connector 12"/>
          <p:cNvCxnSpPr>
            <a:stCxn id="10" idx="1"/>
            <a:endCxn id="7" idx="2"/>
          </p:cNvCxnSpPr>
          <p:nvPr/>
        </p:nvCxnSpPr>
        <p:spPr>
          <a:xfrm rot="10800000">
            <a:off x="6362701" y="2895600"/>
            <a:ext cx="656197" cy="1054388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11" idx="1"/>
            <a:endCxn id="9" idx="2"/>
          </p:cNvCxnSpPr>
          <p:nvPr/>
        </p:nvCxnSpPr>
        <p:spPr>
          <a:xfrm rot="10800000" flipH="1">
            <a:off x="7337894" y="2895601"/>
            <a:ext cx="396405" cy="1639163"/>
          </a:xfrm>
          <a:prstGeom prst="bentConnector4">
            <a:avLst>
              <a:gd name="adj1" fmla="val -57668"/>
              <a:gd name="adj2" fmla="val 5891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9057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Array-based queue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Enqueue</a:t>
            </a:r>
            <a:r>
              <a:rPr lang="en-US" dirty="0"/>
              <a:t>(0)</a:t>
            </a:r>
          </a:p>
          <a:p>
            <a:r>
              <a:rPr lang="en-US" dirty="0" err="1"/>
              <a:t>Enqueue</a:t>
            </a:r>
            <a:r>
              <a:rPr lang="en-US" dirty="0"/>
              <a:t>(1)</a:t>
            </a:r>
          </a:p>
          <a:p>
            <a:r>
              <a:rPr lang="en-US" dirty="0" err="1"/>
              <a:t>Dequeue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Returns 0</a:t>
            </a:r>
          </a:p>
          <a:p>
            <a:r>
              <a:rPr lang="en-US" dirty="0" err="1"/>
              <a:t>Enqueue</a:t>
            </a:r>
            <a:r>
              <a:rPr lang="en-US" dirty="0"/>
              <a:t>(2)</a:t>
            </a:r>
          </a:p>
          <a:p>
            <a:r>
              <a:rPr lang="en-US" dirty="0" err="1"/>
              <a:t>Enqueue</a:t>
            </a:r>
            <a:r>
              <a:rPr lang="en-US" dirty="0"/>
              <a:t>(3)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60198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56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914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8897" y="3657600"/>
            <a:ext cx="1058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7895" y="4242375"/>
            <a:ext cx="7393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Tail</a:t>
            </a:r>
          </a:p>
        </p:txBody>
      </p:sp>
      <p:cxnSp>
        <p:nvCxnSpPr>
          <p:cNvPr id="13" name="Elbow Connector 12"/>
          <p:cNvCxnSpPr>
            <a:stCxn id="10" idx="1"/>
            <a:endCxn id="7" idx="2"/>
          </p:cNvCxnSpPr>
          <p:nvPr/>
        </p:nvCxnSpPr>
        <p:spPr>
          <a:xfrm rot="10800000">
            <a:off x="6362701" y="2895600"/>
            <a:ext cx="656197" cy="1054388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11" idx="1"/>
            <a:endCxn id="6" idx="2"/>
          </p:cNvCxnSpPr>
          <p:nvPr/>
        </p:nvCxnSpPr>
        <p:spPr>
          <a:xfrm rot="10800000">
            <a:off x="5676901" y="2895601"/>
            <a:ext cx="1660995" cy="1639163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95269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Array-based queue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Enqueue</a:t>
            </a:r>
            <a:r>
              <a:rPr lang="en-US" dirty="0"/>
              <a:t>(0)</a:t>
            </a:r>
          </a:p>
          <a:p>
            <a:r>
              <a:rPr lang="en-US" dirty="0" err="1"/>
              <a:t>Enqueue</a:t>
            </a:r>
            <a:r>
              <a:rPr lang="en-US" dirty="0"/>
              <a:t>(1)</a:t>
            </a:r>
          </a:p>
          <a:p>
            <a:r>
              <a:rPr lang="en-US" dirty="0" err="1"/>
              <a:t>Dequeue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Returns 0</a:t>
            </a:r>
          </a:p>
          <a:p>
            <a:r>
              <a:rPr lang="en-US" dirty="0" err="1"/>
              <a:t>Enqueue</a:t>
            </a:r>
            <a:r>
              <a:rPr lang="en-US" dirty="0"/>
              <a:t>(2)</a:t>
            </a:r>
          </a:p>
          <a:p>
            <a:r>
              <a:rPr lang="en-US" dirty="0" err="1"/>
              <a:t>Enqueue</a:t>
            </a:r>
            <a:r>
              <a:rPr lang="en-US" dirty="0"/>
              <a:t>(3)</a:t>
            </a:r>
          </a:p>
          <a:p>
            <a:r>
              <a:rPr lang="en-US" dirty="0" err="1"/>
              <a:t>Dequeue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Returns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60198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56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914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8897" y="3657600"/>
            <a:ext cx="1058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7895" y="4242375"/>
            <a:ext cx="7393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Tail</a:t>
            </a:r>
          </a:p>
        </p:txBody>
      </p:sp>
      <p:cxnSp>
        <p:nvCxnSpPr>
          <p:cNvPr id="13" name="Elbow Connector 12"/>
          <p:cNvCxnSpPr>
            <a:stCxn id="10" idx="1"/>
            <a:endCxn id="8" idx="2"/>
          </p:cNvCxnSpPr>
          <p:nvPr/>
        </p:nvCxnSpPr>
        <p:spPr>
          <a:xfrm rot="10800000" flipH="1">
            <a:off x="7018896" y="2895600"/>
            <a:ext cx="29603" cy="1054388"/>
          </a:xfrm>
          <a:prstGeom prst="bentConnector4">
            <a:avLst>
              <a:gd name="adj1" fmla="val -772219"/>
              <a:gd name="adj2" fmla="val 6386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11" idx="1"/>
            <a:endCxn id="6" idx="2"/>
          </p:cNvCxnSpPr>
          <p:nvPr/>
        </p:nvCxnSpPr>
        <p:spPr>
          <a:xfrm rot="10800000">
            <a:off x="5676901" y="2895601"/>
            <a:ext cx="1660995" cy="1639163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91245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Array-based queue</a:t>
            </a:r>
            <a:endParaRPr lang="en-US" sz="2700" dirty="0"/>
          </a:p>
        </p:txBody>
      </p:sp>
      <p:sp>
        <p:nvSpPr>
          <p:cNvPr id="16" name="Content Placeholder 1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Enqueue</a:t>
            </a:r>
            <a:r>
              <a:rPr lang="en-US" dirty="0"/>
              <a:t>(0)</a:t>
            </a:r>
          </a:p>
          <a:p>
            <a:r>
              <a:rPr lang="en-US" dirty="0" err="1"/>
              <a:t>Enqueue</a:t>
            </a:r>
            <a:r>
              <a:rPr lang="en-US" dirty="0"/>
              <a:t>(1)</a:t>
            </a:r>
          </a:p>
          <a:p>
            <a:r>
              <a:rPr lang="en-US" dirty="0" err="1"/>
              <a:t>Dequeue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Returns 0</a:t>
            </a:r>
          </a:p>
          <a:p>
            <a:r>
              <a:rPr lang="en-US" dirty="0" err="1"/>
              <a:t>Enqueue</a:t>
            </a:r>
            <a:r>
              <a:rPr lang="en-US" dirty="0"/>
              <a:t>(2)</a:t>
            </a:r>
          </a:p>
          <a:p>
            <a:r>
              <a:rPr lang="en-US" dirty="0" err="1"/>
              <a:t>Enqueue</a:t>
            </a:r>
            <a:r>
              <a:rPr lang="en-US" dirty="0"/>
              <a:t>(3)</a:t>
            </a:r>
          </a:p>
          <a:p>
            <a:r>
              <a:rPr lang="en-US" dirty="0" err="1"/>
              <a:t>Dequeue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Returns 1</a:t>
            </a:r>
          </a:p>
          <a:p>
            <a:r>
              <a:rPr lang="en-US" dirty="0" err="1"/>
              <a:t>Enqueue</a:t>
            </a:r>
            <a:r>
              <a:rPr lang="en-US" dirty="0"/>
              <a:t>(4)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60198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56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91400" y="2209800"/>
            <a:ext cx="68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8897" y="3657600"/>
            <a:ext cx="1058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7895" y="4242375"/>
            <a:ext cx="7393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Tail</a:t>
            </a:r>
          </a:p>
        </p:txBody>
      </p:sp>
      <p:cxnSp>
        <p:nvCxnSpPr>
          <p:cNvPr id="13" name="Elbow Connector 12"/>
          <p:cNvCxnSpPr>
            <a:stCxn id="10" idx="1"/>
            <a:endCxn id="8" idx="2"/>
          </p:cNvCxnSpPr>
          <p:nvPr/>
        </p:nvCxnSpPr>
        <p:spPr>
          <a:xfrm rot="10800000" flipH="1">
            <a:off x="7018896" y="2895600"/>
            <a:ext cx="29603" cy="1054388"/>
          </a:xfrm>
          <a:prstGeom prst="bentConnector4">
            <a:avLst>
              <a:gd name="adj1" fmla="val -772219"/>
              <a:gd name="adj2" fmla="val 6386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11" idx="1"/>
            <a:endCxn id="7" idx="2"/>
          </p:cNvCxnSpPr>
          <p:nvPr/>
        </p:nvCxnSpPr>
        <p:spPr>
          <a:xfrm rot="10800000">
            <a:off x="6362701" y="2895601"/>
            <a:ext cx="975195" cy="1639163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51095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Pronounced “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deck</a:t>
            </a:r>
            <a:r>
              <a:rPr lang="en-US" dirty="0"/>
              <a:t>”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Double-ended queue</a:t>
            </a:r>
          </a:p>
          <a:p>
            <a:r>
              <a:rPr lang="en-US" dirty="0"/>
              <a:t>Specialized sequence in which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additions and deletions</a:t>
            </a:r>
          </a:p>
          <a:p>
            <a:pPr lvl="1"/>
            <a:r>
              <a:rPr lang="en-US" dirty="0"/>
              <a:t>Can be made on </a:t>
            </a:r>
            <a:r>
              <a:rPr lang="en-US" b="1" dirty="0">
                <a:solidFill>
                  <a:srgbClr val="984807"/>
                </a:solidFill>
              </a:rPr>
              <a:t>either side</a:t>
            </a:r>
          </a:p>
          <a:p>
            <a:pPr lvl="1"/>
            <a:r>
              <a:rPr lang="en-US" dirty="0"/>
              <a:t>But only on the sides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2133600"/>
            <a:ext cx="609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096000" y="2133600"/>
            <a:ext cx="609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705600" y="2133600"/>
            <a:ext cx="609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7315200" y="2133600"/>
            <a:ext cx="609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4800600" y="2286000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4800600" y="2590800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7924800" y="2286000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7924800" y="2590800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1023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Deques</a:t>
            </a:r>
            <a:r>
              <a:rPr lang="en-US" dirty="0"/>
              <a:t> generalize stacks and queues</a:t>
            </a:r>
          </a:p>
          <a:p>
            <a:endParaRPr lang="en-US" dirty="0"/>
          </a:p>
          <a:p>
            <a:r>
              <a:rPr lang="en-US" dirty="0"/>
              <a:t>Behave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like a stack</a:t>
            </a:r>
          </a:p>
          <a:p>
            <a:pPr lvl="1"/>
            <a:r>
              <a:rPr lang="en-US" dirty="0"/>
              <a:t>If you only add/remove from one side</a:t>
            </a:r>
          </a:p>
          <a:p>
            <a:endParaRPr lang="en-US" dirty="0"/>
          </a:p>
          <a:p>
            <a:r>
              <a:rPr lang="en-US" dirty="0"/>
              <a:t>Behave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like a queue</a:t>
            </a:r>
          </a:p>
          <a:p>
            <a:pPr lvl="1"/>
            <a:r>
              <a:rPr lang="en-US" dirty="0"/>
              <a:t>If you add from one side</a:t>
            </a:r>
          </a:p>
          <a:p>
            <a:pPr lvl="1"/>
            <a:r>
              <a:rPr lang="en-US" dirty="0"/>
              <a:t>And remove from the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2133600"/>
            <a:ext cx="609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0" y="2133600"/>
            <a:ext cx="609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705600" y="2133600"/>
            <a:ext cx="609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315200" y="2133600"/>
            <a:ext cx="609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4800600" y="2286000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800600" y="2590800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7924800" y="2286000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7924800" y="2590800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452229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CLRS, Chapter 10</a:t>
            </a:r>
            <a:br>
              <a:rPr lang="en-US" dirty="0"/>
            </a:br>
            <a:r>
              <a:rPr lang="en-US" dirty="0"/>
              <a:t>(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Elementary Data Structures</a:t>
            </a:r>
            <a:r>
              <a:rPr lang="en-US" dirty="0"/>
              <a:t>)</a:t>
            </a:r>
          </a:p>
          <a:p>
            <a:r>
              <a:rPr lang="en-US" dirty="0"/>
              <a:t>Sections 1-3</a:t>
            </a:r>
          </a:p>
          <a:p>
            <a:pPr lvl="1"/>
            <a:r>
              <a:rPr lang="en-US" dirty="0"/>
              <a:t>11.1 Stacks and queues</a:t>
            </a:r>
          </a:p>
          <a:p>
            <a:pPr lvl="1"/>
            <a:r>
              <a:rPr lang="en-US" dirty="0"/>
              <a:t>11.2 Linked lists</a:t>
            </a:r>
          </a:p>
          <a:p>
            <a:pPr lvl="1"/>
            <a:r>
              <a:rPr lang="en-US" dirty="0"/>
              <a:t>11.3 Implementing pointers and objects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20663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768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Implement queues</a:t>
            </a:r>
          </a:p>
          <a:p>
            <a:pPr lvl="1"/>
            <a:r>
              <a:rPr lang="en-US" dirty="0"/>
              <a:t>Using arrays</a:t>
            </a:r>
          </a:p>
          <a:p>
            <a:pPr lvl="1"/>
            <a:r>
              <a:rPr lang="en-US" dirty="0"/>
              <a:t>And linked lists</a:t>
            </a:r>
          </a:p>
          <a:p>
            <a:pPr lvl="1"/>
            <a:endParaRPr lang="en-US" dirty="0"/>
          </a:p>
          <a:p>
            <a:r>
              <a:rPr lang="en-US" dirty="0"/>
              <a:t>Do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fuller implementation</a:t>
            </a:r>
            <a:r>
              <a:rPr lang="en-US" b="1" dirty="0">
                <a:solidFill>
                  <a:srgbClr val="984807"/>
                </a:solidFill>
              </a:rPr>
              <a:t> </a:t>
            </a:r>
            <a:r>
              <a:rPr lang="en-US" dirty="0"/>
              <a:t>than discussed in class</a:t>
            </a:r>
          </a:p>
          <a:p>
            <a:pPr lvl="1"/>
            <a:r>
              <a:rPr lang="en-US" dirty="0"/>
              <a:t>Extra methods, like </a:t>
            </a:r>
            <a:r>
              <a:rPr lang="en-US" dirty="0" err="1"/>
              <a:t>IsEmpty</a:t>
            </a:r>
            <a:endParaRPr lang="en-US" dirty="0"/>
          </a:p>
          <a:p>
            <a:pPr lvl="1"/>
            <a:r>
              <a:rPr lang="en-US" dirty="0"/>
              <a:t>Should check for error conditions and throw appropriate exceptions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Implement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deques</a:t>
            </a:r>
            <a:r>
              <a:rPr lang="en-US" b="1" dirty="0">
                <a:solidFill>
                  <a:srgbClr val="984807"/>
                </a:solidFill>
              </a:rPr>
              <a:t> </a:t>
            </a:r>
            <a:r>
              <a:rPr lang="en-US" dirty="0"/>
              <a:t>using doubly-linked lists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Test using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automated testing tools </a:t>
            </a:r>
            <a:r>
              <a:rPr lang="en-US" dirty="0"/>
              <a:t>in Visual Studio</a:t>
            </a:r>
          </a:p>
          <a:p>
            <a:pPr lvl="1"/>
            <a:r>
              <a:rPr lang="en-US" dirty="0"/>
              <a:t>We provide a partial set of test cases</a:t>
            </a:r>
          </a:p>
          <a:p>
            <a:pPr lvl="1"/>
            <a:r>
              <a:rPr lang="en-US" dirty="0"/>
              <a:t>We will grade with a larger set</a:t>
            </a:r>
          </a:p>
          <a:p>
            <a:pPr lvl="1"/>
            <a:r>
              <a:rPr lang="en-US" dirty="0"/>
              <a:t>Grade will be number of tests passed</a:t>
            </a:r>
          </a:p>
          <a:p>
            <a:endParaRPr lang="en-US" dirty="0"/>
          </a:p>
          <a:p>
            <a:r>
              <a:rPr lang="en-US" dirty="0"/>
              <a:t>Out: Friday, April 12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Due Monday, April 22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, 11:59pm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b="1" dirty="0">
                <a:solidFill>
                  <a:srgbClr val="984807"/>
                </a:solidFill>
              </a:rPr>
              <a:t>Do not wait until the last minute</a:t>
            </a:r>
          </a:p>
        </p:txBody>
      </p:sp>
    </p:spTree>
    <p:extLst>
      <p:ext uri="{BB962C8B-B14F-4D97-AF65-F5344CB8AC3E}">
        <p14:creationId xmlns:p14="http://schemas.microsoft.com/office/powerpoint/2010/main" val="241972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9570</TotalTime>
  <Words>3712</Words>
  <Application>Microsoft Office PowerPoint</Application>
  <PresentationFormat>On-screen Show (4:3)</PresentationFormat>
  <Paragraphs>1055</Paragraphs>
  <Slides>95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0" baseType="lpstr">
      <vt:lpstr>Arial</vt:lpstr>
      <vt:lpstr>Calibri</vt:lpstr>
      <vt:lpstr>Cambria Math</vt:lpstr>
      <vt:lpstr>Kootenay</vt:lpstr>
      <vt:lpstr>Office Theme</vt:lpstr>
      <vt:lpstr>Lecture 4 Sequences and iterators</vt:lpstr>
      <vt:lpstr>Memory structure</vt:lpstr>
      <vt:lpstr>Statically allocated structures</vt:lpstr>
      <vt:lpstr>Performance profile of arrays</vt:lpstr>
      <vt:lpstr>Dynamic structures</vt:lpstr>
      <vt:lpstr>Collection classes</vt:lpstr>
      <vt:lpstr>Dynamic sequences</vt:lpstr>
      <vt:lpstr>Lists (aka sequences)</vt:lpstr>
      <vt:lpstr>Dynamic arrays</vt:lpstr>
      <vt:lpstr>Dynamic arrays</vt:lpstr>
      <vt:lpstr>Dynamic array in C#</vt:lpstr>
      <vt:lpstr>Iterators</vt:lpstr>
      <vt:lpstr>Subroutines</vt:lpstr>
      <vt:lpstr>Producer-consumer relationships</vt:lpstr>
      <vt:lpstr>Coroutines</vt:lpstr>
      <vt:lpstr>Iterators in C#</vt:lpstr>
      <vt:lpstr>Iterator for dynamic arrays</vt:lpstr>
      <vt:lpstr>Iterating over a DynamicArray</vt:lpstr>
      <vt:lpstr>Iterating over a DynamicArray</vt:lpstr>
      <vt:lpstr>Iterating over a DynamicArray</vt:lpstr>
      <vt:lpstr>Iterating over a DynamicArray</vt:lpstr>
      <vt:lpstr>Iterating over a DynamicArray</vt:lpstr>
      <vt:lpstr>Iterating over a DynamicArray</vt:lpstr>
      <vt:lpstr>Iterating over a DynamicArray</vt:lpstr>
      <vt:lpstr>Iterating over a DynamicArray</vt:lpstr>
      <vt:lpstr>Iterating over a DynamicArray</vt:lpstr>
      <vt:lpstr>Iterating over a DynamicArray</vt:lpstr>
      <vt:lpstr>Iterating over a DynamicArray</vt:lpstr>
      <vt:lpstr>Iterating over a DynamicArray</vt:lpstr>
      <vt:lpstr>Iterating over a DynamicArray</vt:lpstr>
      <vt:lpstr>Iterating over a DynamicArray</vt:lpstr>
      <vt:lpstr>Iterating over a DynamicArray</vt:lpstr>
      <vt:lpstr>Iterating over a DynamicArray</vt:lpstr>
      <vt:lpstr>Iterating over a DynamicArray</vt:lpstr>
      <vt:lpstr>Iterating over a DynamicArray</vt:lpstr>
      <vt:lpstr>Iterating over a DynamicArray</vt:lpstr>
      <vt:lpstr>Iterating over a DynamicArray</vt:lpstr>
      <vt:lpstr>Iterating over a DynamicArray</vt:lpstr>
      <vt:lpstr>Iterating over a DynamicArray</vt:lpstr>
      <vt:lpstr>Iterating over a DynamicArray</vt:lpstr>
      <vt:lpstr>Iterating over a DynamicArray</vt:lpstr>
      <vt:lpstr>Iterating over a DynamicArray</vt:lpstr>
      <vt:lpstr>Iterating over a DynamicArray</vt:lpstr>
      <vt:lpstr>Iterating over a DynamicArray</vt:lpstr>
      <vt:lpstr>Linked lists</vt:lpstr>
      <vt:lpstr>Linked lists</vt:lpstr>
      <vt:lpstr>Linked list in C#</vt:lpstr>
      <vt:lpstr>Linked list in C#</vt:lpstr>
      <vt:lpstr>Linked list in C#</vt:lpstr>
      <vt:lpstr>Linked list in C#</vt:lpstr>
      <vt:lpstr>Linked list in C#</vt:lpstr>
      <vt:lpstr>Linked list in C#</vt:lpstr>
      <vt:lpstr>Iterator for LinkedLists</vt:lpstr>
      <vt:lpstr>Doubly linked lists</vt:lpstr>
      <vt:lpstr>Doubly-linked list insertion (note: this is a popular interview question)</vt:lpstr>
      <vt:lpstr>Doubly linked lists</vt:lpstr>
      <vt:lpstr>The .NET list interfaces</vt:lpstr>
      <vt:lpstr>IList interface methods</vt:lpstr>
      <vt:lpstr>IList interface properties</vt:lpstr>
      <vt:lpstr>Generic versions</vt:lpstr>
      <vt:lpstr>Stacks</vt:lpstr>
      <vt:lpstr>Implementing a stack with an array</vt:lpstr>
      <vt:lpstr>Implementing a stack with an array</vt:lpstr>
      <vt:lpstr>Implementing a stack with an array</vt:lpstr>
      <vt:lpstr>Implementing a stack with an array</vt:lpstr>
      <vt:lpstr>Implementing a stack with an array</vt:lpstr>
      <vt:lpstr>Implementing a stack with an array</vt:lpstr>
      <vt:lpstr>Implementing a stack with an array</vt:lpstr>
      <vt:lpstr>Implementing a stack with an array</vt:lpstr>
      <vt:lpstr>Implementing a stack with an array</vt:lpstr>
      <vt:lpstr>Implementing a stack with a linked list</vt:lpstr>
      <vt:lpstr>Implementing a stack with a linked list</vt:lpstr>
      <vt:lpstr>Implementing a stack with a linked list</vt:lpstr>
      <vt:lpstr>Implementing a stack with a linked list</vt:lpstr>
      <vt:lpstr>Implementing a stack with a linked list</vt:lpstr>
      <vt:lpstr>Implementing a stack with a linked list</vt:lpstr>
      <vt:lpstr>Implementing a stack with a linked list</vt:lpstr>
      <vt:lpstr>Implementing a stack with a linked list</vt:lpstr>
      <vt:lpstr>Implementing a stack with a linked list</vt:lpstr>
      <vt:lpstr>Queues</vt:lpstr>
      <vt:lpstr>Queues</vt:lpstr>
      <vt:lpstr>Queues</vt:lpstr>
      <vt:lpstr>Simple queue implementation using a static array</vt:lpstr>
      <vt:lpstr>Array-based queue (with a capacity of 3 elements)</vt:lpstr>
      <vt:lpstr>Array-based queue</vt:lpstr>
      <vt:lpstr>Array-based queue</vt:lpstr>
      <vt:lpstr>Array-based queue</vt:lpstr>
      <vt:lpstr>Array-based queue</vt:lpstr>
      <vt:lpstr>Array-based queue</vt:lpstr>
      <vt:lpstr>Array-based queue</vt:lpstr>
      <vt:lpstr>Array-based queue</vt:lpstr>
      <vt:lpstr>Deques</vt:lpstr>
      <vt:lpstr>Deques</vt:lpstr>
      <vt:lpstr>Reading</vt:lpstr>
      <vt:lpstr>Assignment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Structures and Algorithms</dc:title>
  <dc:creator>Ian Horswill</dc:creator>
  <cp:lastModifiedBy>Ian Horswill</cp:lastModifiedBy>
  <cp:revision>409</cp:revision>
  <cp:lastPrinted>2015-04-15T19:03:10Z</cp:lastPrinted>
  <dcterms:created xsi:type="dcterms:W3CDTF">2010-03-27T22:31:10Z</dcterms:created>
  <dcterms:modified xsi:type="dcterms:W3CDTF">2019-04-15T17:07:25Z</dcterms:modified>
</cp:coreProperties>
</file>