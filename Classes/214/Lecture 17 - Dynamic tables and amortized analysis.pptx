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74" r:id="rId8"/>
    <p:sldId id="273" r:id="rId9"/>
    <p:sldId id="275" r:id="rId10"/>
    <p:sldId id="276" r:id="rId11"/>
    <p:sldId id="260" r:id="rId12"/>
    <p:sldId id="261" r:id="rId13"/>
    <p:sldId id="263" r:id="rId14"/>
    <p:sldId id="265" r:id="rId15"/>
    <p:sldId id="266" r:id="rId16"/>
    <p:sldId id="277" r:id="rId17"/>
    <p:sldId id="278" r:id="rId18"/>
    <p:sldId id="279" r:id="rId19"/>
    <p:sldId id="268" r:id="rId20"/>
    <p:sldId id="281" r:id="rId21"/>
    <p:sldId id="282" r:id="rId22"/>
    <p:sldId id="280" r:id="rId23"/>
    <p:sldId id="269" r:id="rId24"/>
    <p:sldId id="271" r:id="rId25"/>
    <p:sldId id="283" r:id="rId26"/>
    <p:sldId id="284" r:id="rId27"/>
    <p:sldId id="272" r:id="rId28"/>
    <p:sldId id="286" r:id="rId29"/>
    <p:sldId id="285" r:id="rId30"/>
    <p:sldId id="287" r:id="rId31"/>
    <p:sldId id="270" r:id="rId32"/>
    <p:sldId id="288" r:id="rId3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94687" autoAdjust="0"/>
  </p:normalViewPr>
  <p:slideViewPr>
    <p:cSldViewPr>
      <p:cViewPr varScale="1">
        <p:scale>
          <a:sx n="100" d="100"/>
          <a:sy n="100" d="100"/>
        </p:scale>
        <p:origin x="130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0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6/3/2019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6/3/2019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6/3/2019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>
                <a:latin typeface="+mn-lt"/>
                <a:ea typeface="Verdana" pitchFamily="34" charset="0"/>
                <a:cs typeface="Verdana" pitchFamily="34" charset="0"/>
              </a:rPr>
              <a:t>Lecture 17</a:t>
            </a: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/>
            </a:r>
            <a:br>
              <a:rPr lang="en-US" dirty="0"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Dynamic tables</a:t>
            </a:r>
            <a:br>
              <a:rPr lang="en-US" dirty="0">
                <a:latin typeface="+mn-lt"/>
                <a:ea typeface="Verdana" pitchFamily="34" charset="0"/>
                <a:cs typeface="Verdana" pitchFamily="34" charset="0"/>
              </a:rPr>
            </a:b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and amortized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EECS-214</a:t>
            </a:r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arrays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Just an object with a pointer to an array</a:t>
            </a:r>
          </a:p>
          <a:p>
            <a:r>
              <a:rPr lang="en-US" dirty="0"/>
              <a:t>The array stores the real data</a:t>
            </a:r>
          </a:p>
          <a:p>
            <a:r>
              <a:rPr lang="en-US" dirty="0"/>
              <a:t>When you need to change the size</a:t>
            </a:r>
          </a:p>
          <a:p>
            <a:pPr lvl="1"/>
            <a:r>
              <a:rPr lang="en-US" dirty="0"/>
              <a:t>Make a whole new array</a:t>
            </a:r>
          </a:p>
          <a:p>
            <a:pPr lvl="1"/>
            <a:r>
              <a:rPr lang="en-US" dirty="0"/>
              <a:t>Copy the data</a:t>
            </a:r>
          </a:p>
          <a:p>
            <a:pPr lvl="1"/>
            <a:r>
              <a:rPr lang="en-US" dirty="0"/>
              <a:t>Change the pointer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600" y="17526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705600" y="2286000"/>
            <a:ext cx="20002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array </a:t>
            </a:r>
          </a:p>
          <a:p>
            <a:r>
              <a:rPr lang="en-US" dirty="0"/>
              <a:t>containing the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4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818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8486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382000" y="30480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Elbow Connector 20"/>
          <p:cNvCxnSpPr>
            <a:stCxn id="6" idx="3"/>
            <a:endCxn id="9" idx="0"/>
          </p:cNvCxnSpPr>
          <p:nvPr/>
        </p:nvCxnSpPr>
        <p:spPr>
          <a:xfrm>
            <a:off x="5715000" y="2019300"/>
            <a:ext cx="800100" cy="1028700"/>
          </a:xfrm>
          <a:prstGeom prst="bentConnector2">
            <a:avLst/>
          </a:prstGeom>
          <a:ln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57800" y="1295400"/>
            <a:ext cx="239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pointer to current array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816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7150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2484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7818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315200" y="4343400"/>
            <a:ext cx="533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Elbow Connector 29"/>
          <p:cNvCxnSpPr>
            <a:stCxn id="6" idx="3"/>
            <a:endCxn id="24" idx="0"/>
          </p:cNvCxnSpPr>
          <p:nvPr/>
        </p:nvCxnSpPr>
        <p:spPr>
          <a:xfrm flipH="1">
            <a:off x="5448300" y="2019300"/>
            <a:ext cx="266700" cy="2324100"/>
          </a:xfrm>
          <a:prstGeom prst="bentConnector4">
            <a:avLst>
              <a:gd name="adj1" fmla="val -100000"/>
              <a:gd name="adj2" fmla="val 55738"/>
            </a:avLst>
          </a:prstGeom>
          <a:ln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848600" y="4343400"/>
            <a:ext cx="5334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308768" y="5029200"/>
            <a:ext cx="2946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array with extra element</a:t>
            </a:r>
          </a:p>
        </p:txBody>
      </p:sp>
      <p:sp>
        <p:nvSpPr>
          <p:cNvPr id="34" name="TextBox 33"/>
          <p:cNvSpPr txBox="1"/>
          <p:nvPr/>
        </p:nvSpPr>
        <p:spPr>
          <a:xfrm rot="5400000">
            <a:off x="4639969" y="3476700"/>
            <a:ext cx="970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updated</a:t>
            </a:r>
          </a:p>
          <a:p>
            <a:r>
              <a:rPr lang="en-US" dirty="0"/>
              <a:t>pointer</a:t>
            </a:r>
          </a:p>
        </p:txBody>
      </p:sp>
    </p:spTree>
    <p:extLst>
      <p:ext uri="{BB962C8B-B14F-4D97-AF65-F5344CB8AC3E}">
        <p14:creationId xmlns:p14="http://schemas.microsoft.com/office/powerpoint/2010/main" val="3594574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array in C#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 public class </a:t>
            </a:r>
            <a:r>
              <a:rPr lang="en-US" b="1" dirty="0" err="1"/>
              <a:t>DynamicArray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object[] </a:t>
            </a:r>
            <a:r>
              <a:rPr lang="en-US" dirty="0" err="1"/>
              <a:t>realArray</a:t>
            </a:r>
            <a:r>
              <a:rPr lang="en-US" dirty="0"/>
              <a:t> = new object[0];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// Add an element at end</a:t>
            </a:r>
            <a:br>
              <a:rPr lang="en-US" dirty="0"/>
            </a:br>
            <a:r>
              <a:rPr lang="en-US" dirty="0"/>
              <a:t>        void </a:t>
            </a:r>
            <a:r>
              <a:rPr lang="en-US" b="1" dirty="0"/>
              <a:t>Add</a:t>
            </a:r>
            <a:r>
              <a:rPr lang="en-US" dirty="0"/>
              <a:t>(object </a:t>
            </a:r>
            <a:r>
              <a:rPr lang="en-US" dirty="0" err="1"/>
              <a:t>newValue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{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object[] </a:t>
            </a:r>
            <a:r>
              <a:rPr lang="en-US" dirty="0" err="1">
                <a:solidFill>
                  <a:schemeClr val="tx1"/>
                </a:solidFill>
              </a:rPr>
              <a:t>newArray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     = new object[</a:t>
            </a:r>
            <a:r>
              <a:rPr lang="en-US" dirty="0" err="1">
                <a:solidFill>
                  <a:schemeClr val="tx1"/>
                </a:solidFill>
              </a:rPr>
              <a:t>realArray.Length</a:t>
            </a:r>
            <a:r>
              <a:rPr lang="en-US" dirty="0">
                <a:solidFill>
                  <a:schemeClr val="tx1"/>
                </a:solidFill>
              </a:rPr>
              <a:t> + 1];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        for (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= 0;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&lt;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realArray.Length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;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++)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         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newArray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] 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realArray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[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];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</a:t>
            </a:r>
            <a:r>
              <a:rPr lang="en-US" dirty="0" err="1">
                <a:solidFill>
                  <a:schemeClr val="tx1"/>
                </a:solidFill>
              </a:rPr>
              <a:t>newArray</a:t>
            </a:r>
            <a:r>
              <a:rPr lang="en-US" dirty="0">
                <a:solidFill>
                  <a:schemeClr val="tx1"/>
                </a:solidFill>
              </a:rPr>
              <a:t>[</a:t>
            </a:r>
            <a:r>
              <a:rPr lang="en-US" dirty="0" err="1">
                <a:solidFill>
                  <a:schemeClr val="tx1"/>
                </a:solidFill>
              </a:rPr>
              <a:t>realArray.Length</a:t>
            </a:r>
            <a:r>
              <a:rPr lang="en-US" dirty="0">
                <a:solidFill>
                  <a:schemeClr val="tx1"/>
                </a:solidFill>
              </a:rPr>
              <a:t>] = </a:t>
            </a:r>
            <a:r>
              <a:rPr lang="en-US" dirty="0" err="1">
                <a:solidFill>
                  <a:schemeClr val="tx1"/>
                </a:solidFill>
              </a:rPr>
              <a:t>newValue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</a:t>
            </a:r>
            <a:r>
              <a:rPr lang="en-US" dirty="0" err="1">
                <a:solidFill>
                  <a:schemeClr val="tx1"/>
                </a:solidFill>
              </a:rPr>
              <a:t>realArray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newArray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… </a:t>
            </a:r>
            <a:r>
              <a:rPr lang="en-US" i="1" dirty="0"/>
              <a:t>other methods </a:t>
            </a: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4674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10 elements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9074516"/>
              </p:ext>
            </p:extLst>
          </p:nvPr>
        </p:nvGraphicFramePr>
        <p:xfrm>
          <a:off x="533400" y="1452880"/>
          <a:ext cx="5562600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Elements</a:t>
                      </a:r>
                    </a:p>
                    <a:p>
                      <a:r>
                        <a:rPr lang="en-US" dirty="0"/>
                        <a:t>copied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lang="en-US" baseline="0" dirty="0"/>
                    </a:p>
                    <a:p>
                      <a:r>
                        <a:rPr lang="en-US" baseline="0" dirty="0"/>
                        <a:t>copies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r>
                        <a:rPr lang="en-US" baseline="0" dirty="0"/>
                        <a:t> = new </a:t>
                      </a:r>
                      <a:r>
                        <a:rPr lang="en-US" baseline="0" dirty="0" err="1"/>
                        <a:t>DynamicArray</a:t>
                      </a:r>
                      <a:r>
                        <a:rPr lang="en-US" baseline="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a.Add</a:t>
                      </a:r>
                      <a:r>
                        <a:rPr lang="en-US" dirty="0"/>
                        <a:t>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24600" y="5562600"/>
            <a:ext cx="2419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O(</a:t>
            </a:r>
            <a:r>
              <a:rPr lang="en-US" sz="3200" b="1" dirty="0">
                <a:solidFill>
                  <a:srgbClr val="FF0000"/>
                </a:solidFill>
              </a:rPr>
              <a:t>n</a:t>
            </a:r>
            <a:r>
              <a:rPr lang="en-US" sz="3200" b="1" baseline="30000" dirty="0">
                <a:solidFill>
                  <a:srgbClr val="FF0000"/>
                </a:solidFill>
              </a:rPr>
              <a:t>2</a:t>
            </a:r>
            <a:r>
              <a:rPr lang="en-US" sz="3200" dirty="0"/>
              <a:t>) copies!</a:t>
            </a:r>
          </a:p>
        </p:txBody>
      </p:sp>
    </p:spTree>
    <p:extLst>
      <p:ext uri="{BB962C8B-B14F-4D97-AF65-F5344CB8AC3E}">
        <p14:creationId xmlns:p14="http://schemas.microsoft.com/office/powerpoint/2010/main" val="262236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Cost of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sequence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operations</a:t>
                </a:r>
              </a:p>
              <a:p>
                <a:r>
                  <a:rPr lang="en-US" dirty="0"/>
                  <a:t>In this case</a:t>
                </a:r>
              </a:p>
              <a:p>
                <a:pPr lvl="1"/>
                <a:r>
                  <a:rPr lang="en-US" dirty="0"/>
                  <a:t>We grow the array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every time</a:t>
                </a:r>
              </a:p>
              <a:p>
                <a:pPr lvl="1"/>
                <a:r>
                  <a:rPr lang="en-US" dirty="0"/>
                  <a:t>We grow by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just enough space</a:t>
                </a:r>
              </a:p>
              <a:p>
                <a:r>
                  <a:rPr lang="en-US" dirty="0"/>
                  <a:t>So</a:t>
                </a:r>
              </a:p>
              <a:p>
                <a:pPr lvl="1"/>
                <a:r>
                  <a:rPr lang="en-US" dirty="0"/>
                  <a:t>Each add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element copies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Sequence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copies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573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more than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Don’t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grow the array every time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Start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extra space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Only grow when we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run out </a:t>
            </a:r>
            <a:r>
              <a:rPr lang="en-US" dirty="0">
                <a:solidFill>
                  <a:schemeClr val="tx1"/>
                </a:solidFill>
              </a:rPr>
              <a:t>of extra space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 extra </a:t>
            </a:r>
            <a:r>
              <a:rPr lang="en-US" dirty="0">
                <a:solidFill>
                  <a:schemeClr val="tx1"/>
                </a:solidFill>
              </a:rPr>
              <a:t>when we do grow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Question: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how much extra </a:t>
            </a:r>
            <a:r>
              <a:rPr lang="en-US" dirty="0">
                <a:solidFill>
                  <a:schemeClr val="tx1"/>
                </a:solidFill>
              </a:rPr>
              <a:t>should we add?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28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if we grow by </a:t>
            </a:r>
            <a:r>
              <a:rPr lang="en-US"/>
              <a:t>a lot, </a:t>
            </a:r>
            <a:r>
              <a:rPr lang="en-US" dirty="0"/>
              <a:t>Like 1000 elements?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54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Growing by 1000 elements at a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Then if we add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elements total</a:t>
                </a:r>
              </a:p>
              <a:p>
                <a:pPr lvl="1"/>
                <a:r>
                  <a:rPr lang="en-US" dirty="0"/>
                  <a:t>Instead of growing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  <a:p>
                <a:pPr lvl="1"/>
                <a:r>
                  <a:rPr lang="en-US" dirty="0"/>
                  <a:t>We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grow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𝟎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.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𝟎𝟎𝟏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times</a:t>
                </a:r>
                <a:endParaRPr lang="en-US" b="1" dirty="0"/>
              </a:p>
              <a:p>
                <a:pPr lvl="1"/>
                <a:r>
                  <a:rPr lang="en-US" dirty="0"/>
                  <a:t>Which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still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𝐎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times</a:t>
                </a:r>
                <a:endParaRPr lang="en-US" b="1" dirty="0"/>
              </a:p>
              <a:p>
                <a:r>
                  <a:rPr lang="en-US" altLang="ja-JP" dirty="0"/>
                  <a:t>And </a:t>
                </a:r>
                <a:r>
                  <a:rPr lang="en-US" dirty="0"/>
                  <a:t>we still do spend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𝐎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each time we grow</a:t>
                </a:r>
                <a:endParaRPr lang="en-US" b="1" dirty="0"/>
              </a:p>
              <a:p>
                <a:r>
                  <a:rPr lang="en-US" dirty="0"/>
                  <a:t>So the total work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still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𝐎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887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keep increasing the amount that we grow by?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55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the growth factor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increase the growth factor </a:t>
            </a:r>
            <a:r>
              <a:rPr lang="en-US" dirty="0"/>
              <a:t>each time</a:t>
            </a:r>
          </a:p>
          <a:p>
            <a:r>
              <a:rPr lang="en-US" dirty="0"/>
              <a:t>Then we need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grow less frequently </a:t>
            </a:r>
            <a:r>
              <a:rPr lang="en-US" dirty="0"/>
              <a:t>as time goes on</a:t>
            </a:r>
          </a:p>
          <a:p>
            <a:r>
              <a:rPr lang="en-US" dirty="0"/>
              <a:t>So it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might cancel out 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08083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Doubling the array size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 public class </a:t>
            </a:r>
            <a:r>
              <a:rPr lang="en-US" b="1" dirty="0" err="1"/>
              <a:t>DynamicArray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object[] </a:t>
            </a:r>
            <a:r>
              <a:rPr lang="en-US" dirty="0" err="1"/>
              <a:t>realArray</a:t>
            </a:r>
            <a:r>
              <a:rPr lang="en-US" dirty="0"/>
              <a:t> = new object[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dirty="0"/>
              <a:t>];</a:t>
            </a:r>
            <a:br>
              <a:rPr lang="en-US" dirty="0"/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 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Count = 0;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// Add an element at end</a:t>
            </a:r>
            <a:br>
              <a:rPr lang="en-US" dirty="0"/>
            </a:br>
            <a:r>
              <a:rPr lang="en-US" dirty="0"/>
              <a:t>        void </a:t>
            </a:r>
            <a:r>
              <a:rPr lang="en-US" b="1" dirty="0"/>
              <a:t>Add</a:t>
            </a:r>
            <a:r>
              <a:rPr lang="en-US" dirty="0"/>
              <a:t>(object </a:t>
            </a:r>
            <a:r>
              <a:rPr lang="en-US" dirty="0" err="1"/>
              <a:t>newValue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Count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++;</a:t>
            </a:r>
            <a:br>
              <a:rPr lang="en-US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        if (Count ==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realArray.Length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 {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object[] </a:t>
            </a:r>
            <a:r>
              <a:rPr lang="en-US" dirty="0" err="1">
                <a:solidFill>
                  <a:schemeClr val="tx1"/>
                </a:solidFill>
              </a:rPr>
              <a:t>newArray</a:t>
            </a:r>
            <a:r>
              <a:rPr lang="en-US" dirty="0">
                <a:solidFill>
                  <a:schemeClr val="tx1"/>
                </a:solidFill>
              </a:rPr>
              <a:t> = new object[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2*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realArray.Length</a:t>
            </a:r>
            <a:r>
              <a:rPr lang="en-US" dirty="0">
                <a:solidFill>
                  <a:schemeClr val="tx1"/>
                </a:solidFill>
              </a:rPr>
              <a:t>];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for (</a:t>
            </a: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= 0;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&lt; </a:t>
            </a:r>
            <a:r>
              <a:rPr lang="en-US" dirty="0" err="1">
                <a:solidFill>
                  <a:schemeClr val="tx1"/>
                </a:solidFill>
              </a:rPr>
              <a:t>realArray.Length</a:t>
            </a:r>
            <a:r>
              <a:rPr lang="en-US" dirty="0">
                <a:solidFill>
                  <a:schemeClr val="tx1"/>
                </a:solidFill>
              </a:rPr>
              <a:t>;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++)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</a:t>
            </a:r>
            <a:r>
              <a:rPr lang="en-US" dirty="0" err="1">
                <a:solidFill>
                  <a:schemeClr val="tx1"/>
                </a:solidFill>
              </a:rPr>
              <a:t>newArray</a:t>
            </a:r>
            <a:r>
              <a:rPr lang="en-US" dirty="0">
                <a:solidFill>
                  <a:schemeClr val="tx1"/>
                </a:solidFill>
              </a:rPr>
              <a:t>[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] = </a:t>
            </a:r>
            <a:r>
              <a:rPr lang="en-US" dirty="0" err="1">
                <a:solidFill>
                  <a:schemeClr val="tx1"/>
                </a:solidFill>
              </a:rPr>
              <a:t>realArray</a:t>
            </a:r>
            <a:r>
              <a:rPr lang="en-US" dirty="0">
                <a:solidFill>
                  <a:schemeClr val="tx1"/>
                </a:solidFill>
              </a:rPr>
              <a:t>[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];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</a:t>
            </a:r>
            <a:r>
              <a:rPr lang="en-US" dirty="0" err="1">
                <a:solidFill>
                  <a:schemeClr val="tx1"/>
                </a:solidFill>
              </a:rPr>
              <a:t>realArray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newArray</a:t>
            </a:r>
            <a:r>
              <a:rPr lang="en-US" dirty="0">
                <a:solidFill>
                  <a:schemeClr val="tx1"/>
                </a:solidFill>
              </a:rPr>
              <a:t>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</a:t>
            </a:r>
            <a:r>
              <a:rPr lang="en-US" dirty="0" err="1">
                <a:solidFill>
                  <a:schemeClr val="tx1"/>
                </a:solidFill>
              </a:rPr>
              <a:t>realArray</a:t>
            </a:r>
            <a:r>
              <a:rPr lang="en-US" dirty="0">
                <a:solidFill>
                  <a:schemeClr val="tx1"/>
                </a:solidFill>
              </a:rPr>
              <a:t>[count-1] = </a:t>
            </a:r>
            <a:r>
              <a:rPr lang="en-US" dirty="0" err="1">
                <a:solidFill>
                  <a:schemeClr val="tx1"/>
                </a:solidFill>
              </a:rPr>
              <a:t>newValue</a:t>
            </a:r>
            <a:r>
              <a:rPr lang="en-US" dirty="0">
                <a:solidFill>
                  <a:schemeClr val="tx1"/>
                </a:solidFill>
              </a:rPr>
              <a:t>;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9343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10 elements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7541729"/>
              </p:ext>
            </p:extLst>
          </p:nvPr>
        </p:nvGraphicFramePr>
        <p:xfrm>
          <a:off x="533400" y="1452880"/>
          <a:ext cx="5562600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Elements</a:t>
                      </a:r>
                    </a:p>
                    <a:p>
                      <a:r>
                        <a:rPr lang="en-US" dirty="0"/>
                        <a:t>copied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lang="en-US" baseline="0" dirty="0"/>
                    </a:p>
                    <a:p>
                      <a:r>
                        <a:rPr lang="en-US" baseline="0" dirty="0"/>
                        <a:t>copies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r>
                        <a:rPr lang="en-US" baseline="0" dirty="0"/>
                        <a:t> = new </a:t>
                      </a:r>
                      <a:r>
                        <a:rPr lang="en-US" baseline="0" dirty="0" err="1"/>
                        <a:t>DynamicArray</a:t>
                      </a:r>
                      <a:r>
                        <a:rPr lang="en-US" baseline="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a.Add</a:t>
                      </a:r>
                      <a:r>
                        <a:rPr lang="en-US" dirty="0"/>
                        <a:t>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a.Add</a:t>
                      </a:r>
                      <a:r>
                        <a:rPr lang="en-US" dirty="0"/>
                        <a:t>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72200" y="5294293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 calls &lt; 2n copies</a:t>
            </a:r>
            <a:endParaRPr lang="en-US" sz="3200" dirty="0"/>
          </a:p>
          <a:p>
            <a:r>
              <a:rPr lang="en-US" sz="3200" dirty="0"/>
              <a:t>O(n) copies!</a:t>
            </a:r>
          </a:p>
        </p:txBody>
      </p:sp>
    </p:spTree>
    <p:extLst>
      <p:ext uri="{BB962C8B-B14F-4D97-AF65-F5344CB8AC3E}">
        <p14:creationId xmlns:p14="http://schemas.microsoft.com/office/powerpoint/2010/main" val="174823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Aggregate analysis (</a:t>
            </a:r>
            <a:r>
              <a:rPr lang="en-US" dirty="0" err="1"/>
              <a:t>handwavy</a:t>
            </a:r>
            <a:r>
              <a:rPr lang="en-US" dirty="0"/>
              <a:t> version)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Cost of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sequence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operations</a:t>
                </a:r>
              </a:p>
              <a:p>
                <a:r>
                  <a:rPr lang="en-US" dirty="0"/>
                  <a:t>In this case</a:t>
                </a:r>
              </a:p>
              <a:p>
                <a:pPr lvl="1"/>
                <a:r>
                  <a:rPr lang="en-US" dirty="0"/>
                  <a:t>We grow with exponentially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decreasing frequency</a:t>
                </a:r>
              </a:p>
              <a:p>
                <a:pPr lvl="1"/>
                <a:r>
                  <a:rPr lang="en-US" dirty="0"/>
                  <a:t>But by exponentially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increasing amounts</a:t>
                </a:r>
              </a:p>
              <a:p>
                <a:r>
                  <a:rPr lang="en-US" dirty="0"/>
                  <a:t>So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Most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adds requires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zero copies</a:t>
                </a:r>
              </a:p>
              <a:p>
                <a:pPr lvl="2"/>
                <a:r>
                  <a:rPr lang="en-US" dirty="0"/>
                  <a:t>Some require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Θ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copies</a:t>
                </a:r>
              </a:p>
              <a:p>
                <a:pPr lvl="2"/>
                <a:r>
                  <a:rPr lang="en-US" dirty="0"/>
                  <a:t>But they occur with exponentially decreasing frequency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Sequence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total copies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830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4344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Aggregate analysis (formal version)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A sequence of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add operations </a:t>
                </a:r>
                <a:r>
                  <a:rPr lang="en-US" dirty="0"/>
                  <a:t>only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recopies</a:t>
                </a:r>
                <a:r>
                  <a:rPr lang="en-US" dirty="0"/>
                  <a:t> on the 3</a:t>
                </a:r>
                <a:r>
                  <a:rPr lang="en-US" baseline="30000" dirty="0"/>
                  <a:t>rd</a:t>
                </a:r>
                <a:r>
                  <a:rPr lang="en-US" dirty="0"/>
                  <a:t>, 5</a:t>
                </a:r>
                <a:r>
                  <a:rPr lang="en-US" baseline="30000" dirty="0"/>
                  <a:t>th</a:t>
                </a:r>
                <a:r>
                  <a:rPr lang="en-US" dirty="0"/>
                  <a:t>, 9</a:t>
                </a:r>
                <a:r>
                  <a:rPr lang="en-US" baseline="30000" dirty="0"/>
                  <a:t>th</a:t>
                </a:r>
                <a:r>
                  <a:rPr lang="en-US" dirty="0"/>
                  <a:t>, adds, etc.</a:t>
                </a:r>
              </a:p>
              <a:p>
                <a:pPr lvl="1"/>
                <a:r>
                  <a:rPr lang="en-US" dirty="0"/>
                  <a:t>That is,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when we’re doing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</m:t>
                        </m:r>
                      </m:sup>
                    </m:sSup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+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b="1" baseline="30000" dirty="0">
                    <a:solidFill>
                      <a:schemeClr val="accent6">
                        <a:lumMod val="75000"/>
                      </a:schemeClr>
                    </a:solidFill>
                  </a:rPr>
                  <a:t>st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add </a:t>
                </a:r>
                <a:r>
                  <a:rPr lang="en-US" dirty="0"/>
                  <a:t>for some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Each of those copies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𝒊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elements</a:t>
                </a:r>
                <a:endParaRPr lang="en-US" b="1" dirty="0"/>
              </a:p>
              <a:p>
                <a:pPr lvl="1"/>
                <a:r>
                  <a:rPr lang="en-US" dirty="0"/>
                  <a:t>So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total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number of copies is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⌊"/>
                              <m:endChr m:val="⌋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d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d>
                            <m:dPr>
                              <m:begChr m:val="⌊"/>
                              <m:endChr m:val="⌋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−2&lt;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  <m:sup>
                          <m:d>
                            <m:dPr>
                              <m:begChr m:val="⌊"/>
                              <m:endChr m:val="⌋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2×</m:t>
                          </m:r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  <m:sup>
                          <m:d>
                            <m:dPr>
                              <m:begChr m:val="⌊"/>
                              <m:endChr m:val="⌋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≤2×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=2</m:t>
                      </m:r>
                      <m:r>
                        <a:rPr lang="en-US" b="0" i="1" smtClean="0"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𝐎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𝒏</m:t>
                      </m:r>
                      <m:r>
                        <a:rPr lang="en-US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 smtClean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 smtClean="0">
                    <a:solidFill>
                      <a:schemeClr val="tx1"/>
                    </a:solidFill>
                  </a:rPr>
                  <a:t>And you can similarly prove a lower bound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, so it’s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>
                <a:blip r:embed="rId2"/>
                <a:stretch>
                  <a:fillRect l="-1481" t="-2463" r="-1852" b="-3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3282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Amortized analysis</a:t>
            </a:r>
            <a:br>
              <a:rPr lang="en-US" dirty="0"/>
            </a:br>
            <a:r>
              <a:rPr lang="en-US" sz="2200" dirty="0"/>
              <a:t>(using the aggregate method)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Basic idea</a:t>
                </a:r>
              </a:p>
              <a:p>
                <a:r>
                  <a:rPr lang="en-US" dirty="0"/>
                  <a:t>If 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arbitrary sequence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operations takes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And we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really mean arbitrary</a:t>
                </a:r>
                <a:endParaRPr lang="en-US" dirty="0"/>
              </a:p>
              <a:p>
                <a:pPr lvl="1"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any sequence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</a:p>
              <a:p>
                <a:pPr lvl="1"/>
                <a:r>
                  <a:rPr lang="en-US" dirty="0"/>
                  <a:t>of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any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length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of those operations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Then we can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pretend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that each individual operation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>
                                <a:latin typeface="Cambria Math"/>
                              </a:rPr>
                              <m:t>f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time</a:t>
                </a:r>
              </a:p>
              <a:p>
                <a:pPr lvl="1"/>
                <a:r>
                  <a:rPr lang="en-US" dirty="0"/>
                  <a:t>We say it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>
                                <a:latin typeface="Cambria Math"/>
                              </a:rPr>
                              <m:t>f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amortized time</a:t>
                </a:r>
                <a:endParaRPr 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lvl="1"/>
                <a:r>
                  <a:rPr lang="en-US" dirty="0"/>
                  <a:t>In this case, insertion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O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O</m:t>
                    </m:r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(1)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amortized time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07" t="-2830" b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509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difference between?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Saying an algorithm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average time</a:t>
                </a:r>
              </a:p>
              <a:p>
                <a:r>
                  <a:rPr lang="en-US" dirty="0"/>
                  <a:t>And saying it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amortized time</a:t>
                </a:r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490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vs. amortized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Average-case </a:t>
            </a:r>
            <a:r>
              <a:rPr lang="en-US" dirty="0">
                <a:solidFill>
                  <a:schemeClr val="tx1"/>
                </a:solidFill>
              </a:rPr>
              <a:t>complexity</a:t>
            </a:r>
          </a:p>
          <a:p>
            <a:pPr lvl="1"/>
            <a:r>
              <a:rPr lang="en-US" dirty="0"/>
              <a:t>Averages over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possible inputs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to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single call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Amortized </a:t>
            </a:r>
            <a:r>
              <a:rPr lang="en-US" dirty="0">
                <a:solidFill>
                  <a:schemeClr val="tx1"/>
                </a:solidFill>
              </a:rPr>
              <a:t>complexity</a:t>
            </a:r>
          </a:p>
          <a:p>
            <a:pPr lvl="1"/>
            <a:r>
              <a:rPr lang="en-US" dirty="0"/>
              <a:t>Averages over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operations in a sequence of calls</a:t>
            </a:r>
          </a:p>
        </p:txBody>
      </p:sp>
    </p:spTree>
    <p:extLst>
      <p:ext uri="{BB962C8B-B14F-4D97-AF65-F5344CB8AC3E}">
        <p14:creationId xmlns:p14="http://schemas.microsoft.com/office/powerpoint/2010/main" val="1837605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for amortized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Aggregate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method (what we just did)</a:t>
                </a:r>
              </a:p>
              <a:p>
                <a:pPr lvl="1"/>
                <a:r>
                  <a:rPr lang="en-US" dirty="0"/>
                  <a:t>Amortized cost =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cost of sequence/#operations</a:t>
                </a:r>
              </a:p>
              <a:p>
                <a:pPr lvl="1"/>
                <a:r>
                  <a:rPr lang="en-US" dirty="0"/>
                  <a:t>Only works for sequences of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identical operations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Accounting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method</a:t>
                </a:r>
              </a:p>
              <a:p>
                <a:pPr lvl="1"/>
                <a:r>
                  <a:rPr lang="en-US" dirty="0"/>
                  <a:t>More general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Guess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the right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amortized cost for each procedure</a:t>
                </a:r>
              </a:p>
              <a:p>
                <a:pPr lvl="2"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Overcharge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some operations to pay for later operations</a:t>
                </a:r>
              </a:p>
              <a:p>
                <a:pPr lvl="2"/>
                <a:r>
                  <a:rPr lang="en-US" dirty="0"/>
                  <a:t>Excess charges get assigned to particular parts of the data structure as “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credit</a:t>
                </a:r>
                <a:r>
                  <a:rPr lang="en-US" dirty="0"/>
                  <a:t>”</a:t>
                </a:r>
              </a:p>
              <a:p>
                <a:pPr lvl="1"/>
                <a:r>
                  <a:rPr lang="en-US" dirty="0"/>
                  <a:t>Show the sum of actual costs of any series of operations can’t exceed the sum of the amortized costs</a:t>
                </a:r>
              </a:p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Potential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method</a:t>
                </a:r>
              </a:p>
              <a:p>
                <a:pPr lvl="1"/>
                <a:r>
                  <a:rPr lang="en-US" dirty="0"/>
                  <a:t>Define a “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potential energy</a:t>
                </a:r>
                <a:r>
                  <a:rPr lang="en-US" dirty="0"/>
                  <a:t>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Φ</m:t>
                    </m:r>
                  </m:oMath>
                </a14:m>
                <a:r>
                  <a:rPr lang="en-US" dirty="0"/>
                  <a:t> of a data structure</a:t>
                </a:r>
              </a:p>
              <a:p>
                <a:pPr lvl="1"/>
                <a:r>
                  <a:rPr lang="en-US" dirty="0"/>
                  <a:t>Show that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no sequence of operations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can decrease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Φ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below its initial value</a:t>
                </a:r>
              </a:p>
              <a:p>
                <a:pPr lvl="1"/>
                <a:r>
                  <a:rPr lang="en-US" dirty="0"/>
                  <a:t>Amortized cost of an operation =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real cost + change in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𝚽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022" r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731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/>
              <a:t>Using the potential method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be our dynamic array</a:t>
                </a:r>
              </a:p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𝚽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≝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×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𝑨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Count</m:t>
                        </m:r>
                      </m:e>
                    </m:d>
                  </m:oMath>
                </a14:m>
                <a:r>
                  <a:rPr lang="en-US" b="1" i="1" dirty="0">
                    <a:solidFill>
                      <a:schemeClr val="accent6">
                        <a:lumMod val="75000"/>
                      </a:schemeClr>
                    </a:solidFill>
                    <a:latin typeface="Cambria Math"/>
                  </a:rPr>
                  <a:t/>
                </a:r>
                <a:br>
                  <a:rPr lang="en-US" b="1" i="1" dirty="0">
                    <a:solidFill>
                      <a:schemeClr val="accent6">
                        <a:lumMod val="75000"/>
                      </a:schemeClr>
                    </a:solidFill>
                    <a:latin typeface="Cambria Math"/>
                  </a:rPr>
                </a:br>
                <a:r>
                  <a:rPr lang="en-US" b="1" i="1" dirty="0">
                    <a:solidFill>
                      <a:schemeClr val="accent6">
                        <a:lumMod val="75000"/>
                      </a:schemeClr>
                    </a:solidFill>
                    <a:latin typeface="Cambria Math"/>
                  </a:rPr>
                  <a:t>                                     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−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𝑨</m:t>
                    </m:r>
                    <m:r>
                      <m:rPr>
                        <m:nor/>
                      </m:rP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.</m:t>
                    </m:r>
                    <m:r>
                      <m:rPr>
                        <m:nor/>
                      </m:rP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realArray</m:t>
                    </m:r>
                    <m:r>
                      <m:rPr>
                        <m:nor/>
                      </m:rP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.</m:t>
                    </m:r>
                    <m:r>
                      <m:rPr>
                        <m:nor/>
                      </m:rP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Length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# of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items added since last expansion </a:t>
                </a:r>
                <a:r>
                  <a:rPr lang="en-US" dirty="0"/>
                  <a:t>times 2</a:t>
                </a:r>
              </a:p>
              <a:p>
                <a:pPr lvl="1"/>
                <a:r>
                  <a:rPr lang="en-US" dirty="0"/>
                  <a:t>Just after an array is expanded,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When array is full,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𝐶𝑜𝑢𝑛𝑡</m:t>
                    </m:r>
                  </m:oMath>
                </a14:m>
                <a:endParaRPr lang="en-US" dirty="0"/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Want to show that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amortized cost </a:t>
                </a:r>
                <a:r>
                  <a:rPr lang="en-US" dirty="0">
                    <a:solidFill>
                      <a:schemeClr val="tx1"/>
                    </a:solidFill>
                  </a:rPr>
                  <a:t>of Add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r>
                  <a:rPr lang="en-US" dirty="0">
                    <a:solidFill>
                      <a:schemeClr val="tx1"/>
                    </a:solidFill>
                  </a:rPr>
                  <a:t>    =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real cost + change in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𝚽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/>
                </a:r>
                <a:b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   </a:t>
                </a:r>
                <a:r>
                  <a:rPr lang="en-US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07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Great!  What’s the change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Φ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l="-2963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Case 1: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Array isn’t full</a:t>
                </a:r>
              </a:p>
              <a:p>
                <a:r>
                  <a:rPr lang="en-US" dirty="0"/>
                  <a:t>Then we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increase </a:t>
                </a:r>
                <a:r>
                  <a:rPr lang="en-US" b="1" dirty="0" err="1">
                    <a:solidFill>
                      <a:schemeClr val="accent6">
                        <a:lumMod val="50000"/>
                      </a:schemeClr>
                    </a:solidFill>
                  </a:rPr>
                  <a:t>A.Count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by 1</a:t>
                </a:r>
              </a:p>
              <a:p>
                <a:r>
                  <a:rPr lang="en-US" dirty="0"/>
                  <a:t>And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don’t change </a:t>
                </a:r>
                <a:r>
                  <a:rPr lang="en-US" b="1" dirty="0" err="1">
                    <a:solidFill>
                      <a:schemeClr val="accent6">
                        <a:lumMod val="50000"/>
                      </a:schemeClr>
                    </a:solidFill>
                  </a:rPr>
                  <a:t>A.realArray.Length</a:t>
                </a:r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r>
                  <a:rPr lang="en-US" dirty="0"/>
                  <a:t>Amortized cost = real cost + potential change</a:t>
                </a:r>
              </a:p>
              <a:p>
                <a:pPr lvl="1"/>
                <a:r>
                  <a:rPr lang="en-US" dirty="0"/>
                  <a:t>Real cost = </a:t>
                </a:r>
              </a:p>
              <a:p>
                <a:pPr lvl="2"/>
                <a:r>
                  <a:rPr lang="en-US" dirty="0"/>
                  <a:t>cost of checking if we need to grow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(1)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+ cost of incrementing Count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(1)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+ storing new item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(1)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(1)</m:t>
                    </m:r>
                  </m:oMath>
                </a14:m>
                <a:r>
                  <a:rPr lang="en-US" dirty="0"/>
                  <a:t> total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Amortized cost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ΔΦ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+2=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2695" b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010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Great!  What’s the change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Φ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l="-2963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Case 2: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Array is full </a:t>
                </a:r>
                <a:r>
                  <a:rPr lang="en-US" dirty="0"/>
                  <a:t>(have to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expand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the array)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dirty="0"/>
                  <a:t> be the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number of items </a:t>
                </a:r>
                <a:r>
                  <a:rPr lang="en-US" dirty="0"/>
                  <a:t>in the array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before insertion</a:t>
                </a:r>
              </a:p>
              <a:p>
                <a:r>
                  <a:rPr lang="en-US" dirty="0"/>
                  <a:t>Before expansion</a:t>
                </a:r>
              </a:p>
              <a:p>
                <a:pPr lvl="1"/>
                <a:r>
                  <a:rPr lang="en-US" dirty="0" err="1"/>
                  <a:t>A.Count</a:t>
                </a:r>
                <a:r>
                  <a:rPr lang="en-US" dirty="0"/>
                  <a:t>=</a:t>
                </a:r>
                <a:r>
                  <a:rPr lang="en-US" dirty="0" err="1"/>
                  <a:t>A.realArray.Length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𝚽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𝟐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𝒊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−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𝒊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dirty="0"/>
                  <a:t>After expansion</a:t>
                </a:r>
              </a:p>
              <a:p>
                <a:pPr lvl="1"/>
                <a:r>
                  <a:rPr lang="en-US" dirty="0" err="1"/>
                  <a:t>A.</a:t>
                </a:r>
                <a:r>
                  <a:rPr lang="en-US" dirty="0"/>
                  <a:t>realArray.</a:t>
                </a:r>
                <a:r>
                  <a:rPr lang="en-US" dirty="0" err="1"/>
                  <a:t>Length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2</m:t>
                    </m:r>
                    <m:r>
                      <a:rPr lang="en-US" b="0" i="1" smtClean="0">
                        <a:latin typeface="Cambria Math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𝚽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𝟐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𝒊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−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𝟐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𝒊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𝟎</m:t>
                    </m:r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𝚫𝚽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=−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  </a:t>
                </a:r>
                <a:r>
                  <a:rPr lang="en-US" dirty="0"/>
                  <a:t>(we loose potential)</a:t>
                </a:r>
              </a:p>
              <a:p>
                <a:r>
                  <a:rPr lang="en-US" dirty="0"/>
                  <a:t>Cost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b="0" i="0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𝑖</m:t>
                    </m:r>
                    <m:r>
                      <a:rPr lang="en-US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copies</m:t>
                    </m:r>
                    <m:r>
                      <a:rPr lang="en-US" b="0" i="0" smtClean="0"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ΔΦ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𝑖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US" dirty="0"/>
                  <a:t>So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amortized cost is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either way</a:t>
                </a:r>
                <a:endParaRPr lang="en-US" b="1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85" t="-2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303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Shrinking the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What if we want to support both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 and Remove </a:t>
            </a:r>
            <a:r>
              <a:rPr lang="en-US" dirty="0"/>
              <a:t>(from the end)</a:t>
            </a:r>
          </a:p>
          <a:p>
            <a:pPr lvl="1"/>
            <a:r>
              <a:rPr lang="en-US" dirty="0"/>
              <a:t>And we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want it to shrink </a:t>
            </a:r>
            <a:r>
              <a:rPr lang="en-US" dirty="0"/>
              <a:t>the table automatically if it’s too big</a:t>
            </a:r>
          </a:p>
          <a:p>
            <a:pPr lvl="1"/>
            <a:endParaRPr lang="en-US" dirty="0"/>
          </a:p>
          <a:p>
            <a:r>
              <a:rPr lang="en-US" dirty="0"/>
              <a:t>Analysis is hairier</a:t>
            </a:r>
          </a:p>
          <a:p>
            <a:pPr lvl="1"/>
            <a:r>
              <a:rPr lang="en-US" dirty="0"/>
              <a:t>See section 17.4 in book, if you’re curious</a:t>
            </a:r>
          </a:p>
          <a:p>
            <a:pPr lvl="1"/>
            <a:endParaRPr lang="en-US" dirty="0"/>
          </a:p>
          <a:p>
            <a:r>
              <a:rPr lang="en-US" dirty="0"/>
              <a:t>Take home message: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Double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array size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when full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Halve</a:t>
            </a:r>
            <a:r>
              <a:rPr lang="en-US" dirty="0"/>
              <a:t> it when the array is only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¼ full</a:t>
            </a:r>
          </a:p>
        </p:txBody>
      </p:sp>
    </p:spTree>
    <p:extLst>
      <p:ext uri="{BB962C8B-B14F-4D97-AF65-F5344CB8AC3E}">
        <p14:creationId xmlns:p14="http://schemas.microsoft.com/office/powerpoint/2010/main" val="2061954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to other kinds of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Which of these data structures can you use this technique on?</a:t>
                </a:r>
              </a:p>
              <a:p>
                <a:pPr lvl="1"/>
                <a:r>
                  <a:rPr lang="en-US" dirty="0"/>
                  <a:t>Stacks</a:t>
                </a:r>
              </a:p>
              <a:p>
                <a:pPr lvl="1"/>
                <a:r>
                  <a:rPr lang="en-US" dirty="0"/>
                  <a:t>Queues</a:t>
                </a:r>
              </a:p>
              <a:p>
                <a:pPr lvl="1"/>
                <a:r>
                  <a:rPr lang="en-US" dirty="0"/>
                  <a:t>Hash tables</a:t>
                </a:r>
              </a:p>
              <a:p>
                <a:pPr lvl="1"/>
                <a:r>
                  <a:rPr lang="en-US" dirty="0"/>
                  <a:t>Binary heaps</a:t>
                </a:r>
              </a:p>
              <a:p>
                <a:endParaRPr lang="en-US" dirty="0"/>
              </a:p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All of them</a:t>
                </a:r>
                <a:r>
                  <a:rPr lang="en-US" dirty="0"/>
                  <a:t>!</a:t>
                </a:r>
              </a:p>
              <a:p>
                <a:r>
                  <a:rPr lang="en-US" dirty="0"/>
                  <a:t>All can support growing the </a:t>
                </a:r>
                <a:r>
                  <a:rPr lang="en-US"/>
                  <a:t>tables in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𝐎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amortized time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3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99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hash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Same idea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Double size </a:t>
                </a:r>
                <a:r>
                  <a:rPr lang="en-US" dirty="0"/>
                  <a:t>when load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𝛼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exceeds some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max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Halve size </a:t>
                </a:r>
                <a:r>
                  <a:rPr lang="en-US" dirty="0"/>
                  <a:t>when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/>
                      </a:rPr>
                      <m:t>𝛼</m:t>
                    </m:r>
                    <m:r>
                      <a:rPr lang="en-US" altLang="ja-JP" b="0" i="1" smtClean="0">
                        <a:latin typeface="Cambria Math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/>
                              </a:rPr>
                              <m:t>max</m:t>
                            </m:r>
                          </m:sub>
                        </m:sSub>
                      </m:num>
                      <m:den>
                        <m:r>
                          <a:rPr lang="en-US" b="0" i="0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US" dirty="0"/>
                  <a:t> is in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fixed range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/>
                              </a:rPr>
                              <m:t>max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≤</m:t>
                    </m:r>
                    <m:r>
                      <a:rPr lang="en-US" b="0" i="1" smtClean="0">
                        <a:latin typeface="Cambria Math"/>
                      </a:rPr>
                      <m:t>𝛼</m:t>
                    </m:r>
                    <m:r>
                      <a:rPr lang="en-US" b="0" i="1" smtClean="0"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max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So for a chained hash table, we get:</a:t>
                </a:r>
              </a:p>
              <a:p>
                <a:pPr marL="457200" lvl="1" indent="0">
                  <a:buNone/>
                </a:pPr>
                <a:r>
                  <a:rPr lang="en-US" dirty="0"/>
                  <a:t>Amortized cost = real cost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ΔΦ</m:t>
                    </m:r>
                  </m:oMath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b="0" dirty="0"/>
                  <a:t>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/>
                              </a:rPr>
                              <m:t>max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cost</m:t>
                    </m:r>
                    <m:r>
                      <a:rPr lang="en-US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of</m:t>
                    </m:r>
                    <m:r>
                      <a:rPr lang="en-US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copying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ΔΦ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Θ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max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981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Finally!  Real Constant-time performance for Hash Tables!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58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Well, almost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Let’s unpack what we just showed</a:t>
                </a:r>
              </a:p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average-case</a:t>
                </a:r>
                <a:r>
                  <a:rPr lang="en-US" dirty="0"/>
                  <a:t>,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amortized</a:t>
                </a:r>
                <a:r>
                  <a:rPr lang="en-US" dirty="0"/>
                  <a:t> time</a:t>
                </a:r>
              </a:p>
              <a:p>
                <a:pPr lvl="1"/>
                <a:r>
                  <a:rPr lang="en-US" dirty="0"/>
                  <a:t>Aggregating over all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operations in a sequence</a:t>
                </a:r>
              </a:p>
              <a:p>
                <a:pPr lvl="1"/>
                <a:r>
                  <a:rPr lang="en-US" dirty="0"/>
                  <a:t>But also averaging over all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possible keys </a:t>
                </a:r>
                <a:r>
                  <a:rPr lang="en-US" dirty="0"/>
                  <a:t>and hash table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contents</a:t>
                </a:r>
              </a:p>
              <a:p>
                <a:r>
                  <a:rPr lang="en-US" dirty="0"/>
                  <a:t>For insertion or lookup</a:t>
                </a:r>
              </a:p>
              <a:p>
                <a:r>
                  <a:rPr lang="en-US" dirty="0"/>
                  <a:t>In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chained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hash table with dynamic expansion</a:t>
                </a:r>
              </a:p>
              <a:p>
                <a:pPr lvl="1"/>
                <a:r>
                  <a:rPr lang="en-US" dirty="0"/>
                  <a:t>You can show it for open-coding too</a:t>
                </a:r>
              </a:p>
              <a:p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</a:rPr>
                      <m:t>(1)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859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True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</a:rPr>
                      <m:t>(1)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/>
                  <a:t>average </a:t>
                </a:r>
                <a:r>
                  <a:rPr lang="en-US" dirty="0" smtClean="0"/>
                  <a:t>case performance</a:t>
                </a:r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593"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This is only useful in niche applications, but …</a:t>
                </a:r>
              </a:p>
              <a:p>
                <a:r>
                  <a:rPr lang="en-US" dirty="0"/>
                  <a:t>You can actually make hash tables with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true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𝚯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average case </a:t>
                </a:r>
                <a:r>
                  <a:rPr lang="en-US" dirty="0"/>
                  <a:t>performance</a:t>
                </a:r>
              </a:p>
              <a:p>
                <a:pPr lvl="1"/>
                <a:r>
                  <a:rPr lang="en-US" dirty="0"/>
                  <a:t>Not amortized</a:t>
                </a:r>
              </a:p>
              <a:p>
                <a:pPr lvl="1"/>
                <a:r>
                  <a:rPr lang="en-US" dirty="0"/>
                  <a:t>I.e. they’ll never pause to copy a lot of data</a:t>
                </a:r>
              </a:p>
              <a:p>
                <a:endParaRPr lang="en-US" dirty="0"/>
              </a:p>
              <a:p>
                <a:r>
                  <a:rPr lang="en-US" dirty="0"/>
                  <a:t>How do you do that?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584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got the amortized time bound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charging insertions for the copies that happened later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What we want to do is to actually do the copying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during the insertions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How do we do that?</a:t>
            </a:r>
          </a:p>
        </p:txBody>
      </p:sp>
    </p:spTree>
    <p:extLst>
      <p:ext uri="{BB962C8B-B14F-4D97-AF65-F5344CB8AC3E}">
        <p14:creationId xmlns:p14="http://schemas.microsoft.com/office/powerpoint/2010/main" val="37350191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two hash tables!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 hash table really has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two hash tables </a:t>
                </a:r>
                <a:r>
                  <a:rPr lang="en-US" dirty="0"/>
                  <a:t>inside it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current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table</a:t>
                </a:r>
              </a:p>
              <a:p>
                <a:pPr lvl="1"/>
                <a:r>
                  <a:rPr lang="en-US" dirty="0"/>
                  <a:t>And the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future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one that’s twice as big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Each time you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add a new item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Put it in the current table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</a:rPr>
                      <m:t>(1)</m:t>
                    </m:r>
                  </m:oMath>
                </a14:m>
                <a:r>
                  <a:rPr lang="en-US" dirty="0"/>
                  <a:t> time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Copy two items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in the current table to the future table</a:t>
                </a:r>
              </a:p>
              <a:p>
                <a:pPr lvl="2"/>
                <a:r>
                  <a:rPr lang="en-US" dirty="0"/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</a:rPr>
                      <m:t>(1)</m:t>
                    </m:r>
                  </m:oMath>
                </a14:m>
                <a:r>
                  <a:rPr lang="en-US" dirty="0"/>
                  <a:t> time,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time total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By the time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current one fills</a:t>
                </a:r>
                <a:r>
                  <a:rPr lang="en-US" dirty="0"/>
                  <a:t>, all its data has been copied to the future table</a:t>
                </a:r>
              </a:p>
              <a:p>
                <a:pPr lvl="1"/>
                <a:r>
                  <a:rPr lang="en-US" dirty="0"/>
                  <a:t>So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make the future table the current table</a:t>
                </a:r>
              </a:p>
              <a:p>
                <a:pPr lvl="1"/>
                <a:r>
                  <a:rPr lang="en-US" dirty="0"/>
                  <a:t>And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make a new future table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that’s twice as big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37" t="-2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651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use the same trick for Arrays, stacks, etc.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Again,</a:t>
            </a:r>
          </a:p>
        </p:txBody>
      </p:sp>
    </p:spTree>
    <p:extLst>
      <p:ext uri="{BB962C8B-B14F-4D97-AF65-F5344CB8AC3E}">
        <p14:creationId xmlns:p14="http://schemas.microsoft.com/office/powerpoint/2010/main" val="2783972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do you need to know about this for the quiz?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Amortized </a:t>
                </a:r>
                <a:r>
                  <a:rPr lang="en-US" dirty="0"/>
                  <a:t>analysis lets you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average out</a:t>
                </a:r>
                <a:r>
                  <a:rPr lang="en-US" dirty="0"/>
                  <a:t> the costs of operations in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sequence</a:t>
                </a:r>
              </a:p>
              <a:p>
                <a:pPr lvl="1"/>
                <a:r>
                  <a:rPr lang="en-US" dirty="0"/>
                  <a:t>Think of operations having uniform costs rather than variable</a:t>
                </a:r>
              </a:p>
              <a:p>
                <a:pPr lvl="1"/>
                <a:r>
                  <a:rPr lang="en-US" dirty="0"/>
                  <a:t>Done by “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overcharging</a:t>
                </a:r>
                <a:r>
                  <a:rPr lang="en-US" dirty="0"/>
                  <a:t>” early operations to pay for later ones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dirty="0"/>
                  <a:t>Tables and sequence data structures can be made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self-expanding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𝚯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amortized time</a:t>
                </a:r>
                <a:endParaRPr lang="en-US" b="1" dirty="0"/>
              </a:p>
              <a:p>
                <a:pPr lvl="2"/>
                <a:r>
                  <a:rPr lang="en-US" dirty="0"/>
                  <a:t>By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doubling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size on overflow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3551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CLR Chapter 17</a:t>
            </a:r>
          </a:p>
          <a:p>
            <a:pPr lvl="1"/>
            <a:r>
              <a:rPr lang="en-US" dirty="0"/>
              <a:t>Particularly 17.4</a:t>
            </a:r>
          </a:p>
        </p:txBody>
      </p:sp>
    </p:spTree>
    <p:extLst>
      <p:ext uri="{BB962C8B-B14F-4D97-AF65-F5344CB8AC3E}">
        <p14:creationId xmlns:p14="http://schemas.microsoft.com/office/powerpoint/2010/main" val="3105874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8089</TotalTime>
  <Words>1206</Words>
  <Application>Microsoft Office PowerPoint</Application>
  <PresentationFormat>On-screen Show (4:3)</PresentationFormat>
  <Paragraphs>305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ＭＳ Ｐゴシック</vt:lpstr>
      <vt:lpstr>Arial</vt:lpstr>
      <vt:lpstr>Calibri</vt:lpstr>
      <vt:lpstr>Cambria Math</vt:lpstr>
      <vt:lpstr>Verdana</vt:lpstr>
      <vt:lpstr>Office Theme</vt:lpstr>
      <vt:lpstr>Lecture 17 Dynamic tables and amortized analysis</vt:lpstr>
      <vt:lpstr>Dynamic arrays</vt:lpstr>
      <vt:lpstr>Dynamic array in C#</vt:lpstr>
      <vt:lpstr>Adding 10 elements</vt:lpstr>
      <vt:lpstr>Aggregate analysis</vt:lpstr>
      <vt:lpstr>Adding more than we need</vt:lpstr>
      <vt:lpstr>How about if we grow by a lot, Like 1000 elements?</vt:lpstr>
      <vt:lpstr>Growing by 1000 elements at a time</vt:lpstr>
      <vt:lpstr>What if we keep increasing the amount that we grow by?</vt:lpstr>
      <vt:lpstr>Increasing the growth factor</vt:lpstr>
      <vt:lpstr>Doubling the array size</vt:lpstr>
      <vt:lpstr>Adding 10 elements</vt:lpstr>
      <vt:lpstr>Aggregate analysis (handwavy version)</vt:lpstr>
      <vt:lpstr>Aggregate analysis (formal version)</vt:lpstr>
      <vt:lpstr>Amortized analysis (using the aggregate method)</vt:lpstr>
      <vt:lpstr>What’s the difference between?</vt:lpstr>
      <vt:lpstr>Average vs. amortized complexity</vt:lpstr>
      <vt:lpstr>Methods for amortized analysis</vt:lpstr>
      <vt:lpstr>Using the potential method</vt:lpstr>
      <vt:lpstr>Great!  What’s the change in Φ?</vt:lpstr>
      <vt:lpstr>Great!  What’s the change in Φ?</vt:lpstr>
      <vt:lpstr>Shrinking the array</vt:lpstr>
      <vt:lpstr>Applying to other kinds of tables</vt:lpstr>
      <vt:lpstr>Amortized hash table</vt:lpstr>
      <vt:lpstr>Finally!  Real Constant-time performance for Hash Tables!</vt:lpstr>
      <vt:lpstr>Well, almost …</vt:lpstr>
      <vt:lpstr>True Θ(1) average case performance</vt:lpstr>
      <vt:lpstr>Basic idea</vt:lpstr>
      <vt:lpstr>Make two hash tables!</vt:lpstr>
      <vt:lpstr>You can use the same trick for Arrays, stacks, etc.</vt:lpstr>
      <vt:lpstr>What do you need to know about this for the quiz?</vt:lpstr>
      <vt:lpstr>Optional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Ian Horswill</cp:lastModifiedBy>
  <cp:revision>328</cp:revision>
  <cp:lastPrinted>2011-06-01T06:01:26Z</cp:lastPrinted>
  <dcterms:created xsi:type="dcterms:W3CDTF">2010-03-27T22:31:10Z</dcterms:created>
  <dcterms:modified xsi:type="dcterms:W3CDTF">2019-06-03T17:50:16Z</dcterms:modified>
</cp:coreProperties>
</file>