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91"/>
  </p:notesMasterIdLst>
  <p:sldIdLst>
    <p:sldId id="256" r:id="rId2"/>
    <p:sldId id="257" r:id="rId3"/>
    <p:sldId id="258" r:id="rId4"/>
    <p:sldId id="259" r:id="rId5"/>
    <p:sldId id="260" r:id="rId6"/>
    <p:sldId id="284" r:id="rId7"/>
    <p:sldId id="281" r:id="rId8"/>
    <p:sldId id="285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3" r:id="rId29"/>
    <p:sldId id="282" r:id="rId30"/>
    <p:sldId id="344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11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261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6" r:id="rId82"/>
    <p:sldId id="337" r:id="rId83"/>
    <p:sldId id="335" r:id="rId84"/>
    <p:sldId id="338" r:id="rId85"/>
    <p:sldId id="340" r:id="rId86"/>
    <p:sldId id="341" r:id="rId87"/>
    <p:sldId id="342" r:id="rId88"/>
    <p:sldId id="343" r:id="rId89"/>
    <p:sldId id="339" r:id="rId9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0000"/>
    <a:srgbClr val="41FF0D"/>
    <a:srgbClr val="4F81B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6" autoAdjust="0"/>
    <p:restoredTop sz="94687" autoAdjust="0"/>
  </p:normalViewPr>
  <p:slideViewPr>
    <p:cSldViewPr>
      <p:cViewPr varScale="1">
        <p:scale>
          <a:sx n="100" d="100"/>
          <a:sy n="100" d="100"/>
        </p:scale>
        <p:origin x="130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0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544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0B9F4-2FDB-48EE-85C7-AE4DBE417C49}" type="datetimeFigureOut">
              <a:rPr lang="en-US" smtClean="0"/>
              <a:t>6/5/2019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922A7-4B3F-4843-9649-885E1B154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73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922A7-4B3F-4843-9649-885E1B154C7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29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922A7-4B3F-4843-9649-885E1B154C7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29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922A7-4B3F-4843-9649-885E1B154C7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29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922A7-4B3F-4843-9649-885E1B154C7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29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922A7-4B3F-4843-9649-885E1B154C7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29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922A7-4B3F-4843-9649-885E1B154C7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29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922A7-4B3F-4843-9649-885E1B154C7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29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922A7-4B3F-4843-9649-885E1B154C7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29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922A7-4B3F-4843-9649-885E1B154C73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29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922A7-4B3F-4843-9649-885E1B154C73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297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922A7-4B3F-4843-9649-885E1B154C73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29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922A7-4B3F-4843-9649-885E1B154C73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29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6200"/>
            <a:ext cx="7772400" cy="1470025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334000"/>
            <a:ext cx="6400800" cy="762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6/5/2019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0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0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8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8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6/5/2019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1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>
                <a:latin typeface="+mn-lt"/>
                <a:ea typeface="Verdana" pitchFamily="34" charset="0"/>
                <a:cs typeface="Verdana" pitchFamily="34" charset="0"/>
              </a:rPr>
              <a:t>Lecture 18</a:t>
            </a: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/>
            </a:r>
            <a:br>
              <a:rPr lang="en-US" dirty="0"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Dynamic set partitions</a:t>
            </a:r>
            <a:br>
              <a:rPr lang="en-US" dirty="0"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and the union-find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EECS-214</a:t>
            </a:r>
          </a:p>
        </p:txBody>
      </p:sp>
    </p:spTree>
    <p:extLst>
      <p:ext uri="{BB962C8B-B14F-4D97-AF65-F5344CB8AC3E}">
        <p14:creationId xmlns:p14="http://schemas.microsoft.com/office/powerpoint/2010/main" val="115332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partitions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Division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elements of a set into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disjoint groups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Formally, given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, a partition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b="0" i="1" dirty="0" smtClean="0">
                        <a:latin typeface="Cambria Math"/>
                      </a:rPr>
                      <m:t>={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 }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lvl="1"/>
                <a:r>
                  <a:rPr lang="en-US" dirty="0"/>
                  <a:t>A set of non-empty subsets of S</a:t>
                </a:r>
              </a:p>
              <a:p>
                <a:pPr lvl="2"/>
                <a:r>
                  <a:rPr lang="en-US" dirty="0"/>
                  <a:t>i.e. 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⊆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Such that</a:t>
                </a:r>
              </a:p>
              <a:p>
                <a:pPr lvl="2"/>
                <a:r>
                  <a:rPr lang="en-US" dirty="0"/>
                  <a:t>Every element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is a member of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exactly one element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Or equivalently,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</a:p>
              <a:p>
                <a:pPr lvl="3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Disjoint</a:t>
                </a:r>
              </a:p>
              <a:p>
                <a:pPr marL="1828800" lvl="4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∩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={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}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𝑖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𝑗</m:t>
                    </m:r>
                  </m:oMath>
                </a14:m>
                <a:endParaRPr lang="en-US" dirty="0"/>
              </a:p>
              <a:p>
                <a:pPr lvl="3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Cover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</m:t>
                    </m:r>
                  </m:oMath>
                </a14:m>
                <a:endParaRPr lang="en-US" dirty="0"/>
              </a:p>
              <a:p>
                <a:pPr marL="1828800" lvl="4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𝑆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/>
                            </a:rPr>
                            <m:t>∈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𝑃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1659" t="-2156" r="-603" b="-13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5486400" y="16002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8200" y="4031112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324600" y="14478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851103" y="54864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003793" y="2990299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791200" y="31242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414745" y="425751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257800" y="48768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162800" y="1415206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7924800" y="1995295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7467600" y="53340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019800" y="41910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55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partitions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Division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elements of a set into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disjoint groups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Formally, given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, a partition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b="0" i="1" dirty="0" smtClean="0">
                        <a:latin typeface="Cambria Math"/>
                      </a:rPr>
                      <m:t>={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 }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lvl="1"/>
                <a:r>
                  <a:rPr lang="en-US" dirty="0"/>
                  <a:t>A set of non-empty subsets of S</a:t>
                </a:r>
              </a:p>
              <a:p>
                <a:pPr lvl="2"/>
                <a:r>
                  <a:rPr lang="en-US" dirty="0"/>
                  <a:t>i.e. 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⊆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Such that</a:t>
                </a:r>
              </a:p>
              <a:p>
                <a:pPr lvl="2"/>
                <a:r>
                  <a:rPr lang="en-US" dirty="0"/>
                  <a:t>Every element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is a member of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exactly one element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Or equivalently,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</a:p>
              <a:p>
                <a:pPr lvl="3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Disjoint</a:t>
                </a:r>
              </a:p>
              <a:p>
                <a:pPr marL="1828800" lvl="4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∩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={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}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𝑖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𝑗</m:t>
                    </m:r>
                  </m:oMath>
                </a14:m>
                <a:endParaRPr lang="en-US" dirty="0"/>
              </a:p>
              <a:p>
                <a:pPr lvl="3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Cover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</m:t>
                    </m:r>
                  </m:oMath>
                </a14:m>
                <a:endParaRPr lang="en-US" dirty="0"/>
              </a:p>
              <a:p>
                <a:pPr marL="1828800" lvl="4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𝑆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/>
                            </a:rPr>
                            <m:t>∈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𝑃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1659" t="-2156" r="-603" b="-13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5486400" y="16002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8200" y="4031112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324600" y="14478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851103" y="54864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003793" y="2990299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791200" y="31242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414745" y="425751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257800" y="48768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162800" y="1415206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7924800" y="1995295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7467600" y="53340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019800" y="41910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105400" y="3886200"/>
            <a:ext cx="2819400" cy="1981200"/>
          </a:xfrm>
          <a:prstGeom prst="rect">
            <a:avLst/>
          </a:prstGeom>
          <a:solidFill>
            <a:srgbClr val="4F81BD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991099" y="1066800"/>
            <a:ext cx="3578469" cy="2514600"/>
          </a:xfrm>
          <a:prstGeom prst="rect">
            <a:avLst/>
          </a:prstGeom>
          <a:solidFill>
            <a:srgbClr val="FD0000">
              <a:alpha val="4980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191500" y="3764412"/>
            <a:ext cx="685800" cy="685800"/>
          </a:xfrm>
          <a:prstGeom prst="rect">
            <a:avLst/>
          </a:prstGeom>
          <a:solidFill>
            <a:srgbClr val="41FF0D">
              <a:alpha val="4980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61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partitions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Division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elements of a set into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disjoint groups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Formally, given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, a partition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b="0" i="1" dirty="0" smtClean="0">
                        <a:latin typeface="Cambria Math"/>
                      </a:rPr>
                      <m:t>={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 }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lvl="1"/>
                <a:r>
                  <a:rPr lang="en-US" dirty="0"/>
                  <a:t>A set of non-empty subsets of S</a:t>
                </a:r>
              </a:p>
              <a:p>
                <a:pPr lvl="2"/>
                <a:r>
                  <a:rPr lang="en-US" dirty="0"/>
                  <a:t>i.e. 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⊆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Such that</a:t>
                </a:r>
              </a:p>
              <a:p>
                <a:pPr lvl="2"/>
                <a:r>
                  <a:rPr lang="en-US" dirty="0"/>
                  <a:t>Every element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is a member of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exactly one element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Or equivalently,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</a:p>
              <a:p>
                <a:pPr lvl="3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Disjoint</a:t>
                </a:r>
              </a:p>
              <a:p>
                <a:pPr marL="1828800" lvl="4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∩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={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}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𝑖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𝑗</m:t>
                    </m:r>
                  </m:oMath>
                </a14:m>
                <a:endParaRPr lang="en-US" dirty="0"/>
              </a:p>
              <a:p>
                <a:pPr lvl="3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Cover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</m:t>
                    </m:r>
                  </m:oMath>
                </a14:m>
                <a:endParaRPr lang="en-US" dirty="0"/>
              </a:p>
              <a:p>
                <a:pPr marL="1828800" lvl="4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𝑆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/>
                            </a:rPr>
                            <m:t>∈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𝑃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1659" t="-2156" r="-603" b="-13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5486400" y="16002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8200" y="4031112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324600" y="14478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851103" y="54864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003793" y="2990299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791200" y="31242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414745" y="425751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257800" y="48768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162800" y="1415206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7924800" y="1995295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7467600" y="53340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019800" y="41910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780332" y="1066800"/>
            <a:ext cx="2249367" cy="4648200"/>
          </a:xfrm>
          <a:prstGeom prst="rect">
            <a:avLst/>
          </a:prstGeom>
          <a:solidFill>
            <a:srgbClr val="4F81BD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922015" y="2743200"/>
            <a:ext cx="1554985" cy="3048000"/>
          </a:xfrm>
          <a:prstGeom prst="rect">
            <a:avLst/>
          </a:prstGeom>
          <a:solidFill>
            <a:srgbClr val="FD0000">
              <a:alpha val="4980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257800" y="1219200"/>
            <a:ext cx="1447800" cy="685800"/>
          </a:xfrm>
          <a:prstGeom prst="rect">
            <a:avLst/>
          </a:prstGeom>
          <a:solidFill>
            <a:srgbClr val="41FF0D">
              <a:alpha val="4980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95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partitions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Division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elements of a set into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disjoint groups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Formally, given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, a partition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b="0" i="1" dirty="0" smtClean="0">
                        <a:latin typeface="Cambria Math"/>
                      </a:rPr>
                      <m:t>={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 }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lvl="1"/>
                <a:r>
                  <a:rPr lang="en-US" dirty="0"/>
                  <a:t>A set of non-empty subsets of S</a:t>
                </a:r>
              </a:p>
              <a:p>
                <a:pPr lvl="2"/>
                <a:r>
                  <a:rPr lang="en-US" dirty="0"/>
                  <a:t>i.e. 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⊆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Such that</a:t>
                </a:r>
              </a:p>
              <a:p>
                <a:pPr lvl="2"/>
                <a:r>
                  <a:rPr lang="en-US" dirty="0"/>
                  <a:t>Every element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is a member of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exactly one element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Or equivalently,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</a:p>
              <a:p>
                <a:pPr lvl="3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Disjoint</a:t>
                </a:r>
              </a:p>
              <a:p>
                <a:pPr marL="1828800" lvl="4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∩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={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}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𝑖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𝑗</m:t>
                    </m:r>
                  </m:oMath>
                </a14:m>
                <a:endParaRPr lang="en-US" dirty="0"/>
              </a:p>
              <a:p>
                <a:pPr lvl="3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Cover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</m:t>
                    </m:r>
                  </m:oMath>
                </a14:m>
                <a:endParaRPr lang="en-US" dirty="0"/>
              </a:p>
              <a:p>
                <a:pPr marL="1828800" lvl="4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𝑆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/>
                            </a:rPr>
                            <m:t>∈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𝑃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1659" t="-2156" r="-603" b="-13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5486400" y="1600200"/>
            <a:ext cx="152400" cy="152400"/>
          </a:xfrm>
          <a:prstGeom prst="ellipse">
            <a:avLst/>
          </a:prstGeom>
          <a:solidFill>
            <a:srgbClr val="FD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8200" y="4031112"/>
            <a:ext cx="152400" cy="1524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324600" y="1447800"/>
            <a:ext cx="152400" cy="152400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851103" y="5486400"/>
            <a:ext cx="152400" cy="1524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003793" y="2990299"/>
            <a:ext cx="152400" cy="152400"/>
          </a:xfrm>
          <a:prstGeom prst="ellipse">
            <a:avLst/>
          </a:prstGeom>
          <a:solidFill>
            <a:srgbClr val="FD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791200" y="3124200"/>
            <a:ext cx="152400" cy="152400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414745" y="4257510"/>
            <a:ext cx="152400" cy="152400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257800" y="4876800"/>
            <a:ext cx="152400" cy="1524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162800" y="1415206"/>
            <a:ext cx="152400" cy="152400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7924800" y="1995295"/>
            <a:ext cx="152400" cy="152400"/>
          </a:xfrm>
          <a:prstGeom prst="ellipse">
            <a:avLst/>
          </a:prstGeom>
          <a:solidFill>
            <a:srgbClr val="FD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7467600" y="5334000"/>
            <a:ext cx="152400" cy="152400"/>
          </a:xfrm>
          <a:prstGeom prst="ellipse">
            <a:avLst/>
          </a:prstGeom>
          <a:solidFill>
            <a:srgbClr val="FD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019800" y="4191000"/>
            <a:ext cx="152400" cy="152400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31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Partitions and equivalence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Remember equivalence relations?</a:t>
                </a:r>
              </a:p>
              <a:p>
                <a:r>
                  <a:rPr lang="en-US" dirty="0"/>
                  <a:t>Relation (call it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≡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Over some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That has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properties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Reflexivity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Transitivity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𝑦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i="1" dirty="0" smtClean="0">
                        <a:latin typeface="Cambria Math"/>
                      </a:rPr>
                      <m:t>𝑧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i="1" dirty="0" smtClean="0">
                        <a:latin typeface="Cambria Math"/>
                      </a:rPr>
                      <m:t>𝑧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Symmetry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𝑦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endParaRPr lang="en-US" dirty="0"/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Divide elements into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equivalence classes</a:t>
                </a:r>
              </a:p>
              <a:p>
                <a:pPr lvl="1"/>
                <a:r>
                  <a:rPr lang="en-US" dirty="0"/>
                  <a:t>Two elements,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0" smtClean="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y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, are in the same equivalence class 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Equivalence class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b="0" i="1" dirty="0">
                    <a:latin typeface="Cambria Math"/>
                  </a:rPr>
                  <a:t> </a:t>
                </a:r>
                <a:r>
                  <a:rPr lang="en-US" b="0" dirty="0"/>
                  <a:t>is</a:t>
                </a:r>
                <a:r>
                  <a:rPr lang="en-US" b="0" i="1" dirty="0">
                    <a:latin typeface="Cambria Math"/>
                  </a:rPr>
                  <a:t/>
                </a:r>
                <a:br>
                  <a:rPr lang="en-US" b="0" i="1" dirty="0"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[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]=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207" t="-1887" r="-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Partitions and equivalence relations are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interchangeable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ideas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Equivalence classes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form a partition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endParaRPr lang="en-US" dirty="0"/>
              </a:p>
              <a:p>
                <a:pPr>
                  <a:spcBef>
                    <a:spcPts val="1800"/>
                  </a:spcBef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Given a partition</a:t>
                </a:r>
                <a:r>
                  <a:rPr lang="en-US" dirty="0"/>
                  <a:t>, we can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construct an equivalence relation </a:t>
                </a:r>
                <a:r>
                  <a:rPr lang="en-US" dirty="0"/>
                  <a:t>from it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𝑏</m:t>
                    </m:r>
                  </m:oMath>
                </a14:m>
                <a:r>
                  <a:rPr lang="en-US" dirty="0"/>
                  <a:t> are in the same set within the partition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 l="-136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7374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Connected components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Connectivity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in an undirected graph is an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equivalence relation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𝑎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iff</a:t>
                </a:r>
                <a:r>
                  <a:rPr lang="en-US" dirty="0"/>
                  <a:t> there is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path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</m:t>
                    </m:r>
                  </m:oMath>
                </a14:m>
                <a:endParaRPr lang="en-US" dirty="0"/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Its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equivalence classes</a:t>
                </a:r>
                <a:r>
                  <a:rPr lang="en-US" dirty="0"/>
                  <a:t> are essentially its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connected components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They form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partition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the nodes</a:t>
                </a:r>
              </a:p>
              <a:p>
                <a:pPr lvl="1"/>
                <a:r>
                  <a:rPr lang="en-US" dirty="0"/>
                  <a:t>Every node belongs to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exactly one connected component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1961" t="-1887"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5"/>
          </p:cNvCxnSpPr>
          <p:nvPr/>
        </p:nvCxnSpPr>
        <p:spPr>
          <a:xfrm flipH="1" flipV="1">
            <a:off x="6638645" y="5571845"/>
            <a:ext cx="783800" cy="2955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925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Connected components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we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compute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the partition?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5"/>
          </p:cNvCxnSpPr>
          <p:nvPr/>
        </p:nvCxnSpPr>
        <p:spPr>
          <a:xfrm flipH="1" flipV="1">
            <a:off x="6638645" y="5571845"/>
            <a:ext cx="783800" cy="2955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859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component</a:t>
            </a:r>
            <a:r>
              <a:rPr lang="en-US" dirty="0"/>
              <a:t>)</a:t>
            </a:r>
            <a:br>
              <a:rPr lang="en-US" dirty="0"/>
            </a:b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b="1" dirty="0"/>
              <a:t>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node.component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16246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15254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b="1" dirty="0"/>
              <a:t>            </a:t>
            </a:r>
            <a:r>
              <a:rPr lang="en-US" b="1" dirty="0" err="1"/>
              <a:t>LCCVisit</a:t>
            </a:r>
            <a:r>
              <a:rPr lang="en-US" b="1" dirty="0"/>
              <a:t>(node, component)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68622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b="1" dirty="0"/>
              <a:t>   mark node visited</a:t>
            </a:r>
            <a:br>
              <a:rPr lang="en-US" b="1" dirty="0"/>
            </a:br>
            <a:r>
              <a:rPr lang="en-US" b="1" dirty="0"/>
              <a:t>   </a:t>
            </a:r>
            <a:r>
              <a:rPr lang="en-US" b="1" dirty="0" err="1"/>
              <a:t>node.component</a:t>
            </a:r>
            <a:r>
              <a:rPr lang="en-US" b="1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16613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 err="1"/>
              <a:t>LCCVisit</a:t>
            </a:r>
            <a:r>
              <a:rPr lang="en-US" b="1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98067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b="1" dirty="0"/>
              <a:t>   mark node visited</a:t>
            </a:r>
            <a:br>
              <a:rPr lang="en-US" b="1" dirty="0"/>
            </a:br>
            <a:r>
              <a:rPr lang="en-US" b="1" dirty="0"/>
              <a:t>   </a:t>
            </a:r>
            <a:r>
              <a:rPr lang="en-US" b="1" dirty="0" err="1"/>
              <a:t>node.component</a:t>
            </a:r>
            <a:r>
              <a:rPr lang="en-US" b="1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32564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321603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706737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31701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26335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b="1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998858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b="1" dirty="0"/>
              <a:t>            </a:t>
            </a:r>
            <a:r>
              <a:rPr lang="en-US" b="1" dirty="0" err="1"/>
              <a:t>LCCVisit</a:t>
            </a:r>
            <a:r>
              <a:rPr lang="en-US" b="1" dirty="0"/>
              <a:t>(node, component)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02040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49321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69252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86051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5514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264699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b="1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5514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85635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b="1" dirty="0"/>
              <a:t>            </a:t>
            </a:r>
            <a:r>
              <a:rPr lang="en-US" b="1" dirty="0" err="1"/>
              <a:t>LCCVisit</a:t>
            </a:r>
            <a:r>
              <a:rPr lang="en-US" b="1" dirty="0"/>
              <a:t>(node, component)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5514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17244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Connected component analysis</a:t>
            </a:r>
            <a:br>
              <a:rPr lang="en-US" sz="3600" dirty="0"/>
            </a:br>
            <a:r>
              <a:rPr lang="en-US" sz="3600" dirty="0"/>
              <a:t>using depth-first search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LabelConnectedComponents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component = 0</a:t>
            </a:r>
          </a:p>
          <a:p>
            <a:pPr marL="0" indent="0">
              <a:buNone/>
            </a:pPr>
            <a:r>
              <a:rPr lang="en-US" dirty="0"/>
              <a:t>   for each node in graph</a:t>
            </a:r>
            <a:br>
              <a:rPr lang="en-US" dirty="0"/>
            </a:br>
            <a:r>
              <a:rPr lang="en-US" dirty="0"/>
              <a:t>        if node not visited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LCCVisit</a:t>
            </a:r>
            <a:r>
              <a:rPr lang="en-US" dirty="0"/>
              <a:t>(node, component)</a:t>
            </a:r>
            <a:br>
              <a:rPr lang="en-US" dirty="0"/>
            </a:br>
            <a:r>
              <a:rPr lang="en-US" dirty="0"/>
              <a:t>            component++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LCCVisit</a:t>
            </a:r>
            <a:r>
              <a:rPr lang="en-US" dirty="0"/>
              <a:t>(node, c)</a:t>
            </a:r>
            <a:br>
              <a:rPr lang="en-US" dirty="0"/>
            </a:br>
            <a:r>
              <a:rPr lang="en-US" dirty="0"/>
              <a:t>   mark node visited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node.component</a:t>
            </a:r>
            <a:r>
              <a:rPr lang="en-US" dirty="0"/>
              <a:t> = c</a:t>
            </a:r>
          </a:p>
          <a:p>
            <a:pPr marL="0" indent="0">
              <a:buNone/>
            </a:pPr>
            <a:r>
              <a:rPr lang="en-US" dirty="0"/>
              <a:t>   for each unvisited</a:t>
            </a:r>
            <a:br>
              <a:rPr lang="en-US" dirty="0"/>
            </a:br>
            <a:r>
              <a:rPr lang="en-US" dirty="0"/>
              <a:t>                neighbor, n,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LCCVisit</a:t>
            </a:r>
            <a:r>
              <a:rPr lang="en-US" dirty="0"/>
              <a:t>(n,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5514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5455" y="5655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73515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Testing if two nodes are connected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lets us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test connectivity </a:t>
            </a:r>
            <a:r>
              <a:rPr lang="en-US" dirty="0"/>
              <a:t>in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constant time</a:t>
            </a:r>
          </a:p>
          <a:p>
            <a:r>
              <a:rPr lang="en-US" dirty="0"/>
              <a:t>Just look up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component numbers</a:t>
            </a:r>
            <a:r>
              <a:rPr lang="en-US" dirty="0"/>
              <a:t> of the two nodes</a:t>
            </a:r>
          </a:p>
          <a:p>
            <a:r>
              <a:rPr lang="en-US" dirty="0"/>
              <a:t>And check if they’re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same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5514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5455" y="5655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85911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Testing if two nodes are connected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r>
              <a:rPr lang="en-US" dirty="0"/>
              <a:t>Oh,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your boss called</a:t>
            </a:r>
          </a:p>
          <a:p>
            <a:r>
              <a:rPr lang="en-US" dirty="0"/>
              <a:t>They want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 an edge</a:t>
            </a:r>
          </a:p>
          <a:p>
            <a:endParaRPr lang="en-US" dirty="0"/>
          </a:p>
          <a:p>
            <a:r>
              <a:rPr lang="en-US" dirty="0"/>
              <a:t>You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don’t mind do you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5514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5455" y="5655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5" name="Straight Connector 4"/>
          <p:cNvCxnSpPr>
            <a:stCxn id="32" idx="4"/>
            <a:endCxn id="33" idx="0"/>
          </p:cNvCxnSpPr>
          <p:nvPr/>
        </p:nvCxnSpPr>
        <p:spPr>
          <a:xfrm>
            <a:off x="8229600" y="2659774"/>
            <a:ext cx="76200" cy="343622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546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Testing if two nodes are connected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r>
              <a:rPr lang="en-US" dirty="0"/>
              <a:t>Oh,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your boss called</a:t>
            </a:r>
          </a:p>
          <a:p>
            <a:r>
              <a:rPr lang="en-US" dirty="0"/>
              <a:t>They want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 an edge</a:t>
            </a:r>
          </a:p>
          <a:p>
            <a:endParaRPr lang="en-US" dirty="0"/>
          </a:p>
          <a:p>
            <a:r>
              <a:rPr lang="en-US" dirty="0"/>
              <a:t>You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don’t mind do you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r>
              <a:rPr lang="en-US" dirty="0" smtClean="0"/>
              <a:t>Now we have to 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rerun </a:t>
            </a:r>
            <a:r>
              <a:rPr lang="en-US" dirty="0" smtClean="0"/>
              <a:t>the whole analysis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5514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5455" y="5655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5" name="Straight Connector 4"/>
          <p:cNvCxnSpPr>
            <a:stCxn id="32" idx="4"/>
            <a:endCxn id="33" idx="0"/>
          </p:cNvCxnSpPr>
          <p:nvPr/>
        </p:nvCxnSpPr>
        <p:spPr>
          <a:xfrm>
            <a:off x="8229600" y="2659774"/>
            <a:ext cx="76200" cy="343622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8842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Dynamic set partition algorithms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r>
              <a:rPr lang="en-US" dirty="0"/>
              <a:t>How do we modify this to allow us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incrementally merge</a:t>
            </a:r>
            <a:r>
              <a:rPr lang="en-US" dirty="0"/>
              <a:t> equivalence classes?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5514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5455" y="5655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5" name="Straight Connector 4"/>
          <p:cNvCxnSpPr>
            <a:stCxn id="32" idx="4"/>
            <a:endCxn id="33" idx="0"/>
          </p:cNvCxnSpPr>
          <p:nvPr/>
        </p:nvCxnSpPr>
        <p:spPr>
          <a:xfrm>
            <a:off x="8229600" y="2659774"/>
            <a:ext cx="76200" cy="343622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772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Dynamic set partition algorithms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Basic idea:</a:t>
            </a:r>
          </a:p>
          <a:p>
            <a:r>
              <a:rPr lang="en-US" dirty="0"/>
              <a:t>Remember that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component 0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is “really” component 1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5514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5455" y="5655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5" name="Straight Connector 4"/>
          <p:cNvCxnSpPr>
            <a:stCxn id="32" idx="4"/>
            <a:endCxn id="33" idx="0"/>
          </p:cNvCxnSpPr>
          <p:nvPr/>
        </p:nvCxnSpPr>
        <p:spPr>
          <a:xfrm>
            <a:off x="8229600" y="2659774"/>
            <a:ext cx="76200" cy="3436226"/>
          </a:xfrm>
          <a:prstGeom prst="line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0804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Dynamic set partition algorithms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Basic idea:</a:t>
            </a:r>
          </a:p>
          <a:p>
            <a:r>
              <a:rPr lang="en-US" dirty="0"/>
              <a:t>Remember that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component 0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is “really” component 1</a:t>
            </a:r>
          </a:p>
          <a:p>
            <a:r>
              <a:rPr lang="en-US" dirty="0"/>
              <a:t>Then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don’t compare </a:t>
            </a:r>
            <a:r>
              <a:rPr lang="en-US" dirty="0"/>
              <a:t>the component numbers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directly</a:t>
            </a:r>
          </a:p>
          <a:p>
            <a:r>
              <a:rPr lang="en-US" dirty="0"/>
              <a:t>Compare the 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real</a:t>
            </a:r>
            <a:r>
              <a:rPr lang="en-US" dirty="0"/>
              <a:t>” component numbers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5514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5455" y="5655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5" name="Straight Connector 4"/>
          <p:cNvCxnSpPr>
            <a:stCxn id="32" idx="4"/>
            <a:endCxn id="33" idx="0"/>
          </p:cNvCxnSpPr>
          <p:nvPr/>
        </p:nvCxnSpPr>
        <p:spPr>
          <a:xfrm>
            <a:off x="8229600" y="2659774"/>
            <a:ext cx="76200" cy="3436226"/>
          </a:xfrm>
          <a:prstGeom prst="line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7028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Dynamic set partition algorithms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Node 1 and node 11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connected</a:t>
            </a:r>
          </a:p>
          <a:p>
            <a:pPr lvl="1"/>
            <a:r>
              <a:rPr lang="en-US" dirty="0"/>
              <a:t>Because node 1 is in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component 0</a:t>
            </a:r>
          </a:p>
          <a:p>
            <a:pPr lvl="1"/>
            <a:r>
              <a:rPr lang="en-US" dirty="0"/>
              <a:t>But component 0 is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really component 1</a:t>
            </a:r>
          </a:p>
          <a:p>
            <a:pPr lvl="1"/>
            <a:r>
              <a:rPr lang="en-US" dirty="0"/>
              <a:t>And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node 11 is also in component 1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114" y="1371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288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613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6368" y="35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1871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282" y="4636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0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9514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5514" y="5879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5455" y="5655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5" name="Straight Connector 4"/>
          <p:cNvCxnSpPr>
            <a:stCxn id="32" idx="4"/>
            <a:endCxn id="33" idx="0"/>
          </p:cNvCxnSpPr>
          <p:nvPr/>
        </p:nvCxnSpPr>
        <p:spPr>
          <a:xfrm>
            <a:off x="8229600" y="2659774"/>
            <a:ext cx="76200" cy="3436226"/>
          </a:xfrm>
          <a:prstGeom prst="line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723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r>
              <a:rPr lang="en-US" dirty="0"/>
              <a:t>In fact, we can use this idea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replace the depth-first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search entirely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compute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the connected components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incrementally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Note: </a:t>
            </a:r>
            <a:r>
              <a:rPr lang="en-US" sz="2000" dirty="0"/>
              <a:t>this is going to be hand-wavy, but we’ll make the algorithms precise later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040974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Here’s the idea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953108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Here’s the idea</a:t>
            </a:r>
          </a:p>
          <a:p>
            <a:r>
              <a:rPr lang="en-US" dirty="0"/>
              <a:t>Start by assuming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every node </a:t>
            </a:r>
            <a:r>
              <a:rPr lang="en-US" dirty="0"/>
              <a:t>is in its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own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connected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component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429265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Here’s the idea</a:t>
            </a:r>
          </a:p>
          <a:p>
            <a:r>
              <a:rPr lang="en-US" dirty="0"/>
              <a:t>Start by assuming every node is in its own connected component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Pick an edge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071560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74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Here’s the idea</a:t>
            </a:r>
          </a:p>
          <a:p>
            <a:r>
              <a:rPr lang="en-US" dirty="0"/>
              <a:t>Start by assuming every node is in its own connected component</a:t>
            </a:r>
          </a:p>
          <a:p>
            <a:r>
              <a:rPr lang="en-US" dirty="0"/>
              <a:t>Pick an edge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Merge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the components of the two nodes</a:t>
            </a:r>
          </a:p>
          <a:p>
            <a:pPr lvl="1"/>
            <a:r>
              <a:rPr lang="en-US" dirty="0"/>
              <a:t>By remembering that one</a:t>
            </a:r>
          </a:p>
          <a:p>
            <a:pPr lvl="1"/>
            <a:r>
              <a:rPr lang="en-US" dirty="0"/>
              <a:t>Is in the component of the other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409644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749800"/>
          </a:xfrm>
        </p:spPr>
        <p:txBody>
          <a:bodyPr>
            <a:normAutofit/>
          </a:bodyPr>
          <a:lstStyle/>
          <a:p>
            <a:r>
              <a:rPr lang="en-US" dirty="0"/>
              <a:t>Pick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another edge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839790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749800"/>
          </a:xfrm>
        </p:spPr>
        <p:txBody>
          <a:bodyPr>
            <a:normAutofit/>
          </a:bodyPr>
          <a:lstStyle/>
          <a:p>
            <a:r>
              <a:rPr lang="en-US" dirty="0"/>
              <a:t>Pick another edge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Merge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again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401309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749800"/>
          </a:xfrm>
        </p:spPr>
        <p:txBody>
          <a:bodyPr>
            <a:normAutofit/>
          </a:bodyPr>
          <a:lstStyle/>
          <a:p>
            <a:r>
              <a:rPr lang="en-US" dirty="0"/>
              <a:t>Now we have that</a:t>
            </a:r>
          </a:p>
          <a:p>
            <a:pPr lvl="1"/>
            <a:r>
              <a:rPr lang="en-US" dirty="0"/>
              <a:t>1 is really in 4’s component</a:t>
            </a:r>
          </a:p>
          <a:p>
            <a:pPr lvl="1"/>
            <a:r>
              <a:rPr lang="en-US" dirty="0"/>
              <a:t>3 is really in 2’s component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20593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749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Pick another </a:t>
            </a:r>
            <a:r>
              <a:rPr lang="en-US" dirty="0"/>
              <a:t>edge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819188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749800"/>
          </a:xfrm>
        </p:spPr>
        <p:txBody>
          <a:bodyPr>
            <a:normAutofit/>
          </a:bodyPr>
          <a:lstStyle/>
          <a:p>
            <a:r>
              <a:rPr lang="en-US" dirty="0"/>
              <a:t>Pick another edge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Merge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again</a:t>
            </a:r>
          </a:p>
          <a:p>
            <a:pPr lvl="1"/>
            <a:r>
              <a:rPr lang="en-US" dirty="0"/>
              <a:t>4 is now in 2’s component</a:t>
            </a:r>
          </a:p>
          <a:p>
            <a:pPr lvl="1"/>
            <a:r>
              <a:rPr lang="en-US" dirty="0"/>
              <a:t>But 1 is in 4’s component</a:t>
            </a:r>
          </a:p>
          <a:p>
            <a:pPr lvl="1"/>
            <a:r>
              <a:rPr lang="en-US" dirty="0"/>
              <a:t>So really, 1, 3, and 4 are all in 2’s component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3254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74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Keep doing this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043934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74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Keep doing this</a:t>
            </a:r>
          </a:p>
          <a:p>
            <a:r>
              <a:rPr lang="en-US" dirty="0"/>
              <a:t>And we end up 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arrows </a:t>
            </a:r>
          </a:p>
          <a:p>
            <a:r>
              <a:rPr lang="en-US" dirty="0"/>
              <a:t>From all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nodes in a connected component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9064074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74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Keep doing this</a:t>
            </a:r>
          </a:p>
          <a:p>
            <a:r>
              <a:rPr lang="en-US" dirty="0"/>
              <a:t>And we end up 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arrows </a:t>
            </a:r>
          </a:p>
          <a:p>
            <a:r>
              <a:rPr lang="en-US" dirty="0"/>
              <a:t>From all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nodes in a connected component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Flowing to a single node </a:t>
            </a:r>
            <a:r>
              <a:rPr lang="en-US" dirty="0"/>
              <a:t>in each component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0247697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74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Keep doing this</a:t>
            </a:r>
          </a:p>
          <a:p>
            <a:r>
              <a:rPr lang="en-US" dirty="0"/>
              <a:t>And we end up 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arrows </a:t>
            </a:r>
          </a:p>
          <a:p>
            <a:r>
              <a:rPr lang="en-US" dirty="0"/>
              <a:t>From all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nodes in a connected component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Flowing to a single node </a:t>
            </a:r>
            <a:r>
              <a:rPr lang="en-US" dirty="0"/>
              <a:t>in each component</a:t>
            </a:r>
          </a:p>
          <a:p>
            <a:r>
              <a:rPr lang="en-US" dirty="0"/>
              <a:t>These are called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components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020804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74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Each component forms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tree</a:t>
            </a:r>
          </a:p>
          <a:p>
            <a:r>
              <a:rPr lang="en-US" dirty="0"/>
              <a:t>With arrows pointing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from children to parents</a:t>
            </a:r>
          </a:p>
          <a:p>
            <a:r>
              <a:rPr lang="en-US" dirty="0"/>
              <a:t>With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as its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root</a:t>
            </a:r>
          </a:p>
          <a:p>
            <a:r>
              <a:rPr lang="en-US" dirty="0"/>
              <a:t>So they collectively form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forest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167299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74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decide if two nodes are connected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272063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74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decide if two nodes are connected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Follow the arrows </a:t>
            </a:r>
            <a:r>
              <a:rPr lang="en-US" dirty="0"/>
              <a:t>to their representatives</a:t>
            </a:r>
          </a:p>
          <a:p>
            <a:pPr lvl="1"/>
            <a:r>
              <a:rPr lang="en-US" dirty="0"/>
              <a:t>Easy to do because each node only has one edge pointing out</a:t>
            </a:r>
          </a:p>
          <a:p>
            <a:pPr lvl="1"/>
            <a:r>
              <a:rPr lang="en-US" dirty="0"/>
              <a:t>Except representatives, who have none</a:t>
            </a:r>
          </a:p>
          <a:p>
            <a:r>
              <a:rPr lang="en-US" dirty="0"/>
              <a:t>Check if they have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same representative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762526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74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cool thing is</a:t>
            </a:r>
          </a:p>
          <a:p>
            <a:r>
              <a:rPr lang="en-US" dirty="0"/>
              <a:t>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merge two components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01739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74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cool thing is</a:t>
            </a:r>
          </a:p>
          <a:p>
            <a:r>
              <a:rPr lang="en-US" dirty="0"/>
              <a:t>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merge two components</a:t>
            </a:r>
          </a:p>
          <a:p>
            <a:r>
              <a:rPr lang="en-US" dirty="0"/>
              <a:t>All we have to do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 a pointer</a:t>
            </a:r>
          </a:p>
          <a:p>
            <a:pPr lvl="1"/>
            <a:r>
              <a:rPr lang="en-US" dirty="0"/>
              <a:t>From one component’s representative</a:t>
            </a:r>
          </a:p>
          <a:p>
            <a:pPr lvl="1"/>
            <a:r>
              <a:rPr lang="en-US" dirty="0"/>
              <a:t>To the other’s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28" name="Straight Arrow Connector 27"/>
          <p:cNvCxnSpPr>
            <a:stCxn id="47" idx="0"/>
          </p:cNvCxnSpPr>
          <p:nvPr/>
        </p:nvCxnSpPr>
        <p:spPr>
          <a:xfrm flipV="1">
            <a:off x="5989777" y="3267574"/>
            <a:ext cx="606145" cy="168542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1888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Computing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74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cool thing is</a:t>
            </a:r>
          </a:p>
          <a:p>
            <a:r>
              <a:rPr lang="en-US" dirty="0"/>
              <a:t>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merge two components</a:t>
            </a:r>
          </a:p>
          <a:p>
            <a:r>
              <a:rPr lang="en-US" dirty="0"/>
              <a:t>All we have to do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 a pointer</a:t>
            </a:r>
          </a:p>
          <a:p>
            <a:pPr lvl="1"/>
            <a:r>
              <a:rPr lang="en-US" dirty="0"/>
              <a:t>From one component’s representative</a:t>
            </a:r>
          </a:p>
          <a:p>
            <a:pPr lvl="1"/>
            <a:r>
              <a:rPr lang="en-US" dirty="0"/>
              <a:t>To the other’s</a:t>
            </a:r>
          </a:p>
          <a:p>
            <a:r>
              <a:rPr lang="en-US" dirty="0"/>
              <a:t>Now they both have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same representative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28" name="Straight Arrow Connector 27"/>
          <p:cNvCxnSpPr>
            <a:stCxn id="47" idx="0"/>
          </p:cNvCxnSpPr>
          <p:nvPr/>
        </p:nvCxnSpPr>
        <p:spPr>
          <a:xfrm flipV="1">
            <a:off x="5989777" y="3267574"/>
            <a:ext cx="606145" cy="168542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2000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union-find algorithm</a:t>
            </a:r>
            <a:endParaRPr lang="en-US" dirty="0"/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is a </a:t>
            </a:r>
            <a:r>
              <a:rPr lang="en-US" dirty="0" err="1"/>
              <a:t>handwavy</a:t>
            </a:r>
            <a:r>
              <a:rPr lang="en-US" dirty="0"/>
              <a:t> version of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general algorithm</a:t>
            </a:r>
            <a:r>
              <a:rPr lang="en-US" dirty="0"/>
              <a:t> </a:t>
            </a:r>
          </a:p>
          <a:p>
            <a:r>
              <a:rPr lang="en-US" dirty="0"/>
              <a:t>Called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union-find</a:t>
            </a:r>
            <a:r>
              <a:rPr lang="en-US" dirty="0"/>
              <a:t> algorithm</a:t>
            </a:r>
          </a:p>
          <a:p>
            <a:r>
              <a:rPr lang="en-US" dirty="0"/>
              <a:t>For working 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partitions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sets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088618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union-find algorithm</a:t>
            </a:r>
            <a:endParaRPr lang="en-US" dirty="0"/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29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 err="1"/>
              <a:t>SetElement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SetElement</a:t>
            </a:r>
            <a:r>
              <a:rPr lang="en-US" dirty="0"/>
              <a:t> parent;</a:t>
            </a:r>
            <a:br>
              <a:rPr lang="en-US" dirty="0"/>
            </a:br>
            <a:r>
              <a:rPr lang="en-US" dirty="0"/>
              <a:t>}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Each connected component forms a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tree</a:t>
            </a:r>
            <a:endParaRPr lang="en-US" dirty="0" smtClean="0">
              <a:solidFill>
                <a:schemeClr val="tx1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dirty="0" smtClean="0">
                <a:solidFill>
                  <a:schemeClr val="tx1"/>
                </a:solidFill>
              </a:rPr>
              <a:t>With the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representative as its root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Keep </a:t>
            </a:r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 pointer </a:t>
            </a:r>
            <a:r>
              <a:rPr lang="en-US" dirty="0"/>
              <a:t>for each element of the set</a:t>
            </a:r>
          </a:p>
          <a:p>
            <a:pPr lvl="1"/>
            <a:r>
              <a:rPr lang="en-US" dirty="0"/>
              <a:t>Points to its parent in the tree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are roots, so parent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null</a:t>
            </a:r>
          </a:p>
          <a:p>
            <a:pPr lvl="2"/>
            <a:r>
              <a:rPr lang="en-US" dirty="0"/>
              <a:t>Or it’s often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set to itself</a:t>
            </a:r>
          </a:p>
          <a:p>
            <a:pPr lvl="2"/>
            <a:r>
              <a:rPr lang="en-US" dirty="0"/>
              <a:t>Which saves some work later</a:t>
            </a:r>
          </a:p>
          <a:p>
            <a:r>
              <a:rPr lang="en-US" dirty="0"/>
              <a:t>Note: we don’t need any child pointers</a:t>
            </a:r>
          </a:p>
          <a:p>
            <a:pPr lvl="1"/>
            <a:r>
              <a:rPr lang="en-US" dirty="0"/>
              <a:t>Because we will only move upward in the trees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610654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union-find algorithm</a:t>
            </a:r>
            <a:endParaRPr lang="en-US" dirty="0"/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start with all the elements in their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own groups</a:t>
            </a:r>
            <a:r>
              <a:rPr lang="en-US" dirty="0"/>
              <a:t> in the partition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619273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union-find algorithm</a:t>
            </a:r>
            <a:endParaRPr lang="en-US" dirty="0"/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start with all the elements in their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own groups</a:t>
            </a:r>
            <a:r>
              <a:rPr lang="en-US" dirty="0"/>
              <a:t> in the partition</a:t>
            </a:r>
          </a:p>
          <a:p>
            <a:r>
              <a:rPr lang="en-US" dirty="0"/>
              <a:t>So they’re all their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own representatives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9075169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union-find algorithm</a:t>
            </a:r>
            <a:endParaRPr lang="en-US" dirty="0"/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(merge) two groups together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165601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union-find algorithm</a:t>
            </a:r>
            <a:endParaRPr lang="en-US" dirty="0"/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(merge) two groups together</a:t>
            </a:r>
          </a:p>
          <a:p>
            <a:r>
              <a:rPr lang="en-US" dirty="0"/>
              <a:t>Just make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 of one</a:t>
            </a:r>
          </a:p>
          <a:p>
            <a:r>
              <a:rPr lang="en-US" dirty="0"/>
              <a:t>Be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other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4" name="Straight Arrow Connector 3"/>
          <p:cNvCxnSpPr>
            <a:stCxn id="29" idx="0"/>
            <a:endCxn id="39" idx="4"/>
          </p:cNvCxnSpPr>
          <p:nvPr/>
        </p:nvCxnSpPr>
        <p:spPr>
          <a:xfrm flipV="1">
            <a:off x="6595922" y="2051975"/>
            <a:ext cx="0" cy="75839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2512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union-find algorithm</a:t>
            </a:r>
            <a:endParaRPr lang="en-US" dirty="0"/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(merge) two groups together</a:t>
            </a:r>
          </a:p>
          <a:p>
            <a:r>
              <a:rPr lang="en-US" dirty="0"/>
              <a:t>Just make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 of one</a:t>
            </a:r>
          </a:p>
          <a:p>
            <a:r>
              <a:rPr lang="en-US" dirty="0"/>
              <a:t>Be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other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4" name="Straight Arrow Connector 3"/>
          <p:cNvCxnSpPr>
            <a:stCxn id="29" idx="0"/>
            <a:endCxn id="39" idx="4"/>
          </p:cNvCxnSpPr>
          <p:nvPr/>
        </p:nvCxnSpPr>
        <p:spPr>
          <a:xfrm flipV="1">
            <a:off x="6595922" y="2051975"/>
            <a:ext cx="0" cy="75839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43" idx="1"/>
            <a:endCxn id="30" idx="5"/>
          </p:cNvCxnSpPr>
          <p:nvPr/>
        </p:nvCxnSpPr>
        <p:spPr>
          <a:xfrm flipH="1" flipV="1">
            <a:off x="6129233" y="3938630"/>
            <a:ext cx="400610" cy="3955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6871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union-find algorithm</a:t>
            </a:r>
            <a:endParaRPr lang="en-US" dirty="0"/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(merge) two groups together</a:t>
            </a:r>
          </a:p>
          <a:p>
            <a:r>
              <a:rPr lang="en-US" dirty="0"/>
              <a:t>Just make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 of one</a:t>
            </a:r>
          </a:p>
          <a:p>
            <a:r>
              <a:rPr lang="en-US" dirty="0"/>
              <a:t>Be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other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4" name="Straight Arrow Connector 3"/>
          <p:cNvCxnSpPr>
            <a:stCxn id="29" idx="0"/>
            <a:endCxn id="39" idx="4"/>
          </p:cNvCxnSpPr>
          <p:nvPr/>
        </p:nvCxnSpPr>
        <p:spPr>
          <a:xfrm flipV="1">
            <a:off x="6595922" y="2051975"/>
            <a:ext cx="0" cy="75839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43" idx="1"/>
            <a:endCxn id="30" idx="5"/>
          </p:cNvCxnSpPr>
          <p:nvPr/>
        </p:nvCxnSpPr>
        <p:spPr>
          <a:xfrm flipH="1" flipV="1">
            <a:off x="6129233" y="3938630"/>
            <a:ext cx="400610" cy="3955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31" idx="3"/>
          </p:cNvCxnSpPr>
          <p:nvPr/>
        </p:nvCxnSpPr>
        <p:spPr>
          <a:xfrm flipV="1">
            <a:off x="6779756" y="5341980"/>
            <a:ext cx="514910" cy="7878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5451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union-find algorithm</a:t>
            </a:r>
            <a:endParaRPr lang="en-US" dirty="0"/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(merge) two groups together</a:t>
            </a:r>
          </a:p>
          <a:p>
            <a:r>
              <a:rPr lang="en-US" dirty="0"/>
              <a:t>Just make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 of one</a:t>
            </a:r>
          </a:p>
          <a:p>
            <a:r>
              <a:rPr lang="en-US" dirty="0"/>
              <a:t>Be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other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4" name="Straight Arrow Connector 3"/>
          <p:cNvCxnSpPr>
            <a:stCxn id="29" idx="0"/>
            <a:endCxn id="39" idx="4"/>
          </p:cNvCxnSpPr>
          <p:nvPr/>
        </p:nvCxnSpPr>
        <p:spPr>
          <a:xfrm flipV="1">
            <a:off x="6595922" y="2051975"/>
            <a:ext cx="0" cy="75839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43" idx="1"/>
            <a:endCxn id="30" idx="5"/>
          </p:cNvCxnSpPr>
          <p:nvPr/>
        </p:nvCxnSpPr>
        <p:spPr>
          <a:xfrm flipH="1" flipV="1">
            <a:off x="6129233" y="3938630"/>
            <a:ext cx="400610" cy="3955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31" idx="3"/>
          </p:cNvCxnSpPr>
          <p:nvPr/>
        </p:nvCxnSpPr>
        <p:spPr>
          <a:xfrm flipV="1">
            <a:off x="6779756" y="5341980"/>
            <a:ext cx="514910" cy="7878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47" idx="6"/>
            <a:endCxn id="31" idx="2"/>
          </p:cNvCxnSpPr>
          <p:nvPr/>
        </p:nvCxnSpPr>
        <p:spPr>
          <a:xfrm flipV="1">
            <a:off x="6218377" y="5180335"/>
            <a:ext cx="1009334" cy="12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8959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union-find algorithm</a:t>
            </a:r>
            <a:endParaRPr lang="en-US" dirty="0"/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(merge) two groups together</a:t>
            </a:r>
          </a:p>
          <a:p>
            <a:r>
              <a:rPr lang="en-US" dirty="0"/>
              <a:t>Just make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 of one</a:t>
            </a:r>
          </a:p>
          <a:p>
            <a:r>
              <a:rPr lang="en-US" dirty="0"/>
              <a:t>Be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other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4" name="Straight Arrow Connector 3"/>
          <p:cNvCxnSpPr>
            <a:stCxn id="29" idx="0"/>
            <a:endCxn id="39" idx="4"/>
          </p:cNvCxnSpPr>
          <p:nvPr/>
        </p:nvCxnSpPr>
        <p:spPr>
          <a:xfrm flipV="1">
            <a:off x="6595922" y="2051975"/>
            <a:ext cx="0" cy="75839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43" idx="1"/>
            <a:endCxn id="30" idx="5"/>
          </p:cNvCxnSpPr>
          <p:nvPr/>
        </p:nvCxnSpPr>
        <p:spPr>
          <a:xfrm flipH="1" flipV="1">
            <a:off x="6129233" y="3938630"/>
            <a:ext cx="400610" cy="3955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31" idx="3"/>
          </p:cNvCxnSpPr>
          <p:nvPr/>
        </p:nvCxnSpPr>
        <p:spPr>
          <a:xfrm flipV="1">
            <a:off x="6779756" y="5341980"/>
            <a:ext cx="514910" cy="7878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47" idx="6"/>
            <a:endCxn id="31" idx="2"/>
          </p:cNvCxnSpPr>
          <p:nvPr/>
        </p:nvCxnSpPr>
        <p:spPr>
          <a:xfrm flipV="1">
            <a:off x="6218377" y="5180335"/>
            <a:ext cx="1009334" cy="12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42" idx="7"/>
            <a:endCxn id="32" idx="3"/>
          </p:cNvCxnSpPr>
          <p:nvPr/>
        </p:nvCxnSpPr>
        <p:spPr>
          <a:xfrm flipV="1">
            <a:off x="7613333" y="2592819"/>
            <a:ext cx="454622" cy="98082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5123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union-find algorithm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(merge) two groups together</a:t>
            </a:r>
          </a:p>
          <a:p>
            <a:r>
              <a:rPr lang="en-US" dirty="0"/>
              <a:t>Just make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 of one</a:t>
            </a:r>
          </a:p>
          <a:p>
            <a:r>
              <a:rPr lang="en-US" dirty="0"/>
              <a:t>Be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other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4" name="Straight Arrow Connector 3"/>
          <p:cNvCxnSpPr>
            <a:stCxn id="29" idx="0"/>
            <a:endCxn id="39" idx="4"/>
          </p:cNvCxnSpPr>
          <p:nvPr/>
        </p:nvCxnSpPr>
        <p:spPr>
          <a:xfrm flipV="1">
            <a:off x="6595922" y="2051975"/>
            <a:ext cx="0" cy="75839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43" idx="1"/>
            <a:endCxn id="30" idx="5"/>
          </p:cNvCxnSpPr>
          <p:nvPr/>
        </p:nvCxnSpPr>
        <p:spPr>
          <a:xfrm flipH="1" flipV="1">
            <a:off x="6129233" y="3938630"/>
            <a:ext cx="400610" cy="3955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31" idx="3"/>
          </p:cNvCxnSpPr>
          <p:nvPr/>
        </p:nvCxnSpPr>
        <p:spPr>
          <a:xfrm flipV="1">
            <a:off x="6779756" y="5341980"/>
            <a:ext cx="514910" cy="7878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47" idx="6"/>
            <a:endCxn id="31" idx="2"/>
          </p:cNvCxnSpPr>
          <p:nvPr/>
        </p:nvCxnSpPr>
        <p:spPr>
          <a:xfrm flipV="1">
            <a:off x="6218377" y="5180335"/>
            <a:ext cx="1009334" cy="12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42" idx="7"/>
            <a:endCxn id="32" idx="3"/>
          </p:cNvCxnSpPr>
          <p:nvPr/>
        </p:nvCxnSpPr>
        <p:spPr>
          <a:xfrm flipV="1">
            <a:off x="7613333" y="2592819"/>
            <a:ext cx="454622" cy="98082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31" idx="0"/>
            <a:endCxn id="32" idx="4"/>
          </p:cNvCxnSpPr>
          <p:nvPr/>
        </p:nvCxnSpPr>
        <p:spPr>
          <a:xfrm flipV="1">
            <a:off x="7456311" y="2659774"/>
            <a:ext cx="773289" cy="229196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30" idx="0"/>
            <a:endCxn id="39" idx="3"/>
          </p:cNvCxnSpPr>
          <p:nvPr/>
        </p:nvCxnSpPr>
        <p:spPr>
          <a:xfrm flipV="1">
            <a:off x="5967588" y="1985020"/>
            <a:ext cx="466689" cy="15633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9328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union-find algorithm</a:t>
            </a:r>
            <a:br>
              <a:rPr lang="en-US" dirty="0"/>
            </a:br>
            <a:r>
              <a:rPr lang="en-US" sz="2700" dirty="0"/>
              <a:t>(slow version)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// Find the representative</a:t>
            </a:r>
            <a:br>
              <a:rPr lang="en-US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// for e’s group</a:t>
            </a:r>
          </a:p>
          <a:p>
            <a:pPr marL="0" indent="0">
              <a:buNone/>
            </a:pPr>
            <a:r>
              <a:rPr lang="en-US" b="1" dirty="0"/>
              <a:t>Find</a:t>
            </a:r>
            <a:r>
              <a:rPr lang="en-US" dirty="0"/>
              <a:t>(</a:t>
            </a:r>
            <a:r>
              <a:rPr lang="en-US" dirty="0" err="1"/>
              <a:t>SetElement</a:t>
            </a:r>
            <a:r>
              <a:rPr lang="en-US" dirty="0"/>
              <a:t> e) {</a:t>
            </a:r>
          </a:p>
          <a:p>
            <a:pPr marL="0" indent="0">
              <a:buNone/>
            </a:pPr>
            <a:r>
              <a:rPr lang="en-US" dirty="0"/>
              <a:t>   while (</a:t>
            </a:r>
            <a:r>
              <a:rPr lang="en-US" dirty="0" err="1"/>
              <a:t>e.parent</a:t>
            </a:r>
            <a:r>
              <a:rPr lang="en-US" dirty="0"/>
              <a:t> != null)</a:t>
            </a:r>
          </a:p>
          <a:p>
            <a:pPr marL="0" indent="0">
              <a:buNone/>
            </a:pPr>
            <a:r>
              <a:rPr lang="en-US" dirty="0"/>
              <a:t>      e = </a:t>
            </a:r>
            <a:r>
              <a:rPr lang="en-US" dirty="0" err="1"/>
              <a:t>e.parent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return e;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// Merge the groups of a</a:t>
            </a:r>
            <a:br>
              <a:rPr lang="en-US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// and b together</a:t>
            </a:r>
          </a:p>
          <a:p>
            <a:pPr marL="0" indent="0">
              <a:buNone/>
            </a:pPr>
            <a:r>
              <a:rPr lang="en-US" b="1" dirty="0"/>
              <a:t>Union</a:t>
            </a:r>
            <a:r>
              <a:rPr lang="en-US" dirty="0"/>
              <a:t>(</a:t>
            </a:r>
            <a:r>
              <a:rPr lang="en-US" sz="2000" dirty="0" err="1"/>
              <a:t>SetElement</a:t>
            </a:r>
            <a:r>
              <a:rPr lang="en-US" dirty="0"/>
              <a:t> a, </a:t>
            </a:r>
            <a:r>
              <a:rPr lang="en-US" sz="2000" dirty="0" err="1"/>
              <a:t>SetElement</a:t>
            </a:r>
            <a:r>
              <a:rPr lang="en-US" dirty="0"/>
              <a:t> b) </a:t>
            </a:r>
            <a:br>
              <a:rPr lang="en-US" dirty="0"/>
            </a:b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ar</a:t>
            </a:r>
            <a:r>
              <a:rPr lang="en-US" dirty="0"/>
              <a:t> = Find(a);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br</a:t>
            </a:r>
            <a:r>
              <a:rPr lang="en-US" dirty="0"/>
              <a:t> = Find(b);</a:t>
            </a:r>
            <a:br>
              <a:rPr lang="en-US" dirty="0"/>
            </a:br>
            <a:r>
              <a:rPr lang="en-US" dirty="0"/>
              <a:t>   if (</a:t>
            </a:r>
            <a:r>
              <a:rPr lang="en-US" dirty="0" err="1"/>
              <a:t>ar</a:t>
            </a:r>
            <a:r>
              <a:rPr lang="en-US" dirty="0"/>
              <a:t> != </a:t>
            </a:r>
            <a:r>
              <a:rPr lang="en-US" dirty="0" err="1"/>
              <a:t>br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ar.parent</a:t>
            </a:r>
            <a:r>
              <a:rPr lang="en-US" dirty="0"/>
              <a:t> = </a:t>
            </a:r>
            <a:r>
              <a:rPr lang="en-US" dirty="0" err="1"/>
              <a:t>br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92017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Complexity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// Find the representative</a:t>
            </a:r>
            <a:br>
              <a:rPr lang="en-US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// for e’s group</a:t>
            </a:r>
          </a:p>
          <a:p>
            <a:pPr marL="0" indent="0">
              <a:buNone/>
            </a:pPr>
            <a:r>
              <a:rPr lang="en-US" b="1" dirty="0"/>
              <a:t>Find</a:t>
            </a:r>
            <a:r>
              <a:rPr lang="en-US" dirty="0"/>
              <a:t>(</a:t>
            </a:r>
            <a:r>
              <a:rPr lang="en-US" dirty="0" err="1"/>
              <a:t>SetElement</a:t>
            </a:r>
            <a:r>
              <a:rPr lang="en-US" dirty="0"/>
              <a:t> e) {</a:t>
            </a:r>
          </a:p>
          <a:p>
            <a:pPr marL="0" indent="0">
              <a:buNone/>
            </a:pPr>
            <a:r>
              <a:rPr lang="en-US" dirty="0"/>
              <a:t>   while (</a:t>
            </a:r>
            <a:r>
              <a:rPr lang="en-US" dirty="0" err="1"/>
              <a:t>e.parent</a:t>
            </a:r>
            <a:r>
              <a:rPr lang="en-US" dirty="0"/>
              <a:t> != null)</a:t>
            </a:r>
          </a:p>
          <a:p>
            <a:pPr marL="0" indent="0">
              <a:buNone/>
            </a:pPr>
            <a:r>
              <a:rPr lang="en-US" dirty="0"/>
              <a:t>      e = </a:t>
            </a:r>
            <a:r>
              <a:rPr lang="en-US" dirty="0" err="1"/>
              <a:t>e.parent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return e;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// Merge the groups of a</a:t>
            </a:r>
            <a:br>
              <a:rPr lang="en-US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// and b together</a:t>
            </a:r>
          </a:p>
          <a:p>
            <a:pPr marL="0" indent="0">
              <a:buNone/>
            </a:pPr>
            <a:r>
              <a:rPr lang="en-US" b="1" dirty="0"/>
              <a:t>Union</a:t>
            </a:r>
            <a:r>
              <a:rPr lang="en-US" dirty="0"/>
              <a:t>(</a:t>
            </a:r>
            <a:r>
              <a:rPr lang="en-US" sz="2000" dirty="0" err="1"/>
              <a:t>SetElement</a:t>
            </a:r>
            <a:r>
              <a:rPr lang="en-US" dirty="0"/>
              <a:t> a, </a:t>
            </a:r>
            <a:r>
              <a:rPr lang="en-US" sz="2000" dirty="0" err="1"/>
              <a:t>SetElement</a:t>
            </a:r>
            <a:r>
              <a:rPr lang="en-US" dirty="0"/>
              <a:t> b) </a:t>
            </a:r>
            <a:br>
              <a:rPr lang="en-US" dirty="0"/>
            </a:b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ar</a:t>
            </a:r>
            <a:r>
              <a:rPr lang="en-US" dirty="0"/>
              <a:t> = Find(a);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br</a:t>
            </a:r>
            <a:r>
              <a:rPr lang="en-US" dirty="0"/>
              <a:t> = Find(b);</a:t>
            </a:r>
            <a:br>
              <a:rPr lang="en-US" dirty="0"/>
            </a:br>
            <a:r>
              <a:rPr lang="en-US" dirty="0"/>
              <a:t>   if (</a:t>
            </a:r>
            <a:r>
              <a:rPr lang="en-US" dirty="0" err="1"/>
              <a:t>ar</a:t>
            </a:r>
            <a:r>
              <a:rPr lang="en-US" dirty="0"/>
              <a:t> != </a:t>
            </a:r>
            <a:r>
              <a:rPr lang="en-US" dirty="0" err="1"/>
              <a:t>br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ar.parent</a:t>
            </a:r>
            <a:r>
              <a:rPr lang="en-US" dirty="0"/>
              <a:t> = </a:t>
            </a:r>
            <a:r>
              <a:rPr lang="en-US" dirty="0" err="1"/>
              <a:t>br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45816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Complexity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// Find the representative</a:t>
            </a:r>
            <a:br>
              <a:rPr lang="en-US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// for e’s group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Find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SetElement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e)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while 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e.parent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!= null)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   e =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e.parent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return e;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// Merge the groups of a</a:t>
            </a:r>
            <a:br>
              <a:rPr lang="en-US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// and b together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Union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SetElement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a,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SetElement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b) 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= Find(a);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br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= Find(b);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if 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!=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br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)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  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ar.parent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br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90600" y="3048000"/>
                <a:ext cx="233576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200" i="1" dirty="0" smtClean="0">
                          <a:latin typeface="Cambria Math"/>
                        </a:rPr>
                        <m:t>𝑂</m:t>
                      </m:r>
                      <m:r>
                        <a:rPr lang="en-US" sz="7200" i="1" dirty="0" smtClean="0">
                          <a:latin typeface="Cambria Math"/>
                        </a:rPr>
                        <m:t>(</m:t>
                      </m:r>
                      <m:r>
                        <a:rPr lang="en-US" sz="7200" i="1" dirty="0" smtClean="0">
                          <a:latin typeface="Cambria Math"/>
                        </a:rPr>
                        <m:t>h</m:t>
                      </m:r>
                      <m:r>
                        <a:rPr lang="en-US" sz="72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048000"/>
                <a:ext cx="2335768" cy="120032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181600" y="3048000"/>
                <a:ext cx="233576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200" i="1" dirty="0" smtClean="0">
                          <a:latin typeface="Cambria Math"/>
                        </a:rPr>
                        <m:t>𝑂</m:t>
                      </m:r>
                      <m:r>
                        <a:rPr lang="en-US" sz="7200" i="1" dirty="0" smtClean="0">
                          <a:latin typeface="Cambria Math"/>
                        </a:rPr>
                        <m:t>(</m:t>
                      </m:r>
                      <m:r>
                        <a:rPr lang="en-US" sz="7200" i="1" dirty="0" smtClean="0">
                          <a:latin typeface="Cambria Math"/>
                        </a:rPr>
                        <m:t>h</m:t>
                      </m:r>
                      <m:r>
                        <a:rPr lang="en-US" sz="72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3048000"/>
                <a:ext cx="2335768" cy="120032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85800" y="6248400"/>
            <a:ext cx="6773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worst-case running time of each algorithm is the height of the tree</a:t>
            </a:r>
          </a:p>
        </p:txBody>
      </p:sp>
    </p:spTree>
    <p:extLst>
      <p:ext uri="{BB962C8B-B14F-4D97-AF65-F5344CB8AC3E}">
        <p14:creationId xmlns:p14="http://schemas.microsoft.com/office/powerpoint/2010/main" val="22018288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Complexity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// Find the representative</a:t>
            </a:r>
            <a:br>
              <a:rPr lang="en-US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// for e’s group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Find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SetElement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e)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while 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e.parent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!= null)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   e =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e.parent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return e;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// Merge the groups of a</a:t>
            </a:r>
            <a:br>
              <a:rPr lang="en-US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// and b together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Union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SetElement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a,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SetElement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b) 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= Find(a);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br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= Find(b);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if 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!=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br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)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  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ar.parent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br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90600" y="3048000"/>
                <a:ext cx="233576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200" i="1" dirty="0" smtClean="0">
                          <a:latin typeface="Cambria Math"/>
                        </a:rPr>
                        <m:t>𝑂</m:t>
                      </m:r>
                      <m:r>
                        <a:rPr lang="en-US" sz="7200" i="1" dirty="0" smtClean="0">
                          <a:latin typeface="Cambria Math"/>
                        </a:rPr>
                        <m:t>(</m:t>
                      </m:r>
                      <m:r>
                        <a:rPr lang="en-US" sz="7200" b="0" i="1" dirty="0" smtClean="0">
                          <a:latin typeface="Cambria Math"/>
                        </a:rPr>
                        <m:t>𝑛</m:t>
                      </m:r>
                      <m:r>
                        <a:rPr lang="en-US" sz="72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048000"/>
                <a:ext cx="2335768" cy="120032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181600" y="3048000"/>
                <a:ext cx="233576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200" i="1" dirty="0" smtClean="0">
                          <a:latin typeface="Cambria Math"/>
                        </a:rPr>
                        <m:t>𝑂</m:t>
                      </m:r>
                      <m:r>
                        <a:rPr lang="en-US" sz="7200" i="1" dirty="0" smtClean="0">
                          <a:latin typeface="Cambria Math"/>
                        </a:rPr>
                        <m:t>(</m:t>
                      </m:r>
                      <m:r>
                        <a:rPr lang="en-US" sz="7200" b="0" i="1" dirty="0" smtClean="0">
                          <a:latin typeface="Cambria Math"/>
                        </a:rPr>
                        <m:t>𝑛</m:t>
                      </m:r>
                      <m:r>
                        <a:rPr lang="en-US" sz="72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3048000"/>
                <a:ext cx="2335768" cy="120032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85800" y="6248400"/>
            <a:ext cx="6068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the worst-case height of the tree is the number of nodes :-(</a:t>
            </a:r>
          </a:p>
        </p:txBody>
      </p:sp>
    </p:spTree>
    <p:extLst>
      <p:ext uri="{BB962C8B-B14F-4D97-AF65-F5344CB8AC3E}">
        <p14:creationId xmlns:p14="http://schemas.microsoft.com/office/powerpoint/2010/main" val="22453443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make it better?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13634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make it better?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Balance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the tree!</a:t>
            </a:r>
          </a:p>
          <a:p>
            <a:r>
              <a:rPr lang="en-US" dirty="0"/>
              <a:t>Keep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track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heights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trees</a:t>
            </a:r>
          </a:p>
          <a:p>
            <a:r>
              <a:rPr lang="en-US" dirty="0"/>
              <a:t>Always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 the shorter one to the bigger one</a:t>
            </a:r>
          </a:p>
        </p:txBody>
      </p:sp>
    </p:spTree>
    <p:extLst>
      <p:ext uri="{BB962C8B-B14F-4D97-AF65-F5344CB8AC3E}">
        <p14:creationId xmlns:p14="http://schemas.microsoft.com/office/powerpoint/2010/main" val="28266597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by rank (height)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dirty="0"/>
              <a:t>class </a:t>
            </a:r>
            <a:r>
              <a:rPr lang="en-US" sz="3600" b="1" dirty="0" err="1"/>
              <a:t>SetElement</a:t>
            </a:r>
            <a:r>
              <a:rPr lang="en-US" sz="3600" dirty="0"/>
              <a:t> {</a:t>
            </a:r>
            <a:br>
              <a:rPr lang="en-US" sz="3600" dirty="0"/>
            </a:br>
            <a:r>
              <a:rPr lang="en-US" sz="3600" dirty="0"/>
              <a:t>   </a:t>
            </a:r>
            <a:r>
              <a:rPr lang="en-US" sz="3600" dirty="0" err="1"/>
              <a:t>SetElement</a:t>
            </a:r>
            <a:r>
              <a:rPr lang="en-US" sz="3600" dirty="0"/>
              <a:t> parent;</a:t>
            </a:r>
            <a:br>
              <a:rPr lang="en-US" sz="3600" dirty="0"/>
            </a:br>
            <a:r>
              <a:rPr lang="en-US" sz="3600" dirty="0"/>
              <a:t>  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 rank;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Union</a:t>
            </a:r>
            <a:r>
              <a:rPr lang="en-US" dirty="0"/>
              <a:t>(</a:t>
            </a:r>
            <a:r>
              <a:rPr lang="en-US" dirty="0" err="1"/>
              <a:t>SetElement</a:t>
            </a:r>
            <a:r>
              <a:rPr lang="en-US" dirty="0"/>
              <a:t> a, </a:t>
            </a:r>
            <a:r>
              <a:rPr lang="en-US" dirty="0" err="1"/>
              <a:t>SetElement</a:t>
            </a:r>
            <a:r>
              <a:rPr lang="en-US" dirty="0"/>
              <a:t> b) </a:t>
            </a:r>
            <a:br>
              <a:rPr lang="en-US" dirty="0"/>
            </a:b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ar</a:t>
            </a:r>
            <a:r>
              <a:rPr lang="en-US" dirty="0"/>
              <a:t> = Find(a);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br</a:t>
            </a:r>
            <a:r>
              <a:rPr lang="en-US" dirty="0"/>
              <a:t> = Find(b);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   if (</a:t>
            </a:r>
            <a:r>
              <a:rPr lang="en-US" dirty="0" err="1"/>
              <a:t>ar</a:t>
            </a:r>
            <a:r>
              <a:rPr lang="en-US" dirty="0"/>
              <a:t> == </a:t>
            </a:r>
            <a:r>
              <a:rPr lang="en-US" dirty="0" err="1"/>
              <a:t>br</a:t>
            </a:r>
            <a:r>
              <a:rPr lang="en-US" dirty="0"/>
              <a:t>) return;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ar.rank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&lt;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br.rank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ar.parent</a:t>
            </a:r>
            <a:r>
              <a:rPr lang="en-US" dirty="0"/>
              <a:t> = </a:t>
            </a:r>
            <a:r>
              <a:rPr lang="en-US" dirty="0" err="1"/>
              <a:t>br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else if 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ar.rank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&gt;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br.rank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br.parent</a:t>
            </a:r>
            <a:r>
              <a:rPr lang="en-US" dirty="0"/>
              <a:t> = </a:t>
            </a:r>
            <a:r>
              <a:rPr lang="en-US" dirty="0" err="1"/>
              <a:t>ar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else {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br.parent</a:t>
            </a:r>
            <a:r>
              <a:rPr lang="en-US" dirty="0"/>
              <a:t> = </a:t>
            </a:r>
            <a:r>
              <a:rPr lang="en-US" dirty="0" err="1"/>
              <a:t>ar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ar.rank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ar.rank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+ 1;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5174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won’t prove this, but</a:t>
                </a:r>
              </a:p>
              <a:p>
                <a:r>
                  <a:rPr lang="en-US" dirty="0"/>
                  <a:t>Union by rank guarantees the trees are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balanced</a:t>
                </a:r>
              </a:p>
              <a:p>
                <a:r>
                  <a:rPr lang="en-US" dirty="0"/>
                  <a:t>So their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heights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are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𝐥𝐨𝐠</m:t>
                            </m:r>
                          </m:fName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endParaRPr lang="en-US" b="1" dirty="0"/>
              </a:p>
              <a:p>
                <a:r>
                  <a:rPr lang="en-US" dirty="0"/>
                  <a:t>And so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complexities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Union and Find are also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it turns out we can actually do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better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 r="-2370" b="-3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16322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redundant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call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Find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on the same node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twice</a:t>
            </a:r>
          </a:p>
          <a:p>
            <a:r>
              <a:rPr lang="en-US" dirty="0"/>
              <a:t>We run up the chain twice</a:t>
            </a:r>
          </a:p>
          <a:p>
            <a:r>
              <a:rPr lang="en-US" dirty="0"/>
              <a:t>Why not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cache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the original result?</a:t>
            </a:r>
          </a:p>
        </p:txBody>
      </p:sp>
    </p:spTree>
    <p:extLst>
      <p:ext uri="{BB962C8B-B14F-4D97-AF65-F5344CB8AC3E}">
        <p14:creationId xmlns:p14="http://schemas.microsoft.com/office/powerpoint/2010/main" val="16069272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Just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update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the element</a:t>
            </a:r>
          </a:p>
          <a:p>
            <a:r>
              <a:rPr lang="en-US" dirty="0"/>
              <a:t>To point directly at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</a:t>
            </a:r>
          </a:p>
          <a:p>
            <a:r>
              <a:rPr lang="en-US" dirty="0"/>
              <a:t>And while you’re at it, update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all the nodes on the path </a:t>
            </a:r>
            <a:r>
              <a:rPr lang="en-US" dirty="0"/>
              <a:t>to the representative too!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Find</a:t>
            </a:r>
            <a:r>
              <a:rPr lang="en-US" dirty="0"/>
              <a:t>(</a:t>
            </a:r>
            <a:r>
              <a:rPr lang="en-US" dirty="0" err="1"/>
              <a:t>SetElement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   if (</a:t>
            </a:r>
            <a:r>
              <a:rPr lang="en-US" dirty="0" err="1"/>
              <a:t>a.parent</a:t>
            </a:r>
            <a:r>
              <a:rPr lang="en-US" dirty="0"/>
              <a:t> == null)</a:t>
            </a:r>
            <a:br>
              <a:rPr lang="en-US" dirty="0"/>
            </a:br>
            <a:r>
              <a:rPr lang="en-US" dirty="0"/>
              <a:t>      return a;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a.parent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= Find(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a.parent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);</a:t>
            </a:r>
          </a:p>
          <a:p>
            <a:pPr marL="0" indent="0">
              <a:buNone/>
            </a:pPr>
            <a:r>
              <a:rPr lang="en-US" dirty="0"/>
              <a:t>   return </a:t>
            </a:r>
            <a:r>
              <a:rPr lang="en-US" dirty="0" err="1"/>
              <a:t>a.parent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27699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bad news is that Find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still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𝐥𝐨𝐠</m:t>
                            </m:r>
                          </m:fName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in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worst case</a:t>
                </a:r>
              </a:p>
              <a:p>
                <a:endParaRPr lang="en-US" dirty="0"/>
              </a:p>
              <a:p>
                <a:r>
                  <a:rPr lang="en-US" dirty="0"/>
                  <a:t>So what’s the good news?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347376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Amortized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complexity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It’s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first time</a:t>
                </a:r>
                <a:r>
                  <a:rPr lang="en-US" dirty="0"/>
                  <a:t> you do a lookup on a node</a:t>
                </a:r>
              </a:p>
              <a:p>
                <a:r>
                  <a:rPr lang="en-US" dirty="0"/>
                  <a:t>After that, it’s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constant time</a:t>
                </a:r>
                <a:r>
                  <a:rPr lang="en-US" dirty="0"/>
                  <a:t>!</a:t>
                </a:r>
              </a:p>
              <a:p>
                <a:pPr lvl="1"/>
                <a:r>
                  <a:rPr lang="en-US" dirty="0"/>
                  <a:t>At least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until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you do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another merge</a:t>
                </a:r>
                <a:endParaRPr lang="en-US" dirty="0"/>
              </a:p>
              <a:p>
                <a:pPr>
                  <a:spcBef>
                    <a:spcPts val="1800"/>
                  </a:spcBef>
                </a:pPr>
                <a:r>
                  <a:rPr lang="en-US" dirty="0" err="1"/>
                  <a:t>Tarjan</a:t>
                </a:r>
                <a:r>
                  <a:rPr lang="en-US" dirty="0"/>
                  <a:t> proved that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amortized complexity </a:t>
                </a:r>
                <a:r>
                  <a:rPr lang="en-US" dirty="0"/>
                  <a:t>of both union and find, with union-by-rank and path compression is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𝜶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>
                  <a:spcBef>
                    <a:spcPts val="2000"/>
                  </a:spcBef>
                </a:pPr>
                <a:r>
                  <a:rPr lang="en-US" dirty="0"/>
                  <a:t>Great!  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What’s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𝜶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864869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Ackermann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Well, there’s </a:t>
                </a:r>
                <a:r>
                  <a:rPr lang="en-US" dirty="0"/>
                  <a:t>this function called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Ackermann </a:t>
                </a:r>
                <a:r>
                  <a:rPr lang="en-US" b="1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function</a:t>
                </a:r>
                <a:r>
                  <a:rPr lang="en-US" dirty="0" smtClean="0"/>
                  <a:t>…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𝐴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𝑚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+1,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000" b="0" i="0" smtClean="0">
                                    <a:latin typeface="Cambria Math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i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𝑚</m:t>
                                    </m:r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−1,1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000" b="0" i="0" smtClean="0">
                                    <a:latin typeface="Cambria Math"/>
                                  </a:rPr>
                                  <m:t>if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&gt;0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i="0" smtClean="0">
                                    <a:latin typeface="Cambria Math"/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i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𝑚</m:t>
                                    </m:r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−1, </m:t>
                                    </m:r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𝐴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/>
                                          </a:rPr>
                                          <m:t>𝑚</m:t>
                                        </m:r>
                                        <m:r>
                                          <a:rPr lang="en-US" sz="2000" b="0" i="1" smtClean="0">
                                            <a:latin typeface="Cambria Math"/>
                                          </a:rPr>
                                          <m:t>, </m:t>
                                        </m:r>
                                        <m:r>
                                          <a:rPr lang="en-US" sz="2000" b="0" i="1" smtClean="0">
                                            <a:latin typeface="Cambria Math"/>
                                          </a:rPr>
                                          <m:t>𝑛</m:t>
                                        </m:r>
                                        <m:r>
                                          <a:rPr lang="en-US" sz="2000" b="0" i="1" smtClean="0">
                                            <a:latin typeface="Cambria Math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000" b="0" i="0" smtClean="0">
                                    <a:latin typeface="Cambria Math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40380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Ackermann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Here’s Wikipedia’s table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values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for Ackermann’s function: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grows really </a:t>
            </a:r>
            <a:r>
              <a:rPr lang="en-US" dirty="0" err="1"/>
              <a:t>really</a:t>
            </a:r>
            <a:r>
              <a:rPr lang="en-US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fast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75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85" y="2590800"/>
            <a:ext cx="8060167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01251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inverse Ackermann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𝜶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inverse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It grows really </a:t>
                </a:r>
                <a:r>
                  <a:rPr lang="en-US" dirty="0" err="1"/>
                  <a:t>really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slowly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75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85" y="2819400"/>
            <a:ext cx="8060167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056458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inverse Ackermann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It grows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comically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slowly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/>
                      </a:rPr>
                      <m:t>𝜶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the</m:t>
                        </m:r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number</m:t>
                        </m:r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subatomic</m:t>
                        </m:r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particles</m:t>
                        </m:r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in</m:t>
                        </m:r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the</m:t>
                        </m:r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universe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&lt;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4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75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85" y="2819400"/>
            <a:ext cx="8060167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295400" y="6172200"/>
                <a:ext cx="57338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Estimated number of subatomic particles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80</m:t>
                        </m:r>
                      </m:sup>
                    </m:sSup>
                    <m:r>
                      <a:rPr lang="en-US" i="1">
                        <a:latin typeface="Cambria Math"/>
                        <a:ea typeface="Cambria Math"/>
                      </a:rPr>
                      <m:t>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265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6172200"/>
                <a:ext cx="573387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957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141823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inverse Ackermann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Did I mention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it grows slowly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2075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85" y="2819400"/>
            <a:ext cx="8060167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6356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inverse Ackermann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So slowly that it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might as well be constant</a:t>
            </a:r>
          </a:p>
        </p:txBody>
      </p:sp>
      <p:pic>
        <p:nvPicPr>
          <p:cNvPr id="2075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85" y="2819400"/>
            <a:ext cx="8060167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380853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Amortized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complexity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Tarjan proved that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amortized complexity </a:t>
                </a:r>
                <a:r>
                  <a:rPr lang="en-US" dirty="0"/>
                  <a:t>of both union and find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𝑂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𝛼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So for all practical purposes, it’s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dirty="0"/>
                  <a:t>That’s pretty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cool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36516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Incremental connected components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 parent and rank fields</a:t>
            </a:r>
            <a:r>
              <a:rPr lang="en-US" dirty="0"/>
              <a:t> to each node</a:t>
            </a:r>
          </a:p>
          <a:p>
            <a:r>
              <a:rPr lang="en-US" dirty="0"/>
              <a:t>Compute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representatives</a:t>
            </a:r>
          </a:p>
          <a:p>
            <a:pPr lvl="1"/>
            <a:r>
              <a:rPr lang="en-US" dirty="0"/>
              <a:t>For each edge (</a:t>
            </a:r>
            <a:r>
              <a:rPr lang="en-US" dirty="0" err="1"/>
              <a:t>u,v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Union(u, v)</a:t>
            </a:r>
          </a:p>
          <a:p>
            <a:pPr>
              <a:spcBef>
                <a:spcPts val="2000"/>
              </a:spcBef>
            </a:pPr>
            <a:r>
              <a:rPr lang="en-US" dirty="0"/>
              <a:t>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test connectivity </a:t>
            </a:r>
            <a:r>
              <a:rPr lang="en-US" dirty="0"/>
              <a:t>of two nodes, check</a:t>
            </a:r>
            <a:br>
              <a:rPr lang="en-US" dirty="0"/>
            </a:br>
            <a:r>
              <a:rPr lang="en-US" dirty="0"/>
              <a:t>    Find(u) == Find(v)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8492998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Amortized complexity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525963"/>
          </a:xfrm>
        </p:spPr>
        <p:txBody>
          <a:bodyPr>
            <a:normAutofit/>
          </a:bodyPr>
          <a:lstStyle/>
          <a:p>
            <a:r>
              <a:rPr lang="en-US" dirty="0"/>
              <a:t>For each edge (</a:t>
            </a:r>
            <a:r>
              <a:rPr lang="en-US" dirty="0" err="1"/>
              <a:t>u,v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Union(u, v)</a:t>
            </a:r>
          </a:p>
          <a:p>
            <a:pPr>
              <a:spcBef>
                <a:spcPts val="2000"/>
              </a:spcBef>
            </a:pPr>
            <a:r>
              <a:rPr lang="en-US" dirty="0"/>
              <a:t>To test whether two nodes are connected check</a:t>
            </a:r>
            <a:br>
              <a:rPr lang="en-US" dirty="0"/>
            </a:br>
            <a:r>
              <a:rPr lang="en-US" dirty="0"/>
              <a:t>    Find(u) == Find(v)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971799" y="2057400"/>
                <a:ext cx="30828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𝑶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𝜶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𝑽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𝑬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)≅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𝑶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𝑬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799" y="2057400"/>
                <a:ext cx="3082895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2133600" y="4124980"/>
                <a:ext cx="28414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𝑶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𝜶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𝑽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)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≅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𝑶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124980"/>
                <a:ext cx="284148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10866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Amortized complexity</a:t>
            </a:r>
          </a:p>
        </p:txBody>
      </p:sp>
      <p:sp>
        <p:nvSpPr>
          <p:cNvPr id="53" name="Content Placeholder 5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10278" cy="4876800"/>
          </a:xfrm>
        </p:spPr>
        <p:txBody>
          <a:bodyPr>
            <a:normAutofit/>
          </a:bodyPr>
          <a:lstStyle/>
          <a:p>
            <a:r>
              <a:rPr lang="en-US" dirty="0"/>
              <a:t>For each edge (</a:t>
            </a:r>
            <a:r>
              <a:rPr lang="en-US" dirty="0" err="1"/>
              <a:t>u,v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Union(u, v)</a:t>
            </a:r>
          </a:p>
          <a:p>
            <a:r>
              <a:rPr lang="en-US" dirty="0"/>
              <a:t>To test whether two nodes are connected check</a:t>
            </a:r>
            <a:br>
              <a:rPr lang="en-US" dirty="0"/>
            </a:br>
            <a:r>
              <a:rPr lang="en-US" dirty="0"/>
              <a:t>    Find(u) == Find(v)</a:t>
            </a:r>
          </a:p>
          <a:p>
            <a:endParaRPr lang="en-US" dirty="0"/>
          </a:p>
          <a:p>
            <a:r>
              <a:rPr lang="en-US" dirty="0"/>
              <a:t>So we can compute connected </a:t>
            </a:r>
            <a:r>
              <a:rPr lang="en-US" dirty="0" smtClean="0"/>
              <a:t>components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incrementally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and still do it in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 time</a:t>
            </a:r>
          </a:p>
        </p:txBody>
      </p:sp>
      <p:sp>
        <p:nvSpPr>
          <p:cNvPr id="29" name="Oval 28"/>
          <p:cNvSpPr/>
          <p:nvPr/>
        </p:nvSpPr>
        <p:spPr>
          <a:xfrm>
            <a:off x="6367322" y="28103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738988" y="354838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277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20257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80772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63895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cxnSp>
        <p:nvCxnSpPr>
          <p:cNvPr id="35" name="Straight Arrow Connector 34"/>
          <p:cNvCxnSpPr>
            <a:stCxn id="31" idx="5"/>
            <a:endCxn id="33" idx="1"/>
          </p:cNvCxnSpPr>
          <p:nvPr/>
        </p:nvCxnSpPr>
        <p:spPr>
          <a:xfrm>
            <a:off x="76179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7"/>
            <a:endCxn id="31" idx="3"/>
          </p:cNvCxnSpPr>
          <p:nvPr/>
        </p:nvCxnSpPr>
        <p:spPr>
          <a:xfrm flipV="1">
            <a:off x="67797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7"/>
            <a:endCxn id="29" idx="3"/>
          </p:cNvCxnSpPr>
          <p:nvPr/>
        </p:nvCxnSpPr>
        <p:spPr>
          <a:xfrm flipV="1">
            <a:off x="6129233" y="3200619"/>
            <a:ext cx="305044" cy="4147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7"/>
            <a:endCxn id="32" idx="3"/>
          </p:cNvCxnSpPr>
          <p:nvPr/>
        </p:nvCxnSpPr>
        <p:spPr>
          <a:xfrm flipV="1">
            <a:off x="6757567" y="2592819"/>
            <a:ext cx="1310388" cy="284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367322" y="159477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40" name="Straight Connector 39"/>
          <p:cNvCxnSpPr>
            <a:stCxn id="39" idx="4"/>
            <a:endCxn id="29" idx="0"/>
          </p:cNvCxnSpPr>
          <p:nvPr/>
        </p:nvCxnSpPr>
        <p:spPr>
          <a:xfrm>
            <a:off x="6595922" y="2051975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1"/>
            <a:endCxn id="39" idx="6"/>
          </p:cNvCxnSpPr>
          <p:nvPr/>
        </p:nvCxnSpPr>
        <p:spPr>
          <a:xfrm flipH="1" flipV="1">
            <a:off x="6824522" y="1823375"/>
            <a:ext cx="1243433" cy="446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223088" y="3506684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6462888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44" name="Straight Arrow Connector 43"/>
          <p:cNvCxnSpPr>
            <a:stCxn id="43" idx="7"/>
            <a:endCxn id="42" idx="3"/>
          </p:cNvCxnSpPr>
          <p:nvPr/>
        </p:nvCxnSpPr>
        <p:spPr>
          <a:xfrm flipV="1">
            <a:off x="6853133" y="3896929"/>
            <a:ext cx="436910" cy="4372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5"/>
            <a:endCxn id="43" idx="1"/>
          </p:cNvCxnSpPr>
          <p:nvPr/>
        </p:nvCxnSpPr>
        <p:spPr>
          <a:xfrm>
            <a:off x="6129233" y="3938630"/>
            <a:ext cx="400610" cy="3955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9" idx="6"/>
            <a:endCxn id="42" idx="1"/>
          </p:cNvCxnSpPr>
          <p:nvPr/>
        </p:nvCxnSpPr>
        <p:spPr>
          <a:xfrm>
            <a:off x="6824522" y="3038974"/>
            <a:ext cx="465521" cy="53466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761177" y="4953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8" name="Straight Arrow Connector 47"/>
          <p:cNvCxnSpPr>
            <a:stCxn id="34" idx="1"/>
            <a:endCxn id="47" idx="5"/>
          </p:cNvCxnSpPr>
          <p:nvPr/>
        </p:nvCxnSpPr>
        <p:spPr>
          <a:xfrm flipH="1" flipV="1">
            <a:off x="6151422" y="5343245"/>
            <a:ext cx="305044" cy="7866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1" idx="2"/>
            <a:endCxn id="47" idx="6"/>
          </p:cNvCxnSpPr>
          <p:nvPr/>
        </p:nvCxnSpPr>
        <p:spPr>
          <a:xfrm flipH="1">
            <a:off x="6218377" y="5180335"/>
            <a:ext cx="1009334" cy="1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86973" y="4990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Oval 50"/>
          <p:cNvSpPr/>
          <p:nvPr/>
        </p:nvSpPr>
        <p:spPr>
          <a:xfrm>
            <a:off x="4922977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948773" y="5980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971799" y="2057400"/>
                <a:ext cx="30828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𝑶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𝜶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𝑽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𝑬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)≅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𝑶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𝑬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799" y="2057400"/>
                <a:ext cx="3082895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2667000" y="3896929"/>
                <a:ext cx="28414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𝑶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𝜶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𝑽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)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≅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𝑶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896929"/>
                <a:ext cx="2841483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059620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Oh crap!  I don’t understand the Ackermann function at all!  Do I need to know this for the quiz??!?!?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endParaRPr lang="en-US" dirty="0"/>
              </a:p>
              <a:p>
                <a:r>
                  <a:rPr lang="en-US" dirty="0"/>
                  <a:t>No; not for Q2 at all</a:t>
                </a:r>
              </a:p>
              <a:p>
                <a:r>
                  <a:rPr lang="en-US"/>
                  <a:t>For Q3, you </a:t>
                </a:r>
                <a:r>
                  <a:rPr lang="en-US" dirty="0"/>
                  <a:t>just need to understand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union-find algorithm </a:t>
                </a:r>
                <a:r>
                  <a:rPr lang="en-US" dirty="0"/>
                  <a:t>with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union by rank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and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path compression</a:t>
                </a:r>
              </a:p>
              <a:p>
                <a:pPr lvl="1"/>
                <a:r>
                  <a:rPr lang="en-US" dirty="0"/>
                  <a:t>That it’s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effectively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amortized time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Why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you might want to keep track of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partitions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on a set</a:t>
                </a:r>
              </a:p>
              <a:p>
                <a:pPr lvl="2"/>
                <a:r>
                  <a:rPr lang="en-US" dirty="0"/>
                  <a:t>E.g. to compute connected components or equivalence classes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24484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Chapter 21, sections 1-3</a:t>
            </a:r>
          </a:p>
        </p:txBody>
      </p:sp>
    </p:spTree>
    <p:extLst>
      <p:ext uri="{BB962C8B-B14F-4D97-AF65-F5344CB8AC3E}">
        <p14:creationId xmlns:p14="http://schemas.microsoft.com/office/powerpoint/2010/main" val="1223417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9282</TotalTime>
  <Words>2744</Words>
  <Application>Microsoft Office PowerPoint</Application>
  <PresentationFormat>On-screen Show (4:3)</PresentationFormat>
  <Paragraphs>1387</Paragraphs>
  <Slides>89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4" baseType="lpstr">
      <vt:lpstr>Arial</vt:lpstr>
      <vt:lpstr>Calibri</vt:lpstr>
      <vt:lpstr>Cambria Math</vt:lpstr>
      <vt:lpstr>Verdana</vt:lpstr>
      <vt:lpstr>Office Theme</vt:lpstr>
      <vt:lpstr>Lecture 18 Dynamic set partitions and the union-find algorithm</vt:lpstr>
      <vt:lpstr>Set partitions</vt:lpstr>
      <vt:lpstr>Set partitions</vt:lpstr>
      <vt:lpstr>Set partitions</vt:lpstr>
      <vt:lpstr>Set partitions</vt:lpstr>
      <vt:lpstr>Partitions and equivalence relations</vt:lpstr>
      <vt:lpstr>Connected components</vt:lpstr>
      <vt:lpstr>Connected components</vt:lpstr>
      <vt:lpstr>Connected component analysis using depth-first search</vt:lpstr>
      <vt:lpstr>Connected component analysis using depth-first search</vt:lpstr>
      <vt:lpstr>Connected component analysis using depth-first search</vt:lpstr>
      <vt:lpstr>Connected component analysis using depth-first search</vt:lpstr>
      <vt:lpstr>Connected component analysis using depth-first search</vt:lpstr>
      <vt:lpstr>Connected component analysis using depth-first search</vt:lpstr>
      <vt:lpstr>Connected component analysis using depth-first search</vt:lpstr>
      <vt:lpstr>Connected component analysis using depth-first search</vt:lpstr>
      <vt:lpstr>Connected component analysis using depth-first search</vt:lpstr>
      <vt:lpstr>Connected component analysis using depth-first search</vt:lpstr>
      <vt:lpstr>Connected component analysis using depth-first search</vt:lpstr>
      <vt:lpstr>Connected component analysis using depth-first search</vt:lpstr>
      <vt:lpstr>Connected component analysis using depth-first search</vt:lpstr>
      <vt:lpstr>Connected component analysis using depth-first search</vt:lpstr>
      <vt:lpstr>Connected component analysis using depth-first search</vt:lpstr>
      <vt:lpstr>Connected component analysis using depth-first search</vt:lpstr>
      <vt:lpstr>Connected component analysis using depth-first search</vt:lpstr>
      <vt:lpstr>Connected component analysis using depth-first search</vt:lpstr>
      <vt:lpstr>Connected component analysis using depth-first search</vt:lpstr>
      <vt:lpstr>Testing if two nodes are connected</vt:lpstr>
      <vt:lpstr>Testing if two nodes are connected</vt:lpstr>
      <vt:lpstr>Testing if two nodes are connected</vt:lpstr>
      <vt:lpstr>Dynamic set partition algorithms</vt:lpstr>
      <vt:lpstr>Dynamic set partition algorithms</vt:lpstr>
      <vt:lpstr>Dynamic set partition algorithms</vt:lpstr>
      <vt:lpstr>Dynamic set partition algorithms</vt:lpstr>
      <vt:lpstr>Computing connected components</vt:lpstr>
      <vt:lpstr>Computing connected components</vt:lpstr>
      <vt:lpstr>Computing connected components</vt:lpstr>
      <vt:lpstr>Computing connected components</vt:lpstr>
      <vt:lpstr>Computing connected components</vt:lpstr>
      <vt:lpstr>Computing connected components</vt:lpstr>
      <vt:lpstr>Computing connected components</vt:lpstr>
      <vt:lpstr>Computing connected components</vt:lpstr>
      <vt:lpstr>Computing connected components</vt:lpstr>
      <vt:lpstr>Computing connected components</vt:lpstr>
      <vt:lpstr>Computing connected components</vt:lpstr>
      <vt:lpstr>Computing connected components</vt:lpstr>
      <vt:lpstr>Computing connected components</vt:lpstr>
      <vt:lpstr>Computing connected components</vt:lpstr>
      <vt:lpstr>Computing connected components</vt:lpstr>
      <vt:lpstr>Computing connected components</vt:lpstr>
      <vt:lpstr>Computing connected components</vt:lpstr>
      <vt:lpstr>Computing connected components</vt:lpstr>
      <vt:lpstr>Computing connected components</vt:lpstr>
      <vt:lpstr>Computing connected components</vt:lpstr>
      <vt:lpstr>The union-find algorithm</vt:lpstr>
      <vt:lpstr>The union-find algorithm</vt:lpstr>
      <vt:lpstr>The union-find algorithm</vt:lpstr>
      <vt:lpstr>The union-find algorithm</vt:lpstr>
      <vt:lpstr>The union-find algorithm</vt:lpstr>
      <vt:lpstr>The union-find algorithm</vt:lpstr>
      <vt:lpstr>The union-find algorithm</vt:lpstr>
      <vt:lpstr>The union-find algorithm</vt:lpstr>
      <vt:lpstr>The union-find algorithm</vt:lpstr>
      <vt:lpstr>The union-find algorithm</vt:lpstr>
      <vt:lpstr>The union-find algorithm</vt:lpstr>
      <vt:lpstr>The union-find algorithm (slow version)</vt:lpstr>
      <vt:lpstr>Complexity analysis</vt:lpstr>
      <vt:lpstr>Complexity analysis</vt:lpstr>
      <vt:lpstr>Complexity analysis</vt:lpstr>
      <vt:lpstr>How do we make it better?</vt:lpstr>
      <vt:lpstr>How do we make it better?</vt:lpstr>
      <vt:lpstr>Union by rank (height)</vt:lpstr>
      <vt:lpstr>Complexity</vt:lpstr>
      <vt:lpstr>Saving redundant work</vt:lpstr>
      <vt:lpstr>Path compression</vt:lpstr>
      <vt:lpstr>Complexity analysis</vt:lpstr>
      <vt:lpstr>Amortized complexity analysis</vt:lpstr>
      <vt:lpstr>The Ackermann function</vt:lpstr>
      <vt:lpstr>The Ackermann function</vt:lpstr>
      <vt:lpstr>The inverse Ackermann function</vt:lpstr>
      <vt:lpstr>The inverse Ackermann function</vt:lpstr>
      <vt:lpstr>The inverse Ackermann function</vt:lpstr>
      <vt:lpstr>The inverse Ackermann function</vt:lpstr>
      <vt:lpstr>Amortized complexity analysis</vt:lpstr>
      <vt:lpstr>Incremental connected components</vt:lpstr>
      <vt:lpstr>Amortized complexity</vt:lpstr>
      <vt:lpstr>Amortized complexity</vt:lpstr>
      <vt:lpstr>Oh crap!  I don’t understand the Ackermann function at all!  Do I need to know this for the quiz??!?!?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Structures and Algorithms</dc:title>
  <dc:creator>Ian Horswill</dc:creator>
  <cp:lastModifiedBy>Ian Horswill</cp:lastModifiedBy>
  <cp:revision>380</cp:revision>
  <cp:lastPrinted>2011-06-01T06:01:26Z</cp:lastPrinted>
  <dcterms:created xsi:type="dcterms:W3CDTF">2010-03-27T22:31:10Z</dcterms:created>
  <dcterms:modified xsi:type="dcterms:W3CDTF">2019-06-05T17:50:40Z</dcterms:modified>
</cp:coreProperties>
</file>