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43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95" r:id="rId20"/>
    <p:sldId id="289" r:id="rId21"/>
    <p:sldId id="290" r:id="rId22"/>
    <p:sldId id="291" r:id="rId23"/>
    <p:sldId id="292" r:id="rId24"/>
    <p:sldId id="293" r:id="rId25"/>
    <p:sldId id="294" r:id="rId26"/>
    <p:sldId id="296" r:id="rId27"/>
    <p:sldId id="297" r:id="rId28"/>
    <p:sldId id="298" r:id="rId29"/>
    <p:sldId id="299" r:id="rId30"/>
    <p:sldId id="304" r:id="rId31"/>
    <p:sldId id="303" r:id="rId32"/>
    <p:sldId id="305" r:id="rId33"/>
    <p:sldId id="306" r:id="rId34"/>
    <p:sldId id="307" r:id="rId35"/>
    <p:sldId id="308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09" r:id="rId51"/>
    <p:sldId id="332" r:id="rId52"/>
    <p:sldId id="333" r:id="rId53"/>
    <p:sldId id="310" r:id="rId54"/>
    <p:sldId id="327" r:id="rId55"/>
    <p:sldId id="325" r:id="rId56"/>
    <p:sldId id="326" r:id="rId57"/>
    <p:sldId id="328" r:id="rId58"/>
    <p:sldId id="330" r:id="rId59"/>
    <p:sldId id="329" r:id="rId60"/>
    <p:sldId id="331" r:id="rId61"/>
    <p:sldId id="334" r:id="rId62"/>
    <p:sldId id="335" r:id="rId63"/>
    <p:sldId id="336" r:id="rId64"/>
    <p:sldId id="338" r:id="rId65"/>
    <p:sldId id="339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347" r:id="rId74"/>
    <p:sldId id="348" r:id="rId75"/>
    <p:sldId id="349" r:id="rId76"/>
    <p:sldId id="350" r:id="rId77"/>
    <p:sldId id="351" r:id="rId78"/>
    <p:sldId id="352" r:id="rId79"/>
    <p:sldId id="353" r:id="rId80"/>
    <p:sldId id="354" r:id="rId81"/>
    <p:sldId id="355" r:id="rId82"/>
    <p:sldId id="356" r:id="rId83"/>
    <p:sldId id="357" r:id="rId84"/>
    <p:sldId id="358" r:id="rId85"/>
    <p:sldId id="359" r:id="rId86"/>
    <p:sldId id="360" r:id="rId87"/>
    <p:sldId id="361" r:id="rId88"/>
    <p:sldId id="362" r:id="rId89"/>
    <p:sldId id="363" r:id="rId90"/>
    <p:sldId id="364" r:id="rId91"/>
    <p:sldId id="365" r:id="rId92"/>
    <p:sldId id="366" r:id="rId93"/>
    <p:sldId id="367" r:id="rId94"/>
    <p:sldId id="368" r:id="rId95"/>
    <p:sldId id="369" r:id="rId96"/>
    <p:sldId id="370" r:id="rId97"/>
    <p:sldId id="371" r:id="rId98"/>
    <p:sldId id="372" r:id="rId99"/>
    <p:sldId id="373" r:id="rId100"/>
    <p:sldId id="374" r:id="rId101"/>
    <p:sldId id="375" r:id="rId102"/>
    <p:sldId id="376" r:id="rId103"/>
    <p:sldId id="377" r:id="rId104"/>
    <p:sldId id="378" r:id="rId105"/>
    <p:sldId id="379" r:id="rId106"/>
    <p:sldId id="380" r:id="rId107"/>
    <p:sldId id="381" r:id="rId108"/>
    <p:sldId id="382" r:id="rId109"/>
    <p:sldId id="383" r:id="rId110"/>
    <p:sldId id="385" r:id="rId111"/>
    <p:sldId id="386" r:id="rId112"/>
    <p:sldId id="387" r:id="rId113"/>
    <p:sldId id="388" r:id="rId114"/>
    <p:sldId id="389" r:id="rId115"/>
    <p:sldId id="391" r:id="rId116"/>
    <p:sldId id="525" r:id="rId117"/>
    <p:sldId id="392" r:id="rId118"/>
    <p:sldId id="393" r:id="rId119"/>
    <p:sldId id="394" r:id="rId120"/>
    <p:sldId id="390" r:id="rId121"/>
    <p:sldId id="395" r:id="rId122"/>
    <p:sldId id="302" r:id="rId123"/>
    <p:sldId id="396" r:id="rId124"/>
    <p:sldId id="398" r:id="rId125"/>
    <p:sldId id="399" r:id="rId126"/>
    <p:sldId id="400" r:id="rId127"/>
    <p:sldId id="401" r:id="rId128"/>
    <p:sldId id="402" r:id="rId129"/>
    <p:sldId id="403" r:id="rId130"/>
    <p:sldId id="406" r:id="rId131"/>
    <p:sldId id="404" r:id="rId132"/>
    <p:sldId id="476" r:id="rId133"/>
    <p:sldId id="477" r:id="rId134"/>
    <p:sldId id="405" r:id="rId135"/>
    <p:sldId id="407" r:id="rId136"/>
    <p:sldId id="408" r:id="rId137"/>
    <p:sldId id="409" r:id="rId138"/>
    <p:sldId id="410" r:id="rId139"/>
    <p:sldId id="411" r:id="rId140"/>
    <p:sldId id="412" r:id="rId141"/>
    <p:sldId id="478" r:id="rId142"/>
    <p:sldId id="414" r:id="rId143"/>
    <p:sldId id="415" r:id="rId144"/>
    <p:sldId id="416" r:id="rId145"/>
    <p:sldId id="417" r:id="rId146"/>
    <p:sldId id="418" r:id="rId147"/>
    <p:sldId id="419" r:id="rId148"/>
    <p:sldId id="420" r:id="rId149"/>
    <p:sldId id="421" r:id="rId150"/>
    <p:sldId id="422" r:id="rId151"/>
    <p:sldId id="423" r:id="rId152"/>
    <p:sldId id="424" r:id="rId153"/>
    <p:sldId id="505" r:id="rId154"/>
    <p:sldId id="506" r:id="rId155"/>
    <p:sldId id="507" r:id="rId156"/>
    <p:sldId id="508" r:id="rId157"/>
    <p:sldId id="485" r:id="rId158"/>
    <p:sldId id="486" r:id="rId159"/>
    <p:sldId id="487" r:id="rId160"/>
    <p:sldId id="490" r:id="rId161"/>
    <p:sldId id="488" r:id="rId162"/>
    <p:sldId id="491" r:id="rId163"/>
    <p:sldId id="492" r:id="rId164"/>
    <p:sldId id="493" r:id="rId165"/>
    <p:sldId id="494" r:id="rId166"/>
    <p:sldId id="495" r:id="rId167"/>
    <p:sldId id="496" r:id="rId168"/>
    <p:sldId id="497" r:id="rId169"/>
    <p:sldId id="498" r:id="rId170"/>
    <p:sldId id="499" r:id="rId171"/>
    <p:sldId id="500" r:id="rId172"/>
    <p:sldId id="501" r:id="rId173"/>
    <p:sldId id="502" r:id="rId174"/>
    <p:sldId id="503" r:id="rId175"/>
    <p:sldId id="504" r:id="rId176"/>
    <p:sldId id="509" r:id="rId177"/>
    <p:sldId id="511" r:id="rId178"/>
    <p:sldId id="510" r:id="rId179"/>
    <p:sldId id="512" r:id="rId180"/>
    <p:sldId id="513" r:id="rId181"/>
    <p:sldId id="514" r:id="rId182"/>
    <p:sldId id="515" r:id="rId183"/>
    <p:sldId id="516" r:id="rId184"/>
    <p:sldId id="517" r:id="rId185"/>
    <p:sldId id="518" r:id="rId186"/>
    <p:sldId id="519" r:id="rId187"/>
    <p:sldId id="520" r:id="rId188"/>
    <p:sldId id="521" r:id="rId189"/>
    <p:sldId id="522" r:id="rId190"/>
    <p:sldId id="523" r:id="rId191"/>
    <p:sldId id="524" r:id="rId192"/>
    <p:sldId id="425" r:id="rId193"/>
    <p:sldId id="427" r:id="rId194"/>
    <p:sldId id="426" r:id="rId195"/>
    <p:sldId id="428" r:id="rId196"/>
    <p:sldId id="429" r:id="rId197"/>
    <p:sldId id="430" r:id="rId198"/>
    <p:sldId id="431" r:id="rId199"/>
    <p:sldId id="432" r:id="rId200"/>
    <p:sldId id="433" r:id="rId201"/>
    <p:sldId id="434" r:id="rId202"/>
    <p:sldId id="435" r:id="rId203"/>
    <p:sldId id="436" r:id="rId204"/>
    <p:sldId id="437" r:id="rId205"/>
    <p:sldId id="438" r:id="rId206"/>
    <p:sldId id="440" r:id="rId207"/>
    <p:sldId id="441" r:id="rId208"/>
    <p:sldId id="442" r:id="rId209"/>
    <p:sldId id="443" r:id="rId210"/>
    <p:sldId id="444" r:id="rId211"/>
    <p:sldId id="445" r:id="rId212"/>
    <p:sldId id="453" r:id="rId213"/>
    <p:sldId id="455" r:id="rId214"/>
    <p:sldId id="454" r:id="rId215"/>
    <p:sldId id="456" r:id="rId216"/>
    <p:sldId id="457" r:id="rId217"/>
    <p:sldId id="458" r:id="rId218"/>
    <p:sldId id="459" r:id="rId219"/>
    <p:sldId id="460" r:id="rId220"/>
    <p:sldId id="461" r:id="rId221"/>
    <p:sldId id="462" r:id="rId222"/>
    <p:sldId id="463" r:id="rId223"/>
    <p:sldId id="464" r:id="rId224"/>
    <p:sldId id="465" r:id="rId225"/>
    <p:sldId id="466" r:id="rId226"/>
    <p:sldId id="467" r:id="rId227"/>
    <p:sldId id="468" r:id="rId228"/>
    <p:sldId id="469" r:id="rId229"/>
    <p:sldId id="471" r:id="rId230"/>
    <p:sldId id="470" r:id="rId231"/>
    <p:sldId id="472" r:id="rId232"/>
    <p:sldId id="473" r:id="rId233"/>
    <p:sldId id="474" r:id="rId234"/>
    <p:sldId id="475" r:id="rId235"/>
    <p:sldId id="480" r:id="rId236"/>
    <p:sldId id="481" r:id="rId237"/>
    <p:sldId id="482" r:id="rId238"/>
    <p:sldId id="483" r:id="rId239"/>
    <p:sldId id="484" r:id="rId240"/>
    <p:sldId id="526" r:id="rId241"/>
    <p:sldId id="271" r:id="rId24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58" autoAdjust="0"/>
    <p:restoredTop sz="86376" autoAdjust="0"/>
  </p:normalViewPr>
  <p:slideViewPr>
    <p:cSldViewPr>
      <p:cViewPr varScale="1">
        <p:scale>
          <a:sx n="91" d="100"/>
          <a:sy n="91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7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8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microsoft.com/office/2015/10/relationships/revisionInfo" Target="revisionInfo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theme" Target="theme/theme1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C1D8E2-5726-4B5F-A455-3FCFDC67DC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681918D-2DDB-4C7A-95BE-B58B1B7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1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Lecture 12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Graphs and graph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Informally,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graph</a:t>
            </a:r>
            <a:r>
              <a:rPr lang="en-US" b="1" dirty="0"/>
              <a:t> </a:t>
            </a:r>
            <a:r>
              <a:rPr lang="en-US" dirty="0"/>
              <a:t>is a network of objects connected by lines or arrows</a:t>
            </a:r>
          </a:p>
          <a:p>
            <a:endParaRPr lang="en-US" dirty="0"/>
          </a:p>
          <a:p>
            <a:r>
              <a:rPr lang="en-US" dirty="0"/>
              <a:t>The objects are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vertices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and the lines are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edges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56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Formally,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directed graph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digraph</a:t>
                </a:r>
                <a:r>
                  <a:rPr lang="en-US" dirty="0"/>
                  <a:t>) is a pair,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the set of vertices of the graph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⊆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×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the set of edges of the graph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the graph has an edge (arrow)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715" t="-2156" r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172200"/>
            <a:ext cx="622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you can also think of a digraph as a relation on the vertices</a:t>
            </a:r>
          </a:p>
        </p:txBody>
      </p:sp>
    </p:spTree>
    <p:extLst>
      <p:ext uri="{BB962C8B-B14F-4D97-AF65-F5344CB8AC3E}">
        <p14:creationId xmlns:p14="http://schemas.microsoft.com/office/powerpoint/2010/main" val="379044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undirected graph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is the same except that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is a set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two-element subsets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rather than a set of pairs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}∈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the graph has an edge (line)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Undirected graphs don’t distinguish between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Hence they’re drawn with lines rather than arrows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1" t="-2291" r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172200"/>
            <a:ext cx="8275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you can also think of an undirected graph as a symmetric relation on the vertices</a:t>
            </a:r>
          </a:p>
        </p:txBody>
      </p:sp>
    </p:spTree>
    <p:extLst>
      <p:ext uri="{BB962C8B-B14F-4D97-AF65-F5344CB8AC3E}">
        <p14:creationId xmlns:p14="http://schemas.microsoft.com/office/powerpoint/2010/main" val="174455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Subgraphs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subgraph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just a subset of the vertices and/or edges of some other graph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Subgraphs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subgraph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just a subset of the vertices and/or edges of some other graph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52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Subgraphs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subgraph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just a subset of the vertices and/or edges of some other graph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49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Subgraphs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subgraph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just a subset of the vertices and/or edges of some other graph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0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vertices linked by an edge are said to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adjacent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06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path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is a series of adjacent vertices that doesn’t repeat the same vertex</a:t>
            </a:r>
          </a:p>
          <a:p>
            <a:pPr lvl="1"/>
            <a:r>
              <a:rPr lang="en-US" dirty="0"/>
              <a:t>For a directed graph, the path has to follow the direction of the edges</a:t>
            </a:r>
          </a:p>
          <a:p>
            <a:endParaRPr lang="en-US" dirty="0"/>
          </a:p>
          <a:p>
            <a:r>
              <a:rPr lang="en-US" dirty="0"/>
              <a:t>Two vertices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connected</a:t>
            </a:r>
            <a:r>
              <a:rPr lang="en-US" dirty="0"/>
              <a:t>, if there is a path between them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089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graph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connected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if every vertex in the graph is connected to every other vertex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5"/>
            <a:endCxn id="9" idx="1"/>
          </p:cNvCxnSpPr>
          <p:nvPr/>
        </p:nvCxnSpPr>
        <p:spPr>
          <a:xfrm>
            <a:off x="6238911" y="3466467"/>
            <a:ext cx="742489" cy="867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76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all graphs are connected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98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all graphs are connected</a:t>
            </a:r>
          </a:p>
          <a:p>
            <a:endParaRPr lang="en-US" dirty="0"/>
          </a:p>
          <a:p>
            <a:r>
              <a:rPr lang="en-US" dirty="0"/>
              <a:t>The connected components of a graph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subgraphs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graph you can form that are themselves connected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43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is a path that starts and ends with the same vertex</a:t>
            </a:r>
          </a:p>
          <a:p>
            <a:pPr lvl="1"/>
            <a:r>
              <a:rPr lang="en-US" dirty="0"/>
              <a:t>(Okay, I know we said paths can’t repeat the same vertex, but we’ll allow the first and the last to be the same)</a:t>
            </a:r>
          </a:p>
          <a:p>
            <a:pPr lvl="1"/>
            <a:endParaRPr lang="en-US" dirty="0"/>
          </a:p>
          <a:p>
            <a:r>
              <a:rPr lang="en-US" dirty="0"/>
              <a:t>A graph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cyclic</a:t>
            </a:r>
            <a:r>
              <a:rPr lang="en-US" b="1" dirty="0"/>
              <a:t> </a:t>
            </a:r>
            <a:r>
              <a:rPr lang="en-US" dirty="0"/>
              <a:t>if it contains at least one cycle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stCxn id="8" idx="5"/>
            <a:endCxn id="9" idx="1"/>
          </p:cNvCxnSpPr>
          <p:nvPr/>
        </p:nvCxnSpPr>
        <p:spPr>
          <a:xfrm>
            <a:off x="6238911" y="3466467"/>
            <a:ext cx="742489" cy="867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929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is a path that starts and ends with the same vertex</a:t>
            </a:r>
          </a:p>
          <a:p>
            <a:pPr lvl="1"/>
            <a:r>
              <a:rPr lang="en-US" dirty="0"/>
              <a:t>(Okay, I know we said paths can’t repeat the same vertex, but we’ll allow the first and the last to be the same)</a:t>
            </a:r>
          </a:p>
          <a:p>
            <a:pPr lvl="1"/>
            <a:endParaRPr lang="en-US" dirty="0"/>
          </a:p>
          <a:p>
            <a:r>
              <a:rPr lang="en-US" dirty="0"/>
              <a:t>A graph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cyclic </a:t>
            </a:r>
            <a:r>
              <a:rPr lang="en-US" dirty="0"/>
              <a:t>if it contains at least one cycle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(This graph has 2 cycles)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stCxn id="8" idx="5"/>
            <a:endCxn id="9" idx="1"/>
          </p:cNvCxnSpPr>
          <p:nvPr/>
        </p:nvCxnSpPr>
        <p:spPr>
          <a:xfrm>
            <a:off x="6238911" y="3466467"/>
            <a:ext cx="742489" cy="8676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4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tree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a graph in which any pair of nodes has exactly one path between them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194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representation</a:t>
            </a:r>
            <a:r>
              <a:rPr lang="en-US" baseline="0" dirty="0"/>
              <a:t> of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tree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 is an object</a:t>
            </a:r>
          </a:p>
          <a:p>
            <a:pPr lvl="1"/>
            <a:r>
              <a:rPr lang="en-US" dirty="0"/>
              <a:t>(Red circles)</a:t>
            </a:r>
          </a:p>
          <a:p>
            <a:endParaRPr lang="en-US" dirty="0"/>
          </a:p>
          <a:p>
            <a:r>
              <a:rPr lang="en-US" dirty="0"/>
              <a:t>Each node object contains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</a:p>
          <a:p>
            <a:pPr lvl="2"/>
            <a:r>
              <a:rPr lang="en-US" dirty="0"/>
              <a:t>(Upward arrows)</a:t>
            </a:r>
          </a:p>
          <a:p>
            <a:pPr lvl="1"/>
            <a:r>
              <a:rPr lang="en-US" dirty="0" smtClean="0"/>
              <a:t>Set </a:t>
            </a:r>
            <a:r>
              <a:rPr lang="en-US" dirty="0"/>
              <a:t>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children</a:t>
            </a:r>
          </a:p>
          <a:p>
            <a:pPr lvl="2"/>
            <a:r>
              <a:rPr lang="en-US" dirty="0"/>
              <a:t>(Grey boxes)</a:t>
            </a:r>
          </a:p>
          <a:p>
            <a:pPr lvl="2"/>
            <a:r>
              <a:rPr lang="en-US" dirty="0"/>
              <a:t>linked list, array, whatever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Anything else </a:t>
            </a:r>
            <a:r>
              <a:rPr lang="en-US" dirty="0"/>
              <a:t>you want to remember about the node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2"/>
            <a:endCxn id="61" idx="0"/>
          </p:cNvCxnSpPr>
          <p:nvPr/>
        </p:nvCxnSpPr>
        <p:spPr>
          <a:xfrm rot="10800000" flipV="1">
            <a:off x="5635336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0"/>
            <a:endCxn id="5" idx="3"/>
          </p:cNvCxnSpPr>
          <p:nvPr/>
        </p:nvCxnSpPr>
        <p:spPr>
          <a:xfrm flipV="1">
            <a:off x="6587836" y="2192104"/>
            <a:ext cx="703496" cy="13546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5" idx="5"/>
          </p:cNvCxnSpPr>
          <p:nvPr/>
        </p:nvCxnSpPr>
        <p:spPr>
          <a:xfrm flipH="1" flipV="1">
            <a:off x="7560740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  <a:endCxn id="10" idx="3"/>
          </p:cNvCxnSpPr>
          <p:nvPr/>
        </p:nvCxnSpPr>
        <p:spPr>
          <a:xfrm flipV="1">
            <a:off x="6044046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0"/>
            <a:endCxn id="10" idx="5"/>
          </p:cNvCxnSpPr>
          <p:nvPr/>
        </p:nvCxnSpPr>
        <p:spPr>
          <a:xfrm flipH="1" flipV="1">
            <a:off x="6722540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0"/>
            <a:endCxn id="9" idx="4"/>
          </p:cNvCxnSpPr>
          <p:nvPr/>
        </p:nvCxnSpPr>
        <p:spPr>
          <a:xfrm flipH="1" flipV="1">
            <a:off x="8111836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2"/>
            <a:endCxn id="78" idx="0"/>
          </p:cNvCxnSpPr>
          <p:nvPr/>
        </p:nvCxnSpPr>
        <p:spPr>
          <a:xfrm rot="10800000" flipV="1">
            <a:off x="5579540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  <a:endCxn id="87" idx="0"/>
          </p:cNvCxnSpPr>
          <p:nvPr/>
        </p:nvCxnSpPr>
        <p:spPr>
          <a:xfrm rot="10800000" flipV="1">
            <a:off x="7432316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1336" y="2558534"/>
            <a:ext cx="98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29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877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5940136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</p:cNvCxnSpPr>
          <p:nvPr/>
        </p:nvCxnSpPr>
        <p:spPr>
          <a:xfrm>
            <a:off x="5635336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11336" y="4375666"/>
            <a:ext cx="107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271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57319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Elbow Connector 79"/>
          <p:cNvCxnSpPr>
            <a:stCxn id="79" idx="2"/>
            <a:endCxn id="7" idx="1"/>
          </p:cNvCxnSpPr>
          <p:nvPr/>
        </p:nvCxnSpPr>
        <p:spPr>
          <a:xfrm>
            <a:off x="5884339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1"/>
          </p:cNvCxnSpPr>
          <p:nvPr/>
        </p:nvCxnSpPr>
        <p:spPr>
          <a:xfrm>
            <a:off x="5579539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279915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1"/>
          </p:cNvCxnSpPr>
          <p:nvPr/>
        </p:nvCxnSpPr>
        <p:spPr>
          <a:xfrm>
            <a:off x="7432315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93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2"/>
            <a:r>
              <a:rPr lang="en-US" dirty="0"/>
              <a:t>So there aren’t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parent/child relationships 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2"/>
            <a:endCxn id="61" idx="0"/>
          </p:cNvCxnSpPr>
          <p:nvPr/>
        </p:nvCxnSpPr>
        <p:spPr>
          <a:xfrm rot="10800000" flipV="1">
            <a:off x="5635336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0"/>
            <a:endCxn id="5" idx="3"/>
          </p:cNvCxnSpPr>
          <p:nvPr/>
        </p:nvCxnSpPr>
        <p:spPr>
          <a:xfrm flipV="1">
            <a:off x="6587836" y="2192104"/>
            <a:ext cx="703496" cy="13546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5" idx="5"/>
          </p:cNvCxnSpPr>
          <p:nvPr/>
        </p:nvCxnSpPr>
        <p:spPr>
          <a:xfrm flipH="1" flipV="1">
            <a:off x="7560740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  <a:endCxn id="10" idx="3"/>
          </p:cNvCxnSpPr>
          <p:nvPr/>
        </p:nvCxnSpPr>
        <p:spPr>
          <a:xfrm flipV="1">
            <a:off x="6044046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0"/>
            <a:endCxn id="10" idx="5"/>
          </p:cNvCxnSpPr>
          <p:nvPr/>
        </p:nvCxnSpPr>
        <p:spPr>
          <a:xfrm flipH="1" flipV="1">
            <a:off x="6722540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0"/>
            <a:endCxn id="9" idx="4"/>
          </p:cNvCxnSpPr>
          <p:nvPr/>
        </p:nvCxnSpPr>
        <p:spPr>
          <a:xfrm flipH="1" flipV="1">
            <a:off x="8111836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2"/>
            <a:endCxn id="78" idx="0"/>
          </p:cNvCxnSpPr>
          <p:nvPr/>
        </p:nvCxnSpPr>
        <p:spPr>
          <a:xfrm rot="10800000" flipV="1">
            <a:off x="5579540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  <a:endCxn id="87" idx="0"/>
          </p:cNvCxnSpPr>
          <p:nvPr/>
        </p:nvCxnSpPr>
        <p:spPr>
          <a:xfrm rot="10800000" flipV="1">
            <a:off x="7432316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1336" y="2558534"/>
            <a:ext cx="98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29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877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5940136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</p:cNvCxnSpPr>
          <p:nvPr/>
        </p:nvCxnSpPr>
        <p:spPr>
          <a:xfrm>
            <a:off x="5635336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11336" y="4375666"/>
            <a:ext cx="107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271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57319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Elbow Connector 79"/>
          <p:cNvCxnSpPr>
            <a:stCxn id="79" idx="2"/>
            <a:endCxn id="7" idx="1"/>
          </p:cNvCxnSpPr>
          <p:nvPr/>
        </p:nvCxnSpPr>
        <p:spPr>
          <a:xfrm>
            <a:off x="5884339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1"/>
          </p:cNvCxnSpPr>
          <p:nvPr/>
        </p:nvCxnSpPr>
        <p:spPr>
          <a:xfrm>
            <a:off x="5579539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279915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1"/>
          </p:cNvCxnSpPr>
          <p:nvPr/>
        </p:nvCxnSpPr>
        <p:spPr>
          <a:xfrm>
            <a:off x="7432315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93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2"/>
            <a:r>
              <a:rPr lang="en-US" dirty="0"/>
              <a:t>So there aren’t parent/child relationships </a:t>
            </a:r>
          </a:p>
          <a:p>
            <a:pPr lvl="2"/>
            <a:r>
              <a:rPr lang="en-US" dirty="0"/>
              <a:t>Just “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adjacency</a:t>
            </a:r>
            <a:r>
              <a:rPr lang="en-US" dirty="0"/>
              <a:t>” relationships, i.e. whether two nodes are connected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2"/>
            <a:endCxn id="61" idx="0"/>
          </p:cNvCxnSpPr>
          <p:nvPr/>
        </p:nvCxnSpPr>
        <p:spPr>
          <a:xfrm rot="10800000" flipV="1">
            <a:off x="5635336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0"/>
            <a:endCxn id="5" idx="3"/>
          </p:cNvCxnSpPr>
          <p:nvPr/>
        </p:nvCxnSpPr>
        <p:spPr>
          <a:xfrm flipV="1">
            <a:off x="6587836" y="2192104"/>
            <a:ext cx="703496" cy="13546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5" idx="5"/>
          </p:cNvCxnSpPr>
          <p:nvPr/>
        </p:nvCxnSpPr>
        <p:spPr>
          <a:xfrm flipH="1" flipV="1">
            <a:off x="7560740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  <a:endCxn id="10" idx="3"/>
          </p:cNvCxnSpPr>
          <p:nvPr/>
        </p:nvCxnSpPr>
        <p:spPr>
          <a:xfrm flipV="1">
            <a:off x="6044046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0"/>
            <a:endCxn id="10" idx="5"/>
          </p:cNvCxnSpPr>
          <p:nvPr/>
        </p:nvCxnSpPr>
        <p:spPr>
          <a:xfrm flipH="1" flipV="1">
            <a:off x="6722540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0"/>
            <a:endCxn id="9" idx="4"/>
          </p:cNvCxnSpPr>
          <p:nvPr/>
        </p:nvCxnSpPr>
        <p:spPr>
          <a:xfrm flipH="1" flipV="1">
            <a:off x="8111836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2"/>
            <a:endCxn id="78" idx="0"/>
          </p:cNvCxnSpPr>
          <p:nvPr/>
        </p:nvCxnSpPr>
        <p:spPr>
          <a:xfrm rot="10800000" flipV="1">
            <a:off x="5579540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  <a:endCxn id="87" idx="0"/>
          </p:cNvCxnSpPr>
          <p:nvPr/>
        </p:nvCxnSpPr>
        <p:spPr>
          <a:xfrm rot="10800000" flipV="1">
            <a:off x="7432316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4829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877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5940136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</p:cNvCxnSpPr>
          <p:nvPr/>
        </p:nvCxnSpPr>
        <p:spPr>
          <a:xfrm>
            <a:off x="5635336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4271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57319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Elbow Connector 79"/>
          <p:cNvCxnSpPr>
            <a:stCxn id="79" idx="2"/>
            <a:endCxn id="7" idx="1"/>
          </p:cNvCxnSpPr>
          <p:nvPr/>
        </p:nvCxnSpPr>
        <p:spPr>
          <a:xfrm>
            <a:off x="5884339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1"/>
          </p:cNvCxnSpPr>
          <p:nvPr/>
        </p:nvCxnSpPr>
        <p:spPr>
          <a:xfrm>
            <a:off x="5579539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279915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1"/>
          </p:cNvCxnSpPr>
          <p:nvPr/>
        </p:nvCxnSpPr>
        <p:spPr>
          <a:xfrm>
            <a:off x="7432315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1336" y="2558534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1336" y="4375666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90601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Nodes don’t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2"/>
            <a:endCxn id="61" idx="0"/>
          </p:cNvCxnSpPr>
          <p:nvPr/>
        </p:nvCxnSpPr>
        <p:spPr>
          <a:xfrm rot="10800000" flipV="1">
            <a:off x="5635336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2"/>
            <a:endCxn id="78" idx="0"/>
          </p:cNvCxnSpPr>
          <p:nvPr/>
        </p:nvCxnSpPr>
        <p:spPr>
          <a:xfrm rot="10800000" flipV="1">
            <a:off x="5579540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  <a:endCxn id="87" idx="0"/>
          </p:cNvCxnSpPr>
          <p:nvPr/>
        </p:nvCxnSpPr>
        <p:spPr>
          <a:xfrm rot="10800000" flipV="1">
            <a:off x="7432316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1336" y="2558534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29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877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5940136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</p:cNvCxnSpPr>
          <p:nvPr/>
        </p:nvCxnSpPr>
        <p:spPr>
          <a:xfrm>
            <a:off x="5635336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11336" y="4375666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271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57319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Elbow Connector 79"/>
          <p:cNvCxnSpPr>
            <a:stCxn id="79" idx="2"/>
            <a:endCxn id="7" idx="1"/>
          </p:cNvCxnSpPr>
          <p:nvPr/>
        </p:nvCxnSpPr>
        <p:spPr>
          <a:xfrm>
            <a:off x="5884339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1"/>
          </p:cNvCxnSpPr>
          <p:nvPr/>
        </p:nvCxnSpPr>
        <p:spPr>
          <a:xfrm>
            <a:off x="5579539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279915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1"/>
          </p:cNvCxnSpPr>
          <p:nvPr/>
        </p:nvCxnSpPr>
        <p:spPr>
          <a:xfrm>
            <a:off x="7432315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334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Nodes don’t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4"/>
            <a:endCxn id="61" idx="0"/>
          </p:cNvCxnSpPr>
          <p:nvPr/>
        </p:nvCxnSpPr>
        <p:spPr>
          <a:xfrm rot="16200000" flipH="1">
            <a:off x="7255080" y="2418855"/>
            <a:ext cx="342900" cy="9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4"/>
            <a:endCxn id="78" idx="0"/>
          </p:cNvCxnSpPr>
          <p:nvPr/>
        </p:nvCxnSpPr>
        <p:spPr>
          <a:xfrm rot="5400000">
            <a:off x="6347165" y="4167261"/>
            <a:ext cx="480168" cy="11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4"/>
            <a:endCxn id="87" idx="0"/>
          </p:cNvCxnSpPr>
          <p:nvPr/>
        </p:nvCxnSpPr>
        <p:spPr>
          <a:xfrm rot="16200000" flipH="1">
            <a:off x="7875804" y="4170722"/>
            <a:ext cx="473241" cy="1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82941" y="2558534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274625" y="2590800"/>
            <a:ext cx="609600" cy="304800"/>
            <a:chOff x="5482936" y="2590800"/>
            <a:chExt cx="609600" cy="304800"/>
          </a:xfrm>
        </p:grpSpPr>
        <p:sp>
          <p:nvSpPr>
            <p:cNvPr id="61" name="Rectangle 60"/>
            <p:cNvSpPr/>
            <p:nvPr/>
          </p:nvSpPr>
          <p:spPr>
            <a:xfrm>
              <a:off x="54829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877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7731825" y="2895600"/>
            <a:ext cx="245307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  <a:endCxn id="10" idx="0"/>
          </p:cNvCxnSpPr>
          <p:nvPr/>
        </p:nvCxnSpPr>
        <p:spPr>
          <a:xfrm flipH="1">
            <a:off x="6587836" y="2895600"/>
            <a:ext cx="839189" cy="6511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82941" y="4375666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34262" y="4407932"/>
            <a:ext cx="609600" cy="304800"/>
            <a:chOff x="5427139" y="4407932"/>
            <a:chExt cx="609600" cy="304800"/>
          </a:xfrm>
        </p:grpSpPr>
        <p:sp>
          <p:nvSpPr>
            <p:cNvPr id="78" name="Rectangle 77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0" name="Elbow Connector 79"/>
          <p:cNvCxnSpPr>
            <a:stCxn id="79" idx="2"/>
            <a:endCxn id="7" idx="0"/>
          </p:cNvCxnSpPr>
          <p:nvPr/>
        </p:nvCxnSpPr>
        <p:spPr>
          <a:xfrm>
            <a:off x="6891462" y="4712732"/>
            <a:ext cx="243629" cy="7736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0"/>
          </p:cNvCxnSpPr>
          <p:nvPr/>
        </p:nvCxnSpPr>
        <p:spPr>
          <a:xfrm flipH="1">
            <a:off x="6044046" y="4712732"/>
            <a:ext cx="542616" cy="7736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60613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0"/>
          </p:cNvCxnSpPr>
          <p:nvPr/>
        </p:nvCxnSpPr>
        <p:spPr>
          <a:xfrm>
            <a:off x="8113013" y="4712732"/>
            <a:ext cx="2287" cy="7736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170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Nodes don’t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Can 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cycles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4"/>
            <a:endCxn id="61" idx="0"/>
          </p:cNvCxnSpPr>
          <p:nvPr/>
        </p:nvCxnSpPr>
        <p:spPr>
          <a:xfrm rot="16200000" flipH="1">
            <a:off x="7255080" y="2418855"/>
            <a:ext cx="342900" cy="9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4"/>
            <a:endCxn id="78" idx="0"/>
          </p:cNvCxnSpPr>
          <p:nvPr/>
        </p:nvCxnSpPr>
        <p:spPr>
          <a:xfrm rot="5400000">
            <a:off x="6347165" y="4167261"/>
            <a:ext cx="480168" cy="11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4"/>
            <a:endCxn id="87" idx="0"/>
          </p:cNvCxnSpPr>
          <p:nvPr/>
        </p:nvCxnSpPr>
        <p:spPr>
          <a:xfrm rot="16200000" flipH="1">
            <a:off x="7875804" y="4170722"/>
            <a:ext cx="473241" cy="1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82941" y="2558534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274625" y="2590800"/>
            <a:ext cx="609600" cy="304800"/>
            <a:chOff x="5482936" y="2590800"/>
            <a:chExt cx="609600" cy="304800"/>
          </a:xfrm>
        </p:grpSpPr>
        <p:sp>
          <p:nvSpPr>
            <p:cNvPr id="61" name="Rectangle 60"/>
            <p:cNvSpPr/>
            <p:nvPr/>
          </p:nvSpPr>
          <p:spPr>
            <a:xfrm>
              <a:off x="54829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877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7731825" y="2895600"/>
            <a:ext cx="245307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  <a:endCxn id="10" idx="0"/>
          </p:cNvCxnSpPr>
          <p:nvPr/>
        </p:nvCxnSpPr>
        <p:spPr>
          <a:xfrm flipH="1">
            <a:off x="6587836" y="2895600"/>
            <a:ext cx="839189" cy="6511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82941" y="4375666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34262" y="4407932"/>
            <a:ext cx="609600" cy="304800"/>
            <a:chOff x="5427139" y="4407932"/>
            <a:chExt cx="609600" cy="304800"/>
          </a:xfrm>
        </p:grpSpPr>
        <p:sp>
          <p:nvSpPr>
            <p:cNvPr id="78" name="Rectangle 77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0" name="Elbow Connector 79"/>
          <p:cNvCxnSpPr>
            <a:stCxn id="79" idx="2"/>
            <a:endCxn id="7" idx="0"/>
          </p:cNvCxnSpPr>
          <p:nvPr/>
        </p:nvCxnSpPr>
        <p:spPr>
          <a:xfrm>
            <a:off x="6891462" y="4712732"/>
            <a:ext cx="243629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0"/>
          </p:cNvCxnSpPr>
          <p:nvPr/>
        </p:nvCxnSpPr>
        <p:spPr>
          <a:xfrm flipH="1">
            <a:off x="6044046" y="4712732"/>
            <a:ext cx="542616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60613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0"/>
          </p:cNvCxnSpPr>
          <p:nvPr/>
        </p:nvCxnSpPr>
        <p:spPr>
          <a:xfrm>
            <a:off x="8113013" y="4712732"/>
            <a:ext cx="2287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8" idx="4"/>
            <a:endCxn id="34" idx="0"/>
          </p:cNvCxnSpPr>
          <p:nvPr/>
        </p:nvCxnSpPr>
        <p:spPr>
          <a:xfrm rot="16200000" flipH="1">
            <a:off x="5843732" y="5915314"/>
            <a:ext cx="401782" cy="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892800" y="6116782"/>
            <a:ext cx="609600" cy="304800"/>
            <a:chOff x="5427139" y="4407932"/>
            <a:chExt cx="609600" cy="304800"/>
          </a:xfrm>
        </p:grpSpPr>
        <p:sp>
          <p:nvSpPr>
            <p:cNvPr id="34" name="Rectangle 33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Elbow Connector 79"/>
          <p:cNvCxnSpPr>
            <a:stCxn id="36" idx="2"/>
            <a:endCxn id="10" idx="6"/>
          </p:cNvCxnSpPr>
          <p:nvPr/>
        </p:nvCxnSpPr>
        <p:spPr>
          <a:xfrm rot="5400000" flipH="1" flipV="1">
            <a:off x="5222009" y="4865255"/>
            <a:ext cx="2684318" cy="428336"/>
          </a:xfrm>
          <a:prstGeom prst="bentConnector4">
            <a:avLst>
              <a:gd name="adj1" fmla="val -8516"/>
              <a:gd name="adj2" fmla="val 26603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80"/>
          <p:cNvCxnSpPr>
            <a:stCxn id="34" idx="2"/>
            <a:endCxn id="5" idx="2"/>
          </p:cNvCxnSpPr>
          <p:nvPr/>
        </p:nvCxnSpPr>
        <p:spPr>
          <a:xfrm rot="5400000" flipH="1" flipV="1">
            <a:off x="4458277" y="3644323"/>
            <a:ext cx="4364182" cy="1190336"/>
          </a:xfrm>
          <a:prstGeom prst="bentConnector4">
            <a:avLst>
              <a:gd name="adj1" fmla="val -5238"/>
              <a:gd name="adj2" fmla="val -9936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4"/>
            <a:endCxn id="41" idx="0"/>
          </p:cNvCxnSpPr>
          <p:nvPr/>
        </p:nvCxnSpPr>
        <p:spPr>
          <a:xfrm rot="5400000">
            <a:off x="7914409" y="5915891"/>
            <a:ext cx="401782" cy="1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7962900" y="6116782"/>
            <a:ext cx="609600" cy="304800"/>
            <a:chOff x="5427139" y="4407932"/>
            <a:chExt cx="609600" cy="304800"/>
          </a:xfrm>
        </p:grpSpPr>
        <p:sp>
          <p:nvSpPr>
            <p:cNvPr id="41" name="Rectangle 40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Elbow Connector 79"/>
          <p:cNvCxnSpPr>
            <a:stCxn id="42" idx="2"/>
            <a:endCxn id="5" idx="6"/>
          </p:cNvCxnSpPr>
          <p:nvPr/>
        </p:nvCxnSpPr>
        <p:spPr>
          <a:xfrm rot="5400000" flipH="1">
            <a:off x="5836227" y="3837709"/>
            <a:ext cx="4364182" cy="803564"/>
          </a:xfrm>
          <a:prstGeom prst="bentConnector4">
            <a:avLst>
              <a:gd name="adj1" fmla="val -5238"/>
              <a:gd name="adj2" fmla="val -5114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/>
          <p:cNvCxnSpPr>
            <a:stCxn id="41" idx="2"/>
            <a:endCxn id="9" idx="2"/>
          </p:cNvCxnSpPr>
          <p:nvPr/>
        </p:nvCxnSpPr>
        <p:spPr>
          <a:xfrm rot="5400000" flipH="1">
            <a:off x="6679622" y="4985905"/>
            <a:ext cx="2677391" cy="193964"/>
          </a:xfrm>
          <a:prstGeom prst="bentConnector4">
            <a:avLst>
              <a:gd name="adj1" fmla="val -8538"/>
              <a:gd name="adj2" fmla="val 217857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80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>
            <a:normAutofit/>
          </a:bodyPr>
          <a:lstStyle/>
          <a:p>
            <a:r>
              <a:rPr lang="en-US" dirty="0"/>
              <a:t>Graphs don’t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properties of trees</a:t>
            </a:r>
          </a:p>
          <a:p>
            <a:pPr lvl="1"/>
            <a:r>
              <a:rPr lang="en-US" dirty="0"/>
              <a:t>Graph doesn’t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Nodes don’t have a distinguished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pPr lvl="1"/>
            <a:r>
              <a:rPr lang="en-US" dirty="0"/>
              <a:t>Can 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cycles</a:t>
            </a:r>
          </a:p>
          <a:p>
            <a:pPr lvl="1"/>
            <a:r>
              <a:rPr lang="en-US" dirty="0"/>
              <a:t>Or other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complicated topologies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3340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4"/>
            <a:endCxn id="61" idx="0"/>
          </p:cNvCxnSpPr>
          <p:nvPr/>
        </p:nvCxnSpPr>
        <p:spPr>
          <a:xfrm rot="16200000" flipH="1">
            <a:off x="7255080" y="2418855"/>
            <a:ext cx="342900" cy="9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4"/>
            <a:endCxn id="78" idx="0"/>
          </p:cNvCxnSpPr>
          <p:nvPr/>
        </p:nvCxnSpPr>
        <p:spPr>
          <a:xfrm rot="5400000">
            <a:off x="6347165" y="4167261"/>
            <a:ext cx="480168" cy="11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4"/>
            <a:endCxn id="87" idx="0"/>
          </p:cNvCxnSpPr>
          <p:nvPr/>
        </p:nvCxnSpPr>
        <p:spPr>
          <a:xfrm rot="16200000" flipH="1">
            <a:off x="7875804" y="4170722"/>
            <a:ext cx="473241" cy="1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82941" y="2558534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274625" y="2590800"/>
            <a:ext cx="609600" cy="304800"/>
            <a:chOff x="5482936" y="2590800"/>
            <a:chExt cx="609600" cy="304800"/>
          </a:xfrm>
        </p:grpSpPr>
        <p:sp>
          <p:nvSpPr>
            <p:cNvPr id="61" name="Rectangle 60"/>
            <p:cNvSpPr/>
            <p:nvPr/>
          </p:nvSpPr>
          <p:spPr>
            <a:xfrm>
              <a:off x="54829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877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7731825" y="2895600"/>
            <a:ext cx="245307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  <a:endCxn id="10" idx="0"/>
          </p:cNvCxnSpPr>
          <p:nvPr/>
        </p:nvCxnSpPr>
        <p:spPr>
          <a:xfrm flipH="1">
            <a:off x="6587836" y="2895600"/>
            <a:ext cx="839189" cy="6511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82941" y="4375666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Adjacency</a:t>
            </a:r>
          </a:p>
          <a:p>
            <a:pPr algn="r"/>
            <a:r>
              <a:rPr lang="en-US" dirty="0"/>
              <a:t>lists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34262" y="4407932"/>
            <a:ext cx="609600" cy="304800"/>
            <a:chOff x="5427139" y="4407932"/>
            <a:chExt cx="609600" cy="304800"/>
          </a:xfrm>
        </p:grpSpPr>
        <p:sp>
          <p:nvSpPr>
            <p:cNvPr id="78" name="Rectangle 77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0" name="Elbow Connector 79"/>
          <p:cNvCxnSpPr>
            <a:stCxn id="79" idx="2"/>
            <a:endCxn id="7" idx="0"/>
          </p:cNvCxnSpPr>
          <p:nvPr/>
        </p:nvCxnSpPr>
        <p:spPr>
          <a:xfrm>
            <a:off x="6891462" y="4712732"/>
            <a:ext cx="243629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0"/>
          </p:cNvCxnSpPr>
          <p:nvPr/>
        </p:nvCxnSpPr>
        <p:spPr>
          <a:xfrm flipH="1">
            <a:off x="6044046" y="4712732"/>
            <a:ext cx="542616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60613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0"/>
          </p:cNvCxnSpPr>
          <p:nvPr/>
        </p:nvCxnSpPr>
        <p:spPr>
          <a:xfrm>
            <a:off x="8113013" y="4712732"/>
            <a:ext cx="2287" cy="6212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8" idx="4"/>
            <a:endCxn id="34" idx="0"/>
          </p:cNvCxnSpPr>
          <p:nvPr/>
        </p:nvCxnSpPr>
        <p:spPr>
          <a:xfrm rot="16200000" flipH="1">
            <a:off x="5843732" y="5915314"/>
            <a:ext cx="401782" cy="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892800" y="6116782"/>
            <a:ext cx="609600" cy="304800"/>
            <a:chOff x="5427139" y="4407932"/>
            <a:chExt cx="609600" cy="304800"/>
          </a:xfrm>
        </p:grpSpPr>
        <p:sp>
          <p:nvSpPr>
            <p:cNvPr id="34" name="Rectangle 33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Elbow Connector 79"/>
          <p:cNvCxnSpPr>
            <a:stCxn id="36" idx="2"/>
            <a:endCxn id="10" idx="6"/>
          </p:cNvCxnSpPr>
          <p:nvPr/>
        </p:nvCxnSpPr>
        <p:spPr>
          <a:xfrm rot="5400000" flipH="1" flipV="1">
            <a:off x="5222009" y="4865255"/>
            <a:ext cx="2684318" cy="428336"/>
          </a:xfrm>
          <a:prstGeom prst="bentConnector4">
            <a:avLst>
              <a:gd name="adj1" fmla="val -8516"/>
              <a:gd name="adj2" fmla="val 26603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80"/>
          <p:cNvCxnSpPr>
            <a:stCxn id="34" idx="2"/>
            <a:endCxn id="5" idx="2"/>
          </p:cNvCxnSpPr>
          <p:nvPr/>
        </p:nvCxnSpPr>
        <p:spPr>
          <a:xfrm rot="5400000" flipH="1" flipV="1">
            <a:off x="4458277" y="3644323"/>
            <a:ext cx="4364182" cy="1190336"/>
          </a:xfrm>
          <a:prstGeom prst="bentConnector4">
            <a:avLst>
              <a:gd name="adj1" fmla="val -5238"/>
              <a:gd name="adj2" fmla="val -9936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4"/>
            <a:endCxn id="41" idx="0"/>
          </p:cNvCxnSpPr>
          <p:nvPr/>
        </p:nvCxnSpPr>
        <p:spPr>
          <a:xfrm rot="5400000">
            <a:off x="7914409" y="5915891"/>
            <a:ext cx="401782" cy="1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7962900" y="6116782"/>
            <a:ext cx="609600" cy="304800"/>
            <a:chOff x="5427139" y="4407932"/>
            <a:chExt cx="609600" cy="304800"/>
          </a:xfrm>
        </p:grpSpPr>
        <p:sp>
          <p:nvSpPr>
            <p:cNvPr id="41" name="Rectangle 40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Elbow Connector 79"/>
          <p:cNvCxnSpPr>
            <a:stCxn id="42" idx="2"/>
            <a:endCxn id="5" idx="6"/>
          </p:cNvCxnSpPr>
          <p:nvPr/>
        </p:nvCxnSpPr>
        <p:spPr>
          <a:xfrm rot="5400000" flipH="1">
            <a:off x="5836227" y="3837709"/>
            <a:ext cx="4364182" cy="803564"/>
          </a:xfrm>
          <a:prstGeom prst="bentConnector4">
            <a:avLst>
              <a:gd name="adj1" fmla="val -5238"/>
              <a:gd name="adj2" fmla="val -5114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/>
          <p:cNvCxnSpPr>
            <a:stCxn id="41" idx="2"/>
            <a:endCxn id="9" idx="2"/>
          </p:cNvCxnSpPr>
          <p:nvPr/>
        </p:nvCxnSpPr>
        <p:spPr>
          <a:xfrm rot="5400000" flipH="1">
            <a:off x="6679622" y="4985905"/>
            <a:ext cx="2677391" cy="193964"/>
          </a:xfrm>
          <a:prstGeom prst="bentConnector4">
            <a:avLst>
              <a:gd name="adj1" fmla="val -8538"/>
              <a:gd name="adj2" fmla="val 217857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7" idx="4"/>
            <a:endCxn id="46" idx="0"/>
          </p:cNvCxnSpPr>
          <p:nvPr/>
        </p:nvCxnSpPr>
        <p:spPr>
          <a:xfrm rot="16200000" flipH="1">
            <a:off x="6933045" y="5917045"/>
            <a:ext cx="406400" cy="230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985000" y="61214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Elbow Connector 80"/>
          <p:cNvCxnSpPr>
            <a:stCxn id="46" idx="2"/>
            <a:endCxn id="8" idx="6"/>
          </p:cNvCxnSpPr>
          <p:nvPr/>
        </p:nvCxnSpPr>
        <p:spPr>
          <a:xfrm rot="5400000" flipH="1">
            <a:off x="6235123" y="5523923"/>
            <a:ext cx="901700" cy="902854"/>
          </a:xfrm>
          <a:prstGeom prst="bentConnector4">
            <a:avLst>
              <a:gd name="adj1" fmla="val -11267"/>
              <a:gd name="adj2" fmla="val 51407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946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>
            <a:normAutofit/>
          </a:bodyPr>
          <a:lstStyle/>
          <a:p>
            <a:r>
              <a:rPr lang="en-US" dirty="0"/>
              <a:t>And we don’t think of it as being organized into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levels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6175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705600" y="47036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410200" y="23922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715000" y="52370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304309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495800" y="35606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4"/>
          </p:cNvCxnSpPr>
          <p:nvPr/>
        </p:nvCxnSpPr>
        <p:spPr>
          <a:xfrm rot="16200000" flipH="1">
            <a:off x="7255080" y="2169473"/>
            <a:ext cx="342900" cy="9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4"/>
          </p:cNvCxnSpPr>
          <p:nvPr/>
        </p:nvCxnSpPr>
        <p:spPr>
          <a:xfrm rot="5400000">
            <a:off x="4559929" y="4066815"/>
            <a:ext cx="251568" cy="11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4"/>
            <a:endCxn id="87" idx="0"/>
          </p:cNvCxnSpPr>
          <p:nvPr/>
        </p:nvCxnSpPr>
        <p:spPr>
          <a:xfrm rot="16200000" flipH="1">
            <a:off x="7984270" y="3812874"/>
            <a:ext cx="256309" cy="1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7274625" y="2341418"/>
            <a:ext cx="609600" cy="304800"/>
            <a:chOff x="5482936" y="2590800"/>
            <a:chExt cx="609600" cy="304800"/>
          </a:xfrm>
        </p:grpSpPr>
        <p:sp>
          <p:nvSpPr>
            <p:cNvPr id="61" name="Rectangle 60"/>
            <p:cNvSpPr/>
            <p:nvPr/>
          </p:nvSpPr>
          <p:spPr>
            <a:xfrm>
              <a:off x="54829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877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8" name="Elbow Connector 67"/>
          <p:cNvCxnSpPr>
            <a:endCxn id="9" idx="0"/>
          </p:cNvCxnSpPr>
          <p:nvPr/>
        </p:nvCxnSpPr>
        <p:spPr>
          <a:xfrm rot="16200000" flipH="1">
            <a:off x="7592785" y="2785257"/>
            <a:ext cx="658091" cy="3800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endCxn id="10" idx="0"/>
          </p:cNvCxnSpPr>
          <p:nvPr/>
        </p:nvCxnSpPr>
        <p:spPr>
          <a:xfrm rot="5400000">
            <a:off x="5599463" y="1733056"/>
            <a:ext cx="914400" cy="2740725"/>
          </a:xfrm>
          <a:prstGeom prst="bentConnector3">
            <a:avLst>
              <a:gd name="adj1" fmla="val 34722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4532726" y="4193186"/>
            <a:ext cx="609600" cy="304800"/>
            <a:chOff x="5427139" y="4407932"/>
            <a:chExt cx="609600" cy="304800"/>
          </a:xfrm>
        </p:grpSpPr>
        <p:sp>
          <p:nvSpPr>
            <p:cNvPr id="78" name="Rectangle 77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0" name="Elbow Connector 79"/>
          <p:cNvCxnSpPr>
            <a:endCxn id="7" idx="0"/>
          </p:cNvCxnSpPr>
          <p:nvPr/>
        </p:nvCxnSpPr>
        <p:spPr>
          <a:xfrm rot="5400000" flipH="1" flipV="1">
            <a:off x="4242429" y="3139715"/>
            <a:ext cx="2105768" cy="610774"/>
          </a:xfrm>
          <a:prstGeom prst="bentConnector5">
            <a:avLst>
              <a:gd name="adj1" fmla="val -10856"/>
              <a:gd name="adj2" fmla="val 46881"/>
              <a:gd name="adj3" fmla="val 11085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endCxn id="8" idx="0"/>
          </p:cNvCxnSpPr>
          <p:nvPr/>
        </p:nvCxnSpPr>
        <p:spPr>
          <a:xfrm rot="16200000" flipH="1">
            <a:off x="4925797" y="4257315"/>
            <a:ext cx="739032" cy="12203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60613" y="3941618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0"/>
          </p:cNvCxnSpPr>
          <p:nvPr/>
        </p:nvCxnSpPr>
        <p:spPr>
          <a:xfrm rot="5400000">
            <a:off x="7275957" y="3866562"/>
            <a:ext cx="457200" cy="12169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8" idx="4"/>
          </p:cNvCxnSpPr>
          <p:nvPr/>
        </p:nvCxnSpPr>
        <p:spPr>
          <a:xfrm rot="16200000" flipH="1">
            <a:off x="5781386" y="5742132"/>
            <a:ext cx="249382" cy="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754254" y="5867400"/>
            <a:ext cx="609600" cy="304800"/>
            <a:chOff x="5427139" y="4407932"/>
            <a:chExt cx="609600" cy="304800"/>
          </a:xfrm>
        </p:grpSpPr>
        <p:sp>
          <p:nvSpPr>
            <p:cNvPr id="34" name="Rectangle 33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Elbow Connector 79"/>
          <p:cNvCxnSpPr>
            <a:endCxn id="10" idx="2"/>
          </p:cNvCxnSpPr>
          <p:nvPr/>
        </p:nvCxnSpPr>
        <p:spPr>
          <a:xfrm rot="5400000" flipH="1">
            <a:off x="3990686" y="4256232"/>
            <a:ext cx="2421082" cy="1410854"/>
          </a:xfrm>
          <a:prstGeom prst="bentConnector4">
            <a:avLst>
              <a:gd name="adj1" fmla="val -9442"/>
              <a:gd name="adj2" fmla="val 116203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80"/>
          <p:cNvCxnSpPr>
            <a:endCxn id="5" idx="2"/>
          </p:cNvCxnSpPr>
          <p:nvPr/>
        </p:nvCxnSpPr>
        <p:spPr>
          <a:xfrm rot="5400000" flipH="1" flipV="1">
            <a:off x="4541404" y="3478068"/>
            <a:ext cx="4364182" cy="1024082"/>
          </a:xfrm>
          <a:prstGeom prst="bentConnector4">
            <a:avLst>
              <a:gd name="adj1" fmla="val -5238"/>
              <a:gd name="adj2" fmla="val 3759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4"/>
          </p:cNvCxnSpPr>
          <p:nvPr/>
        </p:nvCxnSpPr>
        <p:spPr>
          <a:xfrm rot="5400000">
            <a:off x="6743700" y="5237018"/>
            <a:ext cx="304800" cy="1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6743700" y="5389418"/>
            <a:ext cx="609600" cy="304800"/>
            <a:chOff x="5427139" y="4407932"/>
            <a:chExt cx="609600" cy="304800"/>
          </a:xfrm>
        </p:grpSpPr>
        <p:sp>
          <p:nvSpPr>
            <p:cNvPr id="41" name="Rectangle 40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Elbow Connector 79"/>
          <p:cNvCxnSpPr>
            <a:endCxn id="5" idx="6"/>
          </p:cNvCxnSpPr>
          <p:nvPr/>
        </p:nvCxnSpPr>
        <p:spPr>
          <a:xfrm rot="5400000" flipH="1" flipV="1">
            <a:off x="5465618" y="3543300"/>
            <a:ext cx="3886200" cy="415636"/>
          </a:xfrm>
          <a:prstGeom prst="bentConnector4">
            <a:avLst>
              <a:gd name="adj1" fmla="val -17320"/>
              <a:gd name="adj2" fmla="val 356667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/>
          <p:cNvCxnSpPr>
            <a:endCxn id="9" idx="2"/>
          </p:cNvCxnSpPr>
          <p:nvPr/>
        </p:nvCxnSpPr>
        <p:spPr>
          <a:xfrm rot="5400000" flipH="1" flipV="1">
            <a:off x="6309013" y="4081896"/>
            <a:ext cx="2199409" cy="1025236"/>
          </a:xfrm>
          <a:prstGeom prst="bentConnector4">
            <a:avLst>
              <a:gd name="adj1" fmla="val -10394"/>
              <a:gd name="adj2" fmla="val 57432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7" idx="4"/>
            <a:endCxn id="46" idx="0"/>
          </p:cNvCxnSpPr>
          <p:nvPr/>
        </p:nvCxnSpPr>
        <p:spPr>
          <a:xfrm rot="16200000" flipH="1">
            <a:off x="5398654" y="2975263"/>
            <a:ext cx="406400" cy="230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50609" y="3179618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Elbow Connector 80"/>
          <p:cNvCxnSpPr>
            <a:stCxn id="46" idx="2"/>
            <a:endCxn id="8" idx="6"/>
          </p:cNvCxnSpPr>
          <p:nvPr/>
        </p:nvCxnSpPr>
        <p:spPr>
          <a:xfrm rot="16200000" flipH="1">
            <a:off x="4877954" y="4209472"/>
            <a:ext cx="1943100" cy="492991"/>
          </a:xfrm>
          <a:prstGeom prst="bentConnector4">
            <a:avLst>
              <a:gd name="adj1" fmla="val 45098"/>
              <a:gd name="adj2" fmla="val 14637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78700" y="642261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Same graph</a:t>
            </a:r>
          </a:p>
        </p:txBody>
      </p:sp>
    </p:spTree>
    <p:extLst>
      <p:ext uri="{BB962C8B-B14F-4D97-AF65-F5344CB8AC3E}">
        <p14:creationId xmlns:p14="http://schemas.microsoft.com/office/powerpoint/2010/main" val="62541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representation</a:t>
            </a:r>
            <a:r>
              <a:rPr lang="en-US" baseline="0" dirty="0"/>
              <a:t> of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>
            <a:normAutofit/>
          </a:bodyPr>
          <a:lstStyle/>
          <a:p>
            <a:r>
              <a:rPr lang="en-US" dirty="0"/>
              <a:t>And we don’t think of it as being organized into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levels</a:t>
            </a:r>
          </a:p>
          <a:p>
            <a:endParaRPr lang="en-US" dirty="0"/>
          </a:p>
          <a:p>
            <a:r>
              <a:rPr lang="en-US" dirty="0"/>
              <a:t>But we otherwise tend to represent them 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similarly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to trees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6175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705600" y="47036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410200" y="23922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715000" y="52370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304309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495800" y="3560618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4"/>
          </p:cNvCxnSpPr>
          <p:nvPr/>
        </p:nvCxnSpPr>
        <p:spPr>
          <a:xfrm rot="16200000" flipH="1">
            <a:off x="7255080" y="2169473"/>
            <a:ext cx="342900" cy="9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4"/>
          </p:cNvCxnSpPr>
          <p:nvPr/>
        </p:nvCxnSpPr>
        <p:spPr>
          <a:xfrm rot="5400000">
            <a:off x="4559929" y="4066815"/>
            <a:ext cx="251568" cy="11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4"/>
            <a:endCxn id="87" idx="0"/>
          </p:cNvCxnSpPr>
          <p:nvPr/>
        </p:nvCxnSpPr>
        <p:spPr>
          <a:xfrm rot="16200000" flipH="1">
            <a:off x="7984270" y="3812874"/>
            <a:ext cx="256309" cy="1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7274625" y="2341418"/>
            <a:ext cx="609600" cy="304800"/>
            <a:chOff x="5482936" y="2590800"/>
            <a:chExt cx="609600" cy="304800"/>
          </a:xfrm>
        </p:grpSpPr>
        <p:sp>
          <p:nvSpPr>
            <p:cNvPr id="61" name="Rectangle 60"/>
            <p:cNvSpPr/>
            <p:nvPr/>
          </p:nvSpPr>
          <p:spPr>
            <a:xfrm>
              <a:off x="54829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87736" y="2590800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8" name="Elbow Connector 67"/>
          <p:cNvCxnSpPr>
            <a:endCxn id="9" idx="0"/>
          </p:cNvCxnSpPr>
          <p:nvPr/>
        </p:nvCxnSpPr>
        <p:spPr>
          <a:xfrm rot="16200000" flipH="1">
            <a:off x="7592785" y="2785257"/>
            <a:ext cx="658091" cy="3800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endCxn id="10" idx="0"/>
          </p:cNvCxnSpPr>
          <p:nvPr/>
        </p:nvCxnSpPr>
        <p:spPr>
          <a:xfrm rot="5400000">
            <a:off x="5599463" y="1733056"/>
            <a:ext cx="914400" cy="2740725"/>
          </a:xfrm>
          <a:prstGeom prst="bentConnector3">
            <a:avLst>
              <a:gd name="adj1" fmla="val 34722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4532726" y="4193186"/>
            <a:ext cx="609600" cy="304800"/>
            <a:chOff x="5427139" y="4407932"/>
            <a:chExt cx="609600" cy="304800"/>
          </a:xfrm>
        </p:grpSpPr>
        <p:sp>
          <p:nvSpPr>
            <p:cNvPr id="78" name="Rectangle 77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0" name="Elbow Connector 79"/>
          <p:cNvCxnSpPr>
            <a:endCxn id="7" idx="0"/>
          </p:cNvCxnSpPr>
          <p:nvPr/>
        </p:nvCxnSpPr>
        <p:spPr>
          <a:xfrm rot="5400000" flipH="1" flipV="1">
            <a:off x="4242429" y="3139715"/>
            <a:ext cx="2105768" cy="610774"/>
          </a:xfrm>
          <a:prstGeom prst="bentConnector5">
            <a:avLst>
              <a:gd name="adj1" fmla="val -10856"/>
              <a:gd name="adj2" fmla="val 46881"/>
              <a:gd name="adj3" fmla="val 11085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endCxn id="8" idx="0"/>
          </p:cNvCxnSpPr>
          <p:nvPr/>
        </p:nvCxnSpPr>
        <p:spPr>
          <a:xfrm rot="16200000" flipH="1">
            <a:off x="4925797" y="4257315"/>
            <a:ext cx="739032" cy="12203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60613" y="3941618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0"/>
          </p:cNvCxnSpPr>
          <p:nvPr/>
        </p:nvCxnSpPr>
        <p:spPr>
          <a:xfrm rot="5400000">
            <a:off x="7275957" y="3866562"/>
            <a:ext cx="457200" cy="12169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8" idx="4"/>
          </p:cNvCxnSpPr>
          <p:nvPr/>
        </p:nvCxnSpPr>
        <p:spPr>
          <a:xfrm rot="16200000" flipH="1">
            <a:off x="5781386" y="5742132"/>
            <a:ext cx="249382" cy="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754254" y="5867400"/>
            <a:ext cx="609600" cy="304800"/>
            <a:chOff x="5427139" y="4407932"/>
            <a:chExt cx="609600" cy="304800"/>
          </a:xfrm>
        </p:grpSpPr>
        <p:sp>
          <p:nvSpPr>
            <p:cNvPr id="34" name="Rectangle 33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Elbow Connector 79"/>
          <p:cNvCxnSpPr>
            <a:endCxn id="10" idx="2"/>
          </p:cNvCxnSpPr>
          <p:nvPr/>
        </p:nvCxnSpPr>
        <p:spPr>
          <a:xfrm rot="5400000" flipH="1">
            <a:off x="3990686" y="4256232"/>
            <a:ext cx="2421082" cy="1410854"/>
          </a:xfrm>
          <a:prstGeom prst="bentConnector4">
            <a:avLst>
              <a:gd name="adj1" fmla="val -9442"/>
              <a:gd name="adj2" fmla="val 116203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80"/>
          <p:cNvCxnSpPr>
            <a:endCxn id="5" idx="2"/>
          </p:cNvCxnSpPr>
          <p:nvPr/>
        </p:nvCxnSpPr>
        <p:spPr>
          <a:xfrm rot="5400000" flipH="1" flipV="1">
            <a:off x="4541404" y="3478068"/>
            <a:ext cx="4364182" cy="1024082"/>
          </a:xfrm>
          <a:prstGeom prst="bentConnector4">
            <a:avLst>
              <a:gd name="adj1" fmla="val -5238"/>
              <a:gd name="adj2" fmla="val 37599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4"/>
          </p:cNvCxnSpPr>
          <p:nvPr/>
        </p:nvCxnSpPr>
        <p:spPr>
          <a:xfrm rot="5400000">
            <a:off x="6743700" y="5237018"/>
            <a:ext cx="304800" cy="1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6743700" y="5389418"/>
            <a:ext cx="609600" cy="304800"/>
            <a:chOff x="5427139" y="4407932"/>
            <a:chExt cx="609600" cy="304800"/>
          </a:xfrm>
        </p:grpSpPr>
        <p:sp>
          <p:nvSpPr>
            <p:cNvPr id="41" name="Rectangle 40"/>
            <p:cNvSpPr/>
            <p:nvPr/>
          </p:nvSpPr>
          <p:spPr>
            <a:xfrm>
              <a:off x="54271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31939" y="4407932"/>
              <a:ext cx="304800" cy="3048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Elbow Connector 79"/>
          <p:cNvCxnSpPr>
            <a:endCxn id="5" idx="6"/>
          </p:cNvCxnSpPr>
          <p:nvPr/>
        </p:nvCxnSpPr>
        <p:spPr>
          <a:xfrm rot="5400000" flipH="1" flipV="1">
            <a:off x="5465618" y="3543300"/>
            <a:ext cx="3886200" cy="415636"/>
          </a:xfrm>
          <a:prstGeom prst="bentConnector4">
            <a:avLst>
              <a:gd name="adj1" fmla="val -17320"/>
              <a:gd name="adj2" fmla="val 356667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/>
          <p:cNvCxnSpPr>
            <a:endCxn id="9" idx="2"/>
          </p:cNvCxnSpPr>
          <p:nvPr/>
        </p:nvCxnSpPr>
        <p:spPr>
          <a:xfrm rot="5400000" flipH="1" flipV="1">
            <a:off x="6309013" y="4081896"/>
            <a:ext cx="2199409" cy="1025236"/>
          </a:xfrm>
          <a:prstGeom prst="bentConnector4">
            <a:avLst>
              <a:gd name="adj1" fmla="val -10394"/>
              <a:gd name="adj2" fmla="val 57432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7" idx="4"/>
            <a:endCxn id="46" idx="0"/>
          </p:cNvCxnSpPr>
          <p:nvPr/>
        </p:nvCxnSpPr>
        <p:spPr>
          <a:xfrm rot="16200000" flipH="1">
            <a:off x="5398654" y="2975263"/>
            <a:ext cx="406400" cy="230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50609" y="3179618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Elbow Connector 80"/>
          <p:cNvCxnSpPr>
            <a:stCxn id="46" idx="2"/>
            <a:endCxn id="8" idx="6"/>
          </p:cNvCxnSpPr>
          <p:nvPr/>
        </p:nvCxnSpPr>
        <p:spPr>
          <a:xfrm rot="16200000" flipH="1">
            <a:off x="4877954" y="4209472"/>
            <a:ext cx="1943100" cy="492991"/>
          </a:xfrm>
          <a:prstGeom prst="bentConnector4">
            <a:avLst>
              <a:gd name="adj1" fmla="val 45098"/>
              <a:gd name="adj2" fmla="val 146370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78700" y="642261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Same graph</a:t>
            </a:r>
          </a:p>
        </p:txBody>
      </p:sp>
    </p:spTree>
    <p:extLst>
      <p:ext uri="{BB962C8B-B14F-4D97-AF65-F5344CB8AC3E}">
        <p14:creationId xmlns:p14="http://schemas.microsoft.com/office/powerpoint/2010/main" val="1606704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2765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For the most part, graph representations should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pretty obvious</a:t>
            </a:r>
          </a:p>
          <a:p>
            <a:pPr lvl="1"/>
            <a:r>
              <a:rPr lang="en-US" dirty="0"/>
              <a:t>Each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node lists the nodes its connected to</a:t>
            </a:r>
          </a:p>
          <a:p>
            <a:pPr lvl="1"/>
            <a:endParaRPr lang="en-US" dirty="0"/>
          </a:p>
          <a:p>
            <a:r>
              <a:rPr lang="en-US" dirty="0"/>
              <a:t>This is called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adjacency list </a:t>
            </a:r>
            <a:r>
              <a:rPr lang="en-US" dirty="0"/>
              <a:t>representation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Linked lists </a:t>
            </a:r>
            <a:r>
              <a:rPr lang="en-US" dirty="0"/>
              <a:t>are often used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GraphNode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AdjListCell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first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AdjListCell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GraphNode</a:t>
            </a:r>
            <a:r>
              <a:rPr lang="en-US" dirty="0"/>
              <a:t> node;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AdjListCell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next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1662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the most part, graph representations should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pretty obvious</a:t>
            </a:r>
          </a:p>
          <a:p>
            <a:pPr lvl="1"/>
            <a:r>
              <a:rPr lang="en-US" dirty="0"/>
              <a:t>Each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node lists the nodes its connected to</a:t>
            </a:r>
          </a:p>
          <a:p>
            <a:pPr lvl="1"/>
            <a:endParaRPr lang="en-US" dirty="0"/>
          </a:p>
          <a:p>
            <a:r>
              <a:rPr lang="en-US" dirty="0"/>
              <a:t>This is called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adjacency list </a:t>
            </a:r>
            <a:r>
              <a:rPr lang="en-US" dirty="0"/>
              <a:t>representation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Linked lists </a:t>
            </a:r>
            <a:r>
              <a:rPr lang="en-US" dirty="0"/>
              <a:t>are often used</a:t>
            </a:r>
          </a:p>
          <a:p>
            <a:pPr lvl="1"/>
            <a:r>
              <a:rPr lang="en-US" dirty="0"/>
              <a:t>But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arrays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or any other sequence representation can be used for the adjacency lists themselves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GraphNode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GraphNode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 ]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adjacent;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94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of adjacency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CLR book uses a specific graph representation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Number all the nodes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Array of adjacency lists</a:t>
            </a:r>
            <a:r>
              <a:rPr lang="en-US" dirty="0"/>
              <a:t>, indexed by node number</a:t>
            </a:r>
          </a:p>
          <a:p>
            <a:pPr lvl="1"/>
            <a:endParaRPr lang="en-US" dirty="0"/>
          </a:p>
          <a:p>
            <a:r>
              <a:rPr lang="en-US" dirty="0"/>
              <a:t>Adjacency list of node i is stored in </a:t>
            </a:r>
            <a:r>
              <a:rPr lang="en-US" dirty="0" err="1"/>
              <a:t>adj</a:t>
            </a:r>
            <a:r>
              <a:rPr lang="en-US" dirty="0"/>
              <a:t>[i]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/>
              <a:t>Graph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AdjListCell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[]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adj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AdjListCell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nodeNumber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AdjListCell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next;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13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Adjacency matrix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Finally, we can store the edges for a graph in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matrix</a:t>
                </a:r>
              </a:p>
              <a:p>
                <a:pPr lvl="1"/>
                <a:r>
                  <a:rPr lang="en-US" dirty="0"/>
                  <a:t>Again,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number the nodes</a:t>
                </a:r>
              </a:p>
              <a:p>
                <a:pPr lvl="1"/>
                <a:r>
                  <a:rPr lang="en-US" dirty="0"/>
                  <a:t>Define 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  <m:r>
                          <a:rPr lang="en-US" i="1" dirty="0" smtClean="0">
                            <a:latin typeface="Cambria Math"/>
                          </a:rPr>
                          <m:t>,</m:t>
                        </m:r>
                        <m:r>
                          <a:rPr lang="en-US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by the rule:</a:t>
                </a:r>
              </a:p>
              <a:p>
                <a:pPr lvl="1"/>
                <a:endParaRPr lang="en-US" dirty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i="1" dirty="0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 dirty="0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i="1" dirty="0" smtClean="0">
                                    <a:latin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from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to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j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dirty="0" smtClean="0">
                                    <a:latin typeface="Cambria Math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0" dirty="0" smtClean="0">
                                    <a:latin typeface="Cambria Math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715" t="-1348" r="-3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1" name="Straight Arrow Connector 10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89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Adjacency matrix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Adjacency matrices are especially good for representing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dense</a:t>
            </a:r>
            <a:r>
              <a:rPr lang="en-US" b="1" dirty="0"/>
              <a:t> </a:t>
            </a:r>
            <a:r>
              <a:rPr lang="en-US" dirty="0"/>
              <a:t>graphs</a:t>
            </a:r>
          </a:p>
          <a:p>
            <a:pPr lvl="1"/>
            <a:r>
              <a:rPr lang="en-US" sz="2000" dirty="0"/>
              <a:t>Graphs in which most nodes have edges to most other nodes</a:t>
            </a:r>
          </a:p>
        </p:txBody>
      </p:sp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1" name="Straight Arrow Connector 10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796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267200" cy="2133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undirected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graphs don’t distinguish between</a:t>
            </a:r>
          </a:p>
          <a:p>
            <a:pPr lvl="1"/>
            <a:r>
              <a:rPr lang="en-US" dirty="0"/>
              <a:t>An edge from a to b, and</a:t>
            </a:r>
          </a:p>
          <a:p>
            <a:pPr lvl="1"/>
            <a:r>
              <a:rPr lang="en-US" dirty="0"/>
              <a:t>An edge from b to a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0" name="Straight Arrow Connector 9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106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362200"/>
          </a:xfrm>
        </p:spPr>
        <p:txBody>
          <a:bodyPr>
            <a:normAutofit fontScale="92500"/>
          </a:bodyPr>
          <a:lstStyle/>
          <a:p>
            <a:r>
              <a:rPr lang="en-US" dirty="0"/>
              <a:t>These are easily handled by both representations</a:t>
            </a:r>
          </a:p>
          <a:p>
            <a:pPr lvl="1"/>
            <a:r>
              <a:rPr lang="en-US" dirty="0"/>
              <a:t>Adjacency lists: link a to b but also link b to a</a:t>
            </a:r>
          </a:p>
          <a:p>
            <a:pPr lvl="1"/>
            <a:r>
              <a:rPr lang="en-US" dirty="0"/>
              <a:t>Adjacency matrix: matrix is just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matrix</a:t>
            </a:r>
          </a:p>
        </p:txBody>
      </p:sp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0" name="Straight Arrow Connector 9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14400" y="59436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7526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29" name="Straight Arrow Connector 28"/>
          <p:cNvCxnSpPr>
            <a:stCxn id="4" idx="3"/>
            <a:endCxn id="25" idx="1"/>
          </p:cNvCxnSpPr>
          <p:nvPr/>
        </p:nvCxnSpPr>
        <p:spPr>
          <a:xfrm>
            <a:off x="1371600" y="43434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752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13716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743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80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3622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7338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38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3528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724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3434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7526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13716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7432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480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3622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7526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3716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7432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480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23622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7526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574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1371600" y="61722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93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362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Edges are labeled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numerical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(weights)</a:t>
            </a:r>
          </a:p>
          <a:p>
            <a:pPr lvl="1"/>
            <a:r>
              <a:rPr lang="en-US" dirty="0"/>
              <a:t>Usually represents some kind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distance or abstract “cost”</a:t>
            </a:r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0" name="Straight Arrow Connector 9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62600" y="13716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17666" y="238536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0" y="232186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4705" y="26543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8197" y="13716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038600"/>
                <a:ext cx="3733800" cy="244881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914400" y="59436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17526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574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85" name="Straight Arrow Connector 84"/>
          <p:cNvCxnSpPr>
            <a:stCxn id="78" idx="3"/>
            <a:endCxn id="83" idx="1"/>
          </p:cNvCxnSpPr>
          <p:nvPr/>
        </p:nvCxnSpPr>
        <p:spPr>
          <a:xfrm>
            <a:off x="1371600" y="43434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752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13716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743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480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23622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37338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38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33528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4724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43434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7526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574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13716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7432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480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23622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7526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574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6" name="Straight Arrow Connector 105"/>
          <p:cNvCxnSpPr/>
          <p:nvPr/>
        </p:nvCxnSpPr>
        <p:spPr>
          <a:xfrm>
            <a:off x="13716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27432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480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23622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17526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574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1371600" y="61722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859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weighted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038600" cy="23622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Adjacency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lists</a:t>
                </a:r>
              </a:p>
              <a:p>
                <a:pPr lvl="1"/>
                <a:r>
                  <a:rPr lang="en-US" dirty="0"/>
                  <a:t>Just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add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another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field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to the list cells to hold the weight</a:t>
                </a:r>
              </a:p>
              <a:p>
                <a:r>
                  <a:rPr lang="en-US" dirty="0"/>
                  <a:t>Adjacency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matrix</a:t>
                </a:r>
              </a:p>
              <a:p>
                <a:pPr lvl="1"/>
                <a:r>
                  <a:rPr lang="en-US" dirty="0"/>
                  <a:t>Use the weight as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matrix entry</a:t>
                </a:r>
              </a:p>
              <a:p>
                <a:pPr lvl="1"/>
                <a:r>
                  <a:rPr lang="en-US" dirty="0"/>
                  <a:t>Or 0 (or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∞</m:t>
                    </m:r>
                  </m:oMath>
                </a14:m>
                <a:r>
                  <a:rPr lang="en-US" dirty="0"/>
                  <a:t>) for non-adjacent nodes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038600" cy="2362200"/>
              </a:xfrm>
              <a:blipFill>
                <a:blip r:embed="rId2"/>
                <a:stretch>
                  <a:fillRect l="-1659" t="-4393" b="-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4953000" y="1828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248400" y="1524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3975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6934200" y="3124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19812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10" name="Straight Arrow Connector 9"/>
          <p:cNvCxnSpPr>
            <a:stCxn id="5" idx="7"/>
            <a:endCxn id="6" idx="2"/>
          </p:cNvCxnSpPr>
          <p:nvPr/>
        </p:nvCxnSpPr>
        <p:spPr>
          <a:xfrm flipV="1">
            <a:off x="5343245" y="1752600"/>
            <a:ext cx="905155" cy="143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5787745" y="1914245"/>
            <a:ext cx="527610" cy="12769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  <a:endCxn id="9" idx="3"/>
          </p:cNvCxnSpPr>
          <p:nvPr/>
        </p:nvCxnSpPr>
        <p:spPr>
          <a:xfrm flipV="1">
            <a:off x="7162800" y="2371445"/>
            <a:ext cx="295555" cy="7527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6" idx="6"/>
          </p:cNvCxnSpPr>
          <p:nvPr/>
        </p:nvCxnSpPr>
        <p:spPr>
          <a:xfrm flipH="1" flipV="1">
            <a:off x="6705600" y="1752600"/>
            <a:ext cx="752755" cy="2955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8" idx="0"/>
          </p:cNvCxnSpPr>
          <p:nvPr/>
        </p:nvCxnSpPr>
        <p:spPr>
          <a:xfrm>
            <a:off x="6638645" y="1914245"/>
            <a:ext cx="524155" cy="1209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626100" y="4038600"/>
                <a:ext cx="223520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100" y="4038600"/>
                <a:ext cx="2235200" cy="244881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14400" y="5943600"/>
            <a:ext cx="4572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7526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622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29" name="Straight Arrow Connector 28"/>
          <p:cNvCxnSpPr>
            <a:stCxn id="4" idx="3"/>
            <a:endCxn id="25" idx="1"/>
          </p:cNvCxnSpPr>
          <p:nvPr/>
        </p:nvCxnSpPr>
        <p:spPr>
          <a:xfrm>
            <a:off x="1371600" y="43434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752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2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13716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0480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6670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343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30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962400" y="48006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1" idx="3"/>
            <a:endCxn id="44" idx="1"/>
          </p:cNvCxnSpPr>
          <p:nvPr/>
        </p:nvCxnSpPr>
        <p:spPr>
          <a:xfrm flipH="1">
            <a:off x="4572000" y="4800600"/>
            <a:ext cx="685800" cy="533400"/>
          </a:xfrm>
          <a:prstGeom prst="bentConnector5">
            <a:avLst>
              <a:gd name="adj1" fmla="val -33333"/>
              <a:gd name="adj2" fmla="val 50000"/>
              <a:gd name="adj3" fmla="val 13333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7526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13716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0480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667000" y="5257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7526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622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3716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30480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2667000" y="57150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7526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622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1371600" y="61722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62600" y="13716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17666" y="238536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0" y="232186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4705" y="26543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8197" y="13716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41910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572000" y="5181600"/>
            <a:ext cx="914400" cy="304800"/>
            <a:chOff x="4724400" y="4648200"/>
            <a:chExt cx="914400" cy="304800"/>
          </a:xfrm>
        </p:grpSpPr>
        <p:sp>
          <p:nvSpPr>
            <p:cNvPr id="44" name="Rectangle 43"/>
            <p:cNvSpPr/>
            <p:nvPr/>
          </p:nvSpPr>
          <p:spPr>
            <a:xfrm>
              <a:off x="4724400" y="4648200"/>
              <a:ext cx="304800" cy="304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334000" y="4648200"/>
              <a:ext cx="304800" cy="304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029200" y="4648200"/>
              <a:ext cx="304800" cy="304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057400" y="60198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528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5626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528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62200" y="51054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6482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528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4648200"/>
            <a:ext cx="304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4187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b="1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777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934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2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751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044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 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554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1107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324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21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197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916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6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726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388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586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09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tree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child c of node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0668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BreadthFirst(root)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6211" y="5621292"/>
            <a:ext cx="35815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Will this code work</a:t>
            </a:r>
          </a:p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for a general graph?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759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</a:t>
            </a:r>
            <a:r>
              <a:rPr lang="en-US" b="1" dirty="0"/>
              <a:t>neighbor</a:t>
            </a:r>
            <a:r>
              <a:rPr lang="en-US" dirty="0"/>
              <a:t>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6211" y="5621292"/>
            <a:ext cx="35816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Well, first, there are</a:t>
            </a:r>
          </a:p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no children </a:t>
            </a:r>
            <a:r>
              <a:rPr lang="en-US" sz="3200" b="1" i="1" dirty="0">
                <a:solidFill>
                  <a:schemeClr val="accent3">
                    <a:lumMod val="50000"/>
                  </a:schemeClr>
                </a:solidFill>
              </a:rPr>
              <a:t>per se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9828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</a:t>
            </a:r>
            <a:r>
              <a:rPr lang="en-US" b="1" dirty="0"/>
              <a:t>neighbor</a:t>
            </a:r>
            <a:r>
              <a:rPr lang="en-US" dirty="0"/>
              <a:t>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6211" y="5181600"/>
            <a:ext cx="35192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What happens if</a:t>
            </a:r>
          </a:p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we just change it to</a:t>
            </a:r>
          </a:p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neighbor?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59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q.Enqueue</a:t>
            </a:r>
            <a:r>
              <a:rPr lang="en-US" b="1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829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147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2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neighbor c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487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4573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 3 4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neighbor c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893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uh oh 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219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 4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855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 4 1 1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b="1" dirty="0"/>
              <a:t>      for each neighbor c</a:t>
            </a:r>
            <a:br>
              <a:rPr lang="en-US" b="1" dirty="0"/>
            </a:br>
            <a:r>
              <a:rPr lang="en-US" b="1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0140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not going to end well 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593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actually,</a:t>
            </a:r>
            <a:br>
              <a:rPr lang="en-US" dirty="0"/>
            </a:br>
            <a:r>
              <a:rPr lang="en-US" dirty="0"/>
              <a:t>it’s not going to end at all 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26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6211" y="5621292"/>
            <a:ext cx="37894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We need to keep</a:t>
            </a:r>
          </a:p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from revisiting nodes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314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if c not visited already</a:t>
            </a:r>
            <a:r>
              <a:rPr lang="en-US" b="1" dirty="0"/>
              <a:t/>
            </a:r>
            <a:br>
              <a:rPr lang="en-US" b="1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4268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0441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q.Enqueue</a:t>
            </a:r>
            <a:r>
              <a:rPr lang="en-US" b="1" dirty="0"/>
              <a:t>(start)</a:t>
            </a:r>
          </a:p>
          <a:p>
            <a:pPr marL="0" indent="0">
              <a:buNone/>
            </a:pPr>
            <a:r>
              <a:rPr lang="en-US" b="1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1428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5147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2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8911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2304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9209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2801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8467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6447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9618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      for each neighbor c of node</a:t>
            </a:r>
          </a:p>
          <a:p>
            <a:pPr marL="0" indent="0">
              <a:buNone/>
            </a:pPr>
            <a:r>
              <a:rPr lang="en-US" dirty="0"/>
              <a:t>         if c not visited already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349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6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</a:t>
            </a:r>
            <a:r>
              <a:rPr lang="en-US" dirty="0" err="1"/>
              <a:t>q.Dequeue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8629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</a:t>
            </a:r>
            <a:r>
              <a:rPr lang="en-US" b="1"/>
              <a:t>each neighbor c </a:t>
            </a:r>
            <a:r>
              <a:rPr lang="en-US" b="1" dirty="0"/>
              <a:t>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5477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b="1" dirty="0"/>
              <a:t>      node = </a:t>
            </a:r>
            <a:r>
              <a:rPr lang="en-US" b="1" dirty="0" err="1"/>
              <a:t>q.Dequeue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      for each neighbor c of node</a:t>
            </a:r>
          </a:p>
          <a:p>
            <a:pPr marL="0" indent="0">
              <a:buNone/>
            </a:pPr>
            <a:r>
              <a:rPr lang="en-US" b="1" dirty="0"/>
              <a:t>         if c not visited already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q.Enqueue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mark c visited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2070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</a:t>
            </a:r>
            <a:r>
              <a:rPr lang="en-US" b="1" i="1" dirty="0"/>
              <a:t>graph</a:t>
            </a:r>
            <a:r>
              <a:rPr lang="en-US" dirty="0"/>
              <a:t>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Tracking which nodes have been visited is sufficient to fix the problem</a:t>
            </a:r>
          </a:p>
          <a:p>
            <a:endParaRPr lang="en-US" dirty="0"/>
          </a:p>
          <a:p>
            <a:r>
              <a:rPr lang="en-US" dirty="0"/>
              <a:t>Great!  How do we keep track of which nodes have been visited</a:t>
            </a:r>
          </a:p>
          <a:p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26" name="Straight Arrow Connector 25"/>
          <p:cNvCxnSpPr>
            <a:stCxn id="22" idx="5"/>
            <a:endCxn id="24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7"/>
            <a:endCxn id="22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7"/>
            <a:endCxn id="20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5"/>
            <a:endCxn id="23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1" name="Straight Connector 30"/>
          <p:cNvCxnSpPr>
            <a:stCxn id="30" idx="4"/>
            <a:endCxn id="20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2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0"/>
            <a:endCxn id="30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41487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Visit information in the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One solution is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 field </a:t>
            </a:r>
            <a:r>
              <a:rPr lang="en-US" dirty="0"/>
              <a:t>to the node structure</a:t>
            </a:r>
          </a:p>
          <a:p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and efficient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You need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know in advance </a:t>
            </a:r>
            <a:r>
              <a:rPr lang="en-US" dirty="0"/>
              <a:t>that you’ll be walking the graph</a:t>
            </a:r>
          </a:p>
          <a:p>
            <a:pPr lvl="1"/>
            <a:r>
              <a:rPr lang="en-US" dirty="0"/>
              <a:t>Doesn’t work well if you’re using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someone else’s graph implementation</a:t>
            </a:r>
          </a:p>
          <a:p>
            <a:pPr lvl="1"/>
            <a:r>
              <a:rPr lang="en-US" dirty="0"/>
              <a:t>Uses memory even when you aren’t walking the </a:t>
            </a:r>
            <a:r>
              <a:rPr lang="en-US" dirty="0" smtClean="0"/>
              <a:t>graph</a:t>
            </a:r>
          </a:p>
          <a:p>
            <a:pPr lvl="1"/>
            <a:r>
              <a:rPr lang="en-US" dirty="0" smtClean="0"/>
              <a:t>Doesn’t work if you walk the graph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twice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GraphNode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GraphNode</a:t>
            </a:r>
            <a:r>
              <a:rPr lang="en-US" dirty="0"/>
              <a:t>[ ] adjacent;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bool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visited = false;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node.visited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true;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957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array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separate array</a:t>
            </a:r>
          </a:p>
          <a:p>
            <a:pPr lvl="1"/>
            <a:r>
              <a:rPr lang="en-US" dirty="0"/>
              <a:t>Indexed by node number</a:t>
            </a:r>
          </a:p>
          <a:p>
            <a:pPr lvl="1"/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</a:t>
            </a:r>
          </a:p>
          <a:p>
            <a:pPr lvl="1"/>
            <a:r>
              <a:rPr lang="en-US" dirty="0"/>
              <a:t>Can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deallocate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array when it’s not being used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Requires nodes to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numbered</a:t>
            </a:r>
          </a:p>
          <a:p>
            <a:pPr lvl="2"/>
            <a:r>
              <a:rPr lang="en-US" dirty="0"/>
              <a:t>But you often do that for other reasons anyway.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3500" b="1" dirty="0" err="1">
                <a:solidFill>
                  <a:schemeClr val="accent6">
                    <a:lumMod val="75000"/>
                  </a:schemeClr>
                </a:solidFill>
              </a:rPr>
              <a:t>bool</a:t>
            </a:r>
            <a:r>
              <a:rPr lang="en-US" sz="3500" b="1" dirty="0">
                <a:solidFill>
                  <a:schemeClr val="accent6">
                    <a:lumMod val="75000"/>
                  </a:schemeClr>
                </a:solidFill>
              </a:rPr>
              <a:t>[ ] visited;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600" b="1" dirty="0"/>
              <a:t>visited[</a:t>
            </a:r>
            <a:r>
              <a:rPr lang="en-US" sz="2600" b="1" dirty="0" err="1"/>
              <a:t>node.number</a:t>
            </a:r>
            <a:r>
              <a:rPr lang="en-US" sz="2600" b="1" dirty="0"/>
              <a:t>] = true;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2981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table</a:t>
            </a:r>
            <a:br>
              <a:rPr lang="en-US" dirty="0"/>
            </a:br>
            <a:r>
              <a:rPr lang="en-US" dirty="0"/>
              <a:t>(or other dictionary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nothing else, you can use a hash table</a:t>
            </a:r>
          </a:p>
          <a:p>
            <a:pPr lvl="1"/>
            <a:r>
              <a:rPr lang="en-US" dirty="0"/>
              <a:t>Use nodes as keys</a:t>
            </a:r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Hashsets</a:t>
            </a:r>
            <a:r>
              <a:rPr lang="en-US" dirty="0"/>
              <a:t> make more sense</a:t>
            </a:r>
          </a:p>
          <a:p>
            <a:pPr lvl="1"/>
            <a:r>
              <a:rPr lang="en-US" dirty="0" err="1"/>
              <a:t>Hashtables</a:t>
            </a:r>
            <a:r>
              <a:rPr lang="en-US" dirty="0"/>
              <a:t> but not dictionaries</a:t>
            </a:r>
          </a:p>
          <a:p>
            <a:pPr lvl="1"/>
            <a:r>
              <a:rPr lang="en-US" dirty="0"/>
              <a:t>No value associated with the key</a:t>
            </a:r>
          </a:p>
          <a:p>
            <a:pPr>
              <a:spcBef>
                <a:spcPts val="1800"/>
              </a:spcBef>
            </a:pPr>
            <a:r>
              <a:rPr lang="en-US" dirty="0"/>
              <a:t>Advantages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Easy</a:t>
            </a:r>
          </a:p>
          <a:p>
            <a:pPr lvl="1"/>
            <a:r>
              <a:rPr lang="en-US" dirty="0"/>
              <a:t>Works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any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graph representation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Disadvantages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Slower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than other approaches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Hashtable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visited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= new </a:t>
            </a:r>
            <a:r>
              <a:rPr lang="en-US" dirty="0" err="1"/>
              <a:t>Hashtable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 err="1"/>
              <a:t>visited.Store</a:t>
            </a:r>
            <a:r>
              <a:rPr lang="en-US" b="1" dirty="0"/>
              <a:t>(node, true);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HashSet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visited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= new </a:t>
            </a:r>
            <a:r>
              <a:rPr lang="en-US" dirty="0" err="1"/>
              <a:t>HashSet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 err="1"/>
              <a:t>visited.Add</a:t>
            </a:r>
            <a:r>
              <a:rPr lang="en-US" b="1" dirty="0"/>
              <a:t>(node);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4671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Breadth-first walks are often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breadth-first search</a:t>
            </a:r>
            <a:r>
              <a:rPr lang="en-US" dirty="0"/>
              <a:t>es</a:t>
            </a:r>
          </a:p>
          <a:p>
            <a:endParaRPr lang="en-US" dirty="0"/>
          </a:p>
          <a:p>
            <a:r>
              <a:rPr lang="en-US" dirty="0"/>
              <a:t>The CLR book defines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fancier version of BFS</a:t>
            </a:r>
          </a:p>
          <a:p>
            <a:r>
              <a:rPr lang="en-US" dirty="0"/>
              <a:t>It tracks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additional information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Distances</a:t>
            </a:r>
            <a:r>
              <a:rPr lang="en-US" b="1" dirty="0"/>
              <a:t> </a:t>
            </a:r>
            <a:r>
              <a:rPr lang="en-US" dirty="0"/>
              <a:t>of nodes from the start node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Predecessors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nodes in the walk</a:t>
            </a:r>
          </a:p>
          <a:p>
            <a:pPr lvl="2"/>
            <a:r>
              <a:rPr lang="en-US" dirty="0"/>
              <a:t>Which of its neighbors was searched first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6118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start.distance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start.predecessor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c.distance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node.distance+1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9566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354276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515307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2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66472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780859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15688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4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2544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545594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3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71565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367152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75946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6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097066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6969997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931636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7975036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199"/>
            <a:ext cx="4419600" cy="12086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Notice</a:t>
            </a:r>
          </a:p>
          <a:p>
            <a:r>
              <a:rPr lang="en-US" dirty="0"/>
              <a:t>Every node is labeled with its distance from the start node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970353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Breadth-first search (from CLR)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Notice</a:t>
            </a:r>
          </a:p>
          <a:p>
            <a:r>
              <a:rPr lang="en-US" dirty="0"/>
              <a:t>Every node is labeled with its distance from the start node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subgraph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(formed using only the edges corresponding to predecessor links) forms a tree</a:t>
            </a:r>
          </a:p>
          <a:p>
            <a:pPr lvl="1"/>
            <a:r>
              <a:rPr lang="en-US" dirty="0"/>
              <a:t>Called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breadth-first tree</a:t>
            </a:r>
          </a:p>
          <a:p>
            <a:pPr lvl="1"/>
            <a:endParaRPr lang="en-US" dirty="0"/>
          </a:p>
          <a:p>
            <a:r>
              <a:rPr lang="en-US" dirty="0"/>
              <a:t>The predecessor links give you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from any node back to the start node</a:t>
            </a:r>
          </a:p>
          <a:p>
            <a:pPr lvl="1"/>
            <a:r>
              <a:rPr lang="en-US" dirty="0"/>
              <a:t>Technically, it’s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US" b="1" dirty="0"/>
              <a:t> </a:t>
            </a:r>
            <a:r>
              <a:rPr lang="en-US" dirty="0"/>
              <a:t>shortest path</a:t>
            </a:r>
          </a:p>
          <a:p>
            <a:pPr lvl="1"/>
            <a:r>
              <a:rPr lang="en-US" dirty="0"/>
              <a:t>Since there might be other paths in the original graph of the same length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41577" y="1364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943" y="23360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768" y="36430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7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25" y="476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4555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2722" y="5693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563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</a:t>
            </a:r>
            <a:r>
              <a:rPr lang="en-US" dirty="0" smtClean="0"/>
              <a:t>El</a:t>
            </a:r>
            <a:br>
              <a:rPr lang="en-US" dirty="0" smtClean="0"/>
            </a:br>
            <a:r>
              <a:rPr lang="en-US" sz="3100" dirty="0" smtClean="0"/>
              <a:t>(If we pretend the El can drive in any direction)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7538106" y="304800"/>
            <a:ext cx="766364" cy="946666"/>
            <a:chOff x="759818" y="1644134"/>
            <a:chExt cx="766364" cy="946666"/>
          </a:xfrm>
        </p:grpSpPr>
        <p:sp>
          <p:nvSpPr>
            <p:cNvPr id="6" name="Oval 5"/>
            <p:cNvSpPr/>
            <p:nvPr/>
          </p:nvSpPr>
          <p:spPr>
            <a:xfrm>
              <a:off x="914400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9818" y="1644134"/>
              <a:ext cx="766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Foster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475666" y="2517001"/>
            <a:ext cx="1173271" cy="946666"/>
            <a:chOff x="1511290" y="1644134"/>
            <a:chExt cx="1173271" cy="946666"/>
          </a:xfrm>
        </p:grpSpPr>
        <p:sp>
          <p:nvSpPr>
            <p:cNvPr id="8" name="Oval 7"/>
            <p:cNvSpPr/>
            <p:nvPr/>
          </p:nvSpPr>
          <p:spPr>
            <a:xfrm>
              <a:off x="1869322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11290" y="1644134"/>
              <a:ext cx="1173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State/Lake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923098" y="5422900"/>
            <a:ext cx="1665842" cy="946666"/>
            <a:chOff x="2103202" y="1676400"/>
            <a:chExt cx="1665842" cy="946666"/>
          </a:xfrm>
        </p:grpSpPr>
        <p:sp>
          <p:nvSpPr>
            <p:cNvPr id="19" name="Oval 18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03202" y="1676400"/>
              <a:ext cx="16658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Adams/Wabash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834933" y="4218464"/>
            <a:ext cx="1842172" cy="946666"/>
            <a:chOff x="2015039" y="1676400"/>
            <a:chExt cx="1842172" cy="946666"/>
          </a:xfrm>
        </p:grpSpPr>
        <p:sp>
          <p:nvSpPr>
            <p:cNvPr id="22" name="Oval 21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15039" y="1676400"/>
              <a:ext cx="18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Madison/Wabash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880619" y="3209667"/>
            <a:ext cx="1750800" cy="946666"/>
            <a:chOff x="2060724" y="1676400"/>
            <a:chExt cx="1750800" cy="946666"/>
          </a:xfrm>
        </p:grpSpPr>
        <p:sp>
          <p:nvSpPr>
            <p:cNvPr id="25" name="Oval 24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60724" y="1676400"/>
              <a:ext cx="1750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Randolf</a:t>
              </a:r>
              <a:r>
                <a:rPr lang="en-US" dirty="0"/>
                <a:t>/Wabash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901258" y="2517001"/>
            <a:ext cx="1166281" cy="946666"/>
            <a:chOff x="2352982" y="1676400"/>
            <a:chExt cx="1166281" cy="946666"/>
          </a:xfrm>
        </p:grpSpPr>
        <p:sp>
          <p:nvSpPr>
            <p:cNvPr id="34" name="Oval 33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52982" y="1676400"/>
              <a:ext cx="1166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Clark/Lake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130923" y="4707930"/>
            <a:ext cx="838691" cy="946666"/>
            <a:chOff x="2516778" y="1676400"/>
            <a:chExt cx="838691" cy="946666"/>
          </a:xfrm>
        </p:grpSpPr>
        <p:sp>
          <p:nvSpPr>
            <p:cNvPr id="37" name="Oval 36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16778" y="167640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Quincy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474672" y="5758934"/>
            <a:ext cx="830677" cy="946666"/>
            <a:chOff x="2520785" y="1676400"/>
            <a:chExt cx="830677" cy="946666"/>
          </a:xfrm>
        </p:grpSpPr>
        <p:sp>
          <p:nvSpPr>
            <p:cNvPr id="40" name="Oval 39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20785" y="1676400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LaSalle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557061" y="5758934"/>
            <a:ext cx="828688" cy="946666"/>
            <a:chOff x="2521779" y="1676400"/>
            <a:chExt cx="828688" cy="946666"/>
          </a:xfrm>
        </p:grpSpPr>
        <p:sp>
          <p:nvSpPr>
            <p:cNvPr id="43" name="Oval 42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21779" y="1676400"/>
              <a:ext cx="828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600200" y="3407033"/>
            <a:ext cx="1900136" cy="946666"/>
            <a:chOff x="1986058" y="1676400"/>
            <a:chExt cx="1900136" cy="946666"/>
          </a:xfrm>
        </p:grpSpPr>
        <p:sp>
          <p:nvSpPr>
            <p:cNvPr id="46" name="Oval 45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986058" y="1676400"/>
              <a:ext cx="1900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Washington/Wells</a:t>
              </a:r>
            </a:p>
          </p:txBody>
        </p:sp>
      </p:grp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/>
          <p:cNvGrpSpPr/>
          <p:nvPr/>
        </p:nvGrpSpPr>
        <p:grpSpPr>
          <a:xfrm>
            <a:off x="133667" y="2482334"/>
            <a:ext cx="1923733" cy="946666"/>
            <a:chOff x="1974258" y="1676400"/>
            <a:chExt cx="1923733" cy="946666"/>
          </a:xfrm>
        </p:grpSpPr>
        <p:sp>
          <p:nvSpPr>
            <p:cNvPr id="77" name="Oval 76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974258" y="1676400"/>
              <a:ext cx="1923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Merchandise Mart</a:t>
              </a:r>
            </a:p>
          </p:txBody>
        </p:sp>
      </p:grp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9647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3293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Foster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810375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36343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  <a:r>
              <a:rPr lang="en-US" sz="4000" b="1" dirty="0" err="1">
                <a:solidFill>
                  <a:schemeClr val="accent3">
                    <a:lumMod val="50000"/>
                  </a:schemeClr>
                </a:solidFill>
              </a:rPr>
              <a:t>Randolf</a:t>
            </a:r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69639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5064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Madison,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90297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4665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State, Adams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54630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4652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Adams, Clark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80267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46624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Clark,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92453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7826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Library, </a:t>
            </a:r>
            <a:r>
              <a:rPr lang="en-US" sz="4000" b="1" dirty="0" err="1">
                <a:solidFill>
                  <a:schemeClr val="accent3">
                    <a:lumMod val="50000"/>
                  </a:schemeClr>
                </a:solidFill>
              </a:rPr>
              <a:t>Mmart</a:t>
            </a:r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, Washington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0578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0711813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7861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</a:t>
            </a:r>
            <a:r>
              <a:rPr lang="en-US" sz="4000" b="1" dirty="0" err="1">
                <a:solidFill>
                  <a:schemeClr val="accent3">
                    <a:lumMod val="50000"/>
                  </a:schemeClr>
                </a:solidFill>
              </a:rPr>
              <a:t>Mmart</a:t>
            </a:r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, Washington, LaSalle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63844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6266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Washington, LaSalle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51459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33377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Queue: LaSalle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1404" y="49804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116653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62458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We’ve found the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1404" y="49804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8539100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5655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To find the shortest path,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1404" y="49804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4484175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Foster to Quincy: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Route planning for the El</a:t>
            </a:r>
          </a:p>
        </p:txBody>
      </p:sp>
      <p:sp>
        <p:nvSpPr>
          <p:cNvPr id="6" name="Oval 5"/>
          <p:cNvSpPr/>
          <p:nvPr/>
        </p:nvSpPr>
        <p:spPr>
          <a:xfrm>
            <a:off x="7692688" y="7942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38106" y="304800"/>
            <a:ext cx="76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48336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75666" y="2517001"/>
            <a:ext cx="117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6527418" y="591236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23098" y="5422900"/>
            <a:ext cx="166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6527416" y="470793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834933" y="4218464"/>
            <a:ext cx="18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6527417" y="3699133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880619" y="3209667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Randolf</a:t>
            </a:r>
            <a:r>
              <a:rPr lang="en-US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3255798" y="300646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901258" y="251700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2321667" y="519739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30923" y="470793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3661409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74672" y="575893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4742804" y="6248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557061" y="5758934"/>
            <a:ext cx="828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2321664" y="38964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1600200" y="3407033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25" idx="6"/>
          </p:cNvCxnSpPr>
          <p:nvPr/>
        </p:nvCxnSpPr>
        <p:spPr>
          <a:xfrm rot="5400000">
            <a:off x="6114820" y="2121264"/>
            <a:ext cx="2676267" cy="936671"/>
          </a:xfrm>
          <a:prstGeom prst="bentConnector2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66931" y="2971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33667" y="2482334"/>
            <a:ext cx="192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0793" y="1524000"/>
            <a:ext cx="6819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</a:rPr>
              <a:t>Just trace the predecessor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4514" y="60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516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012" y="2821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1514" y="4495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253071" y="56672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38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4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1200" y="3768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0" y="609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1404" y="49804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122693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Complexity analysis</a:t>
            </a:r>
            <a:br>
              <a:rPr lang="en-US" sz="4000" dirty="0"/>
            </a:br>
            <a:r>
              <a:rPr lang="en-US" sz="2400" dirty="0"/>
              <a:t>How many times does each line run?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396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Complexity analysis</a:t>
            </a:r>
            <a:br>
              <a:rPr lang="en-US" sz="4000" dirty="0"/>
            </a:br>
            <a:r>
              <a:rPr lang="en-US" sz="2400" dirty="0"/>
              <a:t>Each individual line takes constant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q.Enqueue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start.distance</a:t>
            </a:r>
            <a:r>
              <a:rPr lang="en-US" b="1" dirty="0"/>
              <a:t> = 0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start.predecessor</a:t>
            </a:r>
            <a:r>
              <a:rPr lang="en-US" b="1" dirty="0"/>
              <a:t> = null</a:t>
            </a:r>
          </a:p>
          <a:p>
            <a:pPr marL="0" indent="0">
              <a:buNone/>
            </a:pPr>
            <a:r>
              <a:rPr lang="en-US" dirty="0"/>
              <a:t>   mark start visited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neighbor c</a:t>
            </a:r>
          </a:p>
          <a:p>
            <a:pPr marL="0" indent="0">
              <a:buNone/>
            </a:pPr>
            <a:r>
              <a:rPr lang="en-US" dirty="0"/>
              <a:t>         if c not visited {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q.Enqueue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c.distance</a:t>
            </a:r>
            <a:r>
              <a:rPr lang="en-US" b="1" dirty="0"/>
              <a:t> = node.distance+1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2131556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04949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Complexity analysis</a:t>
            </a:r>
            <a:br>
              <a:rPr lang="en-US" sz="4000" dirty="0"/>
            </a:br>
            <a:r>
              <a:rPr lang="en-US" sz="2400" dirty="0"/>
              <a:t>How many times does each line run?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q = empty queue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q.Enqueue</a:t>
            </a:r>
            <a:r>
              <a:rPr lang="en-US" b="1" dirty="0">
                <a:solidFill>
                  <a:schemeClr val="tx2"/>
                </a:solidFill>
              </a:rPr>
              <a:t>(start)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start.distance</a:t>
            </a:r>
            <a:r>
              <a:rPr lang="en-US" b="1" dirty="0">
                <a:solidFill>
                  <a:schemeClr val="tx2"/>
                </a:solidFill>
              </a:rPr>
              <a:t> = 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start.predecessor</a:t>
            </a:r>
            <a:r>
              <a:rPr lang="en-US" b="1" dirty="0">
                <a:solidFill>
                  <a:schemeClr val="tx2"/>
                </a:solidFill>
              </a:rPr>
              <a:t> = null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mark start visited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while q not empty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   node = q.Dequeue()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for each neighbor c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if c not visited {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q.Enqueue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c.distance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node.distance+1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346057" y="2057400"/>
            <a:ext cx="0" cy="13716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46057" y="3505200"/>
            <a:ext cx="0" cy="53340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346057" y="4114800"/>
            <a:ext cx="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346057" y="4670286"/>
            <a:ext cx="0" cy="816114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86553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Complexity analysis</a:t>
            </a:r>
            <a:br>
              <a:rPr lang="en-US" sz="4000" dirty="0"/>
            </a:br>
            <a:r>
              <a:rPr lang="en-US" sz="2400" dirty="0"/>
              <a:t>How many times does each line run?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q = empty queue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q.Enqueue</a:t>
            </a:r>
            <a:r>
              <a:rPr lang="en-US" b="1" dirty="0">
                <a:solidFill>
                  <a:schemeClr val="tx2"/>
                </a:solidFill>
              </a:rPr>
              <a:t>(start)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start.distance</a:t>
            </a:r>
            <a:r>
              <a:rPr lang="en-US" b="1" dirty="0">
                <a:solidFill>
                  <a:schemeClr val="tx2"/>
                </a:solidFill>
              </a:rPr>
              <a:t> = 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start.predecessor</a:t>
            </a:r>
            <a:r>
              <a:rPr lang="en-US" b="1" dirty="0">
                <a:solidFill>
                  <a:schemeClr val="tx2"/>
                </a:solidFill>
              </a:rPr>
              <a:t> = null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mark start visited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while q not empty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   node = q.Dequeue()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for each neighbor c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if c not visited {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q.Enqueue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c.distance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node.distance+1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346057" y="2057400"/>
            <a:ext cx="0" cy="13716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5117" y="2286000"/>
            <a:ext cx="3122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One time only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346057" y="3505200"/>
            <a:ext cx="0" cy="53340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3429000"/>
            <a:ext cx="3497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Once per vertex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346057" y="4114800"/>
            <a:ext cx="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200" y="3962400"/>
            <a:ext cx="3216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Once per edge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4346057" y="4670286"/>
            <a:ext cx="0" cy="816114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8200" y="4724400"/>
            <a:ext cx="3497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Once per vertex</a:t>
            </a:r>
          </a:p>
        </p:txBody>
      </p:sp>
    </p:spTree>
    <p:extLst>
      <p:ext uri="{BB962C8B-B14F-4D97-AF65-F5344CB8AC3E}">
        <p14:creationId xmlns:p14="http://schemas.microsoft.com/office/powerpoint/2010/main" val="25378707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Complexity analysis</a:t>
            </a:r>
            <a:br>
              <a:rPr lang="en-US" sz="4000" dirty="0"/>
            </a:br>
            <a:r>
              <a:rPr lang="en-US" sz="2400" dirty="0"/>
              <a:t>How many times does each line run?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BreadthFirstSearch</a:t>
            </a:r>
            <a:r>
              <a:rPr lang="en-US" dirty="0"/>
              <a:t>(start)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q = empty queue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q.Enqueue</a:t>
            </a:r>
            <a:r>
              <a:rPr lang="en-US" b="1" dirty="0">
                <a:solidFill>
                  <a:schemeClr val="tx2"/>
                </a:solidFill>
              </a:rPr>
              <a:t>(start)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start.distance</a:t>
            </a:r>
            <a:r>
              <a:rPr lang="en-US" b="1" dirty="0">
                <a:solidFill>
                  <a:schemeClr val="tx2"/>
                </a:solidFill>
              </a:rPr>
              <a:t> = 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</a:t>
            </a:r>
            <a:r>
              <a:rPr lang="en-US" b="1" dirty="0" err="1">
                <a:solidFill>
                  <a:schemeClr val="tx2"/>
                </a:solidFill>
              </a:rPr>
              <a:t>start.predecessor</a:t>
            </a:r>
            <a:r>
              <a:rPr lang="en-US" b="1" dirty="0">
                <a:solidFill>
                  <a:schemeClr val="tx2"/>
                </a:solidFill>
              </a:rPr>
              <a:t> = null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mark start visited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while q not empty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   node = q.Dequeue()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for each neighbor c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if c not visited {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q.Enqueue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c.distance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node.distance+1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}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346057" y="2057400"/>
            <a:ext cx="0" cy="13716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25117" y="2286000"/>
                <a:ext cx="136896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𝑂</m:t>
                      </m:r>
                      <m:r>
                        <a:rPr lang="en-US" sz="4000" i="1" dirty="0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17" y="2286000"/>
                <a:ext cx="1368965" cy="707886"/>
              </a:xfrm>
              <a:prstGeom prst="rect">
                <a:avLst/>
              </a:prstGeom>
              <a:blipFill rotWithShape="1">
                <a:blip r:embed="rId2"/>
                <a:stretch>
                  <a:fillRect t="-15517" r="-19556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4346057" y="3505200"/>
            <a:ext cx="0" cy="53340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38200" y="3429000"/>
                <a:ext cx="19174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+ </m:t>
                      </m:r>
                      <m:r>
                        <a:rPr lang="en-US" sz="4000" i="1" dirty="0" smtClean="0">
                          <a:latin typeface="Cambria Math"/>
                        </a:rPr>
                        <m:t>𝑂</m:t>
                      </m:r>
                      <m:r>
                        <a:rPr lang="en-US" sz="4000" i="1" dirty="0" smtClean="0">
                          <a:latin typeface="Cambria Math"/>
                        </a:rPr>
                        <m:t>(</m:t>
                      </m:r>
                      <m:r>
                        <a:rPr lang="en-US" sz="4000" i="1" dirty="0" smtClean="0">
                          <a:latin typeface="Cambria Math"/>
                        </a:rPr>
                        <m:t>𝑉</m:t>
                      </m:r>
                      <m:r>
                        <a:rPr lang="en-US" sz="4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1917448" cy="707886"/>
              </a:xfrm>
              <a:prstGeom prst="rect">
                <a:avLst/>
              </a:prstGeom>
              <a:blipFill rotWithShape="1">
                <a:blip r:embed="rId3"/>
                <a:stretch>
                  <a:fillRect t="-15517" r="-14013" b="-35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4346057" y="4114800"/>
            <a:ext cx="0" cy="4572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38200" y="3962400"/>
                <a:ext cx="19212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+ </m:t>
                      </m:r>
                      <m:r>
                        <a:rPr lang="en-US" sz="4000" i="1" dirty="0" smtClean="0">
                          <a:latin typeface="Cambria Math"/>
                        </a:rPr>
                        <m:t>𝑂</m:t>
                      </m:r>
                      <m:r>
                        <a:rPr lang="en-US" sz="4000" i="1" dirty="0" smtClean="0">
                          <a:latin typeface="Cambria Math"/>
                        </a:rPr>
                        <m:t>(</m:t>
                      </m:r>
                      <m:r>
                        <a:rPr lang="en-US" sz="4000" i="1" dirty="0" smtClean="0">
                          <a:latin typeface="Cambria Math"/>
                        </a:rPr>
                        <m:t>𝐸</m:t>
                      </m:r>
                      <m:r>
                        <a:rPr lang="en-US" sz="4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62400"/>
                <a:ext cx="1921232" cy="707886"/>
              </a:xfrm>
              <a:prstGeom prst="rect">
                <a:avLst/>
              </a:prstGeom>
              <a:blipFill rotWithShape="1">
                <a:blip r:embed="rId4"/>
                <a:stretch>
                  <a:fillRect t="-15517" r="-13651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4346057" y="4670286"/>
            <a:ext cx="0" cy="816114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38200" y="4724400"/>
                <a:ext cx="19174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+ </m:t>
                      </m:r>
                      <m:r>
                        <a:rPr lang="en-US" sz="4000" i="1" dirty="0" smtClean="0">
                          <a:latin typeface="Cambria Math"/>
                        </a:rPr>
                        <m:t>𝑂</m:t>
                      </m:r>
                      <m:r>
                        <a:rPr lang="en-US" sz="4000" i="1" dirty="0" smtClean="0">
                          <a:latin typeface="Cambria Math"/>
                        </a:rPr>
                        <m:t>(</m:t>
                      </m:r>
                      <m:r>
                        <a:rPr lang="en-US" sz="4000" i="1" dirty="0" smtClean="0">
                          <a:latin typeface="Cambria Math"/>
                        </a:rPr>
                        <m:t>𝑉</m:t>
                      </m:r>
                      <m:r>
                        <a:rPr lang="en-US" sz="4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24400"/>
                <a:ext cx="1917448" cy="707886"/>
              </a:xfrm>
              <a:prstGeom prst="rect">
                <a:avLst/>
              </a:prstGeom>
              <a:blipFill rotWithShape="1">
                <a:blip r:embed="rId5"/>
                <a:stretch>
                  <a:fillRect t="-15517" r="-14013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8200" y="5540514"/>
                <a:ext cx="289951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=</m:t>
                      </m:r>
                      <m:r>
                        <a:rPr lang="en-US" sz="4000" i="1" dirty="0" smtClean="0">
                          <a:latin typeface="Cambria Math"/>
                        </a:rPr>
                        <m:t>𝑂</m:t>
                      </m:r>
                      <m:r>
                        <a:rPr lang="en-US" sz="4000" i="1" dirty="0" smtClean="0">
                          <a:latin typeface="Cambria Math"/>
                        </a:rPr>
                        <m:t>(</m:t>
                      </m:r>
                      <m:r>
                        <a:rPr lang="en-US" sz="4000" i="1" dirty="0" smtClean="0">
                          <a:latin typeface="Cambria Math"/>
                        </a:rPr>
                        <m:t>𝑉</m:t>
                      </m:r>
                      <m:r>
                        <a:rPr lang="en-US" sz="4000" i="1" dirty="0" smtClean="0">
                          <a:latin typeface="Cambria Math"/>
                        </a:rPr>
                        <m:t>+</m:t>
                      </m:r>
                      <m:r>
                        <a:rPr lang="en-US" sz="4000" i="1" dirty="0" smtClean="0">
                          <a:latin typeface="Cambria Math"/>
                        </a:rPr>
                        <m:t>𝐸</m:t>
                      </m:r>
                      <m:r>
                        <a:rPr lang="en-US" sz="4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40514"/>
                <a:ext cx="2899512" cy="707886"/>
              </a:xfrm>
              <a:prstGeom prst="rect">
                <a:avLst/>
              </a:prstGeom>
              <a:blipFill rotWithShape="1">
                <a:blip r:embed="rId6"/>
                <a:stretch>
                  <a:fillRect t="-15517" r="-9053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38358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 algorithm in the books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Assumes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array-of-adjacency-lists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representation</a:t>
                </a:r>
              </a:p>
              <a:p>
                <a:endParaRPr lang="en-US" dirty="0"/>
              </a:p>
              <a:p>
                <a:r>
                  <a:rPr lang="en-US" dirty="0"/>
                  <a:t>Extra information stored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arrays</a:t>
                </a:r>
                <a:r>
                  <a:rPr lang="en-US" dirty="0"/>
                  <a:t>, indexed by node number</a:t>
                </a:r>
              </a:p>
              <a:p>
                <a:pPr lvl="1"/>
                <a:r>
                  <a:rPr lang="en-US" dirty="0" err="1"/>
                  <a:t>dist</a:t>
                </a:r>
                <a:r>
                  <a:rPr lang="en-US" dirty="0"/>
                  <a:t>[node] = distance</a:t>
                </a:r>
              </a:p>
              <a:p>
                <a:pPr lvl="2"/>
                <a:r>
                  <a:rPr lang="en-US" dirty="0"/>
                  <a:t>d[node] in CLR</a:t>
                </a:r>
              </a:p>
              <a:p>
                <a:pPr lvl="1"/>
                <a:r>
                  <a:rPr lang="en-US" dirty="0" err="1"/>
                  <a:t>pred</a:t>
                </a:r>
                <a:r>
                  <a:rPr lang="en-US" dirty="0"/>
                  <a:t>[node] = predecessor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US" dirty="0"/>
                  <a:t>[node] in CLR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62" t="-1213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Colors</a:t>
            </a:r>
            <a:r>
              <a:rPr lang="en-US" dirty="0"/>
              <a:t>” the nodes rather than marking them </a:t>
            </a:r>
            <a:r>
              <a:rPr lang="en-US" dirty="0" err="1"/>
              <a:t>visted</a:t>
            </a:r>
            <a:endParaRPr lang="en-US" dirty="0"/>
          </a:p>
          <a:p>
            <a:pPr lvl="1"/>
            <a:r>
              <a:rPr lang="en-US" dirty="0"/>
              <a:t>Three colors</a:t>
            </a:r>
          </a:p>
          <a:p>
            <a:pPr lvl="2"/>
            <a:r>
              <a:rPr lang="en-US" dirty="0"/>
              <a:t>White = unvisited</a:t>
            </a:r>
          </a:p>
          <a:p>
            <a:pPr lvl="2"/>
            <a:r>
              <a:rPr lang="en-US" dirty="0"/>
              <a:t>Gray = in the queue or being processed now</a:t>
            </a:r>
          </a:p>
          <a:p>
            <a:pPr lvl="2"/>
            <a:r>
              <a:rPr lang="en-US" dirty="0"/>
              <a:t>Black = </a:t>
            </a:r>
            <a:r>
              <a:rPr lang="en-US" dirty="0" err="1"/>
              <a:t>finshed</a:t>
            </a:r>
            <a:r>
              <a:rPr lang="en-US" dirty="0"/>
              <a:t> processing</a:t>
            </a:r>
          </a:p>
          <a:p>
            <a:pPr lvl="1"/>
            <a:r>
              <a:rPr lang="en-US" dirty="0"/>
              <a:t>Stored in color[node]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00974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actual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BFS(start)</a:t>
                </a:r>
                <a:br>
                  <a:rPr lang="en-US" dirty="0"/>
                </a:br>
                <a:r>
                  <a:rPr lang="en-US" dirty="0"/>
                  <a:t>   for each vertex v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en-US" dirty="0" err="1"/>
                  <a:t>pred</a:t>
                </a:r>
                <a:r>
                  <a:rPr lang="en-US" dirty="0"/>
                  <a:t>[v] = -1</a:t>
                </a:r>
                <a:br>
                  <a:rPr lang="en-US" dirty="0"/>
                </a:br>
                <a:r>
                  <a:rPr lang="en-US" dirty="0"/>
                  <a:t>      </a:t>
                </a:r>
                <a:r>
                  <a:rPr lang="en-US" dirty="0" err="1"/>
                  <a:t>dist</a:t>
                </a:r>
                <a:r>
                  <a:rPr lang="en-US" dirty="0"/>
                  <a:t>[v]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color[v] = white</a:t>
                </a:r>
                <a:br>
                  <a:rPr lang="en-US" dirty="0"/>
                </a:br>
                <a:r>
                  <a:rPr lang="en-US" dirty="0"/>
                  <a:t>   color[start] = gray</a:t>
                </a:r>
                <a:br>
                  <a:rPr lang="en-US" dirty="0"/>
                </a:br>
                <a:r>
                  <a:rPr lang="en-US" dirty="0"/>
                  <a:t>   </a:t>
                </a:r>
                <a:r>
                  <a:rPr lang="en-US" dirty="0" err="1"/>
                  <a:t>dist</a:t>
                </a:r>
                <a:r>
                  <a:rPr lang="en-US" dirty="0"/>
                  <a:t>[start] = 0</a:t>
                </a:r>
                <a:br>
                  <a:rPr lang="en-US" dirty="0"/>
                </a:br>
                <a:r>
                  <a:rPr lang="en-US" dirty="0"/>
                  <a:t>   Q = empty queue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enqueue</a:t>
                </a:r>
                <a:r>
                  <a:rPr lang="en-US" dirty="0"/>
                  <a:t>(Q, start)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564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while Q not empty</a:t>
            </a:r>
          </a:p>
          <a:p>
            <a:pPr marL="0" indent="0">
              <a:buNone/>
            </a:pPr>
            <a:r>
              <a:rPr lang="en-US" dirty="0"/>
              <a:t>      u = head of Q</a:t>
            </a:r>
            <a:br>
              <a:rPr lang="en-US" dirty="0"/>
            </a:br>
            <a:r>
              <a:rPr lang="en-US" dirty="0"/>
              <a:t>      for each neighbor v of u</a:t>
            </a:r>
            <a:br>
              <a:rPr lang="en-US" dirty="0"/>
            </a:br>
            <a:r>
              <a:rPr lang="en-US" dirty="0"/>
              <a:t>         if color[v] = white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dirty="0" err="1"/>
              <a:t>dist</a:t>
            </a:r>
            <a:r>
              <a:rPr lang="en-US" dirty="0"/>
              <a:t>[v] = </a:t>
            </a:r>
            <a:r>
              <a:rPr lang="en-US" dirty="0" err="1"/>
              <a:t>dist</a:t>
            </a:r>
            <a:r>
              <a:rPr lang="en-US" dirty="0"/>
              <a:t>[u]+1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dirty="0" err="1"/>
              <a:t>pred</a:t>
            </a:r>
            <a:r>
              <a:rPr lang="en-US" dirty="0"/>
              <a:t>[v] = u</a:t>
            </a:r>
            <a:br>
              <a:rPr lang="en-US" dirty="0"/>
            </a:br>
            <a:r>
              <a:rPr lang="en-US" dirty="0"/>
              <a:t>             color[v] = gray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Q.Enqueue</a:t>
            </a:r>
            <a:r>
              <a:rPr lang="en-US" dirty="0"/>
              <a:t>(v)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Q.Dequeue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color[u] = black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419600" y="1905000"/>
            <a:ext cx="0" cy="3352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3657600" y="5257800"/>
            <a:ext cx="762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419600" y="1905000"/>
            <a:ext cx="457200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07943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4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DepthFirst</a:t>
            </a:r>
            <a:r>
              <a:rPr lang="en-US" dirty="0"/>
              <a:t>(node)</a:t>
            </a:r>
          </a:p>
          <a:p>
            <a:pPr marL="0" indent="0">
              <a:buNone/>
            </a:pPr>
            <a:r>
              <a:rPr lang="en-US" dirty="0"/>
              <a:t>   for each child c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DepthFirst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Again, this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doesn’t quite work</a:t>
            </a:r>
          </a:p>
          <a:p>
            <a:pPr lvl="1"/>
            <a:r>
              <a:rPr lang="en-US" dirty="0"/>
              <a:t>No children per se</a:t>
            </a:r>
          </a:p>
          <a:p>
            <a:pPr lvl="1"/>
            <a:r>
              <a:rPr lang="en-US" dirty="0"/>
              <a:t>Need to keep from re-visiting nodes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410134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876645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733579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638734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6733579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4772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800600" cy="3962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mark node visited</a:t>
            </a:r>
          </a:p>
          <a:p>
            <a:pPr marL="0" indent="0">
              <a:buNone/>
            </a:pPr>
            <a:r>
              <a:rPr lang="en-US" dirty="0"/>
              <a:t>   for each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unvisited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          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neighbor</a:t>
            </a:r>
            <a:r>
              <a:rPr lang="en-US" dirty="0"/>
              <a:t>, c,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DepthFirst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fix it by keeping track of what nodes 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already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been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visited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410134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876645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733579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638734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6733579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9431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800600" cy="3962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mark node visited</a:t>
            </a:r>
          </a:p>
          <a:p>
            <a:pPr marL="0" indent="0">
              <a:buNone/>
            </a:pPr>
            <a:r>
              <a:rPr lang="en-US" dirty="0"/>
              <a:t>   for each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unvisited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          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neighbor</a:t>
            </a:r>
            <a:r>
              <a:rPr lang="en-US" dirty="0"/>
              <a:t>, c,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DepthFirst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in practice, one of the things DFS is most often used for is analyzing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connectivity</a:t>
            </a:r>
            <a:r>
              <a:rPr lang="en-US" b="1" dirty="0"/>
              <a:t> </a:t>
            </a:r>
            <a:r>
              <a:rPr lang="en-US" dirty="0"/>
              <a:t>of a graph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410134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876645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733579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638734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0"/>
            <a:endCxn id="15" idx="5"/>
          </p:cNvCxnSpPr>
          <p:nvPr/>
        </p:nvCxnSpPr>
        <p:spPr>
          <a:xfrm flipH="1" flipV="1">
            <a:off x="6733579" y="1754936"/>
            <a:ext cx="905155" cy="1914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03461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800600" cy="3962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mark node visited</a:t>
            </a:r>
          </a:p>
          <a:p>
            <a:pPr marL="0" indent="0">
              <a:buNone/>
            </a:pPr>
            <a:r>
              <a:rPr lang="en-US" dirty="0"/>
              <a:t>   for each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unvisited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    neighbor</a:t>
            </a:r>
            <a:r>
              <a:rPr lang="en-US" dirty="0"/>
              <a:t>, c,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DepthFirst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 it’s often run on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unconnected graph</a:t>
            </a:r>
          </a:p>
          <a:p>
            <a:r>
              <a:rPr lang="en-US" dirty="0"/>
              <a:t>Which means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every node will be visited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158057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4952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DepthFirst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for each node in graph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if node not visited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DFSVisit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foreach</a:t>
            </a:r>
            <a:r>
              <a:rPr lang="en-US" dirty="0"/>
              <a:t> unvisited</a:t>
            </a:r>
            <a:br>
              <a:rPr lang="en-US" dirty="0"/>
            </a:br>
            <a:r>
              <a:rPr lang="en-US" dirty="0"/>
              <a:t>                  neighbor, c,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 we modify it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run it on every node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718232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599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600" dirty="0" err="1">
                <a:solidFill>
                  <a:schemeClr val="tx1"/>
                </a:solidFill>
              </a:rPr>
              <a:t>DepthFirst</a:t>
            </a:r>
            <a:r>
              <a:rPr lang="en-US" sz="2600" dirty="0">
                <a:solidFill>
                  <a:schemeClr val="tx1"/>
                </a:solidFill>
              </a:rPr>
              <a:t>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   for each node in graph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  if node not visited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      </a:t>
            </a:r>
            <a:r>
              <a:rPr lang="en-US" sz="2600" dirty="0" err="1">
                <a:solidFill>
                  <a:schemeClr val="tx1"/>
                </a:solidFill>
              </a:rPr>
              <a:t>DFSVisit</a:t>
            </a:r>
            <a:r>
              <a:rPr lang="en-US" sz="2600" dirty="0">
                <a:solidFill>
                  <a:schemeClr val="tx1"/>
                </a:solidFill>
              </a:rPr>
              <a:t>(node)</a:t>
            </a:r>
          </a:p>
          <a:p>
            <a:pPr marL="0" indent="0">
              <a:lnSpc>
                <a:spcPct val="80000"/>
              </a:lnSpc>
              <a:buNone/>
            </a:pPr>
            <a:endParaRPr lang="en-US" sz="26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600" dirty="0" err="1"/>
              <a:t>DFSVisit</a:t>
            </a:r>
            <a:r>
              <a:rPr lang="en-US" sz="2600" dirty="0"/>
              <a:t>(node)</a:t>
            </a:r>
            <a:br>
              <a:rPr lang="en-US" sz="2600" dirty="0"/>
            </a:br>
            <a:r>
              <a:rPr lang="en-US" sz="2600" dirty="0"/>
              <a:t>   mark node visited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600" dirty="0"/>
              <a:t>   for each unvisited neighbor 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600" dirty="0"/>
              <a:t>      </a:t>
            </a:r>
            <a:r>
              <a:rPr lang="en-US" sz="2600" dirty="0" err="1"/>
              <a:t>DFSVisit</a:t>
            </a:r>
            <a:r>
              <a:rPr lang="en-US" sz="2600" dirty="0"/>
              <a:t>(c)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Call Stack:</a:t>
            </a:r>
          </a:p>
          <a:p>
            <a:pPr>
              <a:lnSpc>
                <a:spcPct val="80000"/>
              </a:lnSpc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22201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599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for each unvisited neighbor 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Call Stack:</a:t>
            </a:r>
          </a:p>
          <a:p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DFSVisit</a:t>
            </a:r>
            <a:r>
              <a:rPr lang="en-US" sz="2400" dirty="0"/>
              <a:t>(1)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96211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599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for each unvisited neighbor, 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Call Stack:</a:t>
            </a:r>
          </a:p>
          <a:p>
            <a:pPr>
              <a:lnSpc>
                <a:spcPct val="80000"/>
              </a:lnSpc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>
              <a:lnSpc>
                <a:spcPct val="80000"/>
              </a:lnSpc>
            </a:pPr>
            <a:r>
              <a:rPr lang="en-US" sz="2400" dirty="0" err="1"/>
              <a:t>DFSVisit</a:t>
            </a:r>
            <a:r>
              <a:rPr lang="en-US" sz="2400" dirty="0"/>
              <a:t>(1)</a:t>
            </a:r>
          </a:p>
          <a:p>
            <a:pPr>
              <a:lnSpc>
                <a:spcPct val="80000"/>
              </a:lnSpc>
            </a:pPr>
            <a:r>
              <a:rPr lang="en-US" sz="2400" dirty="0" err="1"/>
              <a:t>DFSVisit</a:t>
            </a:r>
            <a:r>
              <a:rPr lang="en-US" sz="2400" dirty="0"/>
              <a:t>(2)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07826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(3)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6423945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(3)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(9)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92814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(3)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(9)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(8)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142204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(3)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(9)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778534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(3)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7843744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517223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(4)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368340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(2)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09352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4789488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(4)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720505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1762602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30655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2796118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(6)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6755956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(6)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(11)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78913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(6)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404770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8756607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(7)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913721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(5)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616278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0751311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DFSVisit</a:t>
            </a:r>
            <a:r>
              <a:rPr lang="en-US" sz="1800" dirty="0"/>
              <a:t>(12)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6" name="Oval 35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79644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2" name="Oval 31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06998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DepthFirst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for each node in graph</a:t>
            </a:r>
            <a:br>
              <a:rPr lang="en-US" sz="1800" dirty="0"/>
            </a:br>
            <a:r>
              <a:rPr lang="en-US" sz="1800" dirty="0"/>
              <a:t>        if node not visited</a:t>
            </a:r>
            <a:br>
              <a:rPr lang="en-US" sz="1800" dirty="0"/>
            </a:br>
            <a:r>
              <a:rPr lang="en-US" sz="1800" dirty="0"/>
              <a:t>            </a:t>
            </a:r>
            <a:r>
              <a:rPr lang="en-US" sz="1800" dirty="0" err="1"/>
              <a:t>DFSVisit</a:t>
            </a:r>
            <a:r>
              <a:rPr lang="en-US" sz="1800" dirty="0"/>
              <a:t>(node)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DFSVisit</a:t>
            </a:r>
            <a:r>
              <a:rPr lang="en-US" sz="1800" dirty="0"/>
              <a:t>(node)</a:t>
            </a:r>
            <a:br>
              <a:rPr lang="en-US" sz="1800" dirty="0"/>
            </a:br>
            <a:r>
              <a:rPr lang="en-US" sz="1800" dirty="0"/>
              <a:t>   mark node visited</a:t>
            </a:r>
          </a:p>
          <a:p>
            <a:pPr marL="0" indent="0">
              <a:buNone/>
            </a:pPr>
            <a:r>
              <a:rPr lang="en-US" sz="1800" dirty="0"/>
              <a:t>   for each unvisited neighbor, c, of node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lang="en-US" sz="1800" dirty="0" err="1"/>
              <a:t>DFSVisit</a:t>
            </a:r>
            <a:r>
              <a:rPr lang="en-US" sz="1800" dirty="0"/>
              <a:t>(c)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Call Stack:</a:t>
            </a:r>
          </a:p>
          <a:p>
            <a:r>
              <a:rPr lang="en-US" sz="1800" dirty="0"/>
              <a:t>Done!</a:t>
            </a:r>
          </a:p>
        </p:txBody>
      </p:sp>
      <p:sp>
        <p:nvSpPr>
          <p:cNvPr id="5" name="Oval 4"/>
          <p:cNvSpPr/>
          <p:nvPr/>
        </p:nvSpPr>
        <p:spPr>
          <a:xfrm>
            <a:off x="63433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7150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4101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9770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596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5719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8003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9621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61052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67335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43334" y="136469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571934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1"/>
            <a:endCxn id="15" idx="6"/>
          </p:cNvCxnSpPr>
          <p:nvPr/>
        </p:nvCxnSpPr>
        <p:spPr>
          <a:xfrm flipH="1" flipV="1">
            <a:off x="6800534" y="1593291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1991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64389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7" name="Straight Arrow Connector 26"/>
          <p:cNvCxnSpPr>
            <a:stCxn id="26" idx="7"/>
            <a:endCxn id="25" idx="3"/>
          </p:cNvCxnSpPr>
          <p:nvPr/>
        </p:nvCxnSpPr>
        <p:spPr>
          <a:xfrm flipV="1">
            <a:off x="68291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5"/>
            <a:endCxn id="26" idx="1"/>
          </p:cNvCxnSpPr>
          <p:nvPr/>
        </p:nvCxnSpPr>
        <p:spPr>
          <a:xfrm>
            <a:off x="61052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6"/>
            <a:endCxn id="25" idx="1"/>
          </p:cNvCxnSpPr>
          <p:nvPr/>
        </p:nvCxnSpPr>
        <p:spPr>
          <a:xfrm>
            <a:off x="68005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36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3" name="Straight Arrow Connector 42"/>
          <p:cNvCxnSpPr>
            <a:stCxn id="10" idx="1"/>
            <a:endCxn id="42" idx="5"/>
          </p:cNvCxnSpPr>
          <p:nvPr/>
        </p:nvCxnSpPr>
        <p:spPr>
          <a:xfrm flipH="1" flipV="1">
            <a:off x="63338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2"/>
            <a:endCxn id="42" idx="6"/>
          </p:cNvCxnSpPr>
          <p:nvPr/>
        </p:nvCxnSpPr>
        <p:spPr>
          <a:xfrm flipH="1">
            <a:off x="64008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693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51054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311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080754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Analysis:</a:t>
            </a:r>
            <a:br>
              <a:rPr lang="en-US" dirty="0"/>
            </a:br>
            <a:r>
              <a:rPr lang="en-US" sz="3600" dirty="0"/>
              <a:t>how many times are these lines run?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buNone/>
            </a:pPr>
            <a:r>
              <a:rPr lang="en-US" sz="2400" dirty="0"/>
              <a:t>   for each neighbor, c, of node</a:t>
            </a:r>
            <a:br>
              <a:rPr lang="en-US" sz="2400" dirty="0"/>
            </a:br>
            <a:r>
              <a:rPr lang="en-US" sz="2400" dirty="0"/>
              <a:t>      if c not visited</a:t>
            </a:r>
          </a:p>
          <a:p>
            <a:pPr marL="0" indent="0">
              <a:buNone/>
            </a:pPr>
            <a:r>
              <a:rPr lang="en-US" sz="2400" dirty="0"/>
              <a:t>    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67400" y="2895600"/>
            <a:ext cx="0" cy="304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867400" y="4110335"/>
            <a:ext cx="0" cy="3048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67400" y="4872335"/>
            <a:ext cx="0" cy="3048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867400" y="5334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675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buNone/>
            </a:pPr>
            <a:r>
              <a:rPr lang="en-US" sz="2400" dirty="0"/>
              <a:t>   for each neighbor, c, of node</a:t>
            </a:r>
            <a:br>
              <a:rPr lang="en-US" sz="2400" dirty="0"/>
            </a:br>
            <a:r>
              <a:rPr lang="en-US" sz="2400" dirty="0"/>
              <a:t>      if c not visited</a:t>
            </a:r>
          </a:p>
          <a:p>
            <a:pPr marL="0" indent="0">
              <a:buNone/>
            </a:pPr>
            <a:r>
              <a:rPr lang="en-US" sz="2400" dirty="0"/>
              <a:t>    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67400" y="2895600"/>
            <a:ext cx="0" cy="304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2819400"/>
            <a:ext cx="2174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Once per vertex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867400" y="4110335"/>
            <a:ext cx="0" cy="3048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72200" y="4034135"/>
            <a:ext cx="2174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Once per vertex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867400" y="4872335"/>
            <a:ext cx="0" cy="3048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72200" y="4796135"/>
            <a:ext cx="2006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Once per edge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5867400" y="5334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72200" y="5257800"/>
            <a:ext cx="2174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Once per vertex</a:t>
            </a:r>
          </a:p>
        </p:txBody>
      </p:sp>
    </p:spTree>
    <p:extLst>
      <p:ext uri="{BB962C8B-B14F-4D97-AF65-F5344CB8AC3E}">
        <p14:creationId xmlns:p14="http://schemas.microsoft.com/office/powerpoint/2010/main" val="139402397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buNone/>
            </a:pPr>
            <a:r>
              <a:rPr lang="en-US" sz="2400" dirty="0"/>
              <a:t>   for each neighbor, c, of node</a:t>
            </a:r>
            <a:br>
              <a:rPr lang="en-US" sz="2400" dirty="0"/>
            </a:br>
            <a:r>
              <a:rPr lang="en-US" sz="2400" dirty="0"/>
              <a:t>      if c not visited</a:t>
            </a:r>
          </a:p>
          <a:p>
            <a:pPr marL="0" indent="0">
              <a:buNone/>
            </a:pPr>
            <a:r>
              <a:rPr lang="en-US" sz="2400" dirty="0"/>
              <a:t>    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67400" y="2895600"/>
            <a:ext cx="0" cy="304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72200" y="2819400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819400"/>
                <a:ext cx="928075" cy="461665"/>
              </a:xfrm>
              <a:prstGeom prst="rect">
                <a:avLst/>
              </a:prstGeom>
              <a:blipFill rotWithShape="1">
                <a:blip r:embed="rId2"/>
                <a:stretch>
                  <a:fillRect t="-10667" r="-13158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867400" y="4110335"/>
            <a:ext cx="0" cy="3048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172200" y="4034135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034135"/>
                <a:ext cx="928075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526" r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5867400" y="4872335"/>
            <a:ext cx="0" cy="3048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172200" y="4796135"/>
                <a:ext cx="9303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796135"/>
                <a:ext cx="930383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10526" r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67400" y="5334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172200" y="5257800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257800"/>
                <a:ext cx="928075" cy="461665"/>
              </a:xfrm>
              <a:prstGeom prst="rect">
                <a:avLst/>
              </a:prstGeom>
              <a:blipFill rotWithShape="1">
                <a:blip r:embed="rId2"/>
                <a:stretch>
                  <a:fillRect t="-10667" r="-13158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40419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Analysis: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+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DepthFirst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   for each node in graph</a:t>
            </a:r>
            <a:br>
              <a:rPr lang="en-US" sz="2400" dirty="0"/>
            </a:br>
            <a:r>
              <a:rPr lang="en-US" sz="2400" dirty="0"/>
              <a:t>        if node not visited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dirty="0" err="1"/>
              <a:t>DFSVisit</a:t>
            </a:r>
            <a:r>
              <a:rPr lang="en-US" sz="2400" dirty="0"/>
              <a:t>(node)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DFSVisit</a:t>
            </a:r>
            <a:r>
              <a:rPr lang="en-US" sz="2400" dirty="0"/>
              <a:t>(node)</a:t>
            </a:r>
            <a:br>
              <a:rPr lang="en-US" sz="2400" dirty="0"/>
            </a:br>
            <a:r>
              <a:rPr lang="en-US" sz="2400" dirty="0"/>
              <a:t>   mark node visited</a:t>
            </a:r>
          </a:p>
          <a:p>
            <a:pPr marL="0" indent="0">
              <a:buNone/>
            </a:pPr>
            <a:r>
              <a:rPr lang="en-US" sz="2400" dirty="0"/>
              <a:t>   for each neighbor, c, of node</a:t>
            </a:r>
            <a:br>
              <a:rPr lang="en-US" sz="2400" dirty="0"/>
            </a:br>
            <a:r>
              <a:rPr lang="en-US" sz="2400" dirty="0"/>
              <a:t>      if c not visited</a:t>
            </a:r>
          </a:p>
          <a:p>
            <a:pPr marL="0" indent="0">
              <a:buNone/>
            </a:pPr>
            <a:r>
              <a:rPr lang="en-US" sz="2400" dirty="0"/>
              <a:t>          </a:t>
            </a:r>
            <a:r>
              <a:rPr lang="en-US" sz="2400" dirty="0" err="1"/>
              <a:t>DFSVisit</a:t>
            </a:r>
            <a:r>
              <a:rPr lang="en-US" sz="2400" dirty="0"/>
              <a:t>(c)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67400" y="2895600"/>
            <a:ext cx="0" cy="304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72200" y="2819400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819400"/>
                <a:ext cx="928075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667" r="-13158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867400" y="4110335"/>
            <a:ext cx="0" cy="3048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172200" y="4034135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034135"/>
                <a:ext cx="928075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10526" r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5867400" y="4872335"/>
            <a:ext cx="0" cy="3048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172200" y="4796135"/>
                <a:ext cx="9303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796135"/>
                <a:ext cx="930383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10526" r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67400" y="5334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172200" y="5257800"/>
                <a:ext cx="928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𝑂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𝑉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257800"/>
                <a:ext cx="928075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667" r="-13158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6572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b="1" dirty="0"/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node.component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258344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425164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4092431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b="1" dirty="0"/>
              <a:t>   mark node visited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b="1" dirty="0" err="1"/>
              <a:t>node.component</a:t>
            </a:r>
            <a:r>
              <a:rPr lang="en-US" b="1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3373330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LCCVisit</a:t>
            </a:r>
            <a:r>
              <a:rPr lang="en-US" b="1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1175968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b="1" dirty="0"/>
              <a:t>   mark node visited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b="1" dirty="0" err="1"/>
              <a:t>node.component</a:t>
            </a:r>
            <a:r>
              <a:rPr lang="en-US" b="1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2101725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134145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645929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0148450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330456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b="1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6585250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3647423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7995505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388347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169553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5275922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b="1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3635079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6731595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connected component analysis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68712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Given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connected, directed acyclic graph (DAG)</a:t>
            </a:r>
          </a:p>
          <a:p>
            <a:r>
              <a:rPr lang="en-US" dirty="0"/>
              <a:t>Find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the nodes such that for any nodes a, b</a:t>
            </a:r>
          </a:p>
          <a:p>
            <a:pPr lvl="1"/>
            <a:r>
              <a:rPr lang="en-US" dirty="0"/>
              <a:t>If there is an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edge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from a to b</a:t>
            </a:r>
          </a:p>
          <a:p>
            <a:pPr lvl="1"/>
            <a:r>
              <a:rPr lang="en-US" dirty="0"/>
              <a:t>b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comes after </a:t>
            </a:r>
            <a:r>
              <a:rPr lang="en-US" dirty="0"/>
              <a:t>a in the ordering</a:t>
            </a:r>
          </a:p>
          <a:p>
            <a:pPr lvl="1"/>
            <a:r>
              <a:rPr lang="en-US" dirty="0"/>
              <a:t>Alternate version: b comes before a in the order</a:t>
            </a:r>
          </a:p>
          <a:p>
            <a:endParaRPr lang="en-US" dirty="0"/>
          </a:p>
          <a:p>
            <a:r>
              <a:rPr lang="en-US" dirty="0"/>
              <a:t>Useful for problems such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scheduling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tasks</a:t>
            </a:r>
          </a:p>
          <a:p>
            <a:pPr lvl="1"/>
            <a:r>
              <a:rPr lang="en-US" dirty="0"/>
              <a:t>Make a graph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dependencies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between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subtasks</a:t>
            </a:r>
          </a:p>
          <a:p>
            <a:pPr lvl="1"/>
            <a:r>
              <a:rPr lang="en-US" dirty="0"/>
              <a:t>Topologically sort it</a:t>
            </a:r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</p:spTree>
    <p:extLst>
      <p:ext uri="{BB962C8B-B14F-4D97-AF65-F5344CB8AC3E}">
        <p14:creationId xmlns:p14="http://schemas.microsoft.com/office/powerpoint/2010/main" val="153207883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Essentially a fancy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post-order </a:t>
            </a:r>
            <a:r>
              <a:rPr lang="en-US" dirty="0"/>
              <a:t>traversal</a:t>
            </a:r>
          </a:p>
          <a:p>
            <a:endParaRPr lang="en-US" dirty="0"/>
          </a:p>
          <a:p>
            <a:r>
              <a:rPr lang="en-US" dirty="0"/>
              <a:t>Used to find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total orderings </a:t>
            </a:r>
            <a:r>
              <a:rPr lang="en-US" dirty="0"/>
              <a:t>from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partial orderings</a:t>
            </a:r>
          </a:p>
          <a:p>
            <a:endParaRPr lang="en-US" dirty="0"/>
          </a:p>
          <a:p>
            <a:r>
              <a:rPr lang="en-US" dirty="0"/>
              <a:t>If you’ve used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make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program on </a:t>
            </a:r>
            <a:r>
              <a:rPr lang="en-US" dirty="0" err="1"/>
              <a:t>linux</a:t>
            </a:r>
            <a:r>
              <a:rPr lang="en-US" dirty="0"/>
              <a:t>, it’s essentially doing a topological sort to decide what order to compile things in</a:t>
            </a:r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</p:spTree>
    <p:extLst>
      <p:ext uri="{BB962C8B-B14F-4D97-AF65-F5344CB8AC3E}">
        <p14:creationId xmlns:p14="http://schemas.microsoft.com/office/powerpoint/2010/main" val="141114083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TopologicalSort</a:t>
            </a:r>
            <a:r>
              <a:rPr lang="en-US" dirty="0"/>
              <a:t>(start)</a:t>
            </a:r>
          </a:p>
          <a:p>
            <a:pPr marL="0" indent="0">
              <a:buNone/>
            </a:pPr>
            <a:r>
              <a:rPr lang="en-US" dirty="0"/>
              <a:t>    list = new empty list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TopologicalVisit</a:t>
            </a:r>
            <a:r>
              <a:rPr lang="en-US" dirty="0"/>
              <a:t>(start)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TopologicalVisit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r>
              <a:rPr lang="en-US" dirty="0"/>
              <a:t>   for each node n with an</a:t>
            </a:r>
            <a:br>
              <a:rPr lang="en-US" dirty="0"/>
            </a:br>
            <a:r>
              <a:rPr lang="en-US" dirty="0"/>
              <a:t>           edge from node to n</a:t>
            </a:r>
          </a:p>
          <a:p>
            <a:pPr marL="0" indent="0">
              <a:buNone/>
            </a:pPr>
            <a:r>
              <a:rPr lang="en-US" dirty="0"/>
              <a:t>           if n not visited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TopologicalVisit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add node to list</a:t>
            </a:r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</p:spTree>
    <p:extLst>
      <p:ext uri="{BB962C8B-B14F-4D97-AF65-F5344CB8AC3E}">
        <p14:creationId xmlns:p14="http://schemas.microsoft.com/office/powerpoint/2010/main" val="148096219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96000"/>
            <a:ext cx="3642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&lt;empty&gt;</a:t>
            </a:r>
          </a:p>
        </p:txBody>
      </p:sp>
    </p:spTree>
    <p:extLst>
      <p:ext uri="{BB962C8B-B14F-4D97-AF65-F5344CB8AC3E}">
        <p14:creationId xmlns:p14="http://schemas.microsoft.com/office/powerpoint/2010/main" val="180219008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642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&lt;empty&gt;</a:t>
            </a:r>
          </a:p>
        </p:txBody>
      </p:sp>
    </p:spTree>
    <p:extLst>
      <p:ext uri="{BB962C8B-B14F-4D97-AF65-F5344CB8AC3E}">
        <p14:creationId xmlns:p14="http://schemas.microsoft.com/office/powerpoint/2010/main" val="290518205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(chop)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642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&lt;empty&gt;</a:t>
            </a:r>
          </a:p>
        </p:txBody>
      </p:sp>
    </p:spTree>
    <p:extLst>
      <p:ext uri="{BB962C8B-B14F-4D97-AF65-F5344CB8AC3E}">
        <p14:creationId xmlns:p14="http://schemas.microsoft.com/office/powerpoint/2010/main" val="127589435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(chop)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(get)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642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&lt;empty&gt;</a:t>
            </a:r>
          </a:p>
        </p:txBody>
      </p:sp>
    </p:spTree>
    <p:extLst>
      <p:ext uri="{BB962C8B-B14F-4D97-AF65-F5344CB8AC3E}">
        <p14:creationId xmlns:p14="http://schemas.microsoft.com/office/powerpoint/2010/main" val="299511421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(chop)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(get)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2691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</a:t>
            </a:r>
          </a:p>
        </p:txBody>
      </p:sp>
    </p:spTree>
    <p:extLst>
      <p:ext uri="{BB962C8B-B14F-4D97-AF65-F5344CB8AC3E}">
        <p14:creationId xmlns:p14="http://schemas.microsoft.com/office/powerpoint/2010/main" val="384854437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(chop)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709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get, chop</a:t>
            </a:r>
          </a:p>
        </p:txBody>
      </p:sp>
    </p:spTree>
    <p:extLst>
      <p:ext uri="{BB962C8B-B14F-4D97-AF65-F5344CB8AC3E}">
        <p14:creationId xmlns:p14="http://schemas.microsoft.com/office/powerpoint/2010/main" val="374099123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709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</a:t>
            </a:r>
            <a:r>
              <a:rPr lang="en-US" sz="3200"/>
              <a:t>, chop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934304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(whip)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709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</a:t>
            </a:r>
            <a:r>
              <a:rPr lang="en-US" sz="3200"/>
              <a:t>, chop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7506732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(whip)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(crack)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3709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</a:t>
            </a:r>
            <a:r>
              <a:rPr lang="en-US" sz="3200"/>
              <a:t>, chop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145505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(whip)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(crack)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4768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get, chop, crack</a:t>
            </a:r>
          </a:p>
        </p:txBody>
      </p:sp>
    </p:spTree>
    <p:extLst>
      <p:ext uri="{BB962C8B-B14F-4D97-AF65-F5344CB8AC3E}">
        <p14:creationId xmlns:p14="http://schemas.microsoft.com/office/powerpoint/2010/main" val="64567388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(whip)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96000"/>
            <a:ext cx="5784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get, chop, crack, whip</a:t>
            </a:r>
          </a:p>
        </p:txBody>
      </p:sp>
    </p:spTree>
    <p:extLst>
      <p:ext uri="{BB962C8B-B14F-4D97-AF65-F5344CB8AC3E}">
        <p14:creationId xmlns:p14="http://schemas.microsoft.com/office/powerpoint/2010/main" val="398434306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(mix)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58871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get, chop, crack, whip,</a:t>
            </a:r>
          </a:p>
          <a:p>
            <a:r>
              <a:rPr lang="en-US" sz="3200" dirty="0"/>
              <a:t>                     mix</a:t>
            </a:r>
          </a:p>
        </p:txBody>
      </p:sp>
    </p:spTree>
    <p:extLst>
      <p:ext uri="{BB962C8B-B14F-4D97-AF65-F5344CB8AC3E}">
        <p14:creationId xmlns:p14="http://schemas.microsoft.com/office/powerpoint/2010/main" val="168133892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application:</a:t>
            </a:r>
            <a:br>
              <a:rPr lang="en-US" sz="3600" dirty="0"/>
            </a:br>
            <a:r>
              <a:rPr lang="en-US" sz="3600" dirty="0"/>
              <a:t>topological sort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TopologicalVist</a:t>
            </a:r>
            <a:r>
              <a:rPr lang="en-US" dirty="0"/>
              <a:t>(cook)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>
            <a:stCxn id="69" idx="7"/>
            <a:endCxn id="66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7"/>
            <a:endCxn id="64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4" idx="5"/>
            <a:endCxn id="67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4" idx="4"/>
            <a:endCxn id="64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66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5" idx="4"/>
            <a:endCxn id="69" idx="1"/>
          </p:cNvCxnSpPr>
          <p:nvPr/>
        </p:nvCxnSpPr>
        <p:spPr>
          <a:xfrm>
            <a:off x="6077266" y="3533422"/>
            <a:ext cx="923889" cy="2073555"/>
          </a:xfrm>
          <a:prstGeom prst="straightConnector1">
            <a:avLst/>
          </a:prstGeom>
          <a:ln w="95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40753" y="65713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445" y="2057400"/>
            <a:ext cx="16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362200"/>
            <a:ext cx="880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</a:t>
            </a:r>
          </a:p>
          <a:p>
            <a:r>
              <a:rPr lang="en-US" dirty="0"/>
              <a:t>veggies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2645" y="28194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3" y="3817159"/>
            <a:ext cx="69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</a:t>
            </a:r>
          </a:p>
          <a:p>
            <a:r>
              <a:rPr lang="en-US" dirty="0"/>
              <a:t>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169" y="6096000"/>
            <a:ext cx="162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ingredients</a:t>
            </a:r>
          </a:p>
          <a:p>
            <a:r>
              <a:rPr lang="en-US" dirty="0"/>
              <a:t>from fridge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58871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 list: get, chop, crack, whip,</a:t>
            </a:r>
          </a:p>
          <a:p>
            <a:r>
              <a:rPr lang="en-US" sz="3200" dirty="0"/>
              <a:t>                     mix, cook</a:t>
            </a:r>
          </a:p>
        </p:txBody>
      </p:sp>
    </p:spTree>
    <p:extLst>
      <p:ext uri="{BB962C8B-B14F-4D97-AF65-F5344CB8AC3E}">
        <p14:creationId xmlns:p14="http://schemas.microsoft.com/office/powerpoint/2010/main" val="209842530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It turns out to be useful to keep track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nodes are accessed</a:t>
            </a:r>
          </a:p>
          <a:p>
            <a:endParaRPr lang="en-US" dirty="0"/>
          </a:p>
          <a:p>
            <a:r>
              <a:rPr lang="en-US" dirty="0"/>
              <a:t>We keep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counter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variable that acts as a kind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clock</a:t>
            </a:r>
          </a:p>
          <a:p>
            <a:pPr lvl="1"/>
            <a:r>
              <a:rPr lang="en-US" dirty="0"/>
              <a:t>Increment it every time we call </a:t>
            </a:r>
            <a:r>
              <a:rPr lang="en-US" dirty="0" err="1"/>
              <a:t>DFSVisit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Record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the value of the counter every time we</a:t>
            </a:r>
          </a:p>
          <a:p>
            <a:pPr lvl="1"/>
            <a:r>
              <a:rPr lang="en-US" dirty="0"/>
              <a:t>Start a call to </a:t>
            </a:r>
            <a:r>
              <a:rPr lang="en-US" dirty="0" err="1"/>
              <a:t>DFSVisit</a:t>
            </a:r>
            <a:endParaRPr lang="en-US" dirty="0"/>
          </a:p>
          <a:p>
            <a:pPr lvl="1"/>
            <a:r>
              <a:rPr lang="en-US" dirty="0"/>
              <a:t>End a call to </a:t>
            </a:r>
            <a:r>
              <a:rPr lang="en-US" dirty="0" err="1"/>
              <a:t>DFSVisit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7688493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as long as we’re at it, we’ll also keep track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nodes</a:t>
            </a:r>
          </a:p>
          <a:p>
            <a:pPr lvl="1"/>
            <a:r>
              <a:rPr lang="en-US" dirty="0"/>
              <a:t>As with the fancy version of breadth-first search</a:t>
            </a:r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8056370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node.discovered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node.finished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089141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0072453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2485489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/>
              <a:t>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4245896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DFSVisit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2998278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1464878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750708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/>
              <a:t>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103460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DFSVisit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823344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066758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922253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/>
              <a:t>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75017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DFSVisit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553270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870444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949150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/>
              <a:t>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82091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DFSVisit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2054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14628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588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231473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7523076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Timestamping</a:t>
            </a:r>
            <a:r>
              <a:rPr lang="en-US" dirty="0"/>
              <a:t>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2909148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641875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was called from 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492438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 was called from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77606342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was called from 2</a:t>
            </a:r>
            <a:br>
              <a:rPr lang="en-US" dirty="0"/>
            </a:br>
            <a:r>
              <a:rPr lang="en-US" sz="2700" dirty="0"/>
              <a:t>(who still has an unvisited neighbor)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b="1" dirty="0"/>
              <a:t>   for each unvisited neighbor, </a:t>
            </a:r>
            <a:br>
              <a:rPr lang="en-US" b="1" dirty="0"/>
            </a:br>
            <a:r>
              <a:rPr lang="en-US" b="1" dirty="0"/>
              <a:t>                c, of node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15884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was called from 2</a:t>
            </a:r>
            <a:br>
              <a:rPr lang="en-US" dirty="0"/>
            </a:br>
            <a:r>
              <a:rPr lang="en-US" sz="2700" dirty="0"/>
              <a:t>(who still has an unvisited neighbor)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b="1" dirty="0"/>
              <a:t>      </a:t>
            </a:r>
            <a:r>
              <a:rPr lang="en-US" b="1" dirty="0" err="1"/>
              <a:t>c.predecessor</a:t>
            </a:r>
            <a:r>
              <a:rPr lang="en-US" b="1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19221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was called from 2</a:t>
            </a:r>
            <a:br>
              <a:rPr lang="en-US" dirty="0"/>
            </a:br>
            <a:r>
              <a:rPr lang="en-US" sz="2700" dirty="0"/>
              <a:t>(who still has an unvisited neighbor)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DFSVisit</a:t>
            </a:r>
            <a:r>
              <a:rPr lang="en-US" b="1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9464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now we visit 4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b="1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199343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now we visit 4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node.discovered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6029113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now we visit 4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264713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now we can finish off 2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7876685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1…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DFSVisit</a:t>
            </a:r>
            <a:r>
              <a:rPr lang="en-US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node.finished</a:t>
            </a:r>
            <a:r>
              <a:rPr lang="en-US" b="1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1550539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16694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6578260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8247849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7446700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9630310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49065729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7597283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then we do the rest …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DepthFirst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time = 0</a:t>
            </a:r>
          </a:p>
          <a:p>
            <a:pPr marL="0" indent="0">
              <a:buNone/>
            </a:pPr>
            <a:r>
              <a:rPr lang="en-US" b="1" dirty="0"/>
              <a:t>   for each node in graph</a:t>
            </a:r>
            <a:br>
              <a:rPr lang="en-US" b="1" dirty="0"/>
            </a:br>
            <a:r>
              <a:rPr lang="en-US" b="1" dirty="0"/>
              <a:t>        if node not visited</a:t>
            </a:r>
            <a:br>
              <a:rPr lang="en-US" b="1" dirty="0"/>
            </a:br>
            <a:r>
              <a:rPr lang="en-US" b="1" dirty="0"/>
              <a:t>            </a:t>
            </a:r>
            <a:r>
              <a:rPr lang="en-US" b="1" dirty="0" err="1"/>
              <a:t>DFSVisit</a:t>
            </a:r>
            <a:r>
              <a:rPr lang="en-US" b="1" dirty="0"/>
              <a:t>(node)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DFSVisit</a:t>
            </a:r>
            <a:r>
              <a:rPr lang="en-US" dirty="0"/>
              <a:t>(node)</a:t>
            </a:r>
            <a:br>
              <a:rPr lang="en-US" dirty="0"/>
            </a:br>
            <a:r>
              <a:rPr lang="en-US" dirty="0"/>
              <a:t>   mark node visited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node.discovered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r>
              <a:rPr lang="en-US" dirty="0"/>
              <a:t>   for each unvisited neighbor, </a:t>
            </a:r>
            <a:br>
              <a:rPr lang="en-US" dirty="0"/>
            </a:br>
            <a:r>
              <a:rPr lang="en-US" dirty="0"/>
              <a:t>                c, of node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c.predecessor</a:t>
            </a:r>
            <a:r>
              <a:rPr lang="en-US" dirty="0"/>
              <a:t> =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DFSVisit</a:t>
            </a:r>
            <a:r>
              <a:rPr lang="en-US" dirty="0"/>
              <a:t>(c)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node.finished</a:t>
            </a:r>
            <a:r>
              <a:rPr lang="en-US" dirty="0"/>
              <a:t> = time++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29827101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forest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Once again,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 links form a tree</a:t>
            </a:r>
          </a:p>
          <a:p>
            <a:pPr lvl="1"/>
            <a:r>
              <a:rPr lang="en-US" dirty="0"/>
              <a:t>Rooted at the point where the </a:t>
            </a:r>
            <a:r>
              <a:rPr lang="en-US" dirty="0" err="1"/>
              <a:t>DFSVist</a:t>
            </a:r>
            <a:r>
              <a:rPr lang="en-US" dirty="0"/>
              <a:t> was started</a:t>
            </a:r>
          </a:p>
          <a:p>
            <a:pPr lvl="1"/>
            <a:r>
              <a:rPr lang="en-US" dirty="0"/>
              <a:t>Called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depth-first tree</a:t>
            </a:r>
          </a:p>
          <a:p>
            <a:endParaRPr lang="en-US" dirty="0"/>
          </a:p>
          <a:p>
            <a:r>
              <a:rPr lang="en-US" dirty="0"/>
              <a:t>Except, technically there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trees</a:t>
            </a:r>
          </a:p>
          <a:p>
            <a:pPr lvl="1"/>
            <a:r>
              <a:rPr lang="en-US" dirty="0"/>
              <a:t>One for every connected component</a:t>
            </a:r>
          </a:p>
          <a:p>
            <a:endParaRPr lang="en-US" dirty="0"/>
          </a:p>
          <a:p>
            <a:r>
              <a:rPr lang="en-US" dirty="0"/>
              <a:t>So this is called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depth-first forest</a:t>
            </a:r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1"/>
            <a:endCxn id="15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18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23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496" y="563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116769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forest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Once again,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 links form a tree</a:t>
            </a:r>
          </a:p>
          <a:p>
            <a:pPr lvl="1"/>
            <a:r>
              <a:rPr lang="en-US" dirty="0"/>
              <a:t>Rooted at the point where the </a:t>
            </a:r>
            <a:r>
              <a:rPr lang="en-US" dirty="0" err="1"/>
              <a:t>DFSVist</a:t>
            </a:r>
            <a:r>
              <a:rPr lang="en-US" dirty="0"/>
              <a:t> was started</a:t>
            </a:r>
          </a:p>
          <a:p>
            <a:pPr lvl="1"/>
            <a:r>
              <a:rPr lang="en-US" dirty="0"/>
              <a:t>Called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depth-first tree</a:t>
            </a:r>
          </a:p>
          <a:p>
            <a:endParaRPr lang="en-US" dirty="0"/>
          </a:p>
          <a:p>
            <a:r>
              <a:rPr lang="en-US" dirty="0"/>
              <a:t>Except, technically there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trees</a:t>
            </a:r>
          </a:p>
          <a:p>
            <a:pPr lvl="1"/>
            <a:r>
              <a:rPr lang="en-US" dirty="0"/>
              <a:t>One for every connected component</a:t>
            </a:r>
          </a:p>
          <a:p>
            <a:endParaRPr lang="en-US" dirty="0"/>
          </a:p>
          <a:p>
            <a:r>
              <a:rPr lang="en-US" dirty="0"/>
              <a:t>So this is called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depth-first forest</a:t>
            </a:r>
          </a:p>
        </p:txBody>
      </p:sp>
      <p:sp>
        <p:nvSpPr>
          <p:cNvPr id="5" name="Oval 4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7"/>
            <a:endCxn id="18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1"/>
            <a:endCxn id="23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496" y="563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53242512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forest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Once again,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 links form a tree</a:t>
            </a:r>
          </a:p>
          <a:p>
            <a:pPr lvl="1"/>
            <a:r>
              <a:rPr lang="en-US" dirty="0"/>
              <a:t>Rooted at the point where the </a:t>
            </a:r>
            <a:r>
              <a:rPr lang="en-US" dirty="0" err="1"/>
              <a:t>DFSVist</a:t>
            </a:r>
            <a:r>
              <a:rPr lang="en-US" dirty="0"/>
              <a:t> was started</a:t>
            </a:r>
          </a:p>
          <a:p>
            <a:pPr lvl="1"/>
            <a:r>
              <a:rPr lang="en-US" dirty="0"/>
              <a:t>Called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depth-first tree</a:t>
            </a:r>
          </a:p>
          <a:p>
            <a:endParaRPr lang="en-US" dirty="0"/>
          </a:p>
          <a:p>
            <a:r>
              <a:rPr lang="en-US" dirty="0"/>
              <a:t>Except, technically there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trees</a:t>
            </a:r>
          </a:p>
          <a:p>
            <a:pPr lvl="1"/>
            <a:r>
              <a:rPr lang="en-US" dirty="0"/>
              <a:t>One for every connected component</a:t>
            </a:r>
          </a:p>
          <a:p>
            <a:endParaRPr lang="en-US" dirty="0"/>
          </a:p>
          <a:p>
            <a:r>
              <a:rPr lang="en-US" dirty="0"/>
              <a:t>So this is called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depth-first forest</a:t>
            </a:r>
          </a:p>
        </p:txBody>
      </p:sp>
      <p:sp>
        <p:nvSpPr>
          <p:cNvPr id="5" name="Oval 4"/>
          <p:cNvSpPr/>
          <p:nvPr/>
        </p:nvSpPr>
        <p:spPr>
          <a:xfrm>
            <a:off x="1623994" y="2199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90600" y="28021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73051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8021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496727" y="54937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54937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120762"/>
            <a:ext cx="411503" cy="439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447645" y="5120762"/>
            <a:ext cx="381244" cy="43997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380845" y="2589535"/>
            <a:ext cx="310104" cy="2795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14239" y="2589535"/>
            <a:ext cx="338716" cy="27957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3994" y="14229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2594" y="1880136"/>
            <a:ext cx="0" cy="319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79833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558986" y="3352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6"/>
            <a:endCxn id="18" idx="1"/>
          </p:cNvCxnSpPr>
          <p:nvPr/>
        </p:nvCxnSpPr>
        <p:spPr>
          <a:xfrm>
            <a:off x="2016186" y="3581400"/>
            <a:ext cx="601669" cy="2838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380845" y="3192395"/>
            <a:ext cx="245096" cy="22736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447800" y="61033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3"/>
          </p:cNvCxnSpPr>
          <p:nvPr/>
        </p:nvCxnSpPr>
        <p:spPr>
          <a:xfrm flipH="1">
            <a:off x="1848048" y="5884027"/>
            <a:ext cx="276307" cy="2838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73596" y="61404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143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1905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3364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09800" y="3821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821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486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89355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914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7000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6714" y="1905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143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419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4896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" y="60271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7296" y="60388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6896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4200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419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0896" y="4659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475658983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depth-first forests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4904" y="1600200"/>
            <a:ext cx="4839096" cy="4525963"/>
          </a:xfrm>
        </p:spPr>
        <p:txBody>
          <a:bodyPr>
            <a:normAutofit/>
          </a:bodyPr>
          <a:lstStyle/>
          <a:p>
            <a:r>
              <a:rPr lang="en-US" dirty="0"/>
              <a:t>For any vertex v</a:t>
            </a:r>
          </a:p>
          <a:p>
            <a:pPr lvl="1"/>
            <a:r>
              <a:rPr lang="en-US" dirty="0" err="1"/>
              <a:t>v.discovered</a:t>
            </a:r>
            <a:r>
              <a:rPr lang="en-US" dirty="0"/>
              <a:t> &lt; </a:t>
            </a:r>
            <a:r>
              <a:rPr lang="en-US" dirty="0" err="1"/>
              <a:t>v.finished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d is </a:t>
            </a:r>
            <a:r>
              <a:rPr lang="en-US"/>
              <a:t>a descendant </a:t>
            </a:r>
            <a:r>
              <a:rPr lang="en-US" dirty="0"/>
              <a:t>of p</a:t>
            </a:r>
          </a:p>
          <a:p>
            <a:pPr marL="457200" lvl="1" indent="0">
              <a:buNone/>
            </a:pPr>
            <a:r>
              <a:rPr lang="en-US" dirty="0" err="1"/>
              <a:t>p.discovered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&lt; </a:t>
            </a:r>
            <a:r>
              <a:rPr lang="en-US" dirty="0" err="1"/>
              <a:t>c.discovered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&lt; </a:t>
            </a:r>
            <a:r>
              <a:rPr lang="en-US" dirty="0" err="1"/>
              <a:t>c.finished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&lt; </a:t>
            </a:r>
            <a:r>
              <a:rPr lang="en-US" dirty="0" err="1"/>
              <a:t>p.finished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23994" y="2199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90600" y="28021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761934" y="473051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80215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496727" y="54937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54937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52179" y="5120762"/>
            <a:ext cx="411503" cy="439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447645" y="5120762"/>
            <a:ext cx="381244" cy="43997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380845" y="2589535"/>
            <a:ext cx="310104" cy="2795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14239" y="2589535"/>
            <a:ext cx="338716" cy="27957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23994" y="14229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852594" y="1880136"/>
            <a:ext cx="0" cy="319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50900" y="379833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1558986" y="33528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20" name="Straight Arrow Connector 19"/>
          <p:cNvCxnSpPr>
            <a:stCxn id="19" idx="6"/>
            <a:endCxn id="18" idx="1"/>
          </p:cNvCxnSpPr>
          <p:nvPr/>
        </p:nvCxnSpPr>
        <p:spPr>
          <a:xfrm>
            <a:off x="2016186" y="3581400"/>
            <a:ext cx="601669" cy="2838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19" idx="1"/>
          </p:cNvCxnSpPr>
          <p:nvPr/>
        </p:nvCxnSpPr>
        <p:spPr>
          <a:xfrm>
            <a:off x="1380845" y="3192395"/>
            <a:ext cx="245096" cy="22736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447800" y="61033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4" name="Straight Arrow Connector 23"/>
          <p:cNvCxnSpPr>
            <a:stCxn id="10" idx="3"/>
          </p:cNvCxnSpPr>
          <p:nvPr/>
        </p:nvCxnSpPr>
        <p:spPr>
          <a:xfrm flipH="1">
            <a:off x="1848048" y="5884027"/>
            <a:ext cx="276307" cy="2838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73596" y="61404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829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1196" y="1143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1905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3364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09800" y="3821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821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486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89355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914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7000" y="243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6714" y="1905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1143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419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4896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" y="60271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7296" y="60388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6896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4200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5314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6496" y="4419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0896" y="4659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42561115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intervals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4904" y="1600200"/>
            <a:ext cx="4839096" cy="4525963"/>
          </a:xfrm>
        </p:spPr>
        <p:txBody>
          <a:bodyPr>
            <a:normAutofit/>
          </a:bodyPr>
          <a:lstStyle/>
          <a:p>
            <a:r>
              <a:rPr lang="en-US" b="1" dirty="0"/>
              <a:t>Definition:</a:t>
            </a:r>
            <a:br>
              <a:rPr lang="en-US" b="1" dirty="0"/>
            </a:br>
            <a:r>
              <a:rPr lang="en-US" dirty="0"/>
              <a:t>Let v be a vertex. 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time interval </a:t>
            </a:r>
            <a:r>
              <a:rPr lang="en-US" dirty="0"/>
              <a:t>is the range of times </a:t>
            </a:r>
            <a:r>
              <a:rPr lang="en-US" dirty="0" err="1"/>
              <a:t>v.discovered</a:t>
            </a:r>
            <a:r>
              <a:rPr lang="en-US" dirty="0"/>
              <a:t> through </a:t>
            </a:r>
            <a:r>
              <a:rPr lang="en-US" dirty="0" err="1"/>
              <a:t>v.finished</a:t>
            </a:r>
            <a:endParaRPr lang="en-US" dirty="0"/>
          </a:p>
          <a:p>
            <a:pPr lvl="1"/>
            <a:r>
              <a:rPr lang="en-US" dirty="0"/>
              <a:t>A.k.a.: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v.discovered</a:t>
            </a:r>
            <a:r>
              <a:rPr lang="en-US" dirty="0"/>
              <a:t>, </a:t>
            </a:r>
            <a:r>
              <a:rPr lang="en-US" dirty="0" err="1"/>
              <a:t>v.finished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A.k.a.: the set of times during which </a:t>
            </a:r>
            <a:r>
              <a:rPr lang="en-US" dirty="0" err="1"/>
              <a:t>DFSVisit</a:t>
            </a:r>
            <a:r>
              <a:rPr lang="en-US" dirty="0"/>
              <a:t>(v) was running</a:t>
            </a:r>
          </a:p>
        </p:txBody>
      </p:sp>
      <p:sp>
        <p:nvSpPr>
          <p:cNvPr id="51" name="Oval 50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54" name="Oval 53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56" name="Oval 55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57" name="Straight Arrow Connector 56"/>
          <p:cNvCxnSpPr>
            <a:stCxn id="53" idx="5"/>
            <a:endCxn id="55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6" idx="7"/>
            <a:endCxn id="53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2" idx="7"/>
            <a:endCxn id="51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1" idx="7"/>
            <a:endCxn id="54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2" name="Straight Connector 61"/>
          <p:cNvCxnSpPr>
            <a:stCxn id="61" idx="4"/>
            <a:endCxn id="51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4" idx="1"/>
            <a:endCxn id="61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66" name="Straight Arrow Connector 65"/>
          <p:cNvCxnSpPr>
            <a:stCxn id="65" idx="7"/>
            <a:endCxn id="64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2" idx="5"/>
            <a:endCxn id="65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6"/>
            <a:endCxn id="64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56" idx="1"/>
            <a:endCxn id="69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3" idx="2"/>
            <a:endCxn id="69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73" name="Oval 72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9909701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Parenthesis theorem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4904" y="1600200"/>
            <a:ext cx="4839096" cy="4525963"/>
          </a:xfrm>
        </p:spPr>
        <p:txBody>
          <a:bodyPr>
            <a:normAutofit/>
          </a:bodyPr>
          <a:lstStyle/>
          <a:p>
            <a:r>
              <a:rPr lang="en-US" dirty="0"/>
              <a:t>For any vertices u and v,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of the following </a:t>
            </a:r>
            <a:r>
              <a:rPr lang="en-US" dirty="0"/>
              <a:t>three conditions must hold:</a:t>
            </a:r>
          </a:p>
          <a:p>
            <a:pPr lvl="1"/>
            <a:r>
              <a:rPr lang="en-US" dirty="0"/>
              <a:t>Their intervals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disjoint</a:t>
            </a:r>
          </a:p>
          <a:p>
            <a:pPr lvl="1"/>
            <a:r>
              <a:rPr lang="en-US" dirty="0"/>
              <a:t>u’s interval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v’s</a:t>
            </a:r>
          </a:p>
          <a:p>
            <a:pPr lvl="2"/>
            <a:r>
              <a:rPr lang="en-US" dirty="0"/>
              <a:t>And so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 is a descendant of v </a:t>
            </a:r>
            <a:r>
              <a:rPr lang="en-US" dirty="0"/>
              <a:t>in the depth-first forest</a:t>
            </a:r>
          </a:p>
          <a:p>
            <a:pPr lvl="1"/>
            <a:r>
              <a:rPr lang="en-US" dirty="0"/>
              <a:t>v‘s interval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 </a:t>
            </a:r>
            <a:r>
              <a:rPr lang="en-US" dirty="0"/>
              <a:t>of u’s</a:t>
            </a:r>
          </a:p>
          <a:p>
            <a:pPr lvl="2"/>
            <a:r>
              <a:rPr lang="en-US" dirty="0"/>
              <a:t>And so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 is a ancestor of v</a:t>
            </a:r>
          </a:p>
        </p:txBody>
      </p:sp>
      <p:sp>
        <p:nvSpPr>
          <p:cNvPr id="51" name="Oval 50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54" name="Oval 53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56" name="Oval 55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57" name="Straight Arrow Connector 56"/>
          <p:cNvCxnSpPr>
            <a:stCxn id="53" idx="5"/>
            <a:endCxn id="55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6" idx="7"/>
            <a:endCxn id="53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2" idx="7"/>
            <a:endCxn id="51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1" idx="7"/>
            <a:endCxn id="54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2" name="Straight Connector 61"/>
          <p:cNvCxnSpPr>
            <a:stCxn id="61" idx="4"/>
            <a:endCxn id="51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4" idx="1"/>
            <a:endCxn id="61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66" name="Straight Arrow Connector 65"/>
          <p:cNvCxnSpPr>
            <a:stCxn id="65" idx="7"/>
            <a:endCxn id="64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2" idx="5"/>
            <a:endCxn id="65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6"/>
            <a:endCxn id="64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56" idx="1"/>
            <a:endCxn id="69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3" idx="2"/>
            <a:endCxn id="69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73" name="Oval 72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6971557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Parenthesis theorem</a:t>
            </a:r>
            <a:endParaRPr lang="en-US" sz="2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4904" y="1600200"/>
            <a:ext cx="4839096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Why do we care?</a:t>
            </a:r>
          </a:p>
          <a:p>
            <a:r>
              <a:rPr lang="en-US" dirty="0"/>
              <a:t>Normally,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find out if a node is a descendant</a:t>
            </a:r>
            <a:r>
              <a:rPr lang="en-US" dirty="0"/>
              <a:t> of another node, we need to run a DFS</a:t>
            </a:r>
          </a:p>
          <a:p>
            <a:r>
              <a:rPr lang="en-US" dirty="0"/>
              <a:t>If we have to do that repeatedly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many pairs of nodes</a:t>
            </a:r>
            <a:r>
              <a:rPr lang="en-US" dirty="0"/>
              <a:t>, that gets expensive</a:t>
            </a:r>
          </a:p>
          <a:p>
            <a:pPr>
              <a:spcBef>
                <a:spcPts val="1800"/>
              </a:spcBef>
            </a:pPr>
            <a:r>
              <a:rPr lang="en-US" dirty="0"/>
              <a:t>This lets us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 one DFS </a:t>
            </a:r>
            <a:r>
              <a:rPr lang="en-US" dirty="0"/>
              <a:t>and then answer all our queries by looking at timestamps</a:t>
            </a:r>
          </a:p>
        </p:txBody>
      </p:sp>
      <p:sp>
        <p:nvSpPr>
          <p:cNvPr id="51" name="Oval 50"/>
          <p:cNvSpPr/>
          <p:nvPr/>
        </p:nvSpPr>
        <p:spPr>
          <a:xfrm>
            <a:off x="1695134" y="25802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1066800" y="33183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2761934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54" name="Oval 53"/>
          <p:cNvSpPr/>
          <p:nvPr/>
        </p:nvSpPr>
        <p:spPr>
          <a:xfrm>
            <a:off x="3328812" y="197249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3611423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56" name="Oval 55"/>
          <p:cNvSpPr/>
          <p:nvPr/>
        </p:nvSpPr>
        <p:spPr>
          <a:xfrm>
            <a:off x="1923734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57" name="Straight Arrow Connector 56"/>
          <p:cNvCxnSpPr>
            <a:stCxn id="53" idx="5"/>
            <a:endCxn id="55" idx="1"/>
          </p:cNvCxnSpPr>
          <p:nvPr/>
        </p:nvCxnSpPr>
        <p:spPr>
          <a:xfrm>
            <a:off x="3152179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6" idx="7"/>
            <a:endCxn id="53" idx="3"/>
          </p:cNvCxnSpPr>
          <p:nvPr/>
        </p:nvCxnSpPr>
        <p:spPr>
          <a:xfrm flipV="1">
            <a:off x="2313979" y="5341980"/>
            <a:ext cx="514910" cy="7878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2" idx="7"/>
            <a:endCxn id="51" idx="3"/>
          </p:cNvCxnSpPr>
          <p:nvPr/>
        </p:nvCxnSpPr>
        <p:spPr>
          <a:xfrm flipV="1">
            <a:off x="1457045" y="2970535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1" idx="7"/>
            <a:endCxn id="54" idx="3"/>
          </p:cNvCxnSpPr>
          <p:nvPr/>
        </p:nvCxnSpPr>
        <p:spPr>
          <a:xfrm flipV="1">
            <a:off x="2085379" y="2362735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629055" y="16515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62" name="Straight Connector 61"/>
          <p:cNvCxnSpPr>
            <a:stCxn id="61" idx="4"/>
            <a:endCxn id="51" idx="0"/>
          </p:cNvCxnSpPr>
          <p:nvPr/>
        </p:nvCxnSpPr>
        <p:spPr>
          <a:xfrm>
            <a:off x="1857655" y="2108736"/>
            <a:ext cx="66079" cy="4715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4" idx="1"/>
            <a:endCxn id="61" idx="6"/>
          </p:cNvCxnSpPr>
          <p:nvPr/>
        </p:nvCxnSpPr>
        <p:spPr>
          <a:xfrm flipH="1" flipV="1">
            <a:off x="2086255" y="1880136"/>
            <a:ext cx="1309512" cy="15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2550900" y="3276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790700" y="403711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66" name="Straight Arrow Connector 65"/>
          <p:cNvCxnSpPr>
            <a:stCxn id="65" idx="7"/>
            <a:endCxn id="64" idx="3"/>
          </p:cNvCxnSpPr>
          <p:nvPr/>
        </p:nvCxnSpPr>
        <p:spPr>
          <a:xfrm flipV="1">
            <a:off x="2180945" y="3666845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2" idx="5"/>
            <a:endCxn id="65" idx="1"/>
          </p:cNvCxnSpPr>
          <p:nvPr/>
        </p:nvCxnSpPr>
        <p:spPr>
          <a:xfrm>
            <a:off x="1457045" y="3708546"/>
            <a:ext cx="400610" cy="39552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6"/>
            <a:endCxn id="64" idx="1"/>
          </p:cNvCxnSpPr>
          <p:nvPr/>
        </p:nvCxnSpPr>
        <p:spPr>
          <a:xfrm>
            <a:off x="2152334" y="2808890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295400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56" idx="1"/>
            <a:endCxn id="69" idx="5"/>
          </p:cNvCxnSpPr>
          <p:nvPr/>
        </p:nvCxnSpPr>
        <p:spPr>
          <a:xfrm flipH="1" flipV="1">
            <a:off x="1685645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3" idx="2"/>
            <a:endCxn id="69" idx="6"/>
          </p:cNvCxnSpPr>
          <p:nvPr/>
        </p:nvCxnSpPr>
        <p:spPr>
          <a:xfrm flipH="1">
            <a:off x="1752600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21196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73" name="Oval 72"/>
          <p:cNvSpPr/>
          <p:nvPr/>
        </p:nvSpPr>
        <p:spPr>
          <a:xfrm>
            <a:off x="457200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82996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1196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78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50914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230091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71800" y="3130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622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565555" y="3276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1242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33800" y="167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12914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1371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14600" y="46334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8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38696" y="4724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00696" y="5867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38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0896" y="5943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86496" y="4648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19089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239352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Elementary graph algorithms</a:t>
            </a:r>
            <a:r>
              <a:rPr lang="en-US" dirty="0"/>
              <a:t>” from CLR</a:t>
            </a:r>
          </a:p>
          <a:p>
            <a:pPr lvl="1"/>
            <a:r>
              <a:rPr lang="en-US" dirty="0"/>
              <a:t>Fairly theoretical</a:t>
            </a:r>
          </a:p>
          <a:p>
            <a:pPr lvl="1"/>
            <a:r>
              <a:rPr lang="en-US" dirty="0"/>
              <a:t>Read the proofs, but don’t stress out about them</a:t>
            </a:r>
          </a:p>
        </p:txBody>
      </p:sp>
    </p:spTree>
    <p:extLst>
      <p:ext uri="{BB962C8B-B14F-4D97-AF65-F5344CB8AC3E}">
        <p14:creationId xmlns:p14="http://schemas.microsoft.com/office/powerpoint/2010/main" val="366661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8857</TotalTime>
  <Words>9049</Words>
  <Application>Microsoft Office PowerPoint</Application>
  <PresentationFormat>On-screen Show (4:3)</PresentationFormat>
  <Paragraphs>4847</Paragraphs>
  <Slides>241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6" baseType="lpstr">
      <vt:lpstr>Arial</vt:lpstr>
      <vt:lpstr>Calibri</vt:lpstr>
      <vt:lpstr>Cambria Math</vt:lpstr>
      <vt:lpstr>Verdana</vt:lpstr>
      <vt:lpstr>Office Theme</vt:lpstr>
      <vt:lpstr>Lecture 12 Graphs and graph search</vt:lpstr>
      <vt:lpstr>Graphs</vt:lpstr>
      <vt:lpstr>Graphs</vt:lpstr>
      <vt:lpstr>Graphs</vt:lpstr>
      <vt:lpstr>Subgraphs</vt:lpstr>
      <vt:lpstr>Subgraphs</vt:lpstr>
      <vt:lpstr>Subgraphs</vt:lpstr>
      <vt:lpstr>Subgraphs</vt:lpstr>
      <vt:lpstr>Connectivity</vt:lpstr>
      <vt:lpstr>Paths</vt:lpstr>
      <vt:lpstr>Connectivity</vt:lpstr>
      <vt:lpstr>Connected components</vt:lpstr>
      <vt:lpstr>Connected components</vt:lpstr>
      <vt:lpstr>Cycles</vt:lpstr>
      <vt:lpstr>Cycles</vt:lpstr>
      <vt:lpstr>Trees</vt:lpstr>
      <vt:lpstr>General representation of trees</vt:lpstr>
      <vt:lpstr>General representation of graphs</vt:lpstr>
      <vt:lpstr>General representation of graphs</vt:lpstr>
      <vt:lpstr>General representation of graphs</vt:lpstr>
      <vt:lpstr>General representation of graphs</vt:lpstr>
      <vt:lpstr>General representation of graphs</vt:lpstr>
      <vt:lpstr>General representation of graphs</vt:lpstr>
      <vt:lpstr>General representation of graphs</vt:lpstr>
      <vt:lpstr>General representation of graphs</vt:lpstr>
      <vt:lpstr>Adjacency list representation</vt:lpstr>
      <vt:lpstr>Adjacency list representation</vt:lpstr>
      <vt:lpstr>Array of adjacency lists</vt:lpstr>
      <vt:lpstr>Adjacency matrix representation</vt:lpstr>
      <vt:lpstr>Adjacency matrix representation</vt:lpstr>
      <vt:lpstr>Undirected graphs</vt:lpstr>
      <vt:lpstr>Undirected graphs</vt:lpstr>
      <vt:lpstr>Weighted graphs</vt:lpstr>
      <vt:lpstr>Representing weighted graphs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tree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uh oh …</vt:lpstr>
      <vt:lpstr>Breadth-first graph walk</vt:lpstr>
      <vt:lpstr>Breadth-first graph walk</vt:lpstr>
      <vt:lpstr>this is not going to end well ...</vt:lpstr>
      <vt:lpstr>actually, it’s not going to end at all …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Breadth-first graph walk</vt:lpstr>
      <vt:lpstr>Visit information in the nodes</vt:lpstr>
      <vt:lpstr>Parallel array structure</vt:lpstr>
      <vt:lpstr>Hash table (or other dictionary structure)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Breadth-first search (from CLR)</vt:lpstr>
      <vt:lpstr>Foster to Quincy: Route planning for the El (If we pretend the El can drive in any direction)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Foster to Quincy: Route planning for the El</vt:lpstr>
      <vt:lpstr>Complexity analysis How many times does each line run?</vt:lpstr>
      <vt:lpstr>Complexity analysis Each individual line takes constant time</vt:lpstr>
      <vt:lpstr>Complexity analysis How many times does each line run?</vt:lpstr>
      <vt:lpstr>Complexity analysis How many times does each line run?</vt:lpstr>
      <vt:lpstr>Complexity analysis How many times does each line run?</vt:lpstr>
      <vt:lpstr>BFS algorithm in the books</vt:lpstr>
      <vt:lpstr>The actual code</vt:lpstr>
      <vt:lpstr>Depth-first search of a tree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Depth-first search of a graph</vt:lpstr>
      <vt:lpstr>Analysis: how many times are these lines run?</vt:lpstr>
      <vt:lpstr>Analysis</vt:lpstr>
      <vt:lpstr>Analysis</vt:lpstr>
      <vt:lpstr>Analysis: O(V+E) time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connected component analysis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Example application: topological sort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Timestamping nodes</vt:lpstr>
      <vt:lpstr>What’s next?</vt:lpstr>
      <vt:lpstr>Timestamping nodes</vt:lpstr>
      <vt:lpstr>What’s next?</vt:lpstr>
      <vt:lpstr>8 was called from 9</vt:lpstr>
      <vt:lpstr>9 was called from 3</vt:lpstr>
      <vt:lpstr>3 was called from 2 (who still has an unvisited neighbor)</vt:lpstr>
      <vt:lpstr>3 was called from 2 (who still has an unvisited neighbor)</vt:lpstr>
      <vt:lpstr>3 was called from 2 (who still has an unvisited neighbor)</vt:lpstr>
      <vt:lpstr>So now we visit 4</vt:lpstr>
      <vt:lpstr>So now we visit 4</vt:lpstr>
      <vt:lpstr>So now we visit 4</vt:lpstr>
      <vt:lpstr>And now we can finish off 2</vt:lpstr>
      <vt:lpstr>And 1…</vt:lpstr>
      <vt:lpstr>And then we do the rest …</vt:lpstr>
      <vt:lpstr>And then we do the rest …</vt:lpstr>
      <vt:lpstr>And then we do the rest …</vt:lpstr>
      <vt:lpstr>And then we do the rest …</vt:lpstr>
      <vt:lpstr>And then we do the rest …</vt:lpstr>
      <vt:lpstr>And then we do the rest …</vt:lpstr>
      <vt:lpstr>And then we do the rest …</vt:lpstr>
      <vt:lpstr>And then we do the rest …</vt:lpstr>
      <vt:lpstr>Depth-first forest</vt:lpstr>
      <vt:lpstr>Depth-first forest</vt:lpstr>
      <vt:lpstr>Depth-first forest</vt:lpstr>
      <vt:lpstr>Properties of depth-first forests</vt:lpstr>
      <vt:lpstr>Time intervals</vt:lpstr>
      <vt:lpstr>Parenthesis theorem</vt:lpstr>
      <vt:lpstr>Parenthesis theorem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598</cp:revision>
  <cp:lastPrinted>2010-05-17T15:57:14Z</cp:lastPrinted>
  <dcterms:created xsi:type="dcterms:W3CDTF">2010-03-27T22:31:10Z</dcterms:created>
  <dcterms:modified xsi:type="dcterms:W3CDTF">2019-05-13T17:38:15Z</dcterms:modified>
</cp:coreProperties>
</file>