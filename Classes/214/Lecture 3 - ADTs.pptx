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0"/>
  </p:notesMasterIdLst>
  <p:sldIdLst>
    <p:sldId id="256" r:id="rId2"/>
    <p:sldId id="26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0" r:id="rId13"/>
    <p:sldId id="283" r:id="rId14"/>
    <p:sldId id="284" r:id="rId15"/>
    <p:sldId id="311" r:id="rId16"/>
    <p:sldId id="312" r:id="rId17"/>
    <p:sldId id="266" r:id="rId18"/>
    <p:sldId id="313" r:id="rId19"/>
    <p:sldId id="314" r:id="rId20"/>
    <p:sldId id="285" r:id="rId21"/>
    <p:sldId id="263" r:id="rId22"/>
    <p:sldId id="286" r:id="rId23"/>
    <p:sldId id="287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88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282" r:id="rId42"/>
    <p:sldId id="264" r:id="rId43"/>
    <p:sldId id="305" r:id="rId44"/>
    <p:sldId id="306" r:id="rId45"/>
    <p:sldId id="307" r:id="rId46"/>
    <p:sldId id="308" r:id="rId47"/>
    <p:sldId id="309" r:id="rId48"/>
    <p:sldId id="310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0" autoAdjust="0"/>
    <p:restoredTop sz="86376" autoAdjust="0"/>
  </p:normalViewPr>
  <p:slideViewPr>
    <p:cSldViewPr>
      <p:cViewPr varScale="1">
        <p:scale>
          <a:sx n="88" d="100"/>
          <a:sy n="88" d="100"/>
        </p:scale>
        <p:origin x="621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91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B8BAC-AD12-41E9-8B58-CF3C8610650C}" type="datetimeFigureOut">
              <a:rPr lang="en-US" smtClean="0"/>
              <a:t>4/12/2019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72F60-FBF2-46DB-9CC1-71AF7836E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7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julishannon/2434691031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creativecommons.org/licenses/by-nc-nd/2.0/deed.en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ea typeface="Verdana" pitchFamily="34" charset="0"/>
                <a:cs typeface="Verdana" pitchFamily="34" charset="0"/>
              </a:rPr>
              <a:t>Lecture 3</a:t>
            </a:r>
            <a:br>
              <a:rPr lang="en-US" dirty="0">
                <a:ea typeface="Verdana" pitchFamily="34" charset="0"/>
                <a:cs typeface="Verdana" pitchFamily="34" charset="0"/>
              </a:rPr>
            </a:br>
            <a:r>
              <a:rPr lang="en-US" dirty="0">
                <a:ea typeface="Verdana" pitchFamily="34" charset="0"/>
                <a:cs typeface="Verdana" pitchFamily="34" charset="0"/>
              </a:rPr>
              <a:t>Modularity</a:t>
            </a:r>
            <a:br>
              <a:rPr lang="en-US" dirty="0">
                <a:ea typeface="Verdana" pitchFamily="34" charset="0"/>
                <a:cs typeface="Verdana" pitchFamily="34" charset="0"/>
              </a:rPr>
            </a:br>
            <a:r>
              <a:rPr lang="en-US" dirty="0">
                <a:ea typeface="Verdana" pitchFamily="34" charset="0"/>
                <a:cs typeface="Verdana" pitchFamily="34" charset="0"/>
              </a:rPr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Verdana" pitchFamily="34" charset="0"/>
                <a:cs typeface="Verdana" pitchFamily="34" charset="0"/>
              </a:rPr>
              <a:t>abstract data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software </a:t>
            </a:r>
            <a:r>
              <a:rPr lang="en-US" baseline="0" dirty="0"/>
              <a:t>design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60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0480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We want to be able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build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our programs</a:t>
            </a:r>
          </a:p>
          <a:p>
            <a:pPr lvl="1"/>
            <a:r>
              <a:rPr lang="en-US" dirty="0"/>
              <a:t>Quickly</a:t>
            </a:r>
          </a:p>
          <a:p>
            <a:pPr lvl="1"/>
            <a:r>
              <a:rPr lang="en-US" dirty="0"/>
              <a:t>Easily</a:t>
            </a:r>
          </a:p>
          <a:p>
            <a:pPr lvl="1"/>
            <a:r>
              <a:rPr lang="en-US" dirty="0"/>
              <a:t>Reliably</a:t>
            </a:r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0" y="1600200"/>
            <a:ext cx="48768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We also want to be able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maintain </a:t>
            </a:r>
            <a:r>
              <a:rPr lang="en-US" dirty="0"/>
              <a:t>our programs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Easy to find 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fix bugs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we missed before release</a:t>
            </a:r>
          </a:p>
          <a:p>
            <a:pPr lvl="1"/>
            <a:r>
              <a:rPr lang="en-US" dirty="0"/>
              <a:t>Easy to add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new features </a:t>
            </a:r>
            <a:r>
              <a:rPr lang="en-US" dirty="0"/>
              <a:t>for new releases</a:t>
            </a:r>
          </a:p>
          <a:p>
            <a:pPr lvl="1"/>
            <a:r>
              <a:rPr lang="en-US" dirty="0"/>
              <a:t>Easy to update when the operating system or some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other software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9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Software complexity</a:t>
            </a:r>
            <a:br>
              <a:rPr lang="en-US"/>
            </a:br>
            <a:r>
              <a:rPr lang="en-US" sz="2200"/>
              <a:t>(as opposed to computational complexity)</a:t>
            </a:r>
            <a:endParaRPr lang="en-US" sz="2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874837"/>
            <a:ext cx="4495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Software is hard to build in large part because it’s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complex</a:t>
            </a:r>
          </a:p>
          <a:p>
            <a:pPr lvl="1"/>
            <a:r>
              <a:rPr lang="en-US" dirty="0"/>
              <a:t>Many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components</a:t>
            </a:r>
          </a:p>
          <a:p>
            <a:pPr lvl="1"/>
            <a:r>
              <a:rPr lang="en-US" dirty="0"/>
              <a:t>Many possible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interactions </a:t>
            </a:r>
            <a:r>
              <a:rPr lang="en-US" dirty="0"/>
              <a:t>between them</a:t>
            </a:r>
          </a:p>
          <a:p>
            <a:pPr lvl="1"/>
            <a:endParaRPr lang="en-US" dirty="0"/>
          </a:p>
          <a:p>
            <a:r>
              <a:rPr lang="en-US" dirty="0"/>
              <a:t>Any piece can potentially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break</a:t>
            </a:r>
            <a:r>
              <a:rPr lang="en-US" dirty="0"/>
              <a:t> any other piece</a:t>
            </a:r>
          </a:p>
          <a:p>
            <a:endParaRPr lang="en-US" dirty="0"/>
          </a:p>
          <a:p>
            <a:r>
              <a:rPr lang="en-US" dirty="0"/>
              <a:t>Any change can </a:t>
            </a:r>
            <a:r>
              <a:rPr lang="en-US" b="1" dirty="0">
                <a:solidFill>
                  <a:srgbClr val="E46C0A"/>
                </a:solidFill>
              </a:rPr>
              <a:t>potentially break everything</a:t>
            </a:r>
          </a:p>
        </p:txBody>
      </p:sp>
      <p:sp>
        <p:nvSpPr>
          <p:cNvPr id="6" name="Oval 5"/>
          <p:cNvSpPr/>
          <p:nvPr/>
        </p:nvSpPr>
        <p:spPr>
          <a:xfrm>
            <a:off x="6250618" y="22860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37550" y="3197318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03900" y="3984718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80518" y="36957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3273" y="34036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15091" y="45720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988300" y="38354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6" idx="6"/>
            <a:endCxn id="7" idx="2"/>
          </p:cNvCxnSpPr>
          <p:nvPr/>
        </p:nvCxnSpPr>
        <p:spPr>
          <a:xfrm>
            <a:off x="6403018" y="2362200"/>
            <a:ext cx="1934532" cy="911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 flipH="1">
            <a:off x="5880100" y="2438400"/>
            <a:ext cx="446718" cy="1546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5"/>
            <a:endCxn id="10" idx="1"/>
          </p:cNvCxnSpPr>
          <p:nvPr/>
        </p:nvCxnSpPr>
        <p:spPr>
          <a:xfrm>
            <a:off x="6380700" y="2416082"/>
            <a:ext cx="624891" cy="1009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5"/>
            <a:endCxn id="9" idx="1"/>
          </p:cNvCxnSpPr>
          <p:nvPr/>
        </p:nvCxnSpPr>
        <p:spPr>
          <a:xfrm>
            <a:off x="6380700" y="2416082"/>
            <a:ext cx="2122136" cy="1301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6" idx="5"/>
            <a:endCxn id="12" idx="1"/>
          </p:cNvCxnSpPr>
          <p:nvPr/>
        </p:nvCxnSpPr>
        <p:spPr>
          <a:xfrm>
            <a:off x="6380700" y="2416082"/>
            <a:ext cx="1629918" cy="1441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4"/>
            <a:endCxn id="11" idx="0"/>
          </p:cNvCxnSpPr>
          <p:nvPr/>
        </p:nvCxnSpPr>
        <p:spPr>
          <a:xfrm>
            <a:off x="6326818" y="2438400"/>
            <a:ext cx="564473" cy="213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7" idx="2"/>
            <a:endCxn id="8" idx="7"/>
          </p:cNvCxnSpPr>
          <p:nvPr/>
        </p:nvCxnSpPr>
        <p:spPr>
          <a:xfrm flipH="1">
            <a:off x="5933982" y="3273518"/>
            <a:ext cx="2403568" cy="733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7" idx="3"/>
            <a:endCxn id="11" idx="0"/>
          </p:cNvCxnSpPr>
          <p:nvPr/>
        </p:nvCxnSpPr>
        <p:spPr>
          <a:xfrm flipH="1">
            <a:off x="6891291" y="3327400"/>
            <a:ext cx="1468577" cy="124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7" idx="4"/>
            <a:endCxn id="10" idx="7"/>
          </p:cNvCxnSpPr>
          <p:nvPr/>
        </p:nvCxnSpPr>
        <p:spPr>
          <a:xfrm flipH="1">
            <a:off x="7113355" y="3349718"/>
            <a:ext cx="1300395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7" idx="4"/>
            <a:endCxn id="12" idx="0"/>
          </p:cNvCxnSpPr>
          <p:nvPr/>
        </p:nvCxnSpPr>
        <p:spPr>
          <a:xfrm flipH="1">
            <a:off x="8064500" y="3349718"/>
            <a:ext cx="349250" cy="48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9" idx="0"/>
          </p:cNvCxnSpPr>
          <p:nvPr/>
        </p:nvCxnSpPr>
        <p:spPr>
          <a:xfrm>
            <a:off x="8467632" y="3327400"/>
            <a:ext cx="89086" cy="3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5"/>
            <a:endCxn id="11" idx="0"/>
          </p:cNvCxnSpPr>
          <p:nvPr/>
        </p:nvCxnSpPr>
        <p:spPr>
          <a:xfrm>
            <a:off x="5933982" y="4114800"/>
            <a:ext cx="957309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6"/>
            <a:endCxn id="10" idx="2"/>
          </p:cNvCxnSpPr>
          <p:nvPr/>
        </p:nvCxnSpPr>
        <p:spPr>
          <a:xfrm flipV="1">
            <a:off x="5956300" y="3479800"/>
            <a:ext cx="1026973" cy="58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8" idx="5"/>
            <a:endCxn id="12" idx="2"/>
          </p:cNvCxnSpPr>
          <p:nvPr/>
        </p:nvCxnSpPr>
        <p:spPr>
          <a:xfrm flipV="1">
            <a:off x="5933982" y="3911600"/>
            <a:ext cx="2054318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8" idx="6"/>
            <a:endCxn id="9" idx="2"/>
          </p:cNvCxnSpPr>
          <p:nvPr/>
        </p:nvCxnSpPr>
        <p:spPr>
          <a:xfrm flipV="1">
            <a:off x="5956300" y="3771900"/>
            <a:ext cx="2524218" cy="289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9" idx="3"/>
            <a:endCxn id="10" idx="6"/>
          </p:cNvCxnSpPr>
          <p:nvPr/>
        </p:nvCxnSpPr>
        <p:spPr>
          <a:xfrm flipH="1" flipV="1">
            <a:off x="7135673" y="3479800"/>
            <a:ext cx="1367163" cy="345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9" idx="3"/>
            <a:endCxn id="11" idx="7"/>
          </p:cNvCxnSpPr>
          <p:nvPr/>
        </p:nvCxnSpPr>
        <p:spPr>
          <a:xfrm flipH="1">
            <a:off x="6945173" y="3825782"/>
            <a:ext cx="1557663" cy="768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4"/>
            <a:endCxn id="12" idx="0"/>
          </p:cNvCxnSpPr>
          <p:nvPr/>
        </p:nvCxnSpPr>
        <p:spPr>
          <a:xfrm flipH="1" flipV="1">
            <a:off x="8064500" y="3835400"/>
            <a:ext cx="492218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1" idx="7"/>
          </p:cNvCxnSpPr>
          <p:nvPr/>
        </p:nvCxnSpPr>
        <p:spPr>
          <a:xfrm flipH="1">
            <a:off x="6945173" y="3556000"/>
            <a:ext cx="114300" cy="103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0" idx="5"/>
            <a:endCxn id="12" idx="1"/>
          </p:cNvCxnSpPr>
          <p:nvPr/>
        </p:nvCxnSpPr>
        <p:spPr>
          <a:xfrm>
            <a:off x="7113355" y="3533682"/>
            <a:ext cx="897263" cy="324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" idx="6"/>
            <a:endCxn id="12" idx="3"/>
          </p:cNvCxnSpPr>
          <p:nvPr/>
        </p:nvCxnSpPr>
        <p:spPr>
          <a:xfrm flipV="1">
            <a:off x="6967491" y="3965482"/>
            <a:ext cx="1043127" cy="682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64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complexity</a:t>
            </a:r>
            <a:br>
              <a:rPr lang="en-US" dirty="0"/>
            </a:br>
            <a:r>
              <a:rPr lang="en-US" sz="2200" dirty="0"/>
              <a:t>(as opposed to computational complexity)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874837"/>
            <a:ext cx="4724400" cy="4525963"/>
          </a:xfrm>
        </p:spPr>
        <p:txBody>
          <a:bodyPr>
            <a:normAutofit/>
          </a:bodyPr>
          <a:lstStyle/>
          <a:p>
            <a:r>
              <a:rPr lang="en-US" dirty="0"/>
              <a:t>Our main tool for </a:t>
            </a:r>
            <a:r>
              <a:rPr lang="en-US" b="1" dirty="0">
                <a:solidFill>
                  <a:srgbClr val="E46C0A"/>
                </a:solidFill>
              </a:rPr>
              <a:t>coping with complexity </a:t>
            </a:r>
            <a:r>
              <a:rPr lang="en-US" dirty="0"/>
              <a:t>is to</a:t>
            </a:r>
          </a:p>
        </p:txBody>
      </p:sp>
      <p:sp>
        <p:nvSpPr>
          <p:cNvPr id="6" name="Oval 5"/>
          <p:cNvSpPr/>
          <p:nvPr/>
        </p:nvSpPr>
        <p:spPr>
          <a:xfrm>
            <a:off x="6250618" y="22860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37550" y="3197318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03900" y="3984718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80518" y="36957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3273" y="34036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15091" y="45720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988300" y="38354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6" idx="6"/>
            <a:endCxn id="7" idx="2"/>
          </p:cNvCxnSpPr>
          <p:nvPr/>
        </p:nvCxnSpPr>
        <p:spPr>
          <a:xfrm>
            <a:off x="6403018" y="2362200"/>
            <a:ext cx="1934532" cy="911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 flipH="1">
            <a:off x="5880100" y="2438400"/>
            <a:ext cx="446718" cy="1546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5"/>
            <a:endCxn id="10" idx="1"/>
          </p:cNvCxnSpPr>
          <p:nvPr/>
        </p:nvCxnSpPr>
        <p:spPr>
          <a:xfrm>
            <a:off x="6380700" y="2416082"/>
            <a:ext cx="624891" cy="1009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5"/>
            <a:endCxn id="9" idx="1"/>
          </p:cNvCxnSpPr>
          <p:nvPr/>
        </p:nvCxnSpPr>
        <p:spPr>
          <a:xfrm>
            <a:off x="6380700" y="2416082"/>
            <a:ext cx="2122136" cy="1301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6" idx="5"/>
            <a:endCxn id="12" idx="1"/>
          </p:cNvCxnSpPr>
          <p:nvPr/>
        </p:nvCxnSpPr>
        <p:spPr>
          <a:xfrm>
            <a:off x="6380700" y="2416082"/>
            <a:ext cx="1629918" cy="1441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4"/>
            <a:endCxn id="11" idx="0"/>
          </p:cNvCxnSpPr>
          <p:nvPr/>
        </p:nvCxnSpPr>
        <p:spPr>
          <a:xfrm>
            <a:off x="6326818" y="2438400"/>
            <a:ext cx="564473" cy="213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7" idx="2"/>
            <a:endCxn id="8" idx="7"/>
          </p:cNvCxnSpPr>
          <p:nvPr/>
        </p:nvCxnSpPr>
        <p:spPr>
          <a:xfrm flipH="1">
            <a:off x="5933982" y="3273518"/>
            <a:ext cx="2403568" cy="733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7" idx="3"/>
            <a:endCxn id="11" idx="0"/>
          </p:cNvCxnSpPr>
          <p:nvPr/>
        </p:nvCxnSpPr>
        <p:spPr>
          <a:xfrm flipH="1">
            <a:off x="6891291" y="3327400"/>
            <a:ext cx="1468577" cy="124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7" idx="4"/>
            <a:endCxn id="10" idx="7"/>
          </p:cNvCxnSpPr>
          <p:nvPr/>
        </p:nvCxnSpPr>
        <p:spPr>
          <a:xfrm flipH="1">
            <a:off x="7113355" y="3349718"/>
            <a:ext cx="1300395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7" idx="4"/>
            <a:endCxn id="12" idx="0"/>
          </p:cNvCxnSpPr>
          <p:nvPr/>
        </p:nvCxnSpPr>
        <p:spPr>
          <a:xfrm flipH="1">
            <a:off x="8064500" y="3349718"/>
            <a:ext cx="349250" cy="48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9" idx="0"/>
          </p:cNvCxnSpPr>
          <p:nvPr/>
        </p:nvCxnSpPr>
        <p:spPr>
          <a:xfrm>
            <a:off x="8467632" y="3327400"/>
            <a:ext cx="89086" cy="3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5"/>
            <a:endCxn id="11" idx="0"/>
          </p:cNvCxnSpPr>
          <p:nvPr/>
        </p:nvCxnSpPr>
        <p:spPr>
          <a:xfrm>
            <a:off x="5933982" y="4114800"/>
            <a:ext cx="957309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6"/>
            <a:endCxn id="10" idx="2"/>
          </p:cNvCxnSpPr>
          <p:nvPr/>
        </p:nvCxnSpPr>
        <p:spPr>
          <a:xfrm flipV="1">
            <a:off x="5956300" y="3479800"/>
            <a:ext cx="1026973" cy="58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8" idx="5"/>
            <a:endCxn id="12" idx="2"/>
          </p:cNvCxnSpPr>
          <p:nvPr/>
        </p:nvCxnSpPr>
        <p:spPr>
          <a:xfrm flipV="1">
            <a:off x="5933982" y="3911600"/>
            <a:ext cx="2054318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8" idx="6"/>
            <a:endCxn id="9" idx="2"/>
          </p:cNvCxnSpPr>
          <p:nvPr/>
        </p:nvCxnSpPr>
        <p:spPr>
          <a:xfrm flipV="1">
            <a:off x="5956300" y="3771900"/>
            <a:ext cx="2524218" cy="289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9" idx="3"/>
            <a:endCxn id="10" idx="6"/>
          </p:cNvCxnSpPr>
          <p:nvPr/>
        </p:nvCxnSpPr>
        <p:spPr>
          <a:xfrm flipH="1" flipV="1">
            <a:off x="7135673" y="3479800"/>
            <a:ext cx="1367163" cy="345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9" idx="3"/>
            <a:endCxn id="11" idx="7"/>
          </p:cNvCxnSpPr>
          <p:nvPr/>
        </p:nvCxnSpPr>
        <p:spPr>
          <a:xfrm flipH="1">
            <a:off x="6945173" y="3825782"/>
            <a:ext cx="1557663" cy="768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4"/>
            <a:endCxn id="12" idx="0"/>
          </p:cNvCxnSpPr>
          <p:nvPr/>
        </p:nvCxnSpPr>
        <p:spPr>
          <a:xfrm flipH="1" flipV="1">
            <a:off x="8064500" y="3835400"/>
            <a:ext cx="492218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1" idx="7"/>
          </p:cNvCxnSpPr>
          <p:nvPr/>
        </p:nvCxnSpPr>
        <p:spPr>
          <a:xfrm flipH="1">
            <a:off x="6945173" y="3556000"/>
            <a:ext cx="114300" cy="103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0" idx="5"/>
            <a:endCxn id="12" idx="1"/>
          </p:cNvCxnSpPr>
          <p:nvPr/>
        </p:nvCxnSpPr>
        <p:spPr>
          <a:xfrm>
            <a:off x="7113355" y="3533682"/>
            <a:ext cx="897263" cy="324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" idx="6"/>
            <a:endCxn id="12" idx="3"/>
          </p:cNvCxnSpPr>
          <p:nvPr/>
        </p:nvCxnSpPr>
        <p:spPr>
          <a:xfrm flipV="1">
            <a:off x="6967491" y="3965482"/>
            <a:ext cx="1043127" cy="682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240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complexity</a:t>
            </a:r>
            <a:br>
              <a:rPr lang="en-US" dirty="0"/>
            </a:br>
            <a:r>
              <a:rPr lang="en-US" sz="2200" dirty="0"/>
              <a:t>(as opposed to computational complexity)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874837"/>
            <a:ext cx="4800600" cy="4525963"/>
          </a:xfrm>
        </p:spPr>
        <p:txBody>
          <a:bodyPr>
            <a:normAutofit/>
          </a:bodyPr>
          <a:lstStyle/>
          <a:p>
            <a:r>
              <a:rPr lang="en-US" dirty="0"/>
              <a:t>Our main tool for coping with complexity is to</a:t>
            </a:r>
          </a:p>
          <a:p>
            <a:pPr lvl="1"/>
            <a:r>
              <a:rPr lang="en-US" dirty="0"/>
              <a:t>Divide the program into </a:t>
            </a:r>
            <a:r>
              <a:rPr lang="en-US" b="1" dirty="0">
                <a:solidFill>
                  <a:srgbClr val="E46C0A"/>
                </a:solidFill>
              </a:rPr>
              <a:t>modules</a:t>
            </a:r>
            <a:r>
              <a:rPr lang="en-US" dirty="0"/>
              <a:t>, and</a:t>
            </a:r>
          </a:p>
        </p:txBody>
      </p:sp>
      <p:sp>
        <p:nvSpPr>
          <p:cNvPr id="6" name="Oval 5"/>
          <p:cNvSpPr/>
          <p:nvPr/>
        </p:nvSpPr>
        <p:spPr>
          <a:xfrm>
            <a:off x="6250618" y="22860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37550" y="3197318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03900" y="3984718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80518" y="36957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3273" y="34036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15091" y="45720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988300" y="38354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6" idx="6"/>
            <a:endCxn id="7" idx="2"/>
          </p:cNvCxnSpPr>
          <p:nvPr/>
        </p:nvCxnSpPr>
        <p:spPr>
          <a:xfrm>
            <a:off x="6403018" y="2362200"/>
            <a:ext cx="1934532" cy="911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 flipH="1">
            <a:off x="5880100" y="2438400"/>
            <a:ext cx="446718" cy="1546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5"/>
            <a:endCxn id="10" idx="1"/>
          </p:cNvCxnSpPr>
          <p:nvPr/>
        </p:nvCxnSpPr>
        <p:spPr>
          <a:xfrm>
            <a:off x="6380700" y="2416082"/>
            <a:ext cx="624891" cy="1009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5"/>
            <a:endCxn id="9" idx="1"/>
          </p:cNvCxnSpPr>
          <p:nvPr/>
        </p:nvCxnSpPr>
        <p:spPr>
          <a:xfrm>
            <a:off x="6380700" y="2416082"/>
            <a:ext cx="2122136" cy="1301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6" idx="5"/>
            <a:endCxn id="12" idx="1"/>
          </p:cNvCxnSpPr>
          <p:nvPr/>
        </p:nvCxnSpPr>
        <p:spPr>
          <a:xfrm>
            <a:off x="6380700" y="2416082"/>
            <a:ext cx="1629918" cy="1441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4"/>
            <a:endCxn id="11" idx="0"/>
          </p:cNvCxnSpPr>
          <p:nvPr/>
        </p:nvCxnSpPr>
        <p:spPr>
          <a:xfrm>
            <a:off x="6326818" y="2438400"/>
            <a:ext cx="564473" cy="213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7" idx="2"/>
            <a:endCxn id="8" idx="7"/>
          </p:cNvCxnSpPr>
          <p:nvPr/>
        </p:nvCxnSpPr>
        <p:spPr>
          <a:xfrm flipH="1">
            <a:off x="5933982" y="3273518"/>
            <a:ext cx="2403568" cy="733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7" idx="3"/>
            <a:endCxn id="11" idx="0"/>
          </p:cNvCxnSpPr>
          <p:nvPr/>
        </p:nvCxnSpPr>
        <p:spPr>
          <a:xfrm flipH="1">
            <a:off x="6891291" y="3327400"/>
            <a:ext cx="1468577" cy="124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7" idx="4"/>
            <a:endCxn id="10" idx="7"/>
          </p:cNvCxnSpPr>
          <p:nvPr/>
        </p:nvCxnSpPr>
        <p:spPr>
          <a:xfrm flipH="1">
            <a:off x="7113355" y="3349718"/>
            <a:ext cx="1300395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7" idx="4"/>
            <a:endCxn id="12" idx="0"/>
          </p:cNvCxnSpPr>
          <p:nvPr/>
        </p:nvCxnSpPr>
        <p:spPr>
          <a:xfrm flipH="1">
            <a:off x="8064500" y="3349718"/>
            <a:ext cx="349250" cy="48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9" idx="0"/>
          </p:cNvCxnSpPr>
          <p:nvPr/>
        </p:nvCxnSpPr>
        <p:spPr>
          <a:xfrm>
            <a:off x="8467632" y="3327400"/>
            <a:ext cx="89086" cy="3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5"/>
            <a:endCxn id="11" idx="0"/>
          </p:cNvCxnSpPr>
          <p:nvPr/>
        </p:nvCxnSpPr>
        <p:spPr>
          <a:xfrm>
            <a:off x="5933982" y="4114800"/>
            <a:ext cx="957309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6"/>
            <a:endCxn id="10" idx="2"/>
          </p:cNvCxnSpPr>
          <p:nvPr/>
        </p:nvCxnSpPr>
        <p:spPr>
          <a:xfrm flipV="1">
            <a:off x="5956300" y="3479800"/>
            <a:ext cx="1026973" cy="58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8" idx="5"/>
            <a:endCxn id="12" idx="2"/>
          </p:cNvCxnSpPr>
          <p:nvPr/>
        </p:nvCxnSpPr>
        <p:spPr>
          <a:xfrm flipV="1">
            <a:off x="5933982" y="3911600"/>
            <a:ext cx="2054318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8" idx="6"/>
            <a:endCxn id="9" idx="2"/>
          </p:cNvCxnSpPr>
          <p:nvPr/>
        </p:nvCxnSpPr>
        <p:spPr>
          <a:xfrm flipV="1">
            <a:off x="5956300" y="3771900"/>
            <a:ext cx="2524218" cy="289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9" idx="3"/>
            <a:endCxn id="10" idx="6"/>
          </p:cNvCxnSpPr>
          <p:nvPr/>
        </p:nvCxnSpPr>
        <p:spPr>
          <a:xfrm flipH="1" flipV="1">
            <a:off x="7135673" y="3479800"/>
            <a:ext cx="1367163" cy="345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9" idx="3"/>
            <a:endCxn id="11" idx="7"/>
          </p:cNvCxnSpPr>
          <p:nvPr/>
        </p:nvCxnSpPr>
        <p:spPr>
          <a:xfrm flipH="1">
            <a:off x="6945173" y="3825782"/>
            <a:ext cx="1557663" cy="768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4"/>
            <a:endCxn id="12" idx="0"/>
          </p:cNvCxnSpPr>
          <p:nvPr/>
        </p:nvCxnSpPr>
        <p:spPr>
          <a:xfrm flipH="1" flipV="1">
            <a:off x="8064500" y="3835400"/>
            <a:ext cx="492218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1" idx="7"/>
          </p:cNvCxnSpPr>
          <p:nvPr/>
        </p:nvCxnSpPr>
        <p:spPr>
          <a:xfrm flipH="1">
            <a:off x="6945173" y="3556000"/>
            <a:ext cx="114300" cy="103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0" idx="5"/>
            <a:endCxn id="12" idx="1"/>
          </p:cNvCxnSpPr>
          <p:nvPr/>
        </p:nvCxnSpPr>
        <p:spPr>
          <a:xfrm>
            <a:off x="7113355" y="3533682"/>
            <a:ext cx="897263" cy="324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" idx="6"/>
            <a:endCxn id="12" idx="3"/>
          </p:cNvCxnSpPr>
          <p:nvPr/>
        </p:nvCxnSpPr>
        <p:spPr>
          <a:xfrm flipV="1">
            <a:off x="6967491" y="3965482"/>
            <a:ext cx="1043127" cy="682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638800" y="3211559"/>
            <a:ext cx="1731484" cy="1665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9254" y="2921000"/>
            <a:ext cx="1019946" cy="13858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43600" y="1981200"/>
            <a:ext cx="813045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8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complexity</a:t>
            </a:r>
            <a:br>
              <a:rPr lang="en-US" dirty="0"/>
            </a:br>
            <a:r>
              <a:rPr lang="en-US" sz="2200" dirty="0"/>
              <a:t>(as opposed to computational complexity)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874837"/>
            <a:ext cx="4876800" cy="4525963"/>
          </a:xfrm>
        </p:spPr>
        <p:txBody>
          <a:bodyPr>
            <a:normAutofit/>
          </a:bodyPr>
          <a:lstStyle/>
          <a:p>
            <a:r>
              <a:rPr lang="en-US" dirty="0"/>
              <a:t>Our main tool for coping with complexity is to</a:t>
            </a:r>
          </a:p>
          <a:p>
            <a:pPr lvl="1"/>
            <a:r>
              <a:rPr lang="en-US" dirty="0"/>
              <a:t>Divide the program into modules, and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Limit interactions </a:t>
            </a:r>
            <a:r>
              <a:rPr lang="en-US" dirty="0"/>
              <a:t>between modules, so that</a:t>
            </a:r>
          </a:p>
        </p:txBody>
      </p:sp>
      <p:sp>
        <p:nvSpPr>
          <p:cNvPr id="6" name="Oval 5"/>
          <p:cNvSpPr/>
          <p:nvPr/>
        </p:nvSpPr>
        <p:spPr>
          <a:xfrm>
            <a:off x="6250618" y="22860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37550" y="3197318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03900" y="3984718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80518" y="36957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3273" y="34036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15091" y="45720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988300" y="38354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stCxn id="7" idx="4"/>
            <a:endCxn id="12" idx="0"/>
          </p:cNvCxnSpPr>
          <p:nvPr/>
        </p:nvCxnSpPr>
        <p:spPr>
          <a:xfrm flipH="1">
            <a:off x="8064500" y="3349718"/>
            <a:ext cx="349250" cy="48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9" idx="0"/>
          </p:cNvCxnSpPr>
          <p:nvPr/>
        </p:nvCxnSpPr>
        <p:spPr>
          <a:xfrm>
            <a:off x="8467632" y="3327400"/>
            <a:ext cx="89086" cy="3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5"/>
            <a:endCxn id="11" idx="0"/>
          </p:cNvCxnSpPr>
          <p:nvPr/>
        </p:nvCxnSpPr>
        <p:spPr>
          <a:xfrm>
            <a:off x="5933982" y="4114800"/>
            <a:ext cx="957309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6"/>
            <a:endCxn id="10" idx="2"/>
          </p:cNvCxnSpPr>
          <p:nvPr/>
        </p:nvCxnSpPr>
        <p:spPr>
          <a:xfrm flipV="1">
            <a:off x="5956300" y="3479800"/>
            <a:ext cx="1026973" cy="58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4"/>
            <a:endCxn id="12" idx="0"/>
          </p:cNvCxnSpPr>
          <p:nvPr/>
        </p:nvCxnSpPr>
        <p:spPr>
          <a:xfrm flipH="1" flipV="1">
            <a:off x="8064500" y="3835400"/>
            <a:ext cx="492218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1" idx="7"/>
          </p:cNvCxnSpPr>
          <p:nvPr/>
        </p:nvCxnSpPr>
        <p:spPr>
          <a:xfrm flipH="1">
            <a:off x="6945173" y="3556000"/>
            <a:ext cx="114300" cy="103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638800" y="3211559"/>
            <a:ext cx="1731484" cy="1665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9254" y="2921000"/>
            <a:ext cx="1019946" cy="13858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43600" y="1981200"/>
            <a:ext cx="813045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3" idx="3"/>
            <a:endCxn id="5" idx="1"/>
          </p:cNvCxnSpPr>
          <p:nvPr/>
        </p:nvCxnSpPr>
        <p:spPr>
          <a:xfrm flipV="1">
            <a:off x="7370284" y="3613921"/>
            <a:ext cx="448970" cy="430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5" idx="0"/>
            <a:endCxn id="13" idx="3"/>
          </p:cNvCxnSpPr>
          <p:nvPr/>
        </p:nvCxnSpPr>
        <p:spPr>
          <a:xfrm flipH="1" flipV="1">
            <a:off x="6756645" y="2362200"/>
            <a:ext cx="1572582" cy="558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2"/>
            <a:endCxn id="3" idx="0"/>
          </p:cNvCxnSpPr>
          <p:nvPr/>
        </p:nvCxnSpPr>
        <p:spPr>
          <a:xfrm>
            <a:off x="6350123" y="2743200"/>
            <a:ext cx="154419" cy="4683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95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complexity</a:t>
            </a:r>
            <a:br>
              <a:rPr lang="en-US" dirty="0"/>
            </a:br>
            <a:r>
              <a:rPr lang="en-US" sz="2200" dirty="0"/>
              <a:t>(as opposed to computational complexity)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874837"/>
            <a:ext cx="4800600" cy="4906963"/>
          </a:xfrm>
        </p:spPr>
        <p:txBody>
          <a:bodyPr>
            <a:normAutofit/>
          </a:bodyPr>
          <a:lstStyle/>
          <a:p>
            <a:r>
              <a:rPr lang="en-US" dirty="0"/>
              <a:t>Our main tool for coping with complexity is to</a:t>
            </a:r>
          </a:p>
          <a:p>
            <a:pPr lvl="1"/>
            <a:r>
              <a:rPr lang="en-US" dirty="0"/>
              <a:t>Divide the program into modules, and</a:t>
            </a:r>
          </a:p>
          <a:p>
            <a:pPr lvl="1"/>
            <a:r>
              <a:rPr lang="en-US" dirty="0"/>
              <a:t>Limit interactions between modules, so that</a:t>
            </a:r>
          </a:p>
          <a:p>
            <a:pPr lvl="1"/>
            <a:r>
              <a:rPr lang="en-US" dirty="0"/>
              <a:t>We </a:t>
            </a:r>
            <a:r>
              <a:rPr lang="en-US" b="1" dirty="0">
                <a:solidFill>
                  <a:srgbClr val="E46C0A"/>
                </a:solidFill>
              </a:rPr>
              <a:t>can change the internals </a:t>
            </a:r>
            <a:r>
              <a:rPr lang="en-US" dirty="0"/>
              <a:t>of one module</a:t>
            </a:r>
          </a:p>
          <a:p>
            <a:pPr lvl="1"/>
            <a:r>
              <a:rPr lang="en-US" dirty="0"/>
              <a:t>Provided we </a:t>
            </a:r>
            <a:r>
              <a:rPr lang="en-US" b="1" dirty="0">
                <a:solidFill>
                  <a:srgbClr val="E46C0A"/>
                </a:solidFill>
              </a:rPr>
              <a:t>don’t change its interfaces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with other modules</a:t>
            </a:r>
          </a:p>
        </p:txBody>
      </p:sp>
      <p:sp>
        <p:nvSpPr>
          <p:cNvPr id="7" name="Oval 6"/>
          <p:cNvSpPr/>
          <p:nvPr/>
        </p:nvSpPr>
        <p:spPr>
          <a:xfrm>
            <a:off x="8337550" y="3197318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03900" y="3984718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80518" y="36957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3273" y="34036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15091" y="45720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988300" y="38354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stCxn id="7" idx="4"/>
            <a:endCxn id="12" idx="0"/>
          </p:cNvCxnSpPr>
          <p:nvPr/>
        </p:nvCxnSpPr>
        <p:spPr>
          <a:xfrm flipH="1">
            <a:off x="8064500" y="3349718"/>
            <a:ext cx="349250" cy="48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9" idx="0"/>
          </p:cNvCxnSpPr>
          <p:nvPr/>
        </p:nvCxnSpPr>
        <p:spPr>
          <a:xfrm>
            <a:off x="8467632" y="3327400"/>
            <a:ext cx="89086" cy="3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5"/>
            <a:endCxn id="11" idx="0"/>
          </p:cNvCxnSpPr>
          <p:nvPr/>
        </p:nvCxnSpPr>
        <p:spPr>
          <a:xfrm>
            <a:off x="5933982" y="4114800"/>
            <a:ext cx="957309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6"/>
            <a:endCxn id="10" idx="2"/>
          </p:cNvCxnSpPr>
          <p:nvPr/>
        </p:nvCxnSpPr>
        <p:spPr>
          <a:xfrm flipV="1">
            <a:off x="5956300" y="3479800"/>
            <a:ext cx="1026973" cy="58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4"/>
            <a:endCxn id="12" idx="0"/>
          </p:cNvCxnSpPr>
          <p:nvPr/>
        </p:nvCxnSpPr>
        <p:spPr>
          <a:xfrm flipH="1" flipV="1">
            <a:off x="8064500" y="3835400"/>
            <a:ext cx="492218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1" idx="7"/>
          </p:cNvCxnSpPr>
          <p:nvPr/>
        </p:nvCxnSpPr>
        <p:spPr>
          <a:xfrm flipH="1">
            <a:off x="6945173" y="3556000"/>
            <a:ext cx="114300" cy="103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638800" y="3211559"/>
            <a:ext cx="1731484" cy="1665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9254" y="2921000"/>
            <a:ext cx="1019946" cy="13858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57800" y="1447800"/>
            <a:ext cx="1498845" cy="1295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3" idx="3"/>
            <a:endCxn id="5" idx="1"/>
          </p:cNvCxnSpPr>
          <p:nvPr/>
        </p:nvCxnSpPr>
        <p:spPr>
          <a:xfrm flipV="1">
            <a:off x="7370284" y="3613921"/>
            <a:ext cx="448970" cy="430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5" idx="0"/>
            <a:endCxn id="13" idx="3"/>
          </p:cNvCxnSpPr>
          <p:nvPr/>
        </p:nvCxnSpPr>
        <p:spPr>
          <a:xfrm flipH="1" flipV="1">
            <a:off x="6756645" y="2095500"/>
            <a:ext cx="1572582" cy="825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2"/>
            <a:endCxn id="3" idx="0"/>
          </p:cNvCxnSpPr>
          <p:nvPr/>
        </p:nvCxnSpPr>
        <p:spPr>
          <a:xfrm>
            <a:off x="6007223" y="2743200"/>
            <a:ext cx="497319" cy="4683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14137" y="16002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248400" y="1806482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501073" y="19812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232618" y="2162082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828437" y="1958882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618887" y="2303323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006237" y="2325641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>
            <a:stCxn id="26" idx="6"/>
            <a:endCxn id="27" idx="2"/>
          </p:cNvCxnSpPr>
          <p:nvPr/>
        </p:nvCxnSpPr>
        <p:spPr>
          <a:xfrm>
            <a:off x="5866537" y="1676400"/>
            <a:ext cx="381863" cy="206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6" idx="4"/>
            <a:endCxn id="28" idx="0"/>
          </p:cNvCxnSpPr>
          <p:nvPr/>
        </p:nvCxnSpPr>
        <p:spPr>
          <a:xfrm flipH="1">
            <a:off x="5577273" y="1752600"/>
            <a:ext cx="213064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6" idx="5"/>
            <a:endCxn id="30" idx="1"/>
          </p:cNvCxnSpPr>
          <p:nvPr/>
        </p:nvCxnSpPr>
        <p:spPr>
          <a:xfrm>
            <a:off x="5844219" y="1730282"/>
            <a:ext cx="6536" cy="250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6" idx="5"/>
            <a:endCxn id="29" idx="1"/>
          </p:cNvCxnSpPr>
          <p:nvPr/>
        </p:nvCxnSpPr>
        <p:spPr>
          <a:xfrm>
            <a:off x="5844219" y="1730282"/>
            <a:ext cx="410717" cy="454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26" idx="5"/>
            <a:endCxn id="33" idx="1"/>
          </p:cNvCxnSpPr>
          <p:nvPr/>
        </p:nvCxnSpPr>
        <p:spPr>
          <a:xfrm>
            <a:off x="5844219" y="1730282"/>
            <a:ext cx="184336" cy="617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26" idx="4"/>
            <a:endCxn id="31" idx="0"/>
          </p:cNvCxnSpPr>
          <p:nvPr/>
        </p:nvCxnSpPr>
        <p:spPr>
          <a:xfrm flipH="1">
            <a:off x="5695087" y="1752600"/>
            <a:ext cx="95250" cy="550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7" idx="2"/>
            <a:endCxn id="28" idx="7"/>
          </p:cNvCxnSpPr>
          <p:nvPr/>
        </p:nvCxnSpPr>
        <p:spPr>
          <a:xfrm flipH="1">
            <a:off x="5631155" y="1882682"/>
            <a:ext cx="617245" cy="120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7" idx="3"/>
            <a:endCxn id="31" idx="0"/>
          </p:cNvCxnSpPr>
          <p:nvPr/>
        </p:nvCxnSpPr>
        <p:spPr>
          <a:xfrm flipH="1">
            <a:off x="5695087" y="1936564"/>
            <a:ext cx="575631" cy="366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27" idx="4"/>
            <a:endCxn id="30" idx="7"/>
          </p:cNvCxnSpPr>
          <p:nvPr/>
        </p:nvCxnSpPr>
        <p:spPr>
          <a:xfrm flipH="1">
            <a:off x="5958519" y="1958882"/>
            <a:ext cx="366081" cy="22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4"/>
            <a:endCxn id="33" idx="0"/>
          </p:cNvCxnSpPr>
          <p:nvPr/>
        </p:nvCxnSpPr>
        <p:spPr>
          <a:xfrm flipH="1">
            <a:off x="6082437" y="1958882"/>
            <a:ext cx="242163" cy="366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7" idx="5"/>
            <a:endCxn id="29" idx="0"/>
          </p:cNvCxnSpPr>
          <p:nvPr/>
        </p:nvCxnSpPr>
        <p:spPr>
          <a:xfrm flipH="1">
            <a:off x="6308818" y="1936564"/>
            <a:ext cx="69664" cy="225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8" idx="5"/>
            <a:endCxn id="31" idx="0"/>
          </p:cNvCxnSpPr>
          <p:nvPr/>
        </p:nvCxnSpPr>
        <p:spPr>
          <a:xfrm>
            <a:off x="5631155" y="2111282"/>
            <a:ext cx="63932" cy="192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8" idx="6"/>
            <a:endCxn id="30" idx="2"/>
          </p:cNvCxnSpPr>
          <p:nvPr/>
        </p:nvCxnSpPr>
        <p:spPr>
          <a:xfrm flipV="1">
            <a:off x="5653473" y="2035082"/>
            <a:ext cx="174964" cy="22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8" idx="5"/>
            <a:endCxn id="33" idx="2"/>
          </p:cNvCxnSpPr>
          <p:nvPr/>
        </p:nvCxnSpPr>
        <p:spPr>
          <a:xfrm>
            <a:off x="5631155" y="2111282"/>
            <a:ext cx="375082" cy="290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8" idx="6"/>
            <a:endCxn id="29" idx="2"/>
          </p:cNvCxnSpPr>
          <p:nvPr/>
        </p:nvCxnSpPr>
        <p:spPr>
          <a:xfrm>
            <a:off x="5653473" y="2057400"/>
            <a:ext cx="579145" cy="180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3"/>
            <a:endCxn id="30" idx="6"/>
          </p:cNvCxnSpPr>
          <p:nvPr/>
        </p:nvCxnSpPr>
        <p:spPr>
          <a:xfrm flipH="1" flipV="1">
            <a:off x="5980837" y="2035082"/>
            <a:ext cx="274099" cy="257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29" idx="3"/>
            <a:endCxn id="31" idx="7"/>
          </p:cNvCxnSpPr>
          <p:nvPr/>
        </p:nvCxnSpPr>
        <p:spPr>
          <a:xfrm flipH="1">
            <a:off x="5748969" y="2292164"/>
            <a:ext cx="505967" cy="33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9" idx="4"/>
            <a:endCxn id="33" idx="0"/>
          </p:cNvCxnSpPr>
          <p:nvPr/>
        </p:nvCxnSpPr>
        <p:spPr>
          <a:xfrm flipH="1">
            <a:off x="6082437" y="2314482"/>
            <a:ext cx="226381" cy="11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0" idx="4"/>
            <a:endCxn id="31" idx="7"/>
          </p:cNvCxnSpPr>
          <p:nvPr/>
        </p:nvCxnSpPr>
        <p:spPr>
          <a:xfrm flipH="1">
            <a:off x="5748969" y="2111282"/>
            <a:ext cx="155668" cy="214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0" idx="5"/>
            <a:endCxn id="33" idx="1"/>
          </p:cNvCxnSpPr>
          <p:nvPr/>
        </p:nvCxnSpPr>
        <p:spPr>
          <a:xfrm>
            <a:off x="5958519" y="2088964"/>
            <a:ext cx="70036" cy="258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31" idx="6"/>
            <a:endCxn id="33" idx="3"/>
          </p:cNvCxnSpPr>
          <p:nvPr/>
        </p:nvCxnSpPr>
        <p:spPr>
          <a:xfrm>
            <a:off x="5771287" y="2379523"/>
            <a:ext cx="257268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71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good designs are modular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9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designs modular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Divide code into </a:t>
            </a:r>
            <a:r>
              <a:rPr lang="en-US" b="1" dirty="0">
                <a:solidFill>
                  <a:srgbClr val="E46C0A"/>
                </a:solidFill>
              </a:rPr>
              <a:t>modules</a:t>
            </a:r>
          </a:p>
          <a:p>
            <a:r>
              <a:rPr lang="en-US" b="1" dirty="0">
                <a:solidFill>
                  <a:srgbClr val="E46C0A"/>
                </a:solidFill>
              </a:rPr>
              <a:t>Reuse modules </a:t>
            </a:r>
            <a:r>
              <a:rPr lang="en-US" dirty="0"/>
              <a:t>from other projects when possible</a:t>
            </a:r>
          </a:p>
          <a:p>
            <a:pPr lvl="1"/>
            <a:r>
              <a:rPr lang="en-US" dirty="0"/>
              <a:t>Write and debug once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Minimize assumptions </a:t>
            </a:r>
            <a:r>
              <a:rPr lang="en-US" dirty="0">
                <a:solidFill>
                  <a:schemeClr val="tx1"/>
                </a:solidFill>
              </a:rPr>
              <a:t>one module makes about another</a:t>
            </a:r>
          </a:p>
          <a:p>
            <a:pPr lvl="1"/>
            <a:r>
              <a:rPr lang="en-US" dirty="0"/>
              <a:t>Good: assuming </a:t>
            </a:r>
            <a:r>
              <a:rPr lang="en-US" dirty="0" err="1"/>
              <a:t>OpenWebPage</a:t>
            </a:r>
            <a:r>
              <a:rPr lang="en-US" dirty="0"/>
              <a:t>(string </a:t>
            </a:r>
            <a:r>
              <a:rPr lang="en-US" dirty="0" err="1"/>
              <a:t>url</a:t>
            </a:r>
            <a:r>
              <a:rPr lang="en-US" dirty="0"/>
              <a:t>) displays the web page on the screen</a:t>
            </a:r>
          </a:p>
          <a:p>
            <a:pPr lvl="1"/>
            <a:r>
              <a:rPr lang="en-US" dirty="0"/>
              <a:t>Bad: assuming it opens it in </a:t>
            </a:r>
            <a:r>
              <a:rPr lang="en-US" dirty="0" err="1"/>
              <a:t>FireFox</a:t>
            </a:r>
            <a:r>
              <a:rPr lang="en-US" dirty="0"/>
              <a:t> version 2.7</a:t>
            </a:r>
          </a:p>
        </p:txBody>
      </p:sp>
      <p:sp>
        <p:nvSpPr>
          <p:cNvPr id="5" name="Oval 4"/>
          <p:cNvSpPr/>
          <p:nvPr/>
        </p:nvSpPr>
        <p:spPr>
          <a:xfrm>
            <a:off x="8032750" y="3806918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499100" y="4594318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175718" y="43053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678473" y="40132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510291" y="5181600"/>
            <a:ext cx="152400" cy="1524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683500" y="4445000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5" idx="4"/>
            <a:endCxn id="10" idx="0"/>
          </p:cNvCxnSpPr>
          <p:nvPr/>
        </p:nvCxnSpPr>
        <p:spPr>
          <a:xfrm flipH="1">
            <a:off x="7759700" y="3959318"/>
            <a:ext cx="349250" cy="48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5"/>
            <a:endCxn id="7" idx="0"/>
          </p:cNvCxnSpPr>
          <p:nvPr/>
        </p:nvCxnSpPr>
        <p:spPr>
          <a:xfrm>
            <a:off x="8162832" y="3937000"/>
            <a:ext cx="89086" cy="3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6" idx="5"/>
            <a:endCxn id="9" idx="0"/>
          </p:cNvCxnSpPr>
          <p:nvPr/>
        </p:nvCxnSpPr>
        <p:spPr>
          <a:xfrm>
            <a:off x="5629182" y="4724400"/>
            <a:ext cx="957309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6"/>
            <a:endCxn id="8" idx="2"/>
          </p:cNvCxnSpPr>
          <p:nvPr/>
        </p:nvCxnSpPr>
        <p:spPr>
          <a:xfrm flipV="1">
            <a:off x="5651500" y="4089400"/>
            <a:ext cx="1026973" cy="58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7" idx="4"/>
            <a:endCxn id="10" idx="0"/>
          </p:cNvCxnSpPr>
          <p:nvPr/>
        </p:nvCxnSpPr>
        <p:spPr>
          <a:xfrm flipH="1" flipV="1">
            <a:off x="7759700" y="4445000"/>
            <a:ext cx="492218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9" idx="7"/>
          </p:cNvCxnSpPr>
          <p:nvPr/>
        </p:nvCxnSpPr>
        <p:spPr>
          <a:xfrm flipH="1">
            <a:off x="6640373" y="4165600"/>
            <a:ext cx="114300" cy="103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34000" y="3821159"/>
            <a:ext cx="1731484" cy="1665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514454" y="3530600"/>
            <a:ext cx="1019946" cy="13858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53000" y="2057400"/>
            <a:ext cx="1498845" cy="1295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17" idx="3"/>
            <a:endCxn id="18" idx="1"/>
          </p:cNvCxnSpPr>
          <p:nvPr/>
        </p:nvCxnSpPr>
        <p:spPr>
          <a:xfrm flipV="1">
            <a:off x="7065484" y="4223521"/>
            <a:ext cx="448970" cy="430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8" idx="0"/>
            <a:endCxn id="19" idx="3"/>
          </p:cNvCxnSpPr>
          <p:nvPr/>
        </p:nvCxnSpPr>
        <p:spPr>
          <a:xfrm flipH="1" flipV="1">
            <a:off x="6451845" y="2705100"/>
            <a:ext cx="1572582" cy="825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2"/>
            <a:endCxn id="17" idx="0"/>
          </p:cNvCxnSpPr>
          <p:nvPr/>
        </p:nvCxnSpPr>
        <p:spPr>
          <a:xfrm>
            <a:off x="5702423" y="3352800"/>
            <a:ext cx="497319" cy="4683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409337" y="22098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943600" y="2416082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196273" y="2590800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927818" y="2771682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523637" y="2568482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314087" y="2912923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701437" y="2935241"/>
            <a:ext cx="152400" cy="152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>
            <a:stCxn id="23" idx="6"/>
            <a:endCxn id="24" idx="2"/>
          </p:cNvCxnSpPr>
          <p:nvPr/>
        </p:nvCxnSpPr>
        <p:spPr>
          <a:xfrm>
            <a:off x="5561737" y="2286000"/>
            <a:ext cx="381863" cy="206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4"/>
            <a:endCxn id="25" idx="0"/>
          </p:cNvCxnSpPr>
          <p:nvPr/>
        </p:nvCxnSpPr>
        <p:spPr>
          <a:xfrm flipH="1">
            <a:off x="5272473" y="2362200"/>
            <a:ext cx="213064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5"/>
            <a:endCxn id="27" idx="1"/>
          </p:cNvCxnSpPr>
          <p:nvPr/>
        </p:nvCxnSpPr>
        <p:spPr>
          <a:xfrm>
            <a:off x="5539419" y="2339882"/>
            <a:ext cx="6536" cy="250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5"/>
            <a:endCxn id="26" idx="1"/>
          </p:cNvCxnSpPr>
          <p:nvPr/>
        </p:nvCxnSpPr>
        <p:spPr>
          <a:xfrm>
            <a:off x="5539419" y="2339882"/>
            <a:ext cx="410717" cy="454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3" idx="5"/>
            <a:endCxn id="29" idx="1"/>
          </p:cNvCxnSpPr>
          <p:nvPr/>
        </p:nvCxnSpPr>
        <p:spPr>
          <a:xfrm>
            <a:off x="5539419" y="2339882"/>
            <a:ext cx="184336" cy="617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3" idx="4"/>
            <a:endCxn id="28" idx="0"/>
          </p:cNvCxnSpPr>
          <p:nvPr/>
        </p:nvCxnSpPr>
        <p:spPr>
          <a:xfrm flipH="1">
            <a:off x="5390287" y="2362200"/>
            <a:ext cx="95250" cy="550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4" idx="2"/>
            <a:endCxn id="25" idx="7"/>
          </p:cNvCxnSpPr>
          <p:nvPr/>
        </p:nvCxnSpPr>
        <p:spPr>
          <a:xfrm flipH="1">
            <a:off x="5326355" y="2492282"/>
            <a:ext cx="617245" cy="120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4" idx="3"/>
            <a:endCxn id="28" idx="0"/>
          </p:cNvCxnSpPr>
          <p:nvPr/>
        </p:nvCxnSpPr>
        <p:spPr>
          <a:xfrm flipH="1">
            <a:off x="5390287" y="2546164"/>
            <a:ext cx="575631" cy="366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4" idx="4"/>
            <a:endCxn id="27" idx="7"/>
          </p:cNvCxnSpPr>
          <p:nvPr/>
        </p:nvCxnSpPr>
        <p:spPr>
          <a:xfrm flipH="1">
            <a:off x="5653719" y="2568482"/>
            <a:ext cx="366081" cy="22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4" idx="4"/>
            <a:endCxn id="29" idx="0"/>
          </p:cNvCxnSpPr>
          <p:nvPr/>
        </p:nvCxnSpPr>
        <p:spPr>
          <a:xfrm flipH="1">
            <a:off x="5777637" y="2568482"/>
            <a:ext cx="242163" cy="366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4" idx="5"/>
            <a:endCxn id="26" idx="0"/>
          </p:cNvCxnSpPr>
          <p:nvPr/>
        </p:nvCxnSpPr>
        <p:spPr>
          <a:xfrm flipH="1">
            <a:off x="6004018" y="2546164"/>
            <a:ext cx="69664" cy="225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25" idx="5"/>
            <a:endCxn id="28" idx="0"/>
          </p:cNvCxnSpPr>
          <p:nvPr/>
        </p:nvCxnSpPr>
        <p:spPr>
          <a:xfrm>
            <a:off x="5326355" y="2720882"/>
            <a:ext cx="63932" cy="192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25" idx="6"/>
            <a:endCxn id="27" idx="2"/>
          </p:cNvCxnSpPr>
          <p:nvPr/>
        </p:nvCxnSpPr>
        <p:spPr>
          <a:xfrm flipV="1">
            <a:off x="5348673" y="2644682"/>
            <a:ext cx="174964" cy="22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5" idx="5"/>
            <a:endCxn id="29" idx="2"/>
          </p:cNvCxnSpPr>
          <p:nvPr/>
        </p:nvCxnSpPr>
        <p:spPr>
          <a:xfrm>
            <a:off x="5326355" y="2720882"/>
            <a:ext cx="375082" cy="290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5" idx="6"/>
            <a:endCxn id="26" idx="2"/>
          </p:cNvCxnSpPr>
          <p:nvPr/>
        </p:nvCxnSpPr>
        <p:spPr>
          <a:xfrm>
            <a:off x="5348673" y="2667000"/>
            <a:ext cx="579145" cy="180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26" idx="3"/>
            <a:endCxn id="27" idx="6"/>
          </p:cNvCxnSpPr>
          <p:nvPr/>
        </p:nvCxnSpPr>
        <p:spPr>
          <a:xfrm flipH="1" flipV="1">
            <a:off x="5676037" y="2644682"/>
            <a:ext cx="274099" cy="257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6" idx="3"/>
            <a:endCxn id="28" idx="7"/>
          </p:cNvCxnSpPr>
          <p:nvPr/>
        </p:nvCxnSpPr>
        <p:spPr>
          <a:xfrm flipH="1">
            <a:off x="5444169" y="2901764"/>
            <a:ext cx="505967" cy="33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6" idx="4"/>
            <a:endCxn id="29" idx="0"/>
          </p:cNvCxnSpPr>
          <p:nvPr/>
        </p:nvCxnSpPr>
        <p:spPr>
          <a:xfrm flipH="1">
            <a:off x="5777637" y="2924082"/>
            <a:ext cx="226381" cy="11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7" idx="4"/>
            <a:endCxn id="28" idx="7"/>
          </p:cNvCxnSpPr>
          <p:nvPr/>
        </p:nvCxnSpPr>
        <p:spPr>
          <a:xfrm flipH="1">
            <a:off x="5444169" y="2720882"/>
            <a:ext cx="155668" cy="214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7" idx="5"/>
            <a:endCxn id="29" idx="1"/>
          </p:cNvCxnSpPr>
          <p:nvPr/>
        </p:nvCxnSpPr>
        <p:spPr>
          <a:xfrm>
            <a:off x="5653719" y="2698564"/>
            <a:ext cx="70036" cy="258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28" idx="6"/>
            <a:endCxn id="29" idx="3"/>
          </p:cNvCxnSpPr>
          <p:nvPr/>
        </p:nvCxnSpPr>
        <p:spPr>
          <a:xfrm>
            <a:off x="5466487" y="2989123"/>
            <a:ext cx="257268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68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clients</a:t>
            </a:r>
            <a:r>
              <a:rPr lang="en-US" b="1" dirty="0"/>
              <a:t> </a:t>
            </a:r>
            <a:r>
              <a:rPr lang="en-US" dirty="0"/>
              <a:t>of a module are all the other modules that use it</a:t>
            </a:r>
          </a:p>
          <a:p>
            <a:pPr>
              <a:spcBef>
                <a:spcPts val="1800"/>
              </a:spcBef>
            </a:pPr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interface</a:t>
            </a:r>
            <a:r>
              <a:rPr lang="en-US" b="1" dirty="0"/>
              <a:t> </a:t>
            </a:r>
            <a:r>
              <a:rPr lang="en-US" dirty="0"/>
              <a:t>between the module and its clients is the set of operations the clients use in the module</a:t>
            </a:r>
          </a:p>
          <a:p>
            <a:pPr lvl="1"/>
            <a:r>
              <a:rPr lang="en-US" dirty="0"/>
              <a:t>For a C++ class, it would be its set of public members</a:t>
            </a:r>
          </a:p>
          <a:p>
            <a:pPr>
              <a:spcBef>
                <a:spcPts val="1800"/>
              </a:spcBef>
            </a:pPr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implementation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of the module is the code that makes the interface work</a:t>
            </a:r>
          </a:p>
          <a:p>
            <a:pPr lvl="1"/>
            <a:r>
              <a:rPr lang="en-US" dirty="0"/>
              <a:t>E.g. private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905000"/>
            <a:ext cx="2057400" cy="12192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implementation</a:t>
            </a:r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257800" y="38862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3200" y="38862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6200" y="38862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667000"/>
            <a:ext cx="12954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</p:txBody>
      </p:sp>
      <p:cxnSp>
        <p:nvCxnSpPr>
          <p:cNvPr id="13" name="Straight Arrow Connector 12"/>
          <p:cNvCxnSpPr>
            <a:endCxn id="6" idx="0"/>
          </p:cNvCxnSpPr>
          <p:nvPr/>
        </p:nvCxnSpPr>
        <p:spPr>
          <a:xfrm flipH="1">
            <a:off x="5715000" y="3124200"/>
            <a:ext cx="8382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9" idx="0"/>
          </p:cNvCxnSpPr>
          <p:nvPr/>
        </p:nvCxnSpPr>
        <p:spPr>
          <a:xfrm>
            <a:off x="6819900" y="3124200"/>
            <a:ext cx="1905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0"/>
          </p:cNvCxnSpPr>
          <p:nvPr/>
        </p:nvCxnSpPr>
        <p:spPr>
          <a:xfrm>
            <a:off x="7162800" y="3124200"/>
            <a:ext cx="9906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2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hiding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46C0A"/>
                </a:solidFill>
              </a:rPr>
              <a:t>Need-to-know </a:t>
            </a:r>
            <a:r>
              <a:rPr lang="en-US" dirty="0"/>
              <a:t>principle</a:t>
            </a:r>
          </a:p>
          <a:p>
            <a:r>
              <a:rPr lang="en-US" b="1" dirty="0">
                <a:solidFill>
                  <a:srgbClr val="E46C0A"/>
                </a:solidFill>
              </a:rPr>
              <a:t>Minimal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interfaces</a:t>
            </a:r>
          </a:p>
          <a:p>
            <a:pPr lvl="1"/>
            <a:r>
              <a:rPr lang="en-US" dirty="0"/>
              <a:t>Only things the client really need access to</a:t>
            </a:r>
          </a:p>
          <a:p>
            <a:r>
              <a:rPr lang="en-US" dirty="0"/>
              <a:t>Implementation is a </a:t>
            </a:r>
            <a:r>
              <a:rPr lang="en-US" b="1" dirty="0"/>
              <a:t>black box</a:t>
            </a:r>
          </a:p>
          <a:p>
            <a:pPr lvl="1"/>
            <a:r>
              <a:rPr lang="en-US" dirty="0"/>
              <a:t>Completely hidden from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2286000"/>
            <a:ext cx="2057400" cy="1219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</a:t>
            </a: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1600" y="42672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0" y="42672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0" y="42672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048000"/>
            <a:ext cx="12954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</p:txBody>
      </p:sp>
      <p:cxnSp>
        <p:nvCxnSpPr>
          <p:cNvPr id="13" name="Straight Arrow Connector 12"/>
          <p:cNvCxnSpPr>
            <a:endCxn id="6" idx="0"/>
          </p:cNvCxnSpPr>
          <p:nvPr/>
        </p:nvCxnSpPr>
        <p:spPr>
          <a:xfrm flipH="1">
            <a:off x="5638800" y="3505200"/>
            <a:ext cx="8382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9" idx="0"/>
          </p:cNvCxnSpPr>
          <p:nvPr/>
        </p:nvCxnSpPr>
        <p:spPr>
          <a:xfrm>
            <a:off x="6743700" y="3505200"/>
            <a:ext cx="1905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0"/>
          </p:cNvCxnSpPr>
          <p:nvPr/>
        </p:nvCxnSpPr>
        <p:spPr>
          <a:xfrm>
            <a:off x="7086600" y="3505200"/>
            <a:ext cx="9906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50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 flipH="1">
            <a:off x="7434262" y="1981200"/>
            <a:ext cx="685800" cy="1295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Interfaces abstract over possible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r>
              <a:rPr lang="en-US" dirty="0"/>
              <a:t>Can </a:t>
            </a:r>
            <a:r>
              <a:rPr lang="en-US" b="1" dirty="0">
                <a:solidFill>
                  <a:srgbClr val="E46C0A"/>
                </a:solidFill>
              </a:rPr>
              <a:t>change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the implementation</a:t>
            </a:r>
          </a:p>
          <a:p>
            <a:pPr lvl="1"/>
            <a:r>
              <a:rPr lang="en-US" dirty="0"/>
              <a:t>Modify it</a:t>
            </a:r>
          </a:p>
          <a:p>
            <a:pPr lvl="1"/>
            <a:r>
              <a:rPr lang="en-US" dirty="0"/>
              <a:t>Swap it for a completely different one</a:t>
            </a:r>
          </a:p>
          <a:p>
            <a:pPr lvl="1"/>
            <a:endParaRPr lang="en-US" dirty="0"/>
          </a:p>
          <a:p>
            <a:r>
              <a:rPr lang="en-US" dirty="0"/>
              <a:t>Without the clients being about to tell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581400"/>
            <a:ext cx="2057400" cy="1219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?</a:t>
            </a: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1600" y="55626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0" y="55626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0" y="55626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343400"/>
            <a:ext cx="12954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</p:txBody>
      </p:sp>
      <p:cxnSp>
        <p:nvCxnSpPr>
          <p:cNvPr id="13" name="Straight Arrow Connector 12"/>
          <p:cNvCxnSpPr>
            <a:endCxn id="6" idx="0"/>
          </p:cNvCxnSpPr>
          <p:nvPr/>
        </p:nvCxnSpPr>
        <p:spPr>
          <a:xfrm flipH="1">
            <a:off x="5638800" y="4800600"/>
            <a:ext cx="8382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9" idx="0"/>
          </p:cNvCxnSpPr>
          <p:nvPr/>
        </p:nvCxnSpPr>
        <p:spPr>
          <a:xfrm>
            <a:off x="6743700" y="4800600"/>
            <a:ext cx="1905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0"/>
          </p:cNvCxnSpPr>
          <p:nvPr/>
        </p:nvCxnSpPr>
        <p:spPr>
          <a:xfrm>
            <a:off x="7086600" y="4800600"/>
            <a:ext cx="9906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800600" y="19812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38725" y="24574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0725" y="10668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38850" y="15430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91325" y="21336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29450" y="26098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7125" y="11430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15250" y="16192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715000" y="2895600"/>
            <a:ext cx="323850" cy="533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43662" y="1981200"/>
            <a:ext cx="0" cy="1295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7029450" y="3048000"/>
            <a:ext cx="57150" cy="2286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445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Defines a data structure in terms of</a:t>
            </a:r>
          </a:p>
          <a:p>
            <a:pPr lvl="1"/>
            <a:r>
              <a:rPr lang="en-US" dirty="0"/>
              <a:t>Its </a:t>
            </a:r>
            <a:r>
              <a:rPr lang="en-US" b="1" dirty="0">
                <a:solidFill>
                  <a:srgbClr val="E46C0A"/>
                </a:solidFill>
              </a:rPr>
              <a:t>interface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(the operations that can be performed on it)</a:t>
            </a:r>
          </a:p>
          <a:p>
            <a:pPr lvl="1"/>
            <a:r>
              <a:rPr lang="en-US" dirty="0"/>
              <a:t>Its </a:t>
            </a:r>
            <a:r>
              <a:rPr lang="en-US" b="1" dirty="0">
                <a:solidFill>
                  <a:srgbClr val="E46C0A"/>
                </a:solidFill>
              </a:rPr>
              <a:t>behavior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(e.g. contract)</a:t>
            </a:r>
          </a:p>
          <a:p>
            <a:pPr lvl="1"/>
            <a:r>
              <a:rPr lang="en-US" dirty="0"/>
              <a:t>Without specifying its concrete implementation</a:t>
            </a:r>
          </a:p>
          <a:p>
            <a:endParaRPr lang="en-US" dirty="0"/>
          </a:p>
          <a:p>
            <a:r>
              <a:rPr lang="en-US" dirty="0"/>
              <a:t>Specifies </a:t>
            </a:r>
            <a:r>
              <a:rPr lang="en-US" b="1" dirty="0">
                <a:solidFill>
                  <a:srgbClr val="E46C0A"/>
                </a:solidFill>
              </a:rPr>
              <a:t>what</a:t>
            </a:r>
            <a:r>
              <a:rPr lang="en-US" b="1" dirty="0"/>
              <a:t> </a:t>
            </a:r>
            <a:r>
              <a:rPr lang="en-US" dirty="0"/>
              <a:t>the client can do</a:t>
            </a:r>
          </a:p>
          <a:p>
            <a:r>
              <a:rPr lang="en-US" dirty="0"/>
              <a:t>Not </a:t>
            </a:r>
            <a:r>
              <a:rPr lang="en-US" b="1" dirty="0">
                <a:solidFill>
                  <a:srgbClr val="E46C0A"/>
                </a:solidFill>
              </a:rPr>
              <a:t>how</a:t>
            </a:r>
            <a:r>
              <a:rPr lang="en-US" b="1" dirty="0"/>
              <a:t> </a:t>
            </a:r>
            <a:r>
              <a:rPr lang="en-US" dirty="0"/>
              <a:t>the should do it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7434262" y="1981200"/>
            <a:ext cx="685800" cy="1295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715000" y="3581400"/>
            <a:ext cx="2057400" cy="1219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tree abstraction</a:t>
            </a:r>
          </a:p>
          <a:p>
            <a:pPr algn="ctr"/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81600" y="55626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7000" y="55626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00" y="5562600"/>
            <a:ext cx="914400" cy="5334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0" y="4343400"/>
            <a:ext cx="12954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</p:txBody>
      </p:sp>
      <p:cxnSp>
        <p:nvCxnSpPr>
          <p:cNvPr id="56" name="Straight Arrow Connector 55"/>
          <p:cNvCxnSpPr>
            <a:endCxn id="52" idx="0"/>
          </p:cNvCxnSpPr>
          <p:nvPr/>
        </p:nvCxnSpPr>
        <p:spPr>
          <a:xfrm flipH="1">
            <a:off x="5638800" y="4800600"/>
            <a:ext cx="8382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1" idx="2"/>
            <a:endCxn id="53" idx="0"/>
          </p:cNvCxnSpPr>
          <p:nvPr/>
        </p:nvCxnSpPr>
        <p:spPr>
          <a:xfrm>
            <a:off x="6743700" y="4800600"/>
            <a:ext cx="1905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endCxn id="54" idx="0"/>
          </p:cNvCxnSpPr>
          <p:nvPr/>
        </p:nvCxnSpPr>
        <p:spPr>
          <a:xfrm>
            <a:off x="7086600" y="4800600"/>
            <a:ext cx="990600" cy="7620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800600" y="19812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38725" y="24574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0725" y="10668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38850" y="15430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91325" y="21336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029450" y="26098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77125" y="1143000"/>
            <a:ext cx="1285875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implementation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715250" y="1619250"/>
            <a:ext cx="809625" cy="28575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interface</a:t>
            </a:r>
          </a:p>
        </p:txBody>
      </p:sp>
      <p:cxnSp>
        <p:nvCxnSpPr>
          <p:cNvPr id="67" name="Straight Connector 66"/>
          <p:cNvCxnSpPr/>
          <p:nvPr/>
        </p:nvCxnSpPr>
        <p:spPr>
          <a:xfrm>
            <a:off x="5715000" y="2895600"/>
            <a:ext cx="323850" cy="533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6443662" y="1981200"/>
            <a:ext cx="0" cy="1295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7029450" y="3048000"/>
            <a:ext cx="57150" cy="2286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818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support for ADTs:</a:t>
            </a:r>
            <a:br>
              <a:rPr lang="en-US" dirty="0"/>
            </a:br>
            <a:r>
              <a:rPr lang="en-US" dirty="0"/>
              <a:t>Access Modifiers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/>
          </a:bodyPr>
          <a:lstStyle/>
          <a:p>
            <a:r>
              <a:rPr lang="en-US" dirty="0"/>
              <a:t>Enforce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abstraction barriers</a:t>
            </a:r>
          </a:p>
          <a:p>
            <a:r>
              <a:rPr lang="en-US" dirty="0"/>
              <a:t>Prevent client code from accessing implementation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Public </a:t>
            </a:r>
            <a:r>
              <a:rPr lang="en-US" dirty="0"/>
              <a:t>members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interface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Private</a:t>
            </a:r>
            <a:r>
              <a:rPr lang="en-US" dirty="0"/>
              <a:t> members are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implementation</a:t>
            </a: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class Sequence {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private</a:t>
            </a: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[] </a:t>
            </a:r>
            <a:r>
              <a:rPr lang="en-US" sz="2000" dirty="0" err="1"/>
              <a:t>theArray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public</a:t>
            </a: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GetElement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 i) {</a:t>
            </a:r>
            <a:br>
              <a:rPr lang="en-US" sz="2000" dirty="0"/>
            </a:br>
            <a:r>
              <a:rPr lang="en-US" sz="2000" dirty="0"/>
              <a:t>      return </a:t>
            </a:r>
            <a:r>
              <a:rPr lang="en-US" sz="2000" dirty="0" err="1"/>
              <a:t>theArray</a:t>
            </a:r>
            <a:r>
              <a:rPr lang="en-US" sz="2000" dirty="0"/>
              <a:t>[i];</a:t>
            </a:r>
            <a:br>
              <a:rPr lang="en-US" sz="2000" dirty="0"/>
            </a:br>
            <a:r>
              <a:rPr lang="en-US" sz="2000" dirty="0"/>
              <a:t>   }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public</a:t>
            </a: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 Count {</a:t>
            </a:r>
            <a:br>
              <a:rPr lang="en-US" sz="2000" dirty="0"/>
            </a:br>
            <a:r>
              <a:rPr lang="en-US" sz="2000" dirty="0"/>
              <a:t>      get {</a:t>
            </a:r>
            <a:br>
              <a:rPr lang="en-US" sz="2000" dirty="0"/>
            </a:br>
            <a:r>
              <a:rPr lang="en-US" sz="2000" dirty="0"/>
              <a:t>         return </a:t>
            </a:r>
            <a:r>
              <a:rPr lang="en-US" sz="2000" dirty="0" err="1"/>
              <a:t>theArray.Length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>      }</a:t>
            </a:r>
          </a:p>
          <a:p>
            <a:pPr marL="0" indent="0">
              <a:buNone/>
            </a:pPr>
            <a:r>
              <a:rPr lang="en-US" sz="2000" dirty="0"/>
              <a:t>   }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14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support for ADTs:</a:t>
            </a:r>
            <a:br>
              <a:rPr lang="en-US" dirty="0"/>
            </a:br>
            <a:r>
              <a:rPr lang="en-US" dirty="0"/>
              <a:t>Access Modifiers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/>
          </a:bodyPr>
          <a:lstStyle/>
          <a:p>
            <a:r>
              <a:rPr lang="en-US" dirty="0"/>
              <a:t>Now we can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switch out the implementation </a:t>
            </a:r>
          </a:p>
          <a:p>
            <a:r>
              <a:rPr lang="en-US" dirty="0"/>
              <a:t>Without having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change the client code</a:t>
            </a:r>
            <a:r>
              <a:rPr lang="en-US" dirty="0"/>
              <a:t>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class Sequence {</a:t>
            </a:r>
            <a:br>
              <a:rPr lang="en-US" sz="1800" dirty="0"/>
            </a:br>
            <a:r>
              <a:rPr lang="en-US" sz="1800" dirty="0"/>
              <a:t>  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private</a:t>
            </a:r>
            <a:r>
              <a:rPr lang="en-US" sz="1800" dirty="0"/>
              <a:t> </a:t>
            </a:r>
            <a:r>
              <a:rPr lang="en-US" sz="1800" dirty="0" err="1"/>
              <a:t>ListCell</a:t>
            </a:r>
            <a:r>
              <a:rPr lang="en-US" sz="1800" dirty="0"/>
              <a:t> </a:t>
            </a:r>
            <a:r>
              <a:rPr lang="en-US" sz="1800" dirty="0" err="1"/>
              <a:t>firstCell</a:t>
            </a:r>
            <a:r>
              <a:rPr lang="en-US" sz="1800" dirty="0"/>
              <a:t>;</a:t>
            </a:r>
            <a:br>
              <a:rPr lang="en-US" sz="1800" dirty="0"/>
            </a:br>
            <a:r>
              <a:rPr lang="en-US" sz="1800" dirty="0"/>
              <a:t>  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private </a:t>
            </a:r>
            <a:r>
              <a:rPr lang="en-US" sz="1800" dirty="0" err="1"/>
              <a:t>int</a:t>
            </a:r>
            <a:r>
              <a:rPr lang="en-US" sz="1800" dirty="0"/>
              <a:t> count;</a:t>
            </a:r>
          </a:p>
          <a:p>
            <a:pPr marL="0" indent="0">
              <a:buNone/>
            </a:pPr>
            <a:r>
              <a:rPr lang="en-US" sz="1800" dirty="0"/>
              <a:t>  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public</a:t>
            </a:r>
            <a:r>
              <a:rPr lang="en-US" sz="1800" dirty="0"/>
              <a:t>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GetElement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 i) {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var</a:t>
            </a:r>
            <a:r>
              <a:rPr lang="en-US" sz="1800" dirty="0"/>
              <a:t> cell = </a:t>
            </a:r>
            <a:r>
              <a:rPr lang="en-US" sz="1800" dirty="0" err="1"/>
              <a:t>firstCell</a:t>
            </a:r>
            <a:r>
              <a:rPr lang="en-US" sz="1800" dirty="0"/>
              <a:t>;</a:t>
            </a:r>
            <a:br>
              <a:rPr lang="en-US" sz="1800" dirty="0"/>
            </a:br>
            <a:r>
              <a:rPr lang="en-US" sz="1800" dirty="0"/>
              <a:t>      for (</a:t>
            </a:r>
            <a:r>
              <a:rPr lang="en-US" sz="1800" dirty="0" err="1"/>
              <a:t>int</a:t>
            </a:r>
            <a:r>
              <a:rPr lang="en-US" sz="1800" dirty="0"/>
              <a:t> j = 0; j&lt;i; </a:t>
            </a:r>
            <a:r>
              <a:rPr lang="en-US" sz="1800" dirty="0" err="1"/>
              <a:t>j++</a:t>
            </a:r>
            <a:r>
              <a:rPr lang="en-US" sz="1800" dirty="0"/>
              <a:t>)</a:t>
            </a:r>
            <a:br>
              <a:rPr lang="en-US" sz="1800" dirty="0"/>
            </a:br>
            <a:r>
              <a:rPr lang="en-US" sz="1800" dirty="0"/>
              <a:t>           cell = </a:t>
            </a:r>
            <a:r>
              <a:rPr lang="en-US" sz="1800" dirty="0" err="1"/>
              <a:t>cell.nextCell</a:t>
            </a:r>
            <a:r>
              <a:rPr lang="en-US" sz="1800" dirty="0"/>
              <a:t>;</a:t>
            </a:r>
            <a:br>
              <a:rPr lang="en-US" sz="1800" dirty="0"/>
            </a:br>
            <a:r>
              <a:rPr lang="en-US" sz="1800" dirty="0"/>
              <a:t>      return </a:t>
            </a:r>
            <a:r>
              <a:rPr lang="en-US" sz="1800" dirty="0" err="1"/>
              <a:t>cell.Value</a:t>
            </a:r>
            <a:r>
              <a:rPr lang="en-US" sz="1800" dirty="0"/>
              <a:t>;</a:t>
            </a:r>
            <a:br>
              <a:rPr lang="en-US" sz="1800" dirty="0"/>
            </a:br>
            <a:r>
              <a:rPr lang="en-US" sz="1800" dirty="0"/>
              <a:t>   }</a:t>
            </a:r>
          </a:p>
          <a:p>
            <a:pPr marL="0" indent="0">
              <a:buNone/>
            </a:pPr>
            <a:r>
              <a:rPr lang="en-US" sz="1800" dirty="0"/>
              <a:t>  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public</a:t>
            </a:r>
            <a:r>
              <a:rPr lang="en-US" sz="1800" dirty="0"/>
              <a:t> </a:t>
            </a:r>
            <a:r>
              <a:rPr lang="en-US" sz="1800" dirty="0" err="1"/>
              <a:t>int</a:t>
            </a:r>
            <a:r>
              <a:rPr lang="en-US" sz="1800" dirty="0"/>
              <a:t> Count {</a:t>
            </a:r>
            <a:br>
              <a:rPr lang="en-US" sz="1800" dirty="0"/>
            </a:br>
            <a:r>
              <a:rPr lang="en-US" sz="1800" dirty="0"/>
              <a:t>      get {</a:t>
            </a:r>
            <a:br>
              <a:rPr lang="en-US" sz="1800" dirty="0"/>
            </a:br>
            <a:r>
              <a:rPr lang="en-US" sz="1800" dirty="0"/>
              <a:t>         return count;</a:t>
            </a:r>
            <a:br>
              <a:rPr lang="en-US" sz="1800" dirty="0"/>
            </a:br>
            <a:r>
              <a:rPr lang="en-US" sz="1800" dirty="0"/>
              <a:t>      }</a:t>
            </a:r>
          </a:p>
          <a:p>
            <a:pPr marL="0" indent="0">
              <a:buNone/>
            </a:pPr>
            <a:r>
              <a:rPr lang="en-US" sz="1800" dirty="0"/>
              <a:t>   }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private</a:t>
            </a:r>
            <a:r>
              <a:rPr lang="en-US" sz="1800" dirty="0"/>
              <a:t> class </a:t>
            </a:r>
            <a:r>
              <a:rPr lang="en-US" sz="1800" dirty="0" err="1"/>
              <a:t>ListCell</a:t>
            </a:r>
            <a:r>
              <a:rPr lang="en-US" sz="1800" dirty="0"/>
              <a:t> { … }</a:t>
            </a:r>
            <a:br>
              <a:rPr lang="en-US" sz="1800" dirty="0"/>
            </a:b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086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support for ADTs</a:t>
            </a:r>
            <a:br>
              <a:rPr lang="en-US" dirty="0"/>
            </a:br>
            <a:r>
              <a:rPr lang="en-US" dirty="0"/>
              <a:t>Abstract classes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Define </a:t>
            </a:r>
            <a:r>
              <a:rPr lang="en-US" b="1" dirty="0">
                <a:solidFill>
                  <a:srgbClr val="E46C0A"/>
                </a:solidFill>
              </a:rPr>
              <a:t>virtual methods </a:t>
            </a:r>
            <a:r>
              <a:rPr lang="en-US" dirty="0"/>
              <a:t>without specifying implementations </a:t>
            </a:r>
          </a:p>
          <a:p>
            <a:r>
              <a:rPr lang="en-US" b="1" dirty="0">
                <a:solidFill>
                  <a:srgbClr val="E46C0A"/>
                </a:solidFill>
              </a:rPr>
              <a:t>Subclasses required to provide methods </a:t>
            </a:r>
            <a:r>
              <a:rPr lang="en-US" dirty="0"/>
              <a:t>for them</a:t>
            </a:r>
          </a:p>
          <a:p>
            <a:r>
              <a:rPr lang="en-US" dirty="0"/>
              <a:t>Can’t be instantiated</a:t>
            </a:r>
          </a:p>
          <a:p>
            <a:pPr lvl="1"/>
            <a:r>
              <a:rPr lang="en-US" dirty="0"/>
              <a:t>You can’t say:</a:t>
            </a:r>
            <a:br>
              <a:rPr lang="en-US" dirty="0"/>
            </a:br>
            <a:r>
              <a:rPr lang="en-US" dirty="0"/>
              <a:t>   </a:t>
            </a:r>
            <a:r>
              <a:rPr lang="en-US" sz="2200" dirty="0"/>
              <a:t>new Sequence()</a:t>
            </a:r>
            <a:endParaRPr lang="en-US" dirty="0"/>
          </a:p>
          <a:p>
            <a:pPr lvl="1"/>
            <a:r>
              <a:rPr lang="en-US" dirty="0"/>
              <a:t>You can declare a variable to be a sequence, i.e.</a:t>
            </a:r>
            <a:br>
              <a:rPr lang="en-US" dirty="0"/>
            </a:br>
            <a:r>
              <a:rPr lang="en-US" sz="2200" dirty="0"/>
              <a:t>    Sequence s </a:t>
            </a:r>
            <a:br>
              <a:rPr lang="en-US" sz="2200" dirty="0"/>
            </a:br>
            <a:r>
              <a:rPr lang="en-US" sz="2200" dirty="0"/>
              <a:t>       = new </a:t>
            </a:r>
            <a:r>
              <a:rPr lang="en-US" sz="2200" dirty="0" err="1"/>
              <a:t>ArraySequence</a:t>
            </a:r>
            <a:r>
              <a:rPr lang="en-US" sz="2200" dirty="0"/>
              <a:t>();</a:t>
            </a:r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abstract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class Sequence {</a:t>
            </a:r>
            <a:br>
              <a:rPr lang="en-US" sz="2000" dirty="0"/>
            </a:br>
            <a:r>
              <a:rPr lang="en-US" sz="2000" dirty="0"/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abstract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GetElement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 i);</a:t>
            </a:r>
            <a:br>
              <a:rPr lang="en-US" sz="2000" dirty="0"/>
            </a:br>
            <a:r>
              <a:rPr lang="en-US" sz="2000" dirty="0"/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abstract</a:t>
            </a: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 Count { get; };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8714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support for ADTs</a:t>
            </a:r>
            <a:br>
              <a:rPr lang="en-US" dirty="0"/>
            </a:br>
            <a:r>
              <a:rPr lang="en-US" dirty="0"/>
              <a:t>Abstract classes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/>
          </a:bodyPr>
          <a:lstStyle/>
          <a:p>
            <a:r>
              <a:rPr lang="en-US" sz="2400" dirty="0"/>
              <a:t>Now you can write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multiple implementations</a:t>
            </a:r>
            <a:r>
              <a:rPr lang="en-US" sz="2400" dirty="0"/>
              <a:t> of the abstract class</a:t>
            </a:r>
          </a:p>
          <a:p>
            <a:r>
              <a:rPr lang="en-US" sz="2400" dirty="0"/>
              <a:t>And your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client code </a:t>
            </a:r>
            <a:r>
              <a:rPr lang="en-US" sz="2400" dirty="0"/>
              <a:t>doesn’t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need to know </a:t>
            </a:r>
            <a:r>
              <a:rPr lang="en-US" sz="2400" dirty="0"/>
              <a:t>which implementation it’s using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abstract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class Sequence {</a:t>
            </a:r>
            <a:br>
              <a:rPr lang="en-US" sz="2000" dirty="0"/>
            </a:br>
            <a:r>
              <a:rPr lang="en-US" sz="2000" dirty="0"/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abstract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GetElement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 i);</a:t>
            </a:r>
            <a:br>
              <a:rPr lang="en-US" sz="2000" dirty="0"/>
            </a:br>
            <a:r>
              <a:rPr lang="en-US" sz="2000" dirty="0"/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abstract</a:t>
            </a: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 Count { get; };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public class </a:t>
            </a:r>
            <a:r>
              <a:rPr lang="en-US" sz="2000" dirty="0" err="1"/>
              <a:t>ArraySequence</a:t>
            </a:r>
            <a:r>
              <a:rPr lang="en-US" sz="2000" dirty="0"/>
              <a:t> : Sequence {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   private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[] </a:t>
            </a:r>
            <a:r>
              <a:rPr lang="en-US" sz="2000" dirty="0" err="1">
                <a:solidFill>
                  <a:schemeClr val="tx1"/>
                </a:solidFill>
              </a:rPr>
              <a:t>theArray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override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GetElement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i) {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return </a:t>
            </a:r>
            <a:r>
              <a:rPr lang="en-US" sz="2000" dirty="0" err="1">
                <a:solidFill>
                  <a:schemeClr val="tx1"/>
                </a:solidFill>
              </a:rPr>
              <a:t>theArray</a:t>
            </a:r>
            <a:r>
              <a:rPr lang="en-US" sz="2000" dirty="0">
                <a:solidFill>
                  <a:schemeClr val="tx1"/>
                </a:solidFill>
              </a:rPr>
              <a:t>[i];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override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Count {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get {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   return </a:t>
            </a:r>
            <a:r>
              <a:rPr lang="en-US" sz="2000" dirty="0" err="1">
                <a:solidFill>
                  <a:schemeClr val="tx1"/>
                </a:solidFill>
              </a:rPr>
              <a:t>theArray.Length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}</a:t>
            </a:r>
            <a:br>
              <a:rPr lang="en-US" sz="2000" dirty="0"/>
            </a:b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9707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support for ADTs</a:t>
            </a:r>
            <a:br>
              <a:rPr lang="en-US" dirty="0"/>
            </a:br>
            <a:r>
              <a:rPr lang="en-US" dirty="0"/>
              <a:t>Abstract classes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Now you can write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multiple implementations</a:t>
            </a:r>
            <a:r>
              <a:rPr lang="en-US" sz="2400" dirty="0"/>
              <a:t> of the abstract class</a:t>
            </a:r>
          </a:p>
          <a:p>
            <a:r>
              <a:rPr lang="en-US" sz="2400" dirty="0"/>
              <a:t>And your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client code </a:t>
            </a:r>
            <a:r>
              <a:rPr lang="en-US" sz="2400" dirty="0"/>
              <a:t>doesn’t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need to know </a:t>
            </a:r>
            <a:r>
              <a:rPr lang="en-US" sz="2400" dirty="0"/>
              <a:t>which implementation it’s using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class </a:t>
            </a:r>
            <a:r>
              <a:rPr lang="en-US" sz="2000" dirty="0" err="1">
                <a:solidFill>
                  <a:schemeClr val="tx1"/>
                </a:solidFill>
              </a:rPr>
              <a:t>LLSequence</a:t>
            </a:r>
            <a:r>
              <a:rPr lang="en-US" sz="2000" dirty="0">
                <a:solidFill>
                  <a:schemeClr val="tx1"/>
                </a:solidFill>
              </a:rPr>
              <a:t> : Sequence {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private </a:t>
            </a:r>
            <a:r>
              <a:rPr lang="en-US" sz="2000" dirty="0" err="1">
                <a:solidFill>
                  <a:schemeClr val="tx1"/>
                </a:solidFill>
              </a:rPr>
              <a:t>ListCell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firstCell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private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count;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override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GetElement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i) {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   </a:t>
            </a:r>
            <a:r>
              <a:rPr lang="en-US" sz="2000" dirty="0" err="1">
                <a:solidFill>
                  <a:schemeClr val="tx1"/>
                </a:solidFill>
              </a:rPr>
              <a:t>var</a:t>
            </a:r>
            <a:r>
              <a:rPr lang="en-US" sz="2000" dirty="0">
                <a:solidFill>
                  <a:schemeClr val="tx1"/>
                </a:solidFill>
              </a:rPr>
              <a:t> cell = </a:t>
            </a:r>
            <a:r>
              <a:rPr lang="en-US" sz="2000" dirty="0" err="1">
                <a:solidFill>
                  <a:schemeClr val="tx1"/>
                </a:solidFill>
              </a:rPr>
              <a:t>firstCell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for (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j = 0; j&lt;i; </a:t>
            </a:r>
            <a:r>
              <a:rPr lang="en-US" sz="2000" dirty="0" err="1">
                <a:solidFill>
                  <a:schemeClr val="tx1"/>
                </a:solidFill>
              </a:rPr>
              <a:t>j++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     cell = </a:t>
            </a:r>
            <a:r>
              <a:rPr lang="en-US" sz="2000" dirty="0" err="1">
                <a:solidFill>
                  <a:schemeClr val="tx1"/>
                </a:solidFill>
              </a:rPr>
              <a:t>cell.nextCell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return </a:t>
            </a:r>
            <a:r>
              <a:rPr lang="en-US" sz="2000" dirty="0" err="1">
                <a:solidFill>
                  <a:schemeClr val="tx1"/>
                </a:solidFill>
              </a:rPr>
              <a:t>cell.Value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public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override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Count {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get {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   return count;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 private class </a:t>
            </a:r>
            <a:r>
              <a:rPr lang="en-US" sz="2000" dirty="0" err="1">
                <a:solidFill>
                  <a:schemeClr val="tx1"/>
                </a:solidFill>
              </a:rPr>
              <a:t>ListCell</a:t>
            </a:r>
            <a:r>
              <a:rPr lang="en-US" sz="2000" dirty="0">
                <a:solidFill>
                  <a:schemeClr val="tx1"/>
                </a:solidFill>
              </a:rPr>
              <a:t> { … }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1388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support for ADTs:</a:t>
            </a:r>
            <a:br>
              <a:rPr lang="en-US" dirty="0"/>
            </a:br>
            <a:r>
              <a:rPr lang="en-US" dirty="0"/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Like a </a:t>
            </a:r>
            <a:r>
              <a:rPr lang="en-US" b="1" dirty="0">
                <a:solidFill>
                  <a:srgbClr val="E46C0A"/>
                </a:solidFill>
              </a:rPr>
              <a:t>class</a:t>
            </a:r>
            <a:r>
              <a:rPr lang="en-US" dirty="0"/>
              <a:t>, but only define </a:t>
            </a:r>
            <a:r>
              <a:rPr lang="en-US" b="1" dirty="0">
                <a:solidFill>
                  <a:srgbClr val="E46C0A"/>
                </a:solidFill>
              </a:rPr>
              <a:t>abstract methods</a:t>
            </a:r>
          </a:p>
          <a:p>
            <a:r>
              <a:rPr lang="en-US" dirty="0"/>
              <a:t>All methods are public by definition</a:t>
            </a:r>
          </a:p>
          <a:p>
            <a:r>
              <a:rPr lang="en-US" dirty="0"/>
              <a:t>Classes can implement any number of interfaces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C#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interface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ISequence</a:t>
            </a:r>
            <a:r>
              <a:rPr lang="en-US" sz="1400" dirty="0">
                <a:solidFill>
                  <a:schemeClr val="tx1"/>
                </a:solidFill>
              </a:rPr>
              <a:t> {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GetElement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i);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Count { get; };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 </a:t>
            </a:r>
            <a:r>
              <a:rPr lang="en-US" sz="1400" dirty="0" err="1">
                <a:solidFill>
                  <a:schemeClr val="tx1"/>
                </a:solidFill>
              </a:rPr>
              <a:t>ArraySequence</a:t>
            </a:r>
            <a:r>
              <a:rPr lang="en-US" sz="1400" dirty="0">
                <a:solidFill>
                  <a:schemeClr val="tx1"/>
                </a:solidFill>
              </a:rPr>
              <a:t> : </a:t>
            </a:r>
            <a:r>
              <a:rPr lang="en-US" sz="1400" dirty="0" err="1">
                <a:solidFill>
                  <a:schemeClr val="tx1"/>
                </a:solidFill>
              </a:rPr>
              <a:t>ISequence</a:t>
            </a:r>
            <a:r>
              <a:rPr lang="en-US" sz="1400" dirty="0">
                <a:solidFill>
                  <a:schemeClr val="tx1"/>
                </a:solidFill>
              </a:rPr>
              <a:t> {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private </a:t>
            </a:r>
            <a:r>
              <a:rPr lang="en-US" sz="1400" dirty="0" err="1">
                <a:solidFill>
                  <a:schemeClr val="tx1"/>
                </a:solidFill>
              </a:rPr>
              <a:t>ListCell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firstCell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private 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count;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public 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GetElement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i) {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   </a:t>
            </a:r>
            <a:r>
              <a:rPr lang="en-US" sz="1400" dirty="0" err="1">
                <a:solidFill>
                  <a:schemeClr val="tx1"/>
                </a:solidFill>
              </a:rPr>
              <a:t>var</a:t>
            </a:r>
            <a:r>
              <a:rPr lang="en-US" sz="1400" dirty="0">
                <a:solidFill>
                  <a:schemeClr val="tx1"/>
                </a:solidFill>
              </a:rPr>
              <a:t> cell = </a:t>
            </a:r>
            <a:r>
              <a:rPr lang="en-US" sz="1400" dirty="0" err="1">
                <a:solidFill>
                  <a:schemeClr val="tx1"/>
                </a:solidFill>
              </a:rPr>
              <a:t>firstCell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for (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j = 0; j&lt;i; </a:t>
            </a:r>
            <a:r>
              <a:rPr lang="en-US" sz="1400" dirty="0" err="1">
                <a:solidFill>
                  <a:schemeClr val="tx1"/>
                </a:solidFill>
              </a:rPr>
              <a:t>j++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     cell = </a:t>
            </a:r>
            <a:r>
              <a:rPr lang="en-US" sz="1400" dirty="0" err="1">
                <a:solidFill>
                  <a:schemeClr val="tx1"/>
                </a:solidFill>
              </a:rPr>
              <a:t>cell.nextCell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return </a:t>
            </a:r>
            <a:r>
              <a:rPr lang="en-US" sz="1400" dirty="0" err="1">
                <a:solidFill>
                  <a:schemeClr val="tx1"/>
                </a:solidFill>
              </a:rPr>
              <a:t>cell.Value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public </a:t>
            </a:r>
            <a:r>
              <a:rPr lang="en-US" sz="1400" dirty="0" err="1">
                <a:solidFill>
                  <a:schemeClr val="tx1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Count {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get {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   return count;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}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 private class </a:t>
            </a:r>
            <a:r>
              <a:rPr lang="en-US" sz="1400" dirty="0" err="1">
                <a:solidFill>
                  <a:schemeClr val="tx1"/>
                </a:solidFill>
              </a:rPr>
              <a:t>ListCell</a:t>
            </a:r>
            <a:r>
              <a:rPr lang="en-US" sz="1400" dirty="0">
                <a:solidFill>
                  <a:schemeClr val="tx1"/>
                </a:solidFill>
              </a:rPr>
              <a:t> { … }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870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stack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stack is a data structure that contains a sequence of elements</a:t>
            </a:r>
          </a:p>
          <a:p>
            <a:endParaRPr lang="en-US" dirty="0"/>
          </a:p>
          <a:p>
            <a:r>
              <a:rPr lang="en-US" dirty="0"/>
              <a:t>Two main operations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Push</a:t>
            </a:r>
            <a:r>
              <a:rPr lang="en-US" dirty="0"/>
              <a:t>: add an element to the “top” of the stack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Pop</a:t>
            </a:r>
            <a:r>
              <a:rPr lang="en-US" dirty="0"/>
              <a:t>: remove the element at the top</a:t>
            </a:r>
          </a:p>
        </p:txBody>
      </p:sp>
      <p:pic>
        <p:nvPicPr>
          <p:cNvPr id="2050" name="Picture 2" descr="a simple stack from flickr user matthewpiat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186" y="1600200"/>
            <a:ext cx="301462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253721" y="6096000"/>
            <a:ext cx="2975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flickr</a:t>
            </a:r>
            <a:r>
              <a:rPr lang="en-US" dirty="0"/>
              <a:t> user </a:t>
            </a:r>
            <a:r>
              <a:rPr lang="en-US" dirty="0" err="1"/>
              <a:t>matthewpiatt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633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stack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can describe stacks as an ADT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Push(v) </a:t>
            </a:r>
            <a:r>
              <a:rPr lang="en-US" dirty="0"/>
              <a:t>adds v to the top of the stack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Pop() </a:t>
            </a:r>
            <a:r>
              <a:rPr lang="en-US" dirty="0"/>
              <a:t>removes the object on top and returns it</a:t>
            </a:r>
          </a:p>
          <a:p>
            <a:pPr lvl="1"/>
            <a:r>
              <a:rPr lang="en-US" b="1" dirty="0" err="1">
                <a:solidFill>
                  <a:srgbClr val="E46C0A"/>
                </a:solidFill>
              </a:rPr>
              <a:t>IsEmpty</a:t>
            </a:r>
            <a:r>
              <a:rPr lang="en-US" dirty="0"/>
              <a:t> is true </a:t>
            </a:r>
            <a:r>
              <a:rPr lang="en-US" dirty="0" err="1"/>
              <a:t>iff</a:t>
            </a:r>
            <a:r>
              <a:rPr lang="en-US" dirty="0"/>
              <a:t> the stack contains no objects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interface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IStack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void Push(object v);</a:t>
            </a:r>
            <a:br>
              <a:rPr lang="en-US" dirty="0"/>
            </a:br>
            <a:r>
              <a:rPr lang="en-US" dirty="0"/>
              <a:t>   object Pop();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 { get;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70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ArrayStack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: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IStack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object[] values = new object[100];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top = 0;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void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Push</a:t>
            </a:r>
            <a:r>
              <a:rPr lang="en-US" dirty="0"/>
              <a:t>(object v) {</a:t>
            </a:r>
            <a:br>
              <a:rPr lang="en-US" dirty="0"/>
            </a:br>
            <a:r>
              <a:rPr lang="en-US" dirty="0"/>
              <a:t>      values[top++] = v;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object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Pop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return values[--top];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bool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IsEmpty</a:t>
            </a:r>
            <a:r>
              <a:rPr lang="en-US" dirty="0"/>
              <a:t> { </a:t>
            </a:r>
            <a:br>
              <a:rPr lang="en-US" dirty="0"/>
            </a:br>
            <a:r>
              <a:rPr lang="en-US" dirty="0"/>
              <a:t>       get { return top==0;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518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0</a:t>
            </a:r>
          </a:p>
        </p:txBody>
      </p:sp>
      <p:cxnSp>
        <p:nvCxnSpPr>
          <p:cNvPr id="16" name="Elbow Connector 15"/>
          <p:cNvCxnSpPr>
            <a:stCxn id="14" idx="1"/>
            <a:endCxn id="12" idx="3"/>
          </p:cNvCxnSpPr>
          <p:nvPr/>
        </p:nvCxnSpPr>
        <p:spPr>
          <a:xfrm rot="10800000" flipV="1">
            <a:off x="1143000" y="4254788"/>
            <a:ext cx="1752600" cy="14221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251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1</a:t>
            </a:r>
          </a:p>
        </p:txBody>
      </p:sp>
      <p:cxnSp>
        <p:nvCxnSpPr>
          <p:cNvPr id="16" name="Elbow Connector 15"/>
          <p:cNvCxnSpPr>
            <a:stCxn id="14" idx="1"/>
            <a:endCxn id="11" idx="3"/>
          </p:cNvCxnSpPr>
          <p:nvPr/>
        </p:nvCxnSpPr>
        <p:spPr>
          <a:xfrm rot="10800000" flipV="1">
            <a:off x="1143000" y="4254788"/>
            <a:ext cx="1752600" cy="8887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589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2</a:t>
            </a:r>
          </a:p>
        </p:txBody>
      </p:sp>
      <p:cxnSp>
        <p:nvCxnSpPr>
          <p:cNvPr id="16" name="Elbow Connector 15"/>
          <p:cNvCxnSpPr>
            <a:stCxn id="14" idx="1"/>
            <a:endCxn id="10" idx="3"/>
          </p:cNvCxnSpPr>
          <p:nvPr/>
        </p:nvCxnSpPr>
        <p:spPr>
          <a:xfrm rot="10800000" flipV="1">
            <a:off x="1143000" y="4254788"/>
            <a:ext cx="1752600" cy="3553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541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3</a:t>
            </a:r>
          </a:p>
        </p:txBody>
      </p:sp>
      <p:cxnSp>
        <p:nvCxnSpPr>
          <p:cNvPr id="16" name="Elbow Connector 15"/>
          <p:cNvCxnSpPr>
            <a:stCxn id="14" idx="1"/>
            <a:endCxn id="9" idx="3"/>
          </p:cNvCxnSpPr>
          <p:nvPr/>
        </p:nvCxnSpPr>
        <p:spPr>
          <a:xfrm rot="10800000">
            <a:off x="1143000" y="4076700"/>
            <a:ext cx="1752600" cy="1780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264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</a:t>
            </a:r>
            <a:r>
              <a:rPr lang="en-US" sz="3200"/>
              <a:t>= 2</a:t>
            </a:r>
            <a:endParaRPr lang="en-US" sz="3200" dirty="0"/>
          </a:p>
        </p:txBody>
      </p:sp>
      <p:cxnSp>
        <p:nvCxnSpPr>
          <p:cNvPr id="16" name="Elbow Connector 15"/>
          <p:cNvCxnSpPr>
            <a:stCxn id="14" idx="1"/>
            <a:endCxn id="10" idx="3"/>
          </p:cNvCxnSpPr>
          <p:nvPr/>
        </p:nvCxnSpPr>
        <p:spPr>
          <a:xfrm rot="10800000" flipV="1">
            <a:off x="1143000" y="4254788"/>
            <a:ext cx="1752600" cy="3553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56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1</a:t>
            </a:r>
          </a:p>
        </p:txBody>
      </p:sp>
      <p:cxnSp>
        <p:nvCxnSpPr>
          <p:cNvPr id="16" name="Elbow Connector 15"/>
          <p:cNvCxnSpPr>
            <a:stCxn id="14" idx="1"/>
            <a:endCxn id="11" idx="3"/>
          </p:cNvCxnSpPr>
          <p:nvPr/>
        </p:nvCxnSpPr>
        <p:spPr>
          <a:xfrm rot="10800000" flipV="1">
            <a:off x="1143000" y="4254788"/>
            <a:ext cx="1752600" cy="8887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382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0</a:t>
            </a:r>
          </a:p>
        </p:txBody>
      </p:sp>
      <p:cxnSp>
        <p:nvCxnSpPr>
          <p:cNvPr id="16" name="Elbow Connector 15"/>
          <p:cNvCxnSpPr>
            <a:stCxn id="14" idx="1"/>
            <a:endCxn id="12" idx="3"/>
          </p:cNvCxnSpPr>
          <p:nvPr/>
        </p:nvCxnSpPr>
        <p:spPr>
          <a:xfrm rot="10800000" flipV="1">
            <a:off x="1143000" y="4254788"/>
            <a:ext cx="1752600" cy="14221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46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1</a:t>
            </a:r>
          </a:p>
          <a:p>
            <a:pPr marL="0" indent="0">
              <a:buNone/>
            </a:pPr>
            <a:r>
              <a:rPr lang="en-US" dirty="0" err="1"/>
              <a:t>s.IsEmpty</a:t>
            </a:r>
            <a:r>
              <a:rPr lang="en-US" dirty="0"/>
              <a:t>      // true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0</a:t>
            </a:r>
          </a:p>
        </p:txBody>
      </p:sp>
      <p:cxnSp>
        <p:nvCxnSpPr>
          <p:cNvPr id="16" name="Elbow Connector 15"/>
          <p:cNvCxnSpPr>
            <a:stCxn id="14" idx="1"/>
            <a:endCxn id="12" idx="3"/>
          </p:cNvCxnSpPr>
          <p:nvPr/>
        </p:nvCxnSpPr>
        <p:spPr>
          <a:xfrm rot="10800000" flipV="1">
            <a:off x="1143000" y="4254788"/>
            <a:ext cx="1752600" cy="14221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174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LLStack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: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IStack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LLCell</a:t>
            </a:r>
            <a:r>
              <a:rPr lang="en-US" dirty="0"/>
              <a:t> top = null;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void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Push</a:t>
            </a:r>
            <a:r>
              <a:rPr lang="en-US" dirty="0"/>
              <a:t>(object v) {</a:t>
            </a:r>
            <a:br>
              <a:rPr lang="en-US" dirty="0"/>
            </a:br>
            <a:r>
              <a:rPr lang="en-US" dirty="0"/>
              <a:t>      top = new </a:t>
            </a:r>
            <a:r>
              <a:rPr lang="en-US" dirty="0" err="1"/>
              <a:t>LLCell</a:t>
            </a:r>
            <a:r>
              <a:rPr lang="en-US" dirty="0"/>
              <a:t>(v, top);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object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Pop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LLCell</a:t>
            </a:r>
            <a:r>
              <a:rPr lang="en-US" dirty="0"/>
              <a:t> </a:t>
            </a:r>
            <a:r>
              <a:rPr lang="en-US" dirty="0" err="1"/>
              <a:t>oldTop</a:t>
            </a:r>
            <a:r>
              <a:rPr lang="en-US" dirty="0"/>
              <a:t> = top;</a:t>
            </a:r>
            <a:br>
              <a:rPr lang="en-US" dirty="0"/>
            </a:br>
            <a:r>
              <a:rPr lang="en-US" dirty="0"/>
              <a:t>      top = </a:t>
            </a:r>
            <a:r>
              <a:rPr lang="en-US" dirty="0" err="1"/>
              <a:t>top.next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  return </a:t>
            </a:r>
            <a:r>
              <a:rPr lang="en-US" dirty="0" err="1"/>
              <a:t>oldTop.value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bool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IsEmpty</a:t>
            </a:r>
            <a:r>
              <a:rPr lang="en-US" dirty="0"/>
              <a:t> { </a:t>
            </a:r>
            <a:br>
              <a:rPr lang="en-US" dirty="0"/>
            </a:br>
            <a:r>
              <a:rPr lang="en-US" dirty="0"/>
              <a:t>       get { top==null;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LLCell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public object value</a:t>
            </a:r>
            <a:br>
              <a:rPr lang="en-US" dirty="0"/>
            </a:br>
            <a:r>
              <a:rPr lang="en-US" dirty="0"/>
              <a:t>   public </a:t>
            </a:r>
            <a:r>
              <a:rPr lang="en-US" dirty="0" err="1"/>
              <a:t>LLCell</a:t>
            </a:r>
            <a:r>
              <a:rPr lang="en-US" dirty="0"/>
              <a:t> next;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</a:t>
            </a:r>
            <a:r>
              <a:rPr lang="en-US" dirty="0" err="1"/>
              <a:t>LLCell</a:t>
            </a:r>
            <a:r>
              <a:rPr lang="en-US" dirty="0"/>
              <a:t>(object v, </a:t>
            </a:r>
            <a:r>
              <a:rPr lang="en-US" dirty="0" err="1"/>
              <a:t>LLCell</a:t>
            </a:r>
            <a:r>
              <a:rPr lang="en-US" dirty="0"/>
              <a:t> n)  {</a:t>
            </a:r>
            <a:br>
              <a:rPr lang="en-US" dirty="0"/>
            </a:br>
            <a:r>
              <a:rPr lang="en-US" dirty="0"/>
              <a:t>     value = v;</a:t>
            </a:r>
            <a:br>
              <a:rPr lang="en-US" dirty="0"/>
            </a:br>
            <a:r>
              <a:rPr lang="en-US" dirty="0"/>
              <a:t>     next = n;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1051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</p:cNvCxnSpPr>
          <p:nvPr/>
        </p:nvCxnSpPr>
        <p:spPr>
          <a:xfrm>
            <a:off x="1143000" y="1955800"/>
            <a:ext cx="6096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5000" y="175260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974029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0" idx="0"/>
          </p:cNvCxnSpPr>
          <p:nvPr/>
        </p:nvCxnSpPr>
        <p:spPr>
          <a:xfrm flipH="1">
            <a:off x="1028700" y="1955800"/>
            <a:ext cx="114300" cy="3530600"/>
          </a:xfrm>
          <a:prstGeom prst="bentConnector4">
            <a:avLst>
              <a:gd name="adj1" fmla="val -200000"/>
              <a:gd name="adj2" fmla="val 5377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>
            <a:stCxn id="11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685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8" idx="0"/>
          </p:cNvCxnSpPr>
          <p:nvPr/>
        </p:nvCxnSpPr>
        <p:spPr>
          <a:xfrm flipH="1">
            <a:off x="1027258" y="1955800"/>
            <a:ext cx="115742" cy="2387600"/>
          </a:xfrm>
          <a:prstGeom prst="bentConnector4">
            <a:avLst>
              <a:gd name="adj1" fmla="val -197508"/>
              <a:gd name="adj2" fmla="val 5558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05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39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stCxn id="19" idx="3"/>
            <a:endCxn id="14" idx="0"/>
          </p:cNvCxnSpPr>
          <p:nvPr/>
        </p:nvCxnSpPr>
        <p:spPr>
          <a:xfrm flipH="1">
            <a:off x="1028700" y="4610100"/>
            <a:ext cx="798658" cy="876300"/>
          </a:xfrm>
          <a:prstGeom prst="bentConnector4">
            <a:avLst>
              <a:gd name="adj1" fmla="val -28623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896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21" idx="0"/>
          </p:cNvCxnSpPr>
          <p:nvPr/>
        </p:nvCxnSpPr>
        <p:spPr>
          <a:xfrm flipH="1">
            <a:off x="1028700" y="1955800"/>
            <a:ext cx="114300" cy="1244600"/>
          </a:xfrm>
          <a:prstGeom prst="bentConnector4">
            <a:avLst>
              <a:gd name="adj1" fmla="val -200000"/>
              <a:gd name="adj2" fmla="val 6071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05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939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stCxn id="19" idx="3"/>
            <a:endCxn id="14" idx="0"/>
          </p:cNvCxnSpPr>
          <p:nvPr/>
        </p:nvCxnSpPr>
        <p:spPr>
          <a:xfrm flipH="1">
            <a:off x="1028700" y="4610100"/>
            <a:ext cx="798658" cy="876300"/>
          </a:xfrm>
          <a:prstGeom prst="bentConnector4">
            <a:avLst>
              <a:gd name="adj1" fmla="val -28623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2000" y="3200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5400" y="3200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Elbow Connector 22"/>
          <p:cNvCxnSpPr>
            <a:stCxn id="22" idx="3"/>
            <a:endCxn id="18" idx="0"/>
          </p:cNvCxnSpPr>
          <p:nvPr/>
        </p:nvCxnSpPr>
        <p:spPr>
          <a:xfrm flipH="1">
            <a:off x="1027258" y="3467100"/>
            <a:ext cx="801542" cy="876300"/>
          </a:xfrm>
          <a:prstGeom prst="bentConnector4">
            <a:avLst>
              <a:gd name="adj1" fmla="val -28520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31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8" idx="0"/>
          </p:cNvCxnSpPr>
          <p:nvPr/>
        </p:nvCxnSpPr>
        <p:spPr>
          <a:xfrm flipH="1">
            <a:off x="1027258" y="1955800"/>
            <a:ext cx="115742" cy="2387600"/>
          </a:xfrm>
          <a:prstGeom prst="bentConnector4">
            <a:avLst>
              <a:gd name="adj1" fmla="val -197508"/>
              <a:gd name="adj2" fmla="val 5558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05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939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stCxn id="19" idx="3"/>
            <a:endCxn id="14" idx="0"/>
          </p:cNvCxnSpPr>
          <p:nvPr/>
        </p:nvCxnSpPr>
        <p:spPr>
          <a:xfrm flipH="1">
            <a:off x="1028700" y="4610100"/>
            <a:ext cx="798658" cy="876300"/>
          </a:xfrm>
          <a:prstGeom prst="bentConnector4">
            <a:avLst>
              <a:gd name="adj1" fmla="val -28623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114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4" idx="0"/>
          </p:cNvCxnSpPr>
          <p:nvPr/>
        </p:nvCxnSpPr>
        <p:spPr>
          <a:xfrm flipH="1">
            <a:off x="1028700" y="1955800"/>
            <a:ext cx="114300" cy="3530600"/>
          </a:xfrm>
          <a:prstGeom prst="bentConnector4">
            <a:avLst>
              <a:gd name="adj1" fmla="val -200000"/>
              <a:gd name="adj2" fmla="val 5377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2195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7" name="Elbow Connector 16"/>
          <p:cNvCxnSpPr>
            <a:stCxn id="11" idx="3"/>
          </p:cNvCxnSpPr>
          <p:nvPr/>
        </p:nvCxnSpPr>
        <p:spPr>
          <a:xfrm>
            <a:off x="1143000" y="1955800"/>
            <a:ext cx="6096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05000" y="175260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9389081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1</a:t>
            </a:r>
          </a:p>
          <a:p>
            <a:pPr marL="0" indent="0">
              <a:buNone/>
            </a:pPr>
            <a:r>
              <a:rPr lang="en-US" dirty="0" err="1"/>
              <a:t>s.IsEmpty</a:t>
            </a:r>
            <a:r>
              <a:rPr lang="en-US" dirty="0"/>
              <a:t>    // true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7" name="Elbow Connector 16"/>
          <p:cNvCxnSpPr>
            <a:stCxn id="11" idx="3"/>
          </p:cNvCxnSpPr>
          <p:nvPr/>
        </p:nvCxnSpPr>
        <p:spPr>
          <a:xfrm>
            <a:off x="1143000" y="1955800"/>
            <a:ext cx="6096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05000" y="175260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750285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tx1"/>
                </a:solidFill>
              </a:rPr>
              <a:t>contract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is a set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guarantees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module </a:t>
            </a:r>
            <a:r>
              <a:rPr lang="en-US" dirty="0"/>
              <a:t>and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clients </a:t>
            </a:r>
            <a:r>
              <a:rPr lang="en-US" dirty="0"/>
              <a:t>make to one another about their interaction</a:t>
            </a:r>
          </a:p>
          <a:p>
            <a:pPr lvl="1"/>
            <a:r>
              <a:rPr lang="en-US" dirty="0"/>
              <a:t>When things are allowed to be called</a:t>
            </a:r>
          </a:p>
          <a:p>
            <a:pPr lvl="1"/>
            <a:r>
              <a:rPr lang="en-US" dirty="0"/>
              <a:t>What the calls will do</a:t>
            </a:r>
          </a:p>
          <a:p>
            <a:pPr lvl="1"/>
            <a:r>
              <a:rPr lang="en-US" dirty="0"/>
              <a:t>Etc.</a:t>
            </a:r>
          </a:p>
        </p:txBody>
      </p:sp>
      <p:pic>
        <p:nvPicPr>
          <p:cNvPr id="1026" name="Picture 2" descr="contract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58493"/>
            <a:ext cx="4038600" cy="2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0" y="4724400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(Image from </a:t>
            </a:r>
            <a:r>
              <a:rPr lang="sv-SE" u="sng" dirty="0">
                <a:hlinkClick r:id="rId3"/>
              </a:rPr>
              <a:t>jk5854</a:t>
            </a:r>
            <a:r>
              <a:rPr lang="sv-SE" dirty="0"/>
              <a:t> via Flickr. </a:t>
            </a:r>
            <a:r>
              <a:rPr lang="sv-SE" u="sng" dirty="0">
                <a:hlinkClick r:id="rId4"/>
              </a:rPr>
              <a:t>CC</a:t>
            </a:r>
            <a:r>
              <a:rPr lang="sv-SE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726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behavioral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E46C0A"/>
                </a:solidFill>
              </a:rPr>
              <a:t>Preconditions</a:t>
            </a:r>
          </a:p>
          <a:p>
            <a:pPr lvl="1"/>
            <a:r>
              <a:rPr lang="en-US" dirty="0"/>
              <a:t>Conditions a method needs to be true before being called</a:t>
            </a:r>
          </a:p>
          <a:p>
            <a:r>
              <a:rPr lang="en-US" b="1" dirty="0" err="1">
                <a:solidFill>
                  <a:srgbClr val="E46C0A"/>
                </a:solidFill>
              </a:rPr>
              <a:t>Postconditions</a:t>
            </a:r>
            <a:endParaRPr lang="en-US" b="1" dirty="0">
              <a:solidFill>
                <a:srgbClr val="E46C0A"/>
              </a:solidFill>
            </a:endParaRPr>
          </a:p>
          <a:p>
            <a:pPr lvl="1"/>
            <a:r>
              <a:rPr lang="en-US" dirty="0"/>
              <a:t>Conditions a method guarantees will be true after the call (provided its preconditions were true when it was called)</a:t>
            </a:r>
          </a:p>
          <a:p>
            <a:r>
              <a:rPr lang="en-US" b="1" dirty="0">
                <a:solidFill>
                  <a:srgbClr val="E46C0A"/>
                </a:solidFill>
              </a:rPr>
              <a:t>Invariants</a:t>
            </a:r>
          </a:p>
          <a:p>
            <a:pPr lvl="1"/>
            <a:r>
              <a:rPr lang="en-US" dirty="0"/>
              <a:t>Conditions the class guarantees will be true after every method call (again, provided preconditions are true)</a:t>
            </a:r>
          </a:p>
          <a:p>
            <a:r>
              <a:rPr lang="en-US" dirty="0"/>
              <a:t>Other axioms</a:t>
            </a:r>
          </a:p>
          <a:p>
            <a:pPr lvl="1"/>
            <a:r>
              <a:rPr lang="en-US" dirty="0"/>
              <a:t>Any other guarantees made by the ADT</a:t>
            </a:r>
          </a:p>
        </p:txBody>
      </p:sp>
    </p:spTree>
    <p:extLst>
      <p:ext uri="{BB962C8B-B14F-4D97-AF65-F5344CB8AC3E}">
        <p14:creationId xmlns:p14="http://schemas.microsoft.com/office/powerpoint/2010/main" val="3539000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contract for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E46C0A"/>
                </a:solidFill>
              </a:rPr>
              <a:t>Push(v)</a:t>
            </a:r>
          </a:p>
          <a:p>
            <a:pPr lvl="1"/>
            <a:r>
              <a:rPr lang="en-US" dirty="0"/>
              <a:t>Preconditions: none</a:t>
            </a:r>
          </a:p>
          <a:p>
            <a:pPr lvl="1"/>
            <a:r>
              <a:rPr lang="en-US" dirty="0" err="1"/>
              <a:t>Postconditions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stack not empty</a:t>
            </a:r>
          </a:p>
          <a:p>
            <a:pPr lvl="2"/>
            <a:r>
              <a:rPr lang="en-US" dirty="0"/>
              <a:t>Pop() returns v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Pop()</a:t>
            </a:r>
          </a:p>
          <a:p>
            <a:pPr lvl="1"/>
            <a:r>
              <a:rPr lang="en-US" dirty="0"/>
              <a:t>Precondition: stack not empty</a:t>
            </a:r>
          </a:p>
          <a:p>
            <a:pPr lvl="1"/>
            <a:r>
              <a:rPr lang="en-US" dirty="0" err="1"/>
              <a:t>Postcondition</a:t>
            </a:r>
            <a:r>
              <a:rPr lang="en-US" dirty="0"/>
              <a:t>: none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Axiom</a:t>
            </a:r>
          </a:p>
          <a:p>
            <a:pPr lvl="1"/>
            <a:r>
              <a:rPr lang="en-US" dirty="0"/>
              <a:t>Push() followed by Pop() leaves the stack in the same state as before it started</a:t>
            </a:r>
          </a:p>
        </p:txBody>
      </p:sp>
    </p:spTree>
    <p:extLst>
      <p:ext uri="{BB962C8B-B14F-4D97-AF65-F5344CB8AC3E}">
        <p14:creationId xmlns:p14="http://schemas.microsoft.com/office/powerpoint/2010/main" val="1817840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6669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One problem with this code is that it’s written to be a stack of </a:t>
            </a:r>
            <a:r>
              <a:rPr lang="en-US" b="1" dirty="0">
                <a:solidFill>
                  <a:srgbClr val="E46C0A"/>
                </a:solidFill>
              </a:rPr>
              <a:t>arbitrary objects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So the compiler doesn’t know </a:t>
            </a:r>
            <a:r>
              <a:rPr lang="en-US" b="1" dirty="0">
                <a:solidFill>
                  <a:srgbClr val="E46C0A"/>
                </a:solidFill>
              </a:rPr>
              <a:t>what kind of data </a:t>
            </a:r>
            <a:r>
              <a:rPr lang="en-US" dirty="0"/>
              <a:t>is in it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IStack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</a:t>
            </a:r>
            <a:r>
              <a:rPr lang="en-US" dirty="0" err="1"/>
              <a:t>s.Pop</a:t>
            </a:r>
            <a:r>
              <a:rPr lang="en-US" dirty="0"/>
              <a:t>() + </a:t>
            </a:r>
            <a:r>
              <a:rPr lang="en-US" dirty="0" err="1"/>
              <a:t>s.Pop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199018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One problem with this code is that it’s written to be a stack of </a:t>
            </a:r>
            <a:r>
              <a:rPr lang="en-US" b="1" dirty="0">
                <a:solidFill>
                  <a:srgbClr val="E46C0A"/>
                </a:solidFill>
              </a:rPr>
              <a:t>arbitrary objects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So the compiler doesn’t know </a:t>
            </a:r>
            <a:r>
              <a:rPr lang="en-US" b="1" dirty="0">
                <a:solidFill>
                  <a:srgbClr val="E46C0A"/>
                </a:solidFill>
              </a:rPr>
              <a:t>what kind of data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is in it</a:t>
            </a:r>
          </a:p>
          <a:p>
            <a:pPr>
              <a:spcBef>
                <a:spcPts val="1800"/>
              </a:spcBef>
            </a:pPr>
            <a:r>
              <a:rPr lang="en-US" dirty="0"/>
              <a:t>And so we have to </a:t>
            </a:r>
            <a:r>
              <a:rPr lang="en-US" b="1" dirty="0">
                <a:solidFill>
                  <a:srgbClr val="E46C0A"/>
                </a:solidFill>
              </a:rPr>
              <a:t>type cast </a:t>
            </a:r>
            <a:r>
              <a:rPr lang="en-US" dirty="0"/>
              <a:t>the values we get from Pop()</a:t>
            </a:r>
          </a:p>
          <a:p>
            <a:pPr lvl="1"/>
            <a:r>
              <a:rPr lang="en-US" dirty="0"/>
              <a:t>More of a pain for us</a:t>
            </a:r>
          </a:p>
          <a:p>
            <a:pPr lvl="1"/>
            <a:r>
              <a:rPr lang="en-US" dirty="0"/>
              <a:t>Slower, because the compiler has to generate code to check the type at run-time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IStack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 err="1"/>
              <a:t>s.Pop</a:t>
            </a:r>
            <a:r>
              <a:rPr lang="en-US" dirty="0"/>
              <a:t>() +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 err="1"/>
              <a:t>s.Pop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59087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an integer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can fix this just by </a:t>
            </a:r>
            <a:r>
              <a:rPr lang="en-US" b="1" dirty="0">
                <a:solidFill>
                  <a:srgbClr val="E46C0A"/>
                </a:solidFill>
              </a:rPr>
              <a:t>changing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the places where the code specified type </a:t>
            </a:r>
            <a:r>
              <a:rPr lang="en-US" b="1" dirty="0">
                <a:solidFill>
                  <a:srgbClr val="E46C0A"/>
                </a:solidFill>
              </a:rPr>
              <a:t>object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to type </a:t>
            </a:r>
            <a:r>
              <a:rPr lang="en-US" b="1" dirty="0" err="1">
                <a:solidFill>
                  <a:srgbClr val="E46C0A"/>
                </a:solidFill>
              </a:rPr>
              <a:t>int</a:t>
            </a:r>
            <a:endParaRPr lang="en-US" b="1" dirty="0">
              <a:solidFill>
                <a:srgbClr val="E46C0A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IStack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void Push(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dirty="0"/>
              <a:t> v);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Pop();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 { get; 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ArrayStack</a:t>
            </a:r>
            <a:r>
              <a:rPr lang="en-US" dirty="0"/>
              <a:t> : </a:t>
            </a:r>
            <a:r>
              <a:rPr lang="en-US" dirty="0" err="1"/>
              <a:t>IStack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dirty="0"/>
              <a:t>[] values = new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dirty="0"/>
              <a:t>[100];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top = 0;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void Push(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dirty="0"/>
              <a:t> v) {</a:t>
            </a:r>
            <a:br>
              <a:rPr lang="en-US" dirty="0"/>
            </a:br>
            <a:r>
              <a:rPr lang="en-US" dirty="0"/>
              <a:t>      values[top++] = v;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Pop() {</a:t>
            </a:r>
            <a:br>
              <a:rPr lang="en-US" dirty="0"/>
            </a:br>
            <a:r>
              <a:rPr lang="en-US" dirty="0"/>
              <a:t>      return values[--top];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bool </a:t>
            </a:r>
            <a:r>
              <a:rPr lang="en-US" dirty="0" err="1"/>
              <a:t>IsEmpty</a:t>
            </a:r>
            <a:r>
              <a:rPr lang="en-US" dirty="0"/>
              <a:t> { </a:t>
            </a:r>
            <a:br>
              <a:rPr lang="en-US" dirty="0"/>
            </a:br>
            <a:r>
              <a:rPr lang="en-US" dirty="0"/>
              <a:t>       get { return top==0;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2621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an integer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But then we have to </a:t>
            </a:r>
            <a:r>
              <a:rPr lang="en-US" b="1" dirty="0">
                <a:solidFill>
                  <a:srgbClr val="E46C0A"/>
                </a:solidFill>
              </a:rPr>
              <a:t>keep rewriting </a:t>
            </a:r>
            <a:r>
              <a:rPr lang="en-US" dirty="0"/>
              <a:t>the code when we want different types of stack</a:t>
            </a:r>
          </a:p>
          <a:p>
            <a:pPr lvl="1"/>
            <a:r>
              <a:rPr lang="en-US" dirty="0"/>
              <a:t>Labor intensive</a:t>
            </a:r>
          </a:p>
          <a:p>
            <a:pPr lvl="1"/>
            <a:r>
              <a:rPr lang="en-US" dirty="0"/>
              <a:t>Error prone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IStackFloat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void Push(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en-US" dirty="0"/>
              <a:t> v);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float </a:t>
            </a:r>
            <a:r>
              <a:rPr lang="en-US" dirty="0"/>
              <a:t>Pop();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 { get; 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105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ArrayStackFloat</a:t>
            </a:r>
            <a:br>
              <a:rPr lang="en-US" dirty="0"/>
            </a:br>
            <a:r>
              <a:rPr lang="en-US" dirty="0"/>
              <a:t>    : </a:t>
            </a:r>
            <a:r>
              <a:rPr lang="en-US" dirty="0" err="1"/>
              <a:t>IStackFloat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en-US" dirty="0"/>
              <a:t>[] values </a:t>
            </a:r>
            <a:br>
              <a:rPr lang="en-US" dirty="0"/>
            </a:br>
            <a:r>
              <a:rPr lang="en-US" dirty="0"/>
              <a:t>              = new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en-US" dirty="0"/>
              <a:t>[100];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top = 0;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void Push(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en-US" dirty="0"/>
              <a:t> v) {</a:t>
            </a:r>
            <a:br>
              <a:rPr lang="en-US" dirty="0"/>
            </a:br>
            <a:r>
              <a:rPr lang="en-US" dirty="0"/>
              <a:t>      values[top++] = v;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float </a:t>
            </a:r>
            <a:r>
              <a:rPr lang="en-US" dirty="0"/>
              <a:t>Pop() {</a:t>
            </a:r>
            <a:br>
              <a:rPr lang="en-US" dirty="0"/>
            </a:br>
            <a:r>
              <a:rPr lang="en-US" dirty="0"/>
              <a:t>      return values[--top];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bool </a:t>
            </a:r>
            <a:r>
              <a:rPr lang="en-US" dirty="0" err="1"/>
              <a:t>IsEmpty</a:t>
            </a:r>
            <a:r>
              <a:rPr lang="en-US" dirty="0"/>
              <a:t> { </a:t>
            </a:r>
            <a:br>
              <a:rPr lang="en-US" dirty="0"/>
            </a:br>
            <a:r>
              <a:rPr lang="en-US" dirty="0"/>
              <a:t>       get { return top==0;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193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a generic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can fix it by </a:t>
            </a:r>
            <a:r>
              <a:rPr lang="en-US" b="1" dirty="0">
                <a:solidFill>
                  <a:srgbClr val="E46C0A"/>
                </a:solidFill>
              </a:rPr>
              <a:t>parameterizing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the class by a </a:t>
            </a:r>
            <a:r>
              <a:rPr lang="en-US" b="1" dirty="0">
                <a:solidFill>
                  <a:srgbClr val="E46C0A"/>
                </a:solidFill>
              </a:rPr>
              <a:t>type variable </a:t>
            </a:r>
            <a:r>
              <a:rPr lang="en-US" dirty="0"/>
              <a:t>(in this case T)</a:t>
            </a:r>
          </a:p>
          <a:p>
            <a:r>
              <a:rPr lang="en-US" dirty="0"/>
              <a:t>This makes a generic stack we can fill in any type for when we create it</a:t>
            </a:r>
          </a:p>
          <a:p>
            <a:pPr lvl="1"/>
            <a:r>
              <a:rPr lang="en-US" dirty="0"/>
              <a:t>new </a:t>
            </a:r>
            <a:r>
              <a:rPr lang="en-US" dirty="0" err="1"/>
              <a:t>ArrayStack</a:t>
            </a:r>
            <a:r>
              <a:rPr lang="en-US" dirty="0"/>
              <a:t>&lt;</a:t>
            </a:r>
            <a:r>
              <a:rPr lang="en-US" dirty="0" err="1"/>
              <a:t>int</a:t>
            </a:r>
            <a:r>
              <a:rPr lang="en-US" dirty="0"/>
              <a:t>&gt;()</a:t>
            </a:r>
          </a:p>
          <a:p>
            <a:pPr lvl="1"/>
            <a:r>
              <a:rPr lang="en-US" dirty="0"/>
              <a:t>new </a:t>
            </a:r>
            <a:r>
              <a:rPr lang="en-US" dirty="0" err="1"/>
              <a:t>ArrayStack</a:t>
            </a:r>
            <a:r>
              <a:rPr lang="en-US" dirty="0"/>
              <a:t>&lt;float&gt;()</a:t>
            </a:r>
          </a:p>
          <a:p>
            <a:pPr lvl="1"/>
            <a:r>
              <a:rPr lang="en-US" dirty="0"/>
              <a:t>new </a:t>
            </a:r>
            <a:r>
              <a:rPr lang="en-US" dirty="0" err="1"/>
              <a:t>ArrayStack</a:t>
            </a:r>
            <a:r>
              <a:rPr lang="en-US" dirty="0"/>
              <a:t>&lt;object&gt;()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IStack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void Push(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dirty="0"/>
              <a:t> v);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 </a:t>
            </a:r>
            <a:r>
              <a:rPr lang="en-US" dirty="0"/>
              <a:t>Pop();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 { get; 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105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ArrayStack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  <a:r>
              <a:rPr lang="en-US" dirty="0"/>
              <a:t> : </a:t>
            </a:r>
            <a:r>
              <a:rPr lang="en-US" dirty="0" err="1"/>
              <a:t>IStack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dirty="0"/>
              <a:t>[] values = new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dirty="0"/>
              <a:t>[100];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top = 0;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void Push(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dirty="0"/>
              <a:t> v) {</a:t>
            </a:r>
            <a:br>
              <a:rPr lang="en-US" dirty="0"/>
            </a:br>
            <a:r>
              <a:rPr lang="en-US" dirty="0"/>
              <a:t>      values[top++] = v;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 </a:t>
            </a:r>
            <a:r>
              <a:rPr lang="en-US" dirty="0"/>
              <a:t>Pop() {</a:t>
            </a:r>
            <a:br>
              <a:rPr lang="en-US" dirty="0"/>
            </a:br>
            <a:r>
              <a:rPr lang="en-US" dirty="0"/>
              <a:t>      return values[--top];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public bool </a:t>
            </a:r>
            <a:r>
              <a:rPr lang="en-US" dirty="0" err="1"/>
              <a:t>IsEmpty</a:t>
            </a:r>
            <a:r>
              <a:rPr lang="en-US" dirty="0"/>
              <a:t> { </a:t>
            </a:r>
            <a:br>
              <a:rPr lang="en-US" dirty="0"/>
            </a:br>
            <a:r>
              <a:rPr lang="en-US" dirty="0"/>
              <a:t>       get { return top==0;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34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7281</TotalTime>
  <Words>1743</Words>
  <Application>Microsoft Office PowerPoint</Application>
  <PresentationFormat>On-screen Show (4:3)</PresentationFormat>
  <Paragraphs>407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Lecture 3 Modularity and abstract data types</vt:lpstr>
      <vt:lpstr>software design</vt:lpstr>
      <vt:lpstr>What makes a good design?</vt:lpstr>
      <vt:lpstr>Software complexity (as opposed to computational complexity)</vt:lpstr>
      <vt:lpstr>Software complexity (as opposed to computational complexity)</vt:lpstr>
      <vt:lpstr>Software complexity (as opposed to computational complexity)</vt:lpstr>
      <vt:lpstr>Software complexity (as opposed to computational complexity)</vt:lpstr>
      <vt:lpstr>Software complexity (as opposed to computational complexity)</vt:lpstr>
      <vt:lpstr>good designs are modular</vt:lpstr>
      <vt:lpstr>Making designs modular</vt:lpstr>
      <vt:lpstr>Modules and clients</vt:lpstr>
      <vt:lpstr>Information hiding</vt:lpstr>
      <vt:lpstr>Interfaces abstract over possible implementations</vt:lpstr>
      <vt:lpstr>Abstract data types</vt:lpstr>
      <vt:lpstr>Language support for ADTs: Access Modifiers</vt:lpstr>
      <vt:lpstr>Language support for ADTs: Access Modifiers</vt:lpstr>
      <vt:lpstr>Language support for ADTs Abstract classes</vt:lpstr>
      <vt:lpstr>Language support for ADTs Abstract classes</vt:lpstr>
      <vt:lpstr>Language support for ADTs Abstract classes</vt:lpstr>
      <vt:lpstr>Language support for ADTs: Interfaces</vt:lpstr>
      <vt:lpstr>Example: the stack ADT</vt:lpstr>
      <vt:lpstr>Example: the stack ADT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Contracts</vt:lpstr>
      <vt:lpstr>Specifying behavioral contracts</vt:lpstr>
      <vt:lpstr>A simple contract for stacks</vt:lpstr>
      <vt:lpstr>Type checking</vt:lpstr>
      <vt:lpstr>Type checking</vt:lpstr>
      <vt:lpstr>Making an integer stack</vt:lpstr>
      <vt:lpstr>Making an integer stack</vt:lpstr>
      <vt:lpstr>Making a generic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323</cp:revision>
  <dcterms:created xsi:type="dcterms:W3CDTF">2010-03-27T22:31:10Z</dcterms:created>
  <dcterms:modified xsi:type="dcterms:W3CDTF">2019-04-12T17:53:02Z</dcterms:modified>
</cp:coreProperties>
</file>