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369" r:id="rId3"/>
    <p:sldId id="271" r:id="rId4"/>
    <p:sldId id="272" r:id="rId5"/>
    <p:sldId id="273" r:id="rId6"/>
    <p:sldId id="274" r:id="rId7"/>
    <p:sldId id="275" r:id="rId8"/>
    <p:sldId id="276" r:id="rId9"/>
    <p:sldId id="352" r:id="rId10"/>
    <p:sldId id="257" r:id="rId11"/>
    <p:sldId id="258" r:id="rId12"/>
    <p:sldId id="279" r:id="rId13"/>
    <p:sldId id="259" r:id="rId14"/>
    <p:sldId id="277" r:id="rId15"/>
    <p:sldId id="278" r:id="rId16"/>
    <p:sldId id="262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9" r:id="rId25"/>
    <p:sldId id="287" r:id="rId26"/>
    <p:sldId id="288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263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  <p:sldId id="326" r:id="rId65"/>
    <p:sldId id="327" r:id="rId66"/>
    <p:sldId id="328" r:id="rId67"/>
    <p:sldId id="264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53" r:id="rId88"/>
    <p:sldId id="348" r:id="rId89"/>
    <p:sldId id="349" r:id="rId90"/>
    <p:sldId id="350" r:id="rId91"/>
    <p:sldId id="261" r:id="rId92"/>
    <p:sldId id="354" r:id="rId93"/>
    <p:sldId id="355" r:id="rId94"/>
    <p:sldId id="357" r:id="rId95"/>
    <p:sldId id="356" r:id="rId96"/>
    <p:sldId id="358" r:id="rId97"/>
    <p:sldId id="360" r:id="rId98"/>
    <p:sldId id="266" r:id="rId99"/>
    <p:sldId id="361" r:id="rId100"/>
    <p:sldId id="362" r:id="rId101"/>
    <p:sldId id="363" r:id="rId102"/>
    <p:sldId id="364" r:id="rId103"/>
    <p:sldId id="366" r:id="rId104"/>
    <p:sldId id="365" r:id="rId105"/>
    <p:sldId id="368" r:id="rId10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94687" autoAdjust="0"/>
  </p:normalViewPr>
  <p:slideViewPr>
    <p:cSldViewPr>
      <p:cViewPr varScale="1">
        <p:scale>
          <a:sx n="98" d="100"/>
          <a:sy n="98" d="100"/>
        </p:scale>
        <p:origin x="921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4/10/2017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4/10/2017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78F7F9AA-A437-4C1D-B7A7-132C663DC277}" type="datetimeFigureOut">
              <a:rPr lang="en-US" smtClean="0"/>
              <a:pPr/>
              <a:t>4/10/2017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Kootenay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>
                <a:latin typeface="Kootenay" pitchFamily="2" charset="0"/>
                <a:ea typeface="Verdana" pitchFamily="34" charset="0"/>
                <a:cs typeface="Verdana" pitchFamily="34" charset="0"/>
              </a:rPr>
              <a:t>Lecture 5</a:t>
            </a:r>
            <a:br>
              <a:rPr lang="en-US" dirty="0">
                <a:latin typeface="Kootenay" pitchFamily="2" charset="0"/>
                <a:ea typeface="Verdana" pitchFamily="34" charset="0"/>
                <a:cs typeface="Verdana" pitchFamily="34" charset="0"/>
              </a:rPr>
            </a:br>
            <a:r>
              <a:rPr lang="en-US">
                <a:latin typeface="Kootenay" pitchFamily="2" charset="0"/>
                <a:ea typeface="Verdana" pitchFamily="34" charset="0"/>
                <a:cs typeface="Verdana" pitchFamily="34" charset="0"/>
              </a:rPr>
              <a:t>Tree walks</a:t>
            </a:r>
            <a:br>
              <a:rPr lang="en-US">
                <a:latin typeface="Kootenay" pitchFamily="2" charset="0"/>
                <a:ea typeface="Verdana" pitchFamily="34" charset="0"/>
                <a:cs typeface="Verdana" pitchFamily="34" charset="0"/>
              </a:rPr>
            </a:br>
            <a:r>
              <a:rPr lang="en-US">
                <a:latin typeface="Kootenay" pitchFamily="2" charset="0"/>
                <a:ea typeface="Verdana" pitchFamily="34" charset="0"/>
                <a:cs typeface="Verdana" pitchFamily="34" charset="0"/>
              </a:rPr>
              <a:t>and </a:t>
            </a:r>
            <a:r>
              <a:rPr lang="en-US" dirty="0">
                <a:latin typeface="Kootenay" pitchFamily="2" charset="0"/>
                <a:ea typeface="Verdana" pitchFamily="34" charset="0"/>
                <a:cs typeface="Verdana" pitchFamily="34" charset="0"/>
              </a:rPr>
              <a:t>tree representations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Kootenay" pitchFamily="2" charset="0"/>
              </a:rPr>
              <a:t>EECS-214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Kooten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Extremely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common structure </a:t>
            </a:r>
            <a:r>
              <a:rPr lang="en-US" dirty="0"/>
              <a:t>in representing information</a:t>
            </a:r>
          </a:p>
          <a:p>
            <a:r>
              <a:rPr lang="en-US" dirty="0"/>
              <a:t>Most tree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algorithms</a:t>
            </a:r>
            <a:r>
              <a:rPr lang="en-US" dirty="0"/>
              <a:t> work by</a:t>
            </a:r>
          </a:p>
          <a:p>
            <a:pPr lvl="1"/>
            <a:r>
              <a:rPr lang="en-US" dirty="0"/>
              <a:t>Starting at a node (usually the root)</a:t>
            </a:r>
          </a:p>
          <a:p>
            <a:pPr lvl="1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Moving through the tree</a:t>
            </a:r>
            <a:r>
              <a:rPr lang="en-US" dirty="0"/>
              <a:t> (e.g. from node to child)</a:t>
            </a:r>
          </a:p>
          <a:p>
            <a:r>
              <a:rPr lang="en-US" dirty="0"/>
              <a:t>Today we’ll talk about</a:t>
            </a:r>
          </a:p>
          <a:p>
            <a:pPr lvl="1"/>
            <a:r>
              <a:rPr lang="en-US" dirty="0"/>
              <a:t>Basic tree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representations</a:t>
            </a:r>
          </a:p>
          <a:p>
            <a:pPr lvl="1"/>
            <a:r>
              <a:rPr lang="en-US" dirty="0"/>
              <a:t>Tree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traversals </a:t>
            </a:r>
            <a:r>
              <a:rPr lang="en-US" dirty="0"/>
              <a:t>(aka tree walks)</a:t>
            </a:r>
          </a:p>
          <a:p>
            <a:pPr lvl="2"/>
            <a:r>
              <a:rPr lang="en-US" dirty="0"/>
              <a:t>Algorithms for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moving through all the nodes </a:t>
            </a:r>
            <a:r>
              <a:rPr lang="en-US" dirty="0"/>
              <a:t>of a tree</a:t>
            </a:r>
          </a:p>
        </p:txBody>
      </p:sp>
    </p:spTree>
    <p:extLst>
      <p:ext uri="{BB962C8B-B14F-4D97-AF65-F5344CB8AC3E}">
        <p14:creationId xmlns:p14="http://schemas.microsoft.com/office/powerpoint/2010/main" val="220431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tree is a graph in which any pair of nodes has exactly one path between them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6"/>
            <a:endCxn id="7" idx="1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0" idx="3"/>
            <a:endCxn id="9" idx="7"/>
          </p:cNvCxnSpPr>
          <p:nvPr/>
        </p:nvCxnSpPr>
        <p:spPr>
          <a:xfrm flipH="1">
            <a:off x="7304690" y="3537023"/>
            <a:ext cx="534665" cy="7971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933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computer science, we usually think of trees as having a distinguished node call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root</a:t>
            </a:r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914445" y="4267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742244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6248400" y="5181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/>
          <p:cNvCxnSpPr>
            <a:stCxn id="9" idx="5"/>
            <a:endCxn id="11" idx="0"/>
          </p:cNvCxnSpPr>
          <p:nvPr/>
        </p:nvCxnSpPr>
        <p:spPr>
          <a:xfrm>
            <a:off x="7304690" y="4657445"/>
            <a:ext cx="346355" cy="9813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7"/>
            <a:endCxn id="9" idx="3"/>
          </p:cNvCxnSpPr>
          <p:nvPr/>
        </p:nvCxnSpPr>
        <p:spPr>
          <a:xfrm flipV="1">
            <a:off x="6638645" y="4657445"/>
            <a:ext cx="342755" cy="5911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0" idx="3"/>
            <a:endCxn id="9" idx="7"/>
          </p:cNvCxnSpPr>
          <p:nvPr/>
        </p:nvCxnSpPr>
        <p:spPr>
          <a:xfrm flipH="1">
            <a:off x="7304690" y="3537023"/>
            <a:ext cx="534665" cy="7971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257800" y="13716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Arrow Connector 20"/>
          <p:cNvCxnSpPr>
            <a:stCxn id="20" idx="6"/>
          </p:cNvCxnSpPr>
          <p:nvPr/>
        </p:nvCxnSpPr>
        <p:spPr>
          <a:xfrm>
            <a:off x="5715000" y="1600200"/>
            <a:ext cx="1057555" cy="5241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176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Rooted trees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257800"/>
          </a:xfrm>
        </p:spPr>
        <p:txBody>
          <a:bodyPr/>
          <a:lstStyle/>
          <a:p>
            <a:r>
              <a:rPr lang="en-US" dirty="0"/>
              <a:t>In computer science, we usually think of trees as having a distinguished vertex called the </a:t>
            </a:r>
            <a:r>
              <a:rPr lang="en-US" b="1" dirty="0">
                <a:solidFill>
                  <a:srgbClr val="E46C0A"/>
                </a:solidFill>
              </a:rPr>
              <a:t>root</a:t>
            </a:r>
          </a:p>
          <a:p>
            <a:r>
              <a:rPr lang="en-US" dirty="0"/>
              <a:t>And we draw it</a:t>
            </a:r>
          </a:p>
          <a:p>
            <a:pPr lvl="1"/>
            <a:r>
              <a:rPr lang="en-US" dirty="0"/>
              <a:t>With the root at the top</a:t>
            </a:r>
          </a:p>
          <a:p>
            <a:pPr lvl="1"/>
            <a:r>
              <a:rPr lang="en-US" dirty="0"/>
              <a:t>And other vertices arranged by their distance from the root</a:t>
            </a:r>
          </a:p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8621889" y="557311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/>
          <p:cNvCxnSpPr>
            <a:stCxn id="9" idx="5"/>
            <a:endCxn id="11" idx="1"/>
          </p:cNvCxnSpPr>
          <p:nvPr/>
        </p:nvCxnSpPr>
        <p:spPr>
          <a:xfrm>
            <a:off x="8162645" y="481909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7"/>
            <a:endCxn id="9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7"/>
            <a:endCxn id="7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5"/>
            <a:endCxn id="10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/>
          <p:cNvCxnSpPr>
            <a:stCxn id="20" idx="4"/>
            <a:endCxn id="7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0" idx="4"/>
            <a:endCxn id="9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61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257800"/>
          </a:xfrm>
        </p:spPr>
        <p:txBody>
          <a:bodyPr/>
          <a:lstStyle/>
          <a:p>
            <a:r>
              <a:rPr lang="en-US" dirty="0"/>
              <a:t>The nodes adjacent to a node, but at the next lower depth are called its </a:t>
            </a:r>
            <a:r>
              <a:rPr lang="en-US" b="1" dirty="0">
                <a:solidFill>
                  <a:srgbClr val="E46C0A"/>
                </a:solidFill>
              </a:rPr>
              <a:t>children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Note: </a:t>
            </a:r>
            <a:r>
              <a:rPr lang="en-US" dirty="0"/>
              <a:t>node and vertex are synonyms</a:t>
            </a:r>
          </a:p>
        </p:txBody>
      </p:sp>
      <p:sp>
        <p:nvSpPr>
          <p:cNvPr id="19" name="Oval 18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8621889" y="557311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/>
          <p:cNvCxnSpPr>
            <a:stCxn id="22" idx="5"/>
            <a:endCxn id="25" idx="1"/>
          </p:cNvCxnSpPr>
          <p:nvPr/>
        </p:nvCxnSpPr>
        <p:spPr>
          <a:xfrm>
            <a:off x="8162645" y="481909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6" idx="7"/>
            <a:endCxn id="22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7"/>
            <a:endCxn id="19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5"/>
            <a:endCxn id="23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/>
          <p:cNvCxnSpPr>
            <a:stCxn id="31" idx="4"/>
            <a:endCxn id="19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4"/>
            <a:endCxn id="22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713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257800"/>
          </a:xfrm>
        </p:spPr>
        <p:txBody>
          <a:bodyPr/>
          <a:lstStyle/>
          <a:p>
            <a:r>
              <a:rPr lang="en-US" dirty="0"/>
              <a:t>The nodes adjacent to a node, but at the next lower depth are called its </a:t>
            </a:r>
            <a:r>
              <a:rPr lang="en-US" b="1" dirty="0">
                <a:solidFill>
                  <a:srgbClr val="E46C0A"/>
                </a:solidFill>
              </a:rPr>
              <a:t>children</a:t>
            </a:r>
          </a:p>
          <a:p>
            <a:endParaRPr lang="en-US" dirty="0"/>
          </a:p>
          <a:p>
            <a:r>
              <a:rPr lang="en-US" dirty="0"/>
              <a:t>And the nodes that are its children, children’s children, etc., are called its </a:t>
            </a:r>
            <a:r>
              <a:rPr lang="en-US" b="1" dirty="0">
                <a:solidFill>
                  <a:srgbClr val="E46C0A"/>
                </a:solidFill>
              </a:rPr>
              <a:t>descendants</a:t>
            </a:r>
          </a:p>
        </p:txBody>
      </p:sp>
      <p:sp>
        <p:nvSpPr>
          <p:cNvPr id="19" name="Oval 18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8621889" y="557311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/>
          <p:cNvCxnSpPr>
            <a:stCxn id="22" idx="5"/>
            <a:endCxn id="25" idx="1"/>
          </p:cNvCxnSpPr>
          <p:nvPr/>
        </p:nvCxnSpPr>
        <p:spPr>
          <a:xfrm>
            <a:off x="8162645" y="481909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6" idx="7"/>
            <a:endCxn id="22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7"/>
            <a:endCxn id="19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5"/>
            <a:endCxn id="23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/>
          <p:cNvCxnSpPr>
            <a:stCxn id="31" idx="4"/>
            <a:endCxn id="19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4"/>
            <a:endCxn id="22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67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Parents and ancestors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nodes above a node in the tree are its </a:t>
            </a:r>
            <a:r>
              <a:rPr lang="en-US" b="1" dirty="0">
                <a:solidFill>
                  <a:srgbClr val="E46C0A"/>
                </a:solidFill>
              </a:rPr>
              <a:t>ancestors</a:t>
            </a:r>
          </a:p>
          <a:p>
            <a:endParaRPr lang="en-US" dirty="0"/>
          </a:p>
          <a:p>
            <a:r>
              <a:rPr lang="en-US" dirty="0"/>
              <a:t>The node immediately above a node in the tree is its </a:t>
            </a:r>
            <a:r>
              <a:rPr lang="en-US" b="1" dirty="0">
                <a:solidFill>
                  <a:srgbClr val="E46C0A"/>
                </a:solidFill>
              </a:rPr>
              <a:t>parent</a:t>
            </a:r>
            <a:endParaRPr lang="en-US" dirty="0">
              <a:solidFill>
                <a:srgbClr val="E46C0A"/>
              </a:solidFill>
            </a:endParaRPr>
          </a:p>
          <a:p>
            <a:pPr lvl="1"/>
            <a:r>
              <a:rPr lang="en-US" dirty="0"/>
              <a:t>All nodes have parents except the root</a:t>
            </a:r>
          </a:p>
          <a:p>
            <a:endParaRPr lang="en-US" dirty="0"/>
          </a:p>
          <a:p>
            <a:r>
              <a:rPr lang="en-US" dirty="0"/>
              <a:t>Nodes with the same parent are called </a:t>
            </a:r>
            <a:r>
              <a:rPr lang="en-US" b="1" dirty="0">
                <a:solidFill>
                  <a:srgbClr val="E46C0A"/>
                </a:solidFill>
              </a:rPr>
              <a:t>siblings</a:t>
            </a:r>
          </a:p>
        </p:txBody>
      </p:sp>
      <p:sp>
        <p:nvSpPr>
          <p:cNvPr id="19" name="Oval 18"/>
          <p:cNvSpPr/>
          <p:nvPr/>
        </p:nvSpPr>
        <p:spPr>
          <a:xfrm>
            <a:off x="6705600" y="2057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848666" y="30762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7772400" y="442884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7772400" y="314677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8621889" y="557311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6934200" y="554002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/>
          <p:cNvCxnSpPr>
            <a:stCxn id="22" idx="5"/>
            <a:endCxn id="25" idx="1"/>
          </p:cNvCxnSpPr>
          <p:nvPr/>
        </p:nvCxnSpPr>
        <p:spPr>
          <a:xfrm>
            <a:off x="8162645" y="481909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6" idx="7"/>
            <a:endCxn id="22" idx="3"/>
          </p:cNvCxnSpPr>
          <p:nvPr/>
        </p:nvCxnSpPr>
        <p:spPr>
          <a:xfrm flipV="1">
            <a:off x="7324445" y="481909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7"/>
            <a:endCxn id="19" idx="3"/>
          </p:cNvCxnSpPr>
          <p:nvPr/>
        </p:nvCxnSpPr>
        <p:spPr>
          <a:xfrm flipV="1">
            <a:off x="6238911" y="244764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5"/>
            <a:endCxn id="23" idx="1"/>
          </p:cNvCxnSpPr>
          <p:nvPr/>
        </p:nvCxnSpPr>
        <p:spPr>
          <a:xfrm>
            <a:off x="7095845" y="244764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705600" y="84180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/>
          <p:cNvCxnSpPr>
            <a:stCxn id="31" idx="4"/>
            <a:endCxn id="19" idx="0"/>
          </p:cNvCxnSpPr>
          <p:nvPr/>
        </p:nvCxnSpPr>
        <p:spPr>
          <a:xfrm>
            <a:off x="6934200" y="129900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3" idx="4"/>
            <a:endCxn id="22" idx="0"/>
          </p:cNvCxnSpPr>
          <p:nvPr/>
        </p:nvCxnSpPr>
        <p:spPr>
          <a:xfrm>
            <a:off x="8001000" y="360397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878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for trees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70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representation</a:t>
            </a:r>
            <a:r>
              <a:rPr lang="en-US" baseline="0" dirty="0"/>
              <a:t> of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Each tree node is an </a:t>
            </a:r>
            <a:r>
              <a:rPr lang="en-US" b="1" dirty="0">
                <a:solidFill>
                  <a:srgbClr val="E46C0A"/>
                </a:solidFill>
              </a:rPr>
              <a:t>object</a:t>
            </a:r>
          </a:p>
          <a:p>
            <a:pPr lvl="1"/>
            <a:r>
              <a:rPr lang="en-US" dirty="0"/>
              <a:t>(Red circles)</a:t>
            </a:r>
          </a:p>
          <a:p>
            <a:endParaRPr lang="en-US" dirty="0"/>
          </a:p>
          <a:p>
            <a:r>
              <a:rPr lang="en-US" dirty="0"/>
              <a:t>Each node object contains</a:t>
            </a:r>
          </a:p>
          <a:p>
            <a:pPr lvl="1"/>
            <a:r>
              <a:rPr lang="en-US" b="1" dirty="0">
                <a:solidFill>
                  <a:srgbClr val="E46C0A"/>
                </a:solidFill>
              </a:rPr>
              <a:t>Parent</a:t>
            </a:r>
          </a:p>
          <a:p>
            <a:pPr lvl="2"/>
            <a:r>
              <a:rPr lang="en-US" dirty="0"/>
              <a:t>(Upward arrows)</a:t>
            </a:r>
          </a:p>
          <a:p>
            <a:pPr lvl="1"/>
            <a:r>
              <a:rPr lang="en-US" dirty="0"/>
              <a:t>List of </a:t>
            </a:r>
            <a:r>
              <a:rPr lang="en-US" b="1" dirty="0">
                <a:solidFill>
                  <a:srgbClr val="E46C0A"/>
                </a:solidFill>
              </a:rPr>
              <a:t>children</a:t>
            </a:r>
          </a:p>
          <a:p>
            <a:pPr lvl="2"/>
            <a:r>
              <a:rPr lang="en-US" dirty="0"/>
              <a:t>(Grey boxes)</a:t>
            </a:r>
          </a:p>
          <a:p>
            <a:pPr lvl="2"/>
            <a:r>
              <a:rPr lang="en-US" dirty="0"/>
              <a:t>linked list, array, whatever</a:t>
            </a:r>
          </a:p>
          <a:p>
            <a:pPr lvl="1"/>
            <a:r>
              <a:rPr lang="en-US" b="1" dirty="0">
                <a:solidFill>
                  <a:srgbClr val="E46C0A"/>
                </a:solidFill>
              </a:rPr>
              <a:t>Anything else </a:t>
            </a:r>
            <a:r>
              <a:rPr lang="en-US" dirty="0"/>
              <a:t>you want to remember about the node</a:t>
            </a:r>
          </a:p>
        </p:txBody>
      </p:sp>
      <p:sp>
        <p:nvSpPr>
          <p:cNvPr id="5" name="Oval 4"/>
          <p:cNvSpPr/>
          <p:nvPr/>
        </p:nvSpPr>
        <p:spPr>
          <a:xfrm>
            <a:off x="7235536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7924800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944591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853546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1336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397336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Elbow Connector 14"/>
          <p:cNvCxnSpPr>
            <a:stCxn id="5" idx="2"/>
            <a:endCxn id="61" idx="0"/>
          </p:cNvCxnSpPr>
          <p:nvPr/>
        </p:nvCxnSpPr>
        <p:spPr>
          <a:xfrm rot="10800000" flipV="1">
            <a:off x="5635336" y="2057400"/>
            <a:ext cx="1600200" cy="533400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0"/>
            <a:endCxn id="5" idx="3"/>
          </p:cNvCxnSpPr>
          <p:nvPr/>
        </p:nvCxnSpPr>
        <p:spPr>
          <a:xfrm flipV="1">
            <a:off x="6587836" y="2192104"/>
            <a:ext cx="703496" cy="13546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0"/>
            <a:endCxn id="5" idx="5"/>
          </p:cNvCxnSpPr>
          <p:nvPr/>
        </p:nvCxnSpPr>
        <p:spPr>
          <a:xfrm flipH="1" flipV="1">
            <a:off x="7560740" y="2192104"/>
            <a:ext cx="551096" cy="13615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0"/>
            <a:endCxn id="10" idx="3"/>
          </p:cNvCxnSpPr>
          <p:nvPr/>
        </p:nvCxnSpPr>
        <p:spPr>
          <a:xfrm flipV="1">
            <a:off x="6044046" y="3871968"/>
            <a:ext cx="409086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7" idx="0"/>
            <a:endCxn id="10" idx="5"/>
          </p:cNvCxnSpPr>
          <p:nvPr/>
        </p:nvCxnSpPr>
        <p:spPr>
          <a:xfrm flipH="1" flipV="1">
            <a:off x="6722540" y="3871968"/>
            <a:ext cx="412551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0"/>
            <a:endCxn id="9" idx="4"/>
          </p:cNvCxnSpPr>
          <p:nvPr/>
        </p:nvCxnSpPr>
        <p:spPr>
          <a:xfrm flipH="1" flipV="1">
            <a:off x="8111836" y="3934691"/>
            <a:ext cx="3464" cy="15517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10" idx="2"/>
            <a:endCxn id="78" idx="0"/>
          </p:cNvCxnSpPr>
          <p:nvPr/>
        </p:nvCxnSpPr>
        <p:spPr>
          <a:xfrm rot="10800000" flipV="1">
            <a:off x="5579540" y="3737264"/>
            <a:ext cx="817797" cy="670668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9" idx="2"/>
            <a:endCxn id="87" idx="0"/>
          </p:cNvCxnSpPr>
          <p:nvPr/>
        </p:nvCxnSpPr>
        <p:spPr>
          <a:xfrm rot="10800000" flipV="1">
            <a:off x="7432316" y="3744190"/>
            <a:ext cx="489021" cy="663741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111336" y="2558534"/>
            <a:ext cx="980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 list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2936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5787736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Elbow Connector 67"/>
          <p:cNvCxnSpPr>
            <a:stCxn id="63" idx="2"/>
            <a:endCxn id="9" idx="1"/>
          </p:cNvCxnSpPr>
          <p:nvPr/>
        </p:nvCxnSpPr>
        <p:spPr>
          <a:xfrm>
            <a:off x="5940136" y="2895600"/>
            <a:ext cx="2036996" cy="7138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61" idx="2"/>
          </p:cNvCxnSpPr>
          <p:nvPr/>
        </p:nvCxnSpPr>
        <p:spPr>
          <a:xfrm>
            <a:off x="5635336" y="2895600"/>
            <a:ext cx="850670" cy="6858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111336" y="4375666"/>
            <a:ext cx="1070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 lists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27139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/>
          <p:cNvSpPr/>
          <p:nvPr/>
        </p:nvSpPr>
        <p:spPr>
          <a:xfrm>
            <a:off x="5731939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Elbow Connector 79"/>
          <p:cNvCxnSpPr>
            <a:stCxn id="79" idx="2"/>
            <a:endCxn id="7" idx="1"/>
          </p:cNvCxnSpPr>
          <p:nvPr/>
        </p:nvCxnSpPr>
        <p:spPr>
          <a:xfrm>
            <a:off x="5884339" y="4712732"/>
            <a:ext cx="1116048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78" idx="2"/>
            <a:endCxn id="8" idx="1"/>
          </p:cNvCxnSpPr>
          <p:nvPr/>
        </p:nvCxnSpPr>
        <p:spPr>
          <a:xfrm>
            <a:off x="5579539" y="4712732"/>
            <a:ext cx="329803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279915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8" name="Elbow Connector 80"/>
          <p:cNvCxnSpPr>
            <a:stCxn id="87" idx="2"/>
            <a:endCxn id="6" idx="1"/>
          </p:cNvCxnSpPr>
          <p:nvPr/>
        </p:nvCxnSpPr>
        <p:spPr>
          <a:xfrm>
            <a:off x="7432315" y="4712732"/>
            <a:ext cx="548281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475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</a:t>
            </a:r>
            <a:r>
              <a:rPr lang="en-US" baseline="0" dirty="0"/>
              <a:t> array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334000" y="1600201"/>
            <a:ext cx="3505200" cy="2667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class </a:t>
            </a:r>
            <a:r>
              <a:rPr lang="en-US" sz="2400" b="1" dirty="0"/>
              <a:t>TreeNode</a:t>
            </a:r>
            <a:r>
              <a:rPr lang="en-US" sz="2400" dirty="0"/>
              <a:t> {</a:t>
            </a:r>
          </a:p>
          <a:p>
            <a:pPr marL="0" indent="0">
              <a:buNone/>
            </a:pPr>
            <a:r>
              <a:rPr lang="en-US" sz="2400" dirty="0"/>
              <a:t>    TreeNode parent;</a:t>
            </a:r>
          </a:p>
          <a:p>
            <a:pPr marL="0" indent="0">
              <a:buNone/>
            </a:pPr>
            <a:r>
              <a:rPr lang="en-US" sz="2400" dirty="0"/>
              <a:t>    TreeNode[] children;</a:t>
            </a:r>
          </a:p>
          <a:p>
            <a:pPr marL="0" indent="0">
              <a:buNone/>
            </a:pPr>
            <a:r>
              <a:rPr lang="en-US" sz="2400" dirty="0"/>
              <a:t>    … other data …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3505200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194464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214255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123210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4191000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2667000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Elbow Connector 11"/>
          <p:cNvCxnSpPr>
            <a:stCxn id="6" idx="2"/>
            <a:endCxn id="21" idx="0"/>
          </p:cNvCxnSpPr>
          <p:nvPr/>
        </p:nvCxnSpPr>
        <p:spPr>
          <a:xfrm rot="10800000" flipV="1">
            <a:off x="1905000" y="2057400"/>
            <a:ext cx="1600200" cy="533400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0"/>
            <a:endCxn id="6" idx="3"/>
          </p:cNvCxnSpPr>
          <p:nvPr/>
        </p:nvCxnSpPr>
        <p:spPr>
          <a:xfrm flipV="1">
            <a:off x="2857500" y="2192104"/>
            <a:ext cx="703496" cy="13546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" idx="0"/>
            <a:endCxn id="6" idx="5"/>
          </p:cNvCxnSpPr>
          <p:nvPr/>
        </p:nvCxnSpPr>
        <p:spPr>
          <a:xfrm flipH="1" flipV="1">
            <a:off x="3830404" y="2192104"/>
            <a:ext cx="551096" cy="13615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0"/>
            <a:endCxn id="11" idx="3"/>
          </p:cNvCxnSpPr>
          <p:nvPr/>
        </p:nvCxnSpPr>
        <p:spPr>
          <a:xfrm flipV="1">
            <a:off x="2313710" y="3871968"/>
            <a:ext cx="409086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0"/>
            <a:endCxn id="11" idx="5"/>
          </p:cNvCxnSpPr>
          <p:nvPr/>
        </p:nvCxnSpPr>
        <p:spPr>
          <a:xfrm flipH="1" flipV="1">
            <a:off x="2992204" y="3871968"/>
            <a:ext cx="412551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10" idx="4"/>
          </p:cNvCxnSpPr>
          <p:nvPr/>
        </p:nvCxnSpPr>
        <p:spPr>
          <a:xfrm flipH="1" flipV="1">
            <a:off x="4381500" y="3934691"/>
            <a:ext cx="3464" cy="15517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1" idx="2"/>
            <a:endCxn id="26" idx="0"/>
          </p:cNvCxnSpPr>
          <p:nvPr/>
        </p:nvCxnSpPr>
        <p:spPr>
          <a:xfrm rot="10800000" flipV="1">
            <a:off x="1849204" y="3737264"/>
            <a:ext cx="817797" cy="670668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0" idx="2"/>
            <a:endCxn id="30" idx="0"/>
          </p:cNvCxnSpPr>
          <p:nvPr/>
        </p:nvCxnSpPr>
        <p:spPr>
          <a:xfrm rot="10800000" flipV="1">
            <a:off x="3701980" y="3744190"/>
            <a:ext cx="489021" cy="663741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4800" y="2558534"/>
            <a:ext cx="1187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 array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52600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2057400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Elbow Connector 67"/>
          <p:cNvCxnSpPr>
            <a:stCxn id="22" idx="2"/>
            <a:endCxn id="10" idx="1"/>
          </p:cNvCxnSpPr>
          <p:nvPr/>
        </p:nvCxnSpPr>
        <p:spPr>
          <a:xfrm>
            <a:off x="2209800" y="2895600"/>
            <a:ext cx="2036996" cy="7138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68"/>
          <p:cNvCxnSpPr>
            <a:stCxn id="21" idx="2"/>
          </p:cNvCxnSpPr>
          <p:nvPr/>
        </p:nvCxnSpPr>
        <p:spPr>
          <a:xfrm>
            <a:off x="1905000" y="2895600"/>
            <a:ext cx="850670" cy="6858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4800" y="4375666"/>
            <a:ext cx="127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 arrays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6803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2001603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Elbow Connector 79"/>
          <p:cNvCxnSpPr>
            <a:stCxn id="27" idx="2"/>
            <a:endCxn id="8" idx="1"/>
          </p:cNvCxnSpPr>
          <p:nvPr/>
        </p:nvCxnSpPr>
        <p:spPr>
          <a:xfrm>
            <a:off x="2154003" y="4712732"/>
            <a:ext cx="1116048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80"/>
          <p:cNvCxnSpPr>
            <a:stCxn id="26" idx="2"/>
            <a:endCxn id="9" idx="1"/>
          </p:cNvCxnSpPr>
          <p:nvPr/>
        </p:nvCxnSpPr>
        <p:spPr>
          <a:xfrm>
            <a:off x="1849203" y="4712732"/>
            <a:ext cx="329803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549579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Elbow Connector 80"/>
          <p:cNvCxnSpPr>
            <a:stCxn id="30" idx="2"/>
            <a:endCxn id="7" idx="1"/>
          </p:cNvCxnSpPr>
          <p:nvPr/>
        </p:nvCxnSpPr>
        <p:spPr>
          <a:xfrm>
            <a:off x="3701979" y="4712732"/>
            <a:ext cx="548281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025515" y="1735693"/>
            <a:ext cx="946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children</a:t>
            </a:r>
          </a:p>
        </p:txBody>
      </p:sp>
      <p:sp>
        <p:nvSpPr>
          <p:cNvPr id="33" name="TextBox 32"/>
          <p:cNvSpPr txBox="1"/>
          <p:nvPr/>
        </p:nvSpPr>
        <p:spPr>
          <a:xfrm rot="17928275">
            <a:off x="2772312" y="2391183"/>
            <a:ext cx="80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</a:t>
            </a:r>
          </a:p>
        </p:txBody>
      </p:sp>
      <p:sp>
        <p:nvSpPr>
          <p:cNvPr id="34" name="TextBox 33"/>
          <p:cNvSpPr txBox="1"/>
          <p:nvPr/>
        </p:nvSpPr>
        <p:spPr>
          <a:xfrm rot="4111358">
            <a:off x="3726297" y="2391708"/>
            <a:ext cx="80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</a:t>
            </a:r>
          </a:p>
        </p:txBody>
      </p:sp>
      <p:sp>
        <p:nvSpPr>
          <p:cNvPr id="35" name="TextBox 34"/>
          <p:cNvSpPr txBox="1"/>
          <p:nvPr/>
        </p:nvSpPr>
        <p:spPr>
          <a:xfrm rot="2365309">
            <a:off x="1740070" y="3138832"/>
            <a:ext cx="860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children[0]</a:t>
            </a:r>
          </a:p>
        </p:txBody>
      </p:sp>
      <p:sp>
        <p:nvSpPr>
          <p:cNvPr id="36" name="TextBox 35"/>
          <p:cNvSpPr txBox="1"/>
          <p:nvPr/>
        </p:nvSpPr>
        <p:spPr>
          <a:xfrm rot="1233374">
            <a:off x="2154831" y="3009714"/>
            <a:ext cx="860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children[1]</a:t>
            </a:r>
          </a:p>
        </p:txBody>
      </p:sp>
    </p:spTree>
    <p:extLst>
      <p:ext uri="{BB962C8B-B14F-4D97-AF65-F5344CB8AC3E}">
        <p14:creationId xmlns:p14="http://schemas.microsoft.com/office/powerpoint/2010/main" val="1903468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linked list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600201"/>
            <a:ext cx="3886200" cy="38099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/>
              <a:t>TreeNode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TreeNode parent;</a:t>
            </a:r>
          </a:p>
          <a:p>
            <a:pPr marL="0" indent="0">
              <a:buNone/>
            </a:pPr>
            <a:r>
              <a:rPr lang="en-US" dirty="0"/>
              <a:t>    TreeNodeList children;</a:t>
            </a:r>
          </a:p>
          <a:p>
            <a:pPr marL="0" indent="0">
              <a:buNone/>
            </a:pPr>
            <a:r>
              <a:rPr lang="en-US" dirty="0"/>
              <a:t>    … other data …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/>
              <a:t>TreeNodeList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 TreeNode node;</a:t>
            </a:r>
          </a:p>
          <a:p>
            <a:pPr marL="0" indent="0">
              <a:buNone/>
            </a:pPr>
            <a:r>
              <a:rPr lang="en-US" dirty="0"/>
              <a:t>    TreeNodeList next;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3276600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965864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2985655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894610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962400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2438400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Elbow Connector 10"/>
          <p:cNvCxnSpPr>
            <a:stCxn id="5" idx="2"/>
            <a:endCxn id="19" idx="0"/>
          </p:cNvCxnSpPr>
          <p:nvPr/>
        </p:nvCxnSpPr>
        <p:spPr>
          <a:xfrm rot="10800000" flipV="1">
            <a:off x="1440680" y="2057400"/>
            <a:ext cx="1835920" cy="533400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5" idx="3"/>
          </p:cNvCxnSpPr>
          <p:nvPr/>
        </p:nvCxnSpPr>
        <p:spPr>
          <a:xfrm flipV="1">
            <a:off x="2763604" y="2192104"/>
            <a:ext cx="568792" cy="141045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0"/>
            <a:endCxn id="5" idx="5"/>
          </p:cNvCxnSpPr>
          <p:nvPr/>
        </p:nvCxnSpPr>
        <p:spPr>
          <a:xfrm flipH="1" flipV="1">
            <a:off x="3601804" y="2192104"/>
            <a:ext cx="551096" cy="13615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0"/>
            <a:endCxn id="10" idx="3"/>
          </p:cNvCxnSpPr>
          <p:nvPr/>
        </p:nvCxnSpPr>
        <p:spPr>
          <a:xfrm flipV="1">
            <a:off x="2085110" y="3871968"/>
            <a:ext cx="409086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0"/>
            <a:endCxn id="10" idx="5"/>
          </p:cNvCxnSpPr>
          <p:nvPr/>
        </p:nvCxnSpPr>
        <p:spPr>
          <a:xfrm flipH="1" flipV="1">
            <a:off x="2763604" y="3871968"/>
            <a:ext cx="412551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0"/>
            <a:endCxn id="9" idx="4"/>
          </p:cNvCxnSpPr>
          <p:nvPr/>
        </p:nvCxnSpPr>
        <p:spPr>
          <a:xfrm flipH="1" flipV="1">
            <a:off x="4152900" y="3934691"/>
            <a:ext cx="3464" cy="15517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10" idx="2"/>
            <a:endCxn id="23" idx="0"/>
          </p:cNvCxnSpPr>
          <p:nvPr/>
        </p:nvCxnSpPr>
        <p:spPr>
          <a:xfrm rot="10800000" flipV="1">
            <a:off x="990600" y="3737264"/>
            <a:ext cx="1447800" cy="670668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9" idx="2"/>
            <a:endCxn id="27" idx="0"/>
          </p:cNvCxnSpPr>
          <p:nvPr/>
        </p:nvCxnSpPr>
        <p:spPr>
          <a:xfrm rot="10800000" flipV="1">
            <a:off x="3473380" y="3744190"/>
            <a:ext cx="489021" cy="663741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288280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2289275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Elbow Connector 67"/>
          <p:cNvCxnSpPr>
            <a:stCxn id="20" idx="2"/>
            <a:endCxn id="9" idx="1"/>
          </p:cNvCxnSpPr>
          <p:nvPr/>
        </p:nvCxnSpPr>
        <p:spPr>
          <a:xfrm>
            <a:off x="2441675" y="2895600"/>
            <a:ext cx="1576521" cy="7138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68"/>
          <p:cNvCxnSpPr>
            <a:stCxn id="19" idx="2"/>
            <a:endCxn id="10" idx="1"/>
          </p:cNvCxnSpPr>
          <p:nvPr/>
        </p:nvCxnSpPr>
        <p:spPr>
          <a:xfrm>
            <a:off x="1440680" y="2895600"/>
            <a:ext cx="1053516" cy="7069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38200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447800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Elbow Connector 79"/>
          <p:cNvCxnSpPr>
            <a:stCxn id="24" idx="2"/>
            <a:endCxn id="7" idx="1"/>
          </p:cNvCxnSpPr>
          <p:nvPr/>
        </p:nvCxnSpPr>
        <p:spPr>
          <a:xfrm>
            <a:off x="1600200" y="4712732"/>
            <a:ext cx="1441251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80"/>
          <p:cNvCxnSpPr>
            <a:stCxn id="23" idx="2"/>
            <a:endCxn id="8" idx="1"/>
          </p:cNvCxnSpPr>
          <p:nvPr/>
        </p:nvCxnSpPr>
        <p:spPr>
          <a:xfrm>
            <a:off x="990600" y="4712732"/>
            <a:ext cx="959806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320979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Elbow Connector 80"/>
          <p:cNvCxnSpPr>
            <a:stCxn id="27" idx="2"/>
            <a:endCxn id="6" idx="1"/>
          </p:cNvCxnSpPr>
          <p:nvPr/>
        </p:nvCxnSpPr>
        <p:spPr>
          <a:xfrm>
            <a:off x="3473379" y="4712732"/>
            <a:ext cx="548281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68"/>
          <p:cNvCxnSpPr>
            <a:stCxn id="23" idx="3"/>
            <a:endCxn id="24" idx="1"/>
          </p:cNvCxnSpPr>
          <p:nvPr/>
        </p:nvCxnSpPr>
        <p:spPr>
          <a:xfrm>
            <a:off x="1143000" y="4560332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68"/>
          <p:cNvCxnSpPr/>
          <p:nvPr/>
        </p:nvCxnSpPr>
        <p:spPr>
          <a:xfrm>
            <a:off x="2590800" y="2743200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68"/>
          <p:cNvCxnSpPr>
            <a:stCxn id="24" idx="3"/>
          </p:cNvCxnSpPr>
          <p:nvPr/>
        </p:nvCxnSpPr>
        <p:spPr>
          <a:xfrm>
            <a:off x="1752600" y="4560332"/>
            <a:ext cx="29441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68"/>
          <p:cNvCxnSpPr>
            <a:stCxn id="27" idx="3"/>
          </p:cNvCxnSpPr>
          <p:nvPr/>
        </p:nvCxnSpPr>
        <p:spPr>
          <a:xfrm>
            <a:off x="3625779" y="4560332"/>
            <a:ext cx="29441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524000" y="1735693"/>
            <a:ext cx="946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children</a:t>
            </a:r>
          </a:p>
        </p:txBody>
      </p:sp>
      <p:sp>
        <p:nvSpPr>
          <p:cNvPr id="34" name="TextBox 33"/>
          <p:cNvSpPr txBox="1"/>
          <p:nvPr/>
        </p:nvSpPr>
        <p:spPr>
          <a:xfrm rot="1957828">
            <a:off x="1717885" y="2966409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</a:t>
            </a:r>
          </a:p>
        </p:txBody>
      </p:sp>
      <p:sp>
        <p:nvSpPr>
          <p:cNvPr id="35" name="TextBox 34"/>
          <p:cNvSpPr txBox="1"/>
          <p:nvPr/>
        </p:nvSpPr>
        <p:spPr>
          <a:xfrm rot="1522599">
            <a:off x="2256832" y="2944202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1583653" y="2373868"/>
            <a:ext cx="705622" cy="369332"/>
            <a:chOff x="1583653" y="2373868"/>
            <a:chExt cx="705622" cy="369332"/>
          </a:xfrm>
        </p:grpSpPr>
        <p:cxnSp>
          <p:nvCxnSpPr>
            <p:cNvPr id="37" name="Elbow Connector 68"/>
            <p:cNvCxnSpPr>
              <a:stCxn id="19" idx="3"/>
              <a:endCxn id="20" idx="1"/>
            </p:cNvCxnSpPr>
            <p:nvPr/>
          </p:nvCxnSpPr>
          <p:spPr>
            <a:xfrm>
              <a:off x="1593080" y="2743200"/>
              <a:ext cx="69619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1583653" y="2373868"/>
              <a:ext cx="595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0479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linked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334000" y="1600201"/>
            <a:ext cx="3352800" cy="3810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Notice that we have exactly </a:t>
            </a:r>
            <a:r>
              <a:rPr lang="en-US" b="1" dirty="0">
                <a:solidFill>
                  <a:srgbClr val="E46C0A"/>
                </a:solidFill>
              </a:rPr>
              <a:t>one linked list cell per node</a:t>
            </a:r>
          </a:p>
          <a:p>
            <a:pPr lvl="1"/>
            <a:r>
              <a:rPr lang="en-US" dirty="0"/>
              <a:t>(except the root)</a:t>
            </a:r>
          </a:p>
          <a:p>
            <a:endParaRPr lang="en-US" dirty="0"/>
          </a:p>
          <a:p>
            <a:r>
              <a:rPr lang="en-US" dirty="0"/>
              <a:t>So we can just </a:t>
            </a:r>
            <a:r>
              <a:rPr lang="en-US" b="1" dirty="0">
                <a:solidFill>
                  <a:srgbClr val="E46C0A"/>
                </a:solidFill>
              </a:rPr>
              <a:t>move the next pointer </a:t>
            </a:r>
            <a:r>
              <a:rPr lang="en-US" dirty="0"/>
              <a:t>into the node itself</a:t>
            </a:r>
          </a:p>
        </p:txBody>
      </p:sp>
      <p:sp>
        <p:nvSpPr>
          <p:cNvPr id="6" name="Oval 5"/>
          <p:cNvSpPr/>
          <p:nvPr/>
        </p:nvSpPr>
        <p:spPr>
          <a:xfrm>
            <a:off x="3276600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965864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985655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1894610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3962400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2438400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Elbow Connector 11"/>
          <p:cNvCxnSpPr>
            <a:stCxn id="6" idx="2"/>
            <a:endCxn id="21" idx="0"/>
          </p:cNvCxnSpPr>
          <p:nvPr/>
        </p:nvCxnSpPr>
        <p:spPr>
          <a:xfrm rot="10800000" flipV="1">
            <a:off x="1440680" y="2057400"/>
            <a:ext cx="1835920" cy="533400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6" idx="3"/>
          </p:cNvCxnSpPr>
          <p:nvPr/>
        </p:nvCxnSpPr>
        <p:spPr>
          <a:xfrm flipV="1">
            <a:off x="2763604" y="2192104"/>
            <a:ext cx="568792" cy="141045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" idx="0"/>
            <a:endCxn id="6" idx="5"/>
          </p:cNvCxnSpPr>
          <p:nvPr/>
        </p:nvCxnSpPr>
        <p:spPr>
          <a:xfrm flipH="1" flipV="1">
            <a:off x="3601804" y="2192104"/>
            <a:ext cx="551096" cy="13615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0"/>
            <a:endCxn id="11" idx="3"/>
          </p:cNvCxnSpPr>
          <p:nvPr/>
        </p:nvCxnSpPr>
        <p:spPr>
          <a:xfrm flipV="1">
            <a:off x="2085110" y="3871968"/>
            <a:ext cx="409086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0"/>
            <a:endCxn id="11" idx="5"/>
          </p:cNvCxnSpPr>
          <p:nvPr/>
        </p:nvCxnSpPr>
        <p:spPr>
          <a:xfrm flipH="1" flipV="1">
            <a:off x="2763604" y="3871968"/>
            <a:ext cx="412551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0"/>
            <a:endCxn id="10" idx="4"/>
          </p:cNvCxnSpPr>
          <p:nvPr/>
        </p:nvCxnSpPr>
        <p:spPr>
          <a:xfrm flipH="1" flipV="1">
            <a:off x="4152900" y="3934691"/>
            <a:ext cx="3464" cy="15517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1" idx="2"/>
            <a:endCxn id="26" idx="0"/>
          </p:cNvCxnSpPr>
          <p:nvPr/>
        </p:nvCxnSpPr>
        <p:spPr>
          <a:xfrm rot="10800000" flipV="1">
            <a:off x="990600" y="3737264"/>
            <a:ext cx="1447800" cy="670668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0" idx="2"/>
            <a:endCxn id="30" idx="0"/>
          </p:cNvCxnSpPr>
          <p:nvPr/>
        </p:nvCxnSpPr>
        <p:spPr>
          <a:xfrm rot="10800000" flipV="1">
            <a:off x="3473380" y="3744190"/>
            <a:ext cx="489021" cy="663741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288280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2289275" y="2590800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Elbow Connector 67"/>
          <p:cNvCxnSpPr>
            <a:stCxn id="22" idx="2"/>
            <a:endCxn id="10" idx="1"/>
          </p:cNvCxnSpPr>
          <p:nvPr/>
        </p:nvCxnSpPr>
        <p:spPr>
          <a:xfrm>
            <a:off x="2441675" y="2895600"/>
            <a:ext cx="1576521" cy="7138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68"/>
          <p:cNvCxnSpPr>
            <a:stCxn id="21" idx="2"/>
            <a:endCxn id="11" idx="1"/>
          </p:cNvCxnSpPr>
          <p:nvPr/>
        </p:nvCxnSpPr>
        <p:spPr>
          <a:xfrm>
            <a:off x="1440680" y="2895600"/>
            <a:ext cx="1053516" cy="7069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38200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1447800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Elbow Connector 79"/>
          <p:cNvCxnSpPr>
            <a:stCxn id="27" idx="2"/>
            <a:endCxn id="8" idx="1"/>
          </p:cNvCxnSpPr>
          <p:nvPr/>
        </p:nvCxnSpPr>
        <p:spPr>
          <a:xfrm>
            <a:off x="1600200" y="4712732"/>
            <a:ext cx="1441251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80"/>
          <p:cNvCxnSpPr>
            <a:stCxn id="26" idx="2"/>
            <a:endCxn id="9" idx="1"/>
          </p:cNvCxnSpPr>
          <p:nvPr/>
        </p:nvCxnSpPr>
        <p:spPr>
          <a:xfrm>
            <a:off x="990600" y="4712732"/>
            <a:ext cx="959806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320979" y="4407932"/>
            <a:ext cx="304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Elbow Connector 80"/>
          <p:cNvCxnSpPr>
            <a:stCxn id="30" idx="2"/>
            <a:endCxn id="7" idx="1"/>
          </p:cNvCxnSpPr>
          <p:nvPr/>
        </p:nvCxnSpPr>
        <p:spPr>
          <a:xfrm>
            <a:off x="3473379" y="4712732"/>
            <a:ext cx="548281" cy="8294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68"/>
          <p:cNvCxnSpPr>
            <a:stCxn id="26" idx="3"/>
            <a:endCxn id="27" idx="1"/>
          </p:cNvCxnSpPr>
          <p:nvPr/>
        </p:nvCxnSpPr>
        <p:spPr>
          <a:xfrm>
            <a:off x="1143000" y="4560332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68"/>
          <p:cNvCxnSpPr/>
          <p:nvPr/>
        </p:nvCxnSpPr>
        <p:spPr>
          <a:xfrm>
            <a:off x="2590800" y="2743200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68"/>
          <p:cNvCxnSpPr>
            <a:stCxn id="27" idx="3"/>
          </p:cNvCxnSpPr>
          <p:nvPr/>
        </p:nvCxnSpPr>
        <p:spPr>
          <a:xfrm>
            <a:off x="1752600" y="4560332"/>
            <a:ext cx="29441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8"/>
          <p:cNvCxnSpPr>
            <a:stCxn id="30" idx="3"/>
          </p:cNvCxnSpPr>
          <p:nvPr/>
        </p:nvCxnSpPr>
        <p:spPr>
          <a:xfrm>
            <a:off x="3625779" y="4560332"/>
            <a:ext cx="29441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524000" y="1735693"/>
            <a:ext cx="946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children</a:t>
            </a:r>
          </a:p>
        </p:txBody>
      </p:sp>
      <p:sp>
        <p:nvSpPr>
          <p:cNvPr id="45" name="TextBox 44"/>
          <p:cNvSpPr txBox="1"/>
          <p:nvPr/>
        </p:nvSpPr>
        <p:spPr>
          <a:xfrm rot="1957828">
            <a:off x="1717885" y="2966409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</a:t>
            </a:r>
          </a:p>
        </p:txBody>
      </p:sp>
      <p:sp>
        <p:nvSpPr>
          <p:cNvPr id="47" name="TextBox 46"/>
          <p:cNvSpPr txBox="1"/>
          <p:nvPr/>
        </p:nvSpPr>
        <p:spPr>
          <a:xfrm rot="1522599">
            <a:off x="2256832" y="2944202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1583653" y="2373868"/>
            <a:ext cx="705622" cy="369332"/>
            <a:chOff x="1583653" y="2373868"/>
            <a:chExt cx="705622" cy="369332"/>
          </a:xfrm>
        </p:grpSpPr>
        <p:cxnSp>
          <p:nvCxnSpPr>
            <p:cNvPr id="32" name="Elbow Connector 68"/>
            <p:cNvCxnSpPr>
              <a:stCxn id="21" idx="3"/>
              <a:endCxn id="22" idx="1"/>
            </p:cNvCxnSpPr>
            <p:nvPr/>
          </p:nvCxnSpPr>
          <p:spPr>
            <a:xfrm>
              <a:off x="1593080" y="2743200"/>
              <a:ext cx="69619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1583653" y="2373868"/>
              <a:ext cx="595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686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2.22222E-6 L 0.13333 0.1444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67" y="722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0 L 0.19167 0.14444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83" y="722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6 L 0.125 0.1571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784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6 L 0.17569 0.1571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85" y="7847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6 L 0.07917 0.1571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the link into the node</a:t>
            </a:r>
          </a:p>
        </p:txBody>
      </p:sp>
      <p:sp>
        <p:nvSpPr>
          <p:cNvPr id="5" name="Oval 4"/>
          <p:cNvSpPr/>
          <p:nvPr/>
        </p:nvSpPr>
        <p:spPr>
          <a:xfrm>
            <a:off x="3276600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965864" y="5105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2985655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894610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962400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2438400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Elbow Connector 10"/>
          <p:cNvCxnSpPr>
            <a:stCxn id="5" idx="2"/>
            <a:endCxn id="10" idx="0"/>
          </p:cNvCxnSpPr>
          <p:nvPr/>
        </p:nvCxnSpPr>
        <p:spPr>
          <a:xfrm rot="10800000" flipV="1">
            <a:off x="2628900" y="2057400"/>
            <a:ext cx="647700" cy="1489364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5" idx="3"/>
          </p:cNvCxnSpPr>
          <p:nvPr/>
        </p:nvCxnSpPr>
        <p:spPr>
          <a:xfrm flipV="1">
            <a:off x="2763604" y="2192104"/>
            <a:ext cx="568792" cy="141045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0"/>
            <a:endCxn id="5" idx="5"/>
          </p:cNvCxnSpPr>
          <p:nvPr/>
        </p:nvCxnSpPr>
        <p:spPr>
          <a:xfrm flipH="1" flipV="1">
            <a:off x="3601804" y="2192104"/>
            <a:ext cx="551096" cy="13615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0"/>
            <a:endCxn id="10" idx="3"/>
          </p:cNvCxnSpPr>
          <p:nvPr/>
        </p:nvCxnSpPr>
        <p:spPr>
          <a:xfrm flipV="1">
            <a:off x="2085110" y="3871968"/>
            <a:ext cx="409086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0"/>
            <a:endCxn id="10" idx="5"/>
          </p:cNvCxnSpPr>
          <p:nvPr/>
        </p:nvCxnSpPr>
        <p:spPr>
          <a:xfrm flipH="1" flipV="1">
            <a:off x="2763604" y="3871968"/>
            <a:ext cx="412551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0"/>
            <a:endCxn id="9" idx="4"/>
          </p:cNvCxnSpPr>
          <p:nvPr/>
        </p:nvCxnSpPr>
        <p:spPr>
          <a:xfrm flipH="1" flipV="1">
            <a:off x="4152900" y="3934691"/>
            <a:ext cx="3464" cy="11707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10" idx="2"/>
            <a:endCxn id="8" idx="2"/>
          </p:cNvCxnSpPr>
          <p:nvPr/>
        </p:nvCxnSpPr>
        <p:spPr>
          <a:xfrm rot="10800000" flipV="1">
            <a:off x="1894610" y="3737264"/>
            <a:ext cx="543790" cy="1939636"/>
          </a:xfrm>
          <a:prstGeom prst="bentConnector3">
            <a:avLst>
              <a:gd name="adj1" fmla="val 142038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9" idx="3"/>
            <a:endCxn id="6" idx="2"/>
          </p:cNvCxnSpPr>
          <p:nvPr/>
        </p:nvCxnSpPr>
        <p:spPr>
          <a:xfrm rot="5400000">
            <a:off x="3283528" y="4561231"/>
            <a:ext cx="1417005" cy="52332"/>
          </a:xfrm>
          <a:prstGeom prst="bentConnector4">
            <a:avLst>
              <a:gd name="adj1" fmla="val 41309"/>
              <a:gd name="adj2" fmla="val 536826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68"/>
          <p:cNvCxnSpPr>
            <a:stCxn id="10" idx="6"/>
            <a:endCxn id="9" idx="2"/>
          </p:cNvCxnSpPr>
          <p:nvPr/>
        </p:nvCxnSpPr>
        <p:spPr>
          <a:xfrm>
            <a:off x="2819400" y="3737264"/>
            <a:ext cx="1143000" cy="692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68"/>
          <p:cNvCxnSpPr>
            <a:stCxn id="8" idx="6"/>
            <a:endCxn id="7" idx="2"/>
          </p:cNvCxnSpPr>
          <p:nvPr/>
        </p:nvCxnSpPr>
        <p:spPr>
          <a:xfrm>
            <a:off x="2275610" y="5676900"/>
            <a:ext cx="71004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68"/>
          <p:cNvCxnSpPr/>
          <p:nvPr/>
        </p:nvCxnSpPr>
        <p:spPr>
          <a:xfrm>
            <a:off x="4343400" y="3733800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68"/>
          <p:cNvCxnSpPr/>
          <p:nvPr/>
        </p:nvCxnSpPr>
        <p:spPr>
          <a:xfrm>
            <a:off x="3363190" y="5674757"/>
            <a:ext cx="29441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68"/>
          <p:cNvCxnSpPr/>
          <p:nvPr/>
        </p:nvCxnSpPr>
        <p:spPr>
          <a:xfrm>
            <a:off x="4343400" y="5293757"/>
            <a:ext cx="29441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568496" y="1688068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99578" y="3352800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sibling</a:t>
            </a:r>
          </a:p>
        </p:txBody>
      </p:sp>
      <p:sp>
        <p:nvSpPr>
          <p:cNvPr id="48" name="TextBox 47"/>
          <p:cNvSpPr txBox="1"/>
          <p:nvPr/>
        </p:nvSpPr>
        <p:spPr>
          <a:xfrm rot="17548671">
            <a:off x="2512418" y="2506491"/>
            <a:ext cx="80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</a:t>
            </a:r>
          </a:p>
        </p:txBody>
      </p:sp>
      <p:sp>
        <p:nvSpPr>
          <p:cNvPr id="50" name="Content Placeholder 4"/>
          <p:cNvSpPr>
            <a:spLocks noGrp="1"/>
          </p:cNvSpPr>
          <p:nvPr>
            <p:ph sz="half" idx="2"/>
          </p:nvPr>
        </p:nvSpPr>
        <p:spPr>
          <a:xfrm>
            <a:off x="5334000" y="1600200"/>
            <a:ext cx="33528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Notice that we have exactly </a:t>
            </a:r>
            <a:r>
              <a:rPr lang="en-US" b="1" dirty="0">
                <a:solidFill>
                  <a:srgbClr val="E46C0A"/>
                </a:solidFill>
              </a:rPr>
              <a:t>one linked list cell per node</a:t>
            </a:r>
          </a:p>
          <a:p>
            <a:pPr lvl="1"/>
            <a:r>
              <a:rPr lang="en-US" dirty="0"/>
              <a:t>(except the root)</a:t>
            </a:r>
          </a:p>
          <a:p>
            <a:endParaRPr lang="en-US" dirty="0"/>
          </a:p>
          <a:p>
            <a:r>
              <a:rPr lang="en-US" dirty="0"/>
              <a:t>So we can just </a:t>
            </a:r>
            <a:r>
              <a:rPr lang="en-US" b="1" dirty="0">
                <a:solidFill>
                  <a:srgbClr val="E46C0A"/>
                </a:solidFill>
              </a:rPr>
              <a:t>move the next pointer </a:t>
            </a:r>
            <a:r>
              <a:rPr lang="en-US" dirty="0"/>
              <a:t>into the node itself</a:t>
            </a:r>
          </a:p>
          <a:p>
            <a:endParaRPr lang="en-US" dirty="0"/>
          </a:p>
          <a:p>
            <a:r>
              <a:rPr lang="en-US" dirty="0"/>
              <a:t>And </a:t>
            </a:r>
            <a:r>
              <a:rPr lang="en-US" b="1" dirty="0">
                <a:solidFill>
                  <a:srgbClr val="E46C0A"/>
                </a:solidFill>
              </a:rPr>
              <a:t>remove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the linked list </a:t>
            </a:r>
            <a:r>
              <a:rPr lang="en-US" b="1" dirty="0">
                <a:solidFill>
                  <a:srgbClr val="E46C0A"/>
                </a:solidFill>
              </a:rPr>
              <a:t>cells</a:t>
            </a:r>
          </a:p>
        </p:txBody>
      </p:sp>
    </p:spTree>
    <p:extLst>
      <p:ext uri="{BB962C8B-B14F-4D97-AF65-F5344CB8AC3E}">
        <p14:creationId xmlns:p14="http://schemas.microsoft.com/office/powerpoint/2010/main" val="3521287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the link into the node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/>
              <a:t>TreeNode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TreeNode parent;</a:t>
            </a:r>
          </a:p>
          <a:p>
            <a:pPr marL="0" indent="0">
              <a:buNone/>
            </a:pPr>
            <a:r>
              <a:rPr lang="en-US" dirty="0"/>
              <a:t>    TreeNode firstChild;</a:t>
            </a:r>
            <a:br>
              <a:rPr lang="en-US" dirty="0"/>
            </a:br>
            <a:r>
              <a:rPr lang="en-US" dirty="0"/>
              <a:t>    TreeNode nextSibling;</a:t>
            </a:r>
          </a:p>
          <a:p>
            <a:pPr marL="0" indent="0">
              <a:buNone/>
            </a:pPr>
            <a:r>
              <a:rPr lang="en-US" dirty="0"/>
              <a:t>    … other data …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CLR book calls this the </a:t>
            </a:r>
            <a:r>
              <a:rPr lang="en-US" b="1" dirty="0">
                <a:solidFill>
                  <a:srgbClr val="E46C0A"/>
                </a:solidFill>
              </a:rPr>
              <a:t>left child/right sibling </a:t>
            </a:r>
            <a:r>
              <a:rPr lang="en-US" dirty="0"/>
              <a:t>representation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8" name="Oval 37"/>
          <p:cNvSpPr/>
          <p:nvPr/>
        </p:nvSpPr>
        <p:spPr>
          <a:xfrm>
            <a:off x="2448791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3138055" y="5105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2157846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1066801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3134591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1610591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Elbow Connector 43"/>
          <p:cNvCxnSpPr>
            <a:stCxn id="38" idx="2"/>
            <a:endCxn id="43" idx="0"/>
          </p:cNvCxnSpPr>
          <p:nvPr/>
        </p:nvCxnSpPr>
        <p:spPr>
          <a:xfrm rot="10800000" flipV="1">
            <a:off x="1801091" y="2057400"/>
            <a:ext cx="647700" cy="1489364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3" idx="7"/>
            <a:endCxn id="38" idx="3"/>
          </p:cNvCxnSpPr>
          <p:nvPr/>
        </p:nvCxnSpPr>
        <p:spPr>
          <a:xfrm flipV="1">
            <a:off x="1935795" y="2192104"/>
            <a:ext cx="568792" cy="141045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2" idx="0"/>
            <a:endCxn id="38" idx="5"/>
          </p:cNvCxnSpPr>
          <p:nvPr/>
        </p:nvCxnSpPr>
        <p:spPr>
          <a:xfrm flipH="1" flipV="1">
            <a:off x="2773995" y="2192104"/>
            <a:ext cx="551096" cy="13615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1" idx="0"/>
            <a:endCxn id="43" idx="3"/>
          </p:cNvCxnSpPr>
          <p:nvPr/>
        </p:nvCxnSpPr>
        <p:spPr>
          <a:xfrm flipV="1">
            <a:off x="1257301" y="3871968"/>
            <a:ext cx="409086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0" idx="0"/>
            <a:endCxn id="43" idx="5"/>
          </p:cNvCxnSpPr>
          <p:nvPr/>
        </p:nvCxnSpPr>
        <p:spPr>
          <a:xfrm flipH="1" flipV="1">
            <a:off x="1935795" y="3871968"/>
            <a:ext cx="412551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9" idx="0"/>
            <a:endCxn id="42" idx="4"/>
          </p:cNvCxnSpPr>
          <p:nvPr/>
        </p:nvCxnSpPr>
        <p:spPr>
          <a:xfrm flipH="1" flipV="1">
            <a:off x="3325091" y="3934691"/>
            <a:ext cx="3464" cy="11707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43" idx="2"/>
            <a:endCxn id="41" idx="2"/>
          </p:cNvCxnSpPr>
          <p:nvPr/>
        </p:nvCxnSpPr>
        <p:spPr>
          <a:xfrm rot="10800000" flipV="1">
            <a:off x="1066801" y="3737264"/>
            <a:ext cx="543790" cy="1939636"/>
          </a:xfrm>
          <a:prstGeom prst="bentConnector3">
            <a:avLst>
              <a:gd name="adj1" fmla="val 142038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42" idx="3"/>
            <a:endCxn id="39" idx="2"/>
          </p:cNvCxnSpPr>
          <p:nvPr/>
        </p:nvCxnSpPr>
        <p:spPr>
          <a:xfrm rot="5400000">
            <a:off x="2455719" y="4561231"/>
            <a:ext cx="1417005" cy="52332"/>
          </a:xfrm>
          <a:prstGeom prst="bentConnector4">
            <a:avLst>
              <a:gd name="adj1" fmla="val 41309"/>
              <a:gd name="adj2" fmla="val 536826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68"/>
          <p:cNvCxnSpPr>
            <a:stCxn id="43" idx="6"/>
            <a:endCxn id="42" idx="2"/>
          </p:cNvCxnSpPr>
          <p:nvPr/>
        </p:nvCxnSpPr>
        <p:spPr>
          <a:xfrm>
            <a:off x="1991591" y="3737264"/>
            <a:ext cx="1143000" cy="692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68"/>
          <p:cNvCxnSpPr>
            <a:stCxn id="41" idx="6"/>
            <a:endCxn id="40" idx="2"/>
          </p:cNvCxnSpPr>
          <p:nvPr/>
        </p:nvCxnSpPr>
        <p:spPr>
          <a:xfrm>
            <a:off x="1447801" y="5676900"/>
            <a:ext cx="71004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68"/>
          <p:cNvCxnSpPr/>
          <p:nvPr/>
        </p:nvCxnSpPr>
        <p:spPr>
          <a:xfrm>
            <a:off x="3515591" y="3733800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68"/>
          <p:cNvCxnSpPr/>
          <p:nvPr/>
        </p:nvCxnSpPr>
        <p:spPr>
          <a:xfrm>
            <a:off x="2535381" y="5674757"/>
            <a:ext cx="29441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68"/>
          <p:cNvCxnSpPr/>
          <p:nvPr/>
        </p:nvCxnSpPr>
        <p:spPr>
          <a:xfrm>
            <a:off x="3515591" y="5293757"/>
            <a:ext cx="29441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40687" y="1688068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71769" y="3352800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sibling</a:t>
            </a:r>
          </a:p>
        </p:txBody>
      </p:sp>
      <p:sp>
        <p:nvSpPr>
          <p:cNvPr id="59" name="TextBox 58"/>
          <p:cNvSpPr txBox="1"/>
          <p:nvPr/>
        </p:nvSpPr>
        <p:spPr>
          <a:xfrm rot="17548671">
            <a:off x="1684609" y="2506491"/>
            <a:ext cx="80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</a:t>
            </a:r>
          </a:p>
        </p:txBody>
      </p:sp>
    </p:spTree>
    <p:extLst>
      <p:ext uri="{BB962C8B-B14F-4D97-AF65-F5344CB8AC3E}">
        <p14:creationId xmlns:p14="http://schemas.microsoft.com/office/powerpoint/2010/main" val="4198165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We generally don’t talk about </a:t>
            </a:r>
            <a:r>
              <a:rPr lang="en-US" b="1" dirty="0">
                <a:solidFill>
                  <a:srgbClr val="E46C0A"/>
                </a:solidFill>
              </a:rPr>
              <a:t>iterating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through the nodes in a tree</a:t>
            </a:r>
          </a:p>
          <a:p>
            <a:endParaRPr lang="en-US" dirty="0"/>
          </a:p>
          <a:p>
            <a:r>
              <a:rPr lang="en-US" dirty="0"/>
              <a:t>We talk about </a:t>
            </a:r>
            <a:r>
              <a:rPr lang="en-US" b="1" dirty="0">
                <a:solidFill>
                  <a:srgbClr val="E46C0A"/>
                </a:solidFill>
              </a:rPr>
              <a:t>walking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through them or </a:t>
            </a:r>
            <a:r>
              <a:rPr lang="en-US" b="1" dirty="0">
                <a:solidFill>
                  <a:srgbClr val="E46C0A"/>
                </a:solidFill>
              </a:rPr>
              <a:t>traversing</a:t>
            </a:r>
            <a:r>
              <a:rPr lang="en-US" b="1" dirty="0"/>
              <a:t> </a:t>
            </a:r>
            <a:r>
              <a:rPr lang="en-US" dirty="0"/>
              <a:t>them</a:t>
            </a:r>
          </a:p>
          <a:p>
            <a:pPr lvl="1"/>
            <a:r>
              <a:rPr lang="en-US" dirty="0"/>
              <a:t>That’s partly because tree walks are often written as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recursions</a:t>
            </a:r>
            <a:endParaRPr lang="en-US" dirty="0"/>
          </a:p>
          <a:p>
            <a:pPr lvl="1"/>
            <a:r>
              <a:rPr lang="en-US" dirty="0"/>
              <a:t>It’s also because there are many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different orders</a:t>
            </a:r>
            <a:r>
              <a:rPr lang="en-US" dirty="0"/>
              <a:t> you might want to walk them in</a:t>
            </a:r>
          </a:p>
        </p:txBody>
      </p:sp>
      <p:sp>
        <p:nvSpPr>
          <p:cNvPr id="6" name="Oval 5"/>
          <p:cNvSpPr/>
          <p:nvPr/>
        </p:nvSpPr>
        <p:spPr>
          <a:xfrm>
            <a:off x="6114734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57800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7181534" y="4570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181534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031023" y="5715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343334" y="5681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7571779" y="4960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6733579" y="4960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5648045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6504979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14734" y="983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6343334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8" idx="0"/>
          </p:cNvCxnSpPr>
          <p:nvPr/>
        </p:nvCxnSpPr>
        <p:spPr>
          <a:xfrm>
            <a:off x="7410134" y="3745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875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walk trees in different orders</a:t>
            </a:r>
          </a:p>
        </p:txBody>
      </p:sp>
      <p:sp>
        <p:nvSpPr>
          <p:cNvPr id="6" name="Oval 5"/>
          <p:cNvSpPr/>
          <p:nvPr/>
        </p:nvSpPr>
        <p:spPr>
          <a:xfrm>
            <a:off x="6114734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57800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7181534" y="4570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181534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031023" y="5715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343334" y="5681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7571779" y="4960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6733579" y="4960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5648045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6504979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14734" y="983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6343334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8" idx="0"/>
          </p:cNvCxnSpPr>
          <p:nvPr/>
        </p:nvCxnSpPr>
        <p:spPr>
          <a:xfrm>
            <a:off x="7410134" y="3745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049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walk trees in different orders</a:t>
            </a:r>
          </a:p>
          <a:p>
            <a:endParaRPr lang="en-US" dirty="0"/>
          </a:p>
          <a:p>
            <a:r>
              <a:rPr lang="en-US" b="1" dirty="0">
                <a:solidFill>
                  <a:srgbClr val="E46C0A"/>
                </a:solidFill>
              </a:rPr>
              <a:t>Breadth-first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walks</a:t>
            </a:r>
          </a:p>
        </p:txBody>
      </p:sp>
      <p:sp>
        <p:nvSpPr>
          <p:cNvPr id="6" name="Oval 5"/>
          <p:cNvSpPr/>
          <p:nvPr/>
        </p:nvSpPr>
        <p:spPr>
          <a:xfrm>
            <a:off x="6114734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57800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7181534" y="4570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181534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031023" y="5715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343334" y="5681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7571779" y="4960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6733579" y="4960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5648045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6504979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14734" y="983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6343334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8" idx="0"/>
          </p:cNvCxnSpPr>
          <p:nvPr/>
        </p:nvCxnSpPr>
        <p:spPr>
          <a:xfrm>
            <a:off x="7410134" y="3745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140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walk trees in different orders</a:t>
            </a:r>
          </a:p>
          <a:p>
            <a:endParaRPr lang="en-US" dirty="0"/>
          </a:p>
          <a:p>
            <a:r>
              <a:rPr lang="en-US" b="1" dirty="0">
                <a:solidFill>
                  <a:srgbClr val="E46C0A"/>
                </a:solidFill>
              </a:rPr>
              <a:t>Breadth-first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walks</a:t>
            </a:r>
          </a:p>
          <a:p>
            <a:pPr lvl="1"/>
            <a:r>
              <a:rPr lang="en-US" dirty="0"/>
              <a:t>Start with the root</a:t>
            </a:r>
          </a:p>
        </p:txBody>
      </p:sp>
      <p:sp>
        <p:nvSpPr>
          <p:cNvPr id="6" name="Oval 5"/>
          <p:cNvSpPr/>
          <p:nvPr/>
        </p:nvSpPr>
        <p:spPr>
          <a:xfrm>
            <a:off x="6114734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57800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7181534" y="4570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181534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031023" y="5715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343334" y="5681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7571779" y="4960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6733579" y="4960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5648045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6504979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14734" y="983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6343334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8" idx="0"/>
          </p:cNvCxnSpPr>
          <p:nvPr/>
        </p:nvCxnSpPr>
        <p:spPr>
          <a:xfrm>
            <a:off x="7410134" y="3745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665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walk trees in different orders</a:t>
            </a:r>
          </a:p>
          <a:p>
            <a:endParaRPr lang="en-US" dirty="0"/>
          </a:p>
          <a:p>
            <a:r>
              <a:rPr lang="en-US" b="1" dirty="0">
                <a:solidFill>
                  <a:srgbClr val="E46C0A"/>
                </a:solidFill>
              </a:rPr>
              <a:t>Breadth-first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walks</a:t>
            </a:r>
          </a:p>
          <a:p>
            <a:pPr lvl="1"/>
            <a:r>
              <a:rPr lang="en-US" dirty="0"/>
              <a:t>Start with the root</a:t>
            </a:r>
          </a:p>
          <a:p>
            <a:pPr lvl="1"/>
            <a:r>
              <a:rPr lang="en-US" dirty="0"/>
              <a:t>Then do all the nodes at depth 1 (just one in this case)</a:t>
            </a:r>
          </a:p>
        </p:txBody>
      </p:sp>
      <p:sp>
        <p:nvSpPr>
          <p:cNvPr id="6" name="Oval 5"/>
          <p:cNvSpPr/>
          <p:nvPr/>
        </p:nvSpPr>
        <p:spPr>
          <a:xfrm>
            <a:off x="6114734" y="2199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57800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7181534" y="4570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181534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031023" y="5715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343334" y="5681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7571779" y="4960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6733579" y="4960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5648045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6504979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14734" y="983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6343334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8" idx="0"/>
          </p:cNvCxnSpPr>
          <p:nvPr/>
        </p:nvCxnSpPr>
        <p:spPr>
          <a:xfrm>
            <a:off x="7410134" y="3745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51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walk trees in different orders</a:t>
            </a:r>
          </a:p>
          <a:p>
            <a:endParaRPr lang="en-US" dirty="0"/>
          </a:p>
          <a:p>
            <a:r>
              <a:rPr lang="en-US" b="1" dirty="0">
                <a:solidFill>
                  <a:srgbClr val="E46C0A"/>
                </a:solidFill>
              </a:rPr>
              <a:t>Breadth-first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walks</a:t>
            </a:r>
          </a:p>
          <a:p>
            <a:pPr lvl="1"/>
            <a:r>
              <a:rPr lang="en-US" dirty="0"/>
              <a:t>Start with the root</a:t>
            </a:r>
          </a:p>
          <a:p>
            <a:pPr lvl="1"/>
            <a:r>
              <a:rPr lang="en-US" dirty="0"/>
              <a:t>Then do all the nodes at depth 1</a:t>
            </a:r>
          </a:p>
          <a:p>
            <a:pPr lvl="1"/>
            <a:r>
              <a:rPr lang="en-US" dirty="0"/>
              <a:t>Then depth 2</a:t>
            </a:r>
          </a:p>
        </p:txBody>
      </p:sp>
      <p:sp>
        <p:nvSpPr>
          <p:cNvPr id="6" name="Oval 5"/>
          <p:cNvSpPr/>
          <p:nvPr/>
        </p:nvSpPr>
        <p:spPr>
          <a:xfrm>
            <a:off x="6114734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57800" y="32181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7181534" y="4570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181534" y="3288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031023" y="5715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343334" y="5681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7571779" y="4960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6733579" y="4960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5648045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6504979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14734" y="983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6343334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8" idx="0"/>
          </p:cNvCxnSpPr>
          <p:nvPr/>
        </p:nvCxnSpPr>
        <p:spPr>
          <a:xfrm>
            <a:off x="7410134" y="3745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305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walk trees in different orders</a:t>
            </a:r>
          </a:p>
          <a:p>
            <a:endParaRPr lang="en-US" dirty="0"/>
          </a:p>
          <a:p>
            <a:r>
              <a:rPr lang="en-US" b="1" dirty="0">
                <a:solidFill>
                  <a:srgbClr val="E46C0A"/>
                </a:solidFill>
              </a:rPr>
              <a:t>Breadth-first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walks</a:t>
            </a:r>
          </a:p>
          <a:p>
            <a:pPr lvl="1"/>
            <a:r>
              <a:rPr lang="en-US" dirty="0"/>
              <a:t>Start with the root</a:t>
            </a:r>
          </a:p>
          <a:p>
            <a:pPr lvl="1"/>
            <a:r>
              <a:rPr lang="en-US" dirty="0"/>
              <a:t>Then do all the nodes at depth 1</a:t>
            </a:r>
          </a:p>
          <a:p>
            <a:pPr lvl="1"/>
            <a:r>
              <a:rPr lang="en-US" dirty="0"/>
              <a:t>Then depth 2</a:t>
            </a:r>
          </a:p>
          <a:p>
            <a:pPr lvl="1"/>
            <a:r>
              <a:rPr lang="en-US" dirty="0"/>
              <a:t>Then depth 3</a:t>
            </a:r>
          </a:p>
        </p:txBody>
      </p:sp>
      <p:sp>
        <p:nvSpPr>
          <p:cNvPr id="6" name="Oval 5"/>
          <p:cNvSpPr/>
          <p:nvPr/>
        </p:nvSpPr>
        <p:spPr>
          <a:xfrm>
            <a:off x="6114734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57800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7181534" y="457073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181534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031023" y="5715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343334" y="5681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7571779" y="4960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6733579" y="4960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5648045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6504979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14734" y="983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6343334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8" idx="0"/>
          </p:cNvCxnSpPr>
          <p:nvPr/>
        </p:nvCxnSpPr>
        <p:spPr>
          <a:xfrm>
            <a:off x="7410134" y="3745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025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00600"/>
          </a:xfrm>
        </p:spPr>
        <p:txBody>
          <a:bodyPr>
            <a:normAutofit/>
          </a:bodyPr>
          <a:lstStyle/>
          <a:p>
            <a:r>
              <a:rPr lang="en-US" dirty="0"/>
              <a:t>You can walk trees in different orders</a:t>
            </a:r>
          </a:p>
          <a:p>
            <a:endParaRPr lang="en-US" dirty="0"/>
          </a:p>
          <a:p>
            <a:r>
              <a:rPr lang="en-US" b="1" dirty="0">
                <a:solidFill>
                  <a:srgbClr val="E46C0A"/>
                </a:solidFill>
              </a:rPr>
              <a:t>Breadth-first</a:t>
            </a:r>
            <a:r>
              <a:rPr lang="en-US" dirty="0"/>
              <a:t> walks</a:t>
            </a:r>
          </a:p>
          <a:p>
            <a:pPr lvl="1"/>
            <a:r>
              <a:rPr lang="en-US" dirty="0"/>
              <a:t>Start with the root</a:t>
            </a:r>
          </a:p>
          <a:p>
            <a:pPr lvl="1"/>
            <a:r>
              <a:rPr lang="en-US" dirty="0"/>
              <a:t>Then do all the nodes at depth 1</a:t>
            </a:r>
          </a:p>
          <a:p>
            <a:pPr lvl="1"/>
            <a:r>
              <a:rPr lang="en-US" dirty="0"/>
              <a:t>Then depth 2</a:t>
            </a:r>
          </a:p>
          <a:p>
            <a:pPr lvl="1"/>
            <a:r>
              <a:rPr lang="en-US" dirty="0"/>
              <a:t>Then depth 3</a:t>
            </a:r>
          </a:p>
          <a:p>
            <a:pPr lvl="1"/>
            <a:r>
              <a:rPr lang="en-US" dirty="0"/>
              <a:t>And so on …</a:t>
            </a:r>
          </a:p>
        </p:txBody>
      </p:sp>
      <p:sp>
        <p:nvSpPr>
          <p:cNvPr id="6" name="Oval 5"/>
          <p:cNvSpPr/>
          <p:nvPr/>
        </p:nvSpPr>
        <p:spPr>
          <a:xfrm>
            <a:off x="6114734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57800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7181534" y="4570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181534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031023" y="57150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419534" y="56819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7571779" y="4960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6809779" y="4960980"/>
            <a:ext cx="4387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5648045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6504979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14734" y="983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6343334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8" idx="0"/>
          </p:cNvCxnSpPr>
          <p:nvPr/>
        </p:nvCxnSpPr>
        <p:spPr>
          <a:xfrm>
            <a:off x="7410134" y="3745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92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848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Goes through all the decedents of a node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861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Goes through all the decedents of a node</a:t>
            </a:r>
          </a:p>
          <a:p>
            <a:pPr lvl="1"/>
            <a:r>
              <a:rPr lang="en-US" dirty="0"/>
              <a:t>Before moving to the node’s sibling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895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598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Starts with the root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951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Starts with the root</a:t>
            </a:r>
          </a:p>
          <a:p>
            <a:pPr lvl="1"/>
            <a:r>
              <a:rPr lang="en-US" dirty="0"/>
              <a:t>Moves to its first child</a:t>
            </a:r>
            <a:br>
              <a:rPr lang="en-US" dirty="0"/>
            </a:br>
            <a:r>
              <a:rPr lang="en-US" dirty="0"/>
              <a:t>(in this case, the only child)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968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Starts with the root</a:t>
            </a:r>
          </a:p>
          <a:p>
            <a:pPr lvl="1"/>
            <a:r>
              <a:rPr lang="en-US" dirty="0"/>
              <a:t>Moves to its first child</a:t>
            </a:r>
          </a:p>
          <a:p>
            <a:pPr lvl="1"/>
            <a:r>
              <a:rPr lang="en-US" dirty="0"/>
              <a:t>Then its first child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182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Starts with the root</a:t>
            </a:r>
          </a:p>
          <a:p>
            <a:pPr lvl="1"/>
            <a:r>
              <a:rPr lang="en-US" dirty="0"/>
              <a:t>Moves to its first child</a:t>
            </a:r>
          </a:p>
          <a:p>
            <a:pPr lvl="1"/>
            <a:r>
              <a:rPr lang="en-US" dirty="0"/>
              <a:t>Then its first child</a:t>
            </a:r>
          </a:p>
          <a:p>
            <a:pPr lvl="1"/>
            <a:r>
              <a:rPr lang="en-US" dirty="0"/>
              <a:t>And so on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7136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Starts with the root</a:t>
            </a:r>
          </a:p>
          <a:p>
            <a:pPr lvl="1"/>
            <a:r>
              <a:rPr lang="en-US" dirty="0"/>
              <a:t>Moves to its first child</a:t>
            </a:r>
          </a:p>
          <a:p>
            <a:pPr lvl="1"/>
            <a:r>
              <a:rPr lang="en-US" dirty="0"/>
              <a:t>Then its first child</a:t>
            </a:r>
          </a:p>
          <a:p>
            <a:pPr lvl="1"/>
            <a:r>
              <a:rPr lang="en-US" dirty="0"/>
              <a:t>And so on</a:t>
            </a:r>
          </a:p>
          <a:p>
            <a:pPr lvl="1"/>
            <a:r>
              <a:rPr lang="en-US" dirty="0"/>
              <a:t>Until we hit a leaf</a:t>
            </a:r>
            <a:br>
              <a:rPr lang="en-US" dirty="0"/>
            </a:br>
            <a:r>
              <a:rPr lang="en-US" dirty="0"/>
              <a:t>(a node with no children)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32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Starts with the root</a:t>
            </a:r>
          </a:p>
          <a:p>
            <a:pPr lvl="1"/>
            <a:r>
              <a:rPr lang="en-US" dirty="0"/>
              <a:t>Moves to its first child</a:t>
            </a:r>
          </a:p>
          <a:p>
            <a:pPr lvl="1"/>
            <a:r>
              <a:rPr lang="en-US" dirty="0"/>
              <a:t>Then its first child</a:t>
            </a:r>
          </a:p>
          <a:p>
            <a:pPr lvl="1"/>
            <a:r>
              <a:rPr lang="en-US" dirty="0"/>
              <a:t>And so on</a:t>
            </a:r>
          </a:p>
          <a:p>
            <a:pPr lvl="1"/>
            <a:r>
              <a:rPr lang="en-US" dirty="0"/>
              <a:t>Until we hit a leaf</a:t>
            </a:r>
          </a:p>
          <a:p>
            <a:pPr lvl="1"/>
            <a:r>
              <a:rPr lang="en-US" dirty="0"/>
              <a:t>Then moves to the leaf’s sibling</a:t>
            </a:r>
          </a:p>
          <a:p>
            <a:pPr lvl="1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5976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Starts with the root</a:t>
            </a:r>
          </a:p>
          <a:p>
            <a:pPr lvl="1"/>
            <a:r>
              <a:rPr lang="en-US" dirty="0"/>
              <a:t>Moves to its first child</a:t>
            </a:r>
          </a:p>
          <a:p>
            <a:pPr lvl="1"/>
            <a:r>
              <a:rPr lang="en-US" dirty="0"/>
              <a:t>Then its first child</a:t>
            </a:r>
          </a:p>
          <a:p>
            <a:pPr lvl="1"/>
            <a:r>
              <a:rPr lang="en-US" dirty="0"/>
              <a:t>And so on</a:t>
            </a:r>
          </a:p>
          <a:p>
            <a:pPr lvl="1"/>
            <a:r>
              <a:rPr lang="en-US" dirty="0"/>
              <a:t>Until we hit a leaf</a:t>
            </a:r>
          </a:p>
          <a:p>
            <a:pPr lvl="1"/>
            <a:r>
              <a:rPr lang="en-US" dirty="0"/>
              <a:t>Then moves to the leaf’s sibling</a:t>
            </a:r>
          </a:p>
          <a:p>
            <a:pPr lvl="1"/>
            <a:r>
              <a:rPr lang="en-US" dirty="0"/>
              <a:t>Until we run out of siblings</a:t>
            </a:r>
          </a:p>
          <a:p>
            <a:pPr lvl="1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9234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Then we try the parent’s next sibling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654410" y="4723135"/>
            <a:ext cx="59383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111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Then we try the parent’s next sibling</a:t>
            </a:r>
          </a:p>
          <a:p>
            <a:pPr lvl="1"/>
            <a:r>
              <a:rPr lang="en-US" dirty="0"/>
              <a:t>But, tragically, it’s an only child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6654410" y="4723135"/>
            <a:ext cx="59383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09045" y="4369192"/>
            <a:ext cx="4219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427627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Then we try the parent’s next sibling</a:t>
            </a:r>
          </a:p>
          <a:p>
            <a:pPr lvl="1"/>
            <a:r>
              <a:rPr lang="en-US" dirty="0"/>
              <a:t>But, tragically, it’s an only child</a:t>
            </a:r>
          </a:p>
          <a:p>
            <a:pPr lvl="1"/>
            <a:r>
              <a:rPr lang="en-US" dirty="0"/>
              <a:t>So we move to its parent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6654410" y="3429000"/>
            <a:ext cx="59383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6618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Then we try the parent’s next sibling</a:t>
            </a:r>
          </a:p>
          <a:p>
            <a:pPr lvl="1"/>
            <a:r>
              <a:rPr lang="en-US" dirty="0"/>
              <a:t>But, tragically, it’s an only child</a:t>
            </a:r>
          </a:p>
          <a:p>
            <a:pPr lvl="1"/>
            <a:r>
              <a:rPr lang="en-US" dirty="0"/>
              <a:t>So we move to its parent</a:t>
            </a:r>
          </a:p>
          <a:p>
            <a:pPr lvl="1"/>
            <a:r>
              <a:rPr lang="en-US" dirty="0"/>
              <a:t>And select its next sibling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7512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530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E46C0A"/>
                </a:solidFill>
              </a:rPr>
              <a:t>depth-first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walk</a:t>
            </a:r>
          </a:p>
          <a:p>
            <a:pPr lvl="1"/>
            <a:r>
              <a:rPr lang="en-US" dirty="0"/>
              <a:t>Then we try the parent’s next sibling</a:t>
            </a:r>
          </a:p>
          <a:p>
            <a:pPr lvl="1"/>
            <a:r>
              <a:rPr lang="en-US" dirty="0"/>
              <a:t>But, tragically, it’s an only child</a:t>
            </a:r>
          </a:p>
          <a:p>
            <a:pPr lvl="1"/>
            <a:r>
              <a:rPr lang="en-US" dirty="0"/>
              <a:t>So we move to its parent</a:t>
            </a:r>
          </a:p>
          <a:p>
            <a:pPr lvl="1"/>
            <a:r>
              <a:rPr lang="en-US" dirty="0"/>
              <a:t>And select its next sibling</a:t>
            </a:r>
          </a:p>
          <a:p>
            <a:pPr lvl="1"/>
            <a:r>
              <a:rPr lang="en-US" dirty="0"/>
              <a:t>After which, we’ve walked the whole tree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2199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001066" y="3218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01066" y="44945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924800" y="3288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850555" y="56388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162866" y="56057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6391311" y="48847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5553111" y="48847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6391311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7248245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58000" y="983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7086600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229666" y="36696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0943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Depth-first walks go </a:t>
            </a:r>
            <a:r>
              <a:rPr lang="en-US" b="1" dirty="0">
                <a:solidFill>
                  <a:srgbClr val="E46C0A"/>
                </a:solidFill>
              </a:rPr>
              <a:t>subtree to subtree</a:t>
            </a:r>
          </a:p>
          <a:p>
            <a:endParaRPr lang="en-US" b="1" dirty="0"/>
          </a:p>
          <a:p>
            <a:r>
              <a:rPr lang="en-US" dirty="0"/>
              <a:t>Breadth-first walks go </a:t>
            </a:r>
            <a:r>
              <a:rPr lang="en-US" b="1" dirty="0">
                <a:solidFill>
                  <a:srgbClr val="E46C0A"/>
                </a:solidFill>
              </a:rPr>
              <a:t>level to level</a:t>
            </a:r>
          </a:p>
        </p:txBody>
      </p:sp>
      <p:sp>
        <p:nvSpPr>
          <p:cNvPr id="6" name="Oval 5"/>
          <p:cNvSpPr/>
          <p:nvPr/>
        </p:nvSpPr>
        <p:spPr>
          <a:xfrm>
            <a:off x="6114734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57800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7181534" y="4570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181534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031023" y="5715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343334" y="5681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7571779" y="4960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6733579" y="4960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5648045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6504979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14734" y="983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6343334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8" idx="0"/>
          </p:cNvCxnSpPr>
          <p:nvPr/>
        </p:nvCxnSpPr>
        <p:spPr>
          <a:xfrm>
            <a:off x="7410134" y="3745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1390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39" y="270301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  <a:r>
              <a:rPr lang="en-US" baseline="0" dirty="0"/>
              <a:t> walks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</a:t>
            </a:r>
            <a:r>
              <a:rPr lang="en-US" b="1" dirty="0">
                <a:solidFill>
                  <a:srgbClr val="E46C0A"/>
                </a:solidFill>
              </a:rPr>
              <a:t>depth-first </a:t>
            </a:r>
            <a:r>
              <a:rPr lang="en-US" dirty="0"/>
              <a:t>comes to a node</a:t>
            </a:r>
          </a:p>
          <a:p>
            <a:pPr lvl="1"/>
            <a:r>
              <a:rPr lang="en-US" dirty="0"/>
              <a:t>It walks it’s children </a:t>
            </a:r>
            <a:r>
              <a:rPr lang="en-US" b="1" dirty="0">
                <a:solidFill>
                  <a:srgbClr val="E46C0A"/>
                </a:solidFill>
              </a:rPr>
              <a:t>immediately</a:t>
            </a:r>
          </a:p>
          <a:p>
            <a:pPr lvl="1"/>
            <a:endParaRPr lang="en-US" dirty="0"/>
          </a:p>
          <a:p>
            <a:r>
              <a:rPr lang="en-US" dirty="0"/>
              <a:t>When </a:t>
            </a:r>
            <a:r>
              <a:rPr lang="en-US" b="1" dirty="0">
                <a:solidFill>
                  <a:srgbClr val="E46C0A"/>
                </a:solidFill>
              </a:rPr>
              <a:t>breadth-first </a:t>
            </a:r>
            <a:r>
              <a:rPr lang="en-US" dirty="0"/>
              <a:t>comes to a node</a:t>
            </a:r>
          </a:p>
          <a:p>
            <a:pPr lvl="1"/>
            <a:r>
              <a:rPr lang="en-US" dirty="0"/>
              <a:t>It </a:t>
            </a:r>
            <a:r>
              <a:rPr lang="en-US" b="1" dirty="0">
                <a:solidFill>
                  <a:srgbClr val="E46C0A"/>
                </a:solidFill>
              </a:rPr>
              <a:t>remembers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its children to be walked in the future</a:t>
            </a:r>
          </a:p>
        </p:txBody>
      </p:sp>
      <p:sp>
        <p:nvSpPr>
          <p:cNvPr id="6" name="Oval 5"/>
          <p:cNvSpPr/>
          <p:nvPr/>
        </p:nvSpPr>
        <p:spPr>
          <a:xfrm>
            <a:off x="6114734" y="2199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257800" y="3218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7181534" y="4570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7181534" y="3288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031023" y="5715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343334" y="5681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8" idx="5"/>
            <a:endCxn id="10" idx="1"/>
          </p:cNvCxnSpPr>
          <p:nvPr/>
        </p:nvCxnSpPr>
        <p:spPr>
          <a:xfrm>
            <a:off x="7571779" y="4960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7"/>
            <a:endCxn id="8" idx="3"/>
          </p:cNvCxnSpPr>
          <p:nvPr/>
        </p:nvCxnSpPr>
        <p:spPr>
          <a:xfrm flipV="1">
            <a:off x="6733579" y="4960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  <a:endCxn id="6" idx="3"/>
          </p:cNvCxnSpPr>
          <p:nvPr/>
        </p:nvCxnSpPr>
        <p:spPr>
          <a:xfrm flipV="1">
            <a:off x="5648045" y="2589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1"/>
          </p:cNvCxnSpPr>
          <p:nvPr/>
        </p:nvCxnSpPr>
        <p:spPr>
          <a:xfrm>
            <a:off x="6504979" y="2589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114734" y="983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4"/>
            <a:endCxn id="6" idx="0"/>
          </p:cNvCxnSpPr>
          <p:nvPr/>
        </p:nvCxnSpPr>
        <p:spPr>
          <a:xfrm>
            <a:off x="6343334" y="1440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8" idx="0"/>
          </p:cNvCxnSpPr>
          <p:nvPr/>
        </p:nvCxnSpPr>
        <p:spPr>
          <a:xfrm>
            <a:off x="7410134" y="3745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1540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Needs to </a:t>
            </a:r>
            <a:r>
              <a:rPr lang="en-US" b="1" dirty="0">
                <a:solidFill>
                  <a:srgbClr val="E46C0A"/>
                </a:solidFill>
              </a:rPr>
              <a:t>remember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E46C0A"/>
                </a:solidFill>
              </a:rPr>
              <a:t>children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of nodes it’s walked</a:t>
            </a:r>
          </a:p>
          <a:p>
            <a:pPr lvl="1"/>
            <a:r>
              <a:rPr lang="en-US" dirty="0"/>
              <a:t>But that haven’t yet been walked themselves</a:t>
            </a:r>
          </a:p>
          <a:p>
            <a:endParaRPr lang="en-US" dirty="0"/>
          </a:p>
          <a:p>
            <a:r>
              <a:rPr lang="en-US" dirty="0"/>
              <a:t>So it needs to store a </a:t>
            </a:r>
            <a:r>
              <a:rPr lang="en-US" b="1" dirty="0">
                <a:solidFill>
                  <a:srgbClr val="E46C0A"/>
                </a:solidFill>
              </a:rPr>
              <a:t>collection of nodes</a:t>
            </a:r>
          </a:p>
          <a:p>
            <a:endParaRPr lang="en-US" dirty="0"/>
          </a:p>
          <a:p>
            <a:r>
              <a:rPr lang="en-US" dirty="0"/>
              <a:t>What kind of collection?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9065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Needs to </a:t>
            </a:r>
            <a:r>
              <a:rPr lang="en-US" b="1" dirty="0">
                <a:solidFill>
                  <a:srgbClr val="E46C0A"/>
                </a:solidFill>
              </a:rPr>
              <a:t>finish current level </a:t>
            </a:r>
            <a:r>
              <a:rPr lang="en-US" dirty="0"/>
              <a:t>of tree</a:t>
            </a:r>
          </a:p>
          <a:p>
            <a:pPr lvl="1"/>
            <a:r>
              <a:rPr lang="en-US" dirty="0"/>
              <a:t>Before moving to nodes in the next level</a:t>
            </a:r>
          </a:p>
          <a:p>
            <a:endParaRPr lang="en-US" dirty="0"/>
          </a:p>
          <a:p>
            <a:r>
              <a:rPr lang="en-US" dirty="0"/>
              <a:t>So the nodes that get </a:t>
            </a:r>
            <a:r>
              <a:rPr lang="en-US" b="1" dirty="0">
                <a:solidFill>
                  <a:srgbClr val="E46C0A"/>
                </a:solidFill>
              </a:rPr>
              <a:t>walked first</a:t>
            </a:r>
          </a:p>
          <a:p>
            <a:pPr lvl="1"/>
            <a:r>
              <a:rPr lang="en-US" dirty="0"/>
              <a:t>Are the nodes that are </a:t>
            </a:r>
            <a:r>
              <a:rPr lang="en-US" b="1" dirty="0">
                <a:solidFill>
                  <a:srgbClr val="E46C0A"/>
                </a:solidFill>
              </a:rPr>
              <a:t>added first </a:t>
            </a:r>
            <a:r>
              <a:rPr lang="en-US" dirty="0"/>
              <a:t>to the collection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5310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So we </a:t>
            </a:r>
            <a:r>
              <a:rPr lang="en-US" b="1" dirty="0">
                <a:solidFill>
                  <a:srgbClr val="E46C0A"/>
                </a:solidFill>
              </a:rPr>
              <a:t>walk the nodes in the order that they’re added </a:t>
            </a:r>
            <a:r>
              <a:rPr lang="en-US" dirty="0"/>
              <a:t>to the collection</a:t>
            </a:r>
          </a:p>
          <a:p>
            <a:endParaRPr lang="en-US" dirty="0"/>
          </a:p>
          <a:p>
            <a:r>
              <a:rPr lang="en-US" dirty="0"/>
              <a:t>That sounds like a </a:t>
            </a:r>
            <a:r>
              <a:rPr lang="en-US" b="1" dirty="0">
                <a:solidFill>
                  <a:srgbClr val="E46C0A"/>
                </a:solidFill>
              </a:rPr>
              <a:t>queue</a:t>
            </a:r>
            <a:r>
              <a:rPr lang="en-US" dirty="0"/>
              <a:t>!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6768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i="1" dirty="0"/>
              <a:t>Pseudocode: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BreadthFirst</a:t>
            </a:r>
            <a:r>
              <a:rPr lang="en-US" dirty="0"/>
              <a:t>(root) {</a:t>
            </a:r>
          </a:p>
          <a:p>
            <a:pPr marL="0" indent="0">
              <a:buNone/>
            </a:pPr>
            <a:r>
              <a:rPr lang="en-US" dirty="0"/>
              <a:t>   q = empty queue</a:t>
            </a:r>
          </a:p>
          <a:p>
            <a:pPr marL="0" indent="0">
              <a:buNone/>
            </a:pPr>
            <a:r>
              <a:rPr lang="en-US" dirty="0"/>
              <a:t>   q.Enqueue(root)</a:t>
            </a:r>
          </a:p>
          <a:p>
            <a:pPr marL="0" indent="0">
              <a:buNone/>
            </a:pPr>
            <a:r>
              <a:rPr lang="en-US" dirty="0"/>
              <a:t>   while q not empty {</a:t>
            </a:r>
          </a:p>
          <a:p>
            <a:pPr marL="0" indent="0">
              <a:buNone/>
            </a:pPr>
            <a:r>
              <a:rPr lang="en-US" dirty="0"/>
              <a:t>      node = q.Dequeue()</a:t>
            </a:r>
          </a:p>
          <a:p>
            <a:pPr marL="0" indent="0">
              <a:buNone/>
            </a:pPr>
            <a:r>
              <a:rPr lang="en-US" dirty="0"/>
              <a:t>      for each child c of node</a:t>
            </a:r>
            <a:br>
              <a:rPr lang="en-US" dirty="0"/>
            </a:br>
            <a:r>
              <a:rPr lang="en-US" dirty="0"/>
              <a:t>         q.Enqueue(c)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6951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Start with empty queue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12442161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Add the root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17898653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repeat until the queue is empty: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9943582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Dequeue the next node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39899521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Add its children to queue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973222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Dequeue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21984874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Enqueue children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3     4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21779394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Dequeue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19899760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Enqueue children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37518324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Enqueue children</a:t>
            </a:r>
          </a:p>
          <a:p>
            <a:pPr marL="0" indent="0">
              <a:buNone/>
            </a:pPr>
            <a:r>
              <a:rPr lang="en-US" sz="2000" dirty="0"/>
              <a:t>(of course, there aren’t any)</a:t>
            </a:r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550949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Dequeue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25390408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Add children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22376796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Dequeue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11796741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Add children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6   7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8914123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Dequeue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25150388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Add children (none)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37476639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Dequeue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17271125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Add children (none)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30113413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0386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Dequeue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39740025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4958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Dequeue – queue empty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27067930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Breadth-first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005565"/>
            <a:ext cx="4495800" cy="140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Finished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17413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843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28081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8081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60960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1969911" y="60629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31983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23601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2746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1315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13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19699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30367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48200" y="2135401"/>
            <a:ext cx="3505200" cy="6077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17526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39617937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What happens if we change the queue to a </a:t>
            </a:r>
            <a:r>
              <a:rPr lang="en-US" b="1" dirty="0">
                <a:solidFill>
                  <a:srgbClr val="E46C0A"/>
                </a:solidFill>
              </a:rPr>
              <a:t>stack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StackWalk</a:t>
            </a:r>
            <a:r>
              <a:rPr lang="en-US" dirty="0"/>
              <a:t>(root) {</a:t>
            </a:r>
          </a:p>
          <a:p>
            <a:pPr marL="0" indent="0">
              <a:buNone/>
            </a:pPr>
            <a:r>
              <a:rPr lang="en-US" dirty="0"/>
              <a:t>   s = empty stack</a:t>
            </a:r>
          </a:p>
          <a:p>
            <a:pPr marL="0" indent="0">
              <a:buNone/>
            </a:pPr>
            <a:r>
              <a:rPr lang="en-US" dirty="0"/>
              <a:t>   s.Push(root)</a:t>
            </a:r>
          </a:p>
          <a:p>
            <a:pPr marL="0" indent="0">
              <a:buNone/>
            </a:pPr>
            <a:r>
              <a:rPr lang="en-US" dirty="0"/>
              <a:t>   while s not empty {</a:t>
            </a:r>
          </a:p>
          <a:p>
            <a:pPr marL="0" indent="0">
              <a:buNone/>
            </a:pPr>
            <a:r>
              <a:rPr lang="en-US" dirty="0"/>
              <a:t>      node = s.Pop()</a:t>
            </a:r>
          </a:p>
          <a:p>
            <a:pPr marL="0" indent="0">
              <a:buNone/>
            </a:pPr>
            <a:r>
              <a:rPr lang="en-US" dirty="0"/>
              <a:t>      for each child c of node</a:t>
            </a:r>
            <a:br>
              <a:rPr lang="en-US" dirty="0"/>
            </a:br>
            <a:r>
              <a:rPr lang="en-US" dirty="0"/>
              <a:t>         s.Push(c)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baseline="0" dirty="0"/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4371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0386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Start with empty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29776357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0386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the root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991212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Repeat until stack empty: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012716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Pop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28732971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children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275443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Pop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37171722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children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707626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Pop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563186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children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734050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Pop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8963246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children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dirty="0"/>
              <a:t>6</a:t>
            </a:r>
          </a:p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987066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Pop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8203290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children (none)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823104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Pop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982080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children (none)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934922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Pop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6332401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children (none)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343527137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Pop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366221908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Pop node – stack empty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32565901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stack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4951734"/>
            <a:ext cx="4495800" cy="13728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Finished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874837"/>
            <a:ext cx="9144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r>
              <a:rPr lang="en-US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92691763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E46C0A"/>
                </a:solidFill>
              </a:rPr>
              <a:t>Substituting a stack </a:t>
            </a:r>
            <a:r>
              <a:rPr lang="en-US" dirty="0"/>
              <a:t>for a queue gives us </a:t>
            </a:r>
            <a:r>
              <a:rPr lang="en-US" b="1" dirty="0">
                <a:solidFill>
                  <a:srgbClr val="E46C0A"/>
                </a:solidFill>
              </a:rPr>
              <a:t>depth-first </a:t>
            </a:r>
            <a:r>
              <a:rPr lang="en-US" dirty="0"/>
              <a:t>traversal instead of breadth-first</a:t>
            </a:r>
          </a:p>
          <a:p>
            <a:endParaRPr lang="en-US" dirty="0"/>
          </a:p>
          <a:p>
            <a:r>
              <a:rPr lang="en-US" dirty="0"/>
              <a:t>Although in this case, it visited the children right to left instead of left to right</a:t>
            </a:r>
          </a:p>
          <a:p>
            <a:pPr lvl="1"/>
            <a:r>
              <a:rPr lang="en-US" dirty="0"/>
              <a:t>If we cared, we could just push the children on the stack in reverse order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0100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Of course, we already have a perfectly good stack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E46C0A"/>
                </a:solidFill>
              </a:rPr>
              <a:t>execution stack</a:t>
            </a:r>
          </a:p>
          <a:p>
            <a:pPr lvl="1"/>
            <a:r>
              <a:rPr lang="en-US" dirty="0"/>
              <a:t>Every procedure call pushes the execution stack</a:t>
            </a:r>
          </a:p>
          <a:p>
            <a:pPr lvl="1"/>
            <a:r>
              <a:rPr lang="en-US" dirty="0"/>
              <a:t>Every return pops it</a:t>
            </a:r>
          </a:p>
          <a:p>
            <a:endParaRPr lang="en-US" dirty="0"/>
          </a:p>
          <a:p>
            <a:r>
              <a:rPr lang="en-US" dirty="0"/>
              <a:t>Why not just use that stack?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45947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depth-first walk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1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Pseudocode: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b="1" dirty="0">
                <a:solidFill>
                  <a:srgbClr val="E46C0A"/>
                </a:solidFill>
              </a:rPr>
              <a:t>DepthFirst</a:t>
            </a:r>
            <a:r>
              <a:rPr lang="en-US" dirty="0"/>
              <a:t>(node)</a:t>
            </a:r>
          </a:p>
          <a:p>
            <a:pPr marL="0" indent="0">
              <a:buNone/>
            </a:pPr>
            <a:r>
              <a:rPr lang="en-US" dirty="0"/>
              <a:t>   for each child c of node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DepthFirst</a:t>
            </a:r>
            <a:r>
              <a:rPr lang="en-US" dirty="0"/>
              <a:t>(c)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Most of the time it’s easier and clearer to write depth-first traversals as recursions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/>
              <a:t>(And you thought recursion always made things more complicated!)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47860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Specialized tree representations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Small, </a:t>
            </a:r>
            <a:r>
              <a:rPr lang="en-US" b="1" dirty="0">
                <a:solidFill>
                  <a:srgbClr val="E46C0A"/>
                </a:solidFill>
              </a:rPr>
              <a:t>fixed </a:t>
            </a:r>
            <a:r>
              <a:rPr lang="en-US" b="1" baseline="0" dirty="0">
                <a:solidFill>
                  <a:srgbClr val="E46C0A"/>
                </a:solidFill>
              </a:rPr>
              <a:t>branching factor</a:t>
            </a:r>
          </a:p>
          <a:p>
            <a:pPr lvl="1"/>
            <a:r>
              <a:rPr lang="en-US" dirty="0"/>
              <a:t>Put child pointers directly in nodes</a:t>
            </a:r>
          </a:p>
          <a:p>
            <a:pPr lvl="1"/>
            <a:r>
              <a:rPr lang="en-US" dirty="0"/>
              <a:t>Usually uses only for trees with a branching factor of 2 or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rgbClr val="E46C0A"/>
                </a:solidFill>
              </a:rPr>
              <a:t>Restricted information </a:t>
            </a:r>
            <a:r>
              <a:rPr lang="en-US" dirty="0"/>
              <a:t>in nodes</a:t>
            </a:r>
          </a:p>
          <a:p>
            <a:pPr lvl="1"/>
            <a:r>
              <a:rPr lang="en-US" dirty="0"/>
              <a:t>No parent pointer</a:t>
            </a:r>
          </a:p>
          <a:p>
            <a:pPr lvl="2"/>
            <a:r>
              <a:rPr lang="en-US" dirty="0"/>
              <a:t>Used if you never need to find the parent of a node</a:t>
            </a:r>
          </a:p>
          <a:p>
            <a:pPr lvl="2"/>
            <a:r>
              <a:rPr lang="en-US" dirty="0"/>
              <a:t>Example: lists in lisp and scheme</a:t>
            </a:r>
          </a:p>
          <a:p>
            <a:pPr lvl="1"/>
            <a:r>
              <a:rPr lang="en-US" dirty="0"/>
              <a:t>No child pointers</a:t>
            </a:r>
          </a:p>
          <a:p>
            <a:pPr lvl="2"/>
            <a:r>
              <a:rPr lang="en-US" dirty="0"/>
              <a:t>Used in disjoint set representation</a:t>
            </a:r>
          </a:p>
          <a:p>
            <a:pPr lvl="0"/>
            <a:endParaRPr lang="en-US" dirty="0"/>
          </a:p>
          <a:p>
            <a:pPr lvl="0"/>
            <a:r>
              <a:rPr lang="en-US" b="1" dirty="0">
                <a:solidFill>
                  <a:srgbClr val="E46C0A"/>
                </a:solidFill>
              </a:rPr>
              <a:t>Heaps</a:t>
            </a:r>
          </a:p>
          <a:p>
            <a:pPr lvl="1"/>
            <a:r>
              <a:rPr lang="en-US" dirty="0"/>
              <a:t>We’ll talk about these later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89425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Common case</a:t>
            </a:r>
          </a:p>
          <a:p>
            <a:r>
              <a:rPr lang="en-US" dirty="0"/>
              <a:t>Fixed </a:t>
            </a:r>
            <a:r>
              <a:rPr lang="en-US" b="1" dirty="0">
                <a:solidFill>
                  <a:srgbClr val="E46C0A"/>
                </a:solidFill>
              </a:rPr>
              <a:t>branching factor of 2</a:t>
            </a:r>
          </a:p>
          <a:p>
            <a:pPr lvl="1"/>
            <a:r>
              <a:rPr lang="en-US" dirty="0"/>
              <a:t>Every node has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at most 2 </a:t>
            </a:r>
            <a:r>
              <a:rPr lang="en-US" dirty="0"/>
              <a:t>children</a:t>
            </a:r>
          </a:p>
          <a:p>
            <a:pPr lvl="1"/>
            <a:r>
              <a:rPr lang="en-US" dirty="0"/>
              <a:t>Referred to as the </a:t>
            </a:r>
            <a:r>
              <a:rPr lang="en-US" b="1" dirty="0">
                <a:solidFill>
                  <a:srgbClr val="E46C0A"/>
                </a:solidFill>
              </a:rPr>
              <a:t>left child</a:t>
            </a:r>
            <a:r>
              <a:rPr lang="en-US" dirty="0"/>
              <a:t> and </a:t>
            </a:r>
            <a:r>
              <a:rPr lang="en-US" b="1" dirty="0">
                <a:solidFill>
                  <a:srgbClr val="E46C0A"/>
                </a:solidFill>
              </a:rPr>
              <a:t>right child</a:t>
            </a:r>
          </a:p>
        </p:txBody>
      </p:sp>
      <p:sp>
        <p:nvSpPr>
          <p:cNvPr id="5" name="Oval 4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Straight Arrow Connector 22"/>
          <p:cNvCxnSpPr>
            <a:stCxn id="8" idx="5"/>
            <a:endCxn id="22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73838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Optimized binary tree representation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b="1" dirty="0" err="1"/>
              <a:t>BTNode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BTNode</a:t>
            </a:r>
            <a:r>
              <a:rPr lang="en-US" dirty="0"/>
              <a:t> parent;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BTNode</a:t>
            </a:r>
            <a:r>
              <a:rPr lang="en-US" dirty="0"/>
              <a:t> </a:t>
            </a:r>
            <a:r>
              <a:rPr lang="en-US" dirty="0" err="1"/>
              <a:t>leftChild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BTNode</a:t>
            </a:r>
            <a:r>
              <a:rPr lang="en-US" dirty="0"/>
              <a:t> </a:t>
            </a:r>
            <a:r>
              <a:rPr lang="en-US" dirty="0" err="1"/>
              <a:t>rightChild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E46C0A"/>
                </a:solidFill>
              </a:rPr>
              <a:t>Don’t even bother </a:t>
            </a:r>
            <a:r>
              <a:rPr lang="en-US" dirty="0"/>
              <a:t>with an array or linked list</a:t>
            </a:r>
          </a:p>
          <a:p>
            <a:pPr lvl="1"/>
            <a:r>
              <a:rPr lang="en-US" dirty="0"/>
              <a:t>Just put pointers in the node for both children</a:t>
            </a:r>
          </a:p>
          <a:p>
            <a:pPr lvl="1"/>
            <a:r>
              <a:rPr lang="en-US" dirty="0"/>
              <a:t>Leave them null if they aren’t used</a:t>
            </a:r>
          </a:p>
        </p:txBody>
      </p:sp>
      <p:sp>
        <p:nvSpPr>
          <p:cNvPr id="5" name="Oval 4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Straight Arrow Connector 22"/>
          <p:cNvCxnSpPr>
            <a:stCxn id="8" idx="5"/>
            <a:endCxn id="22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25360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are binary trees popular?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750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Left child/right sibling</a:t>
            </a:r>
            <a:br>
              <a:rPr lang="en-US" dirty="0"/>
            </a:br>
            <a:r>
              <a:rPr lang="en-US" dirty="0"/>
              <a:t>is technically a binary tree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TreeNode {</a:t>
            </a:r>
          </a:p>
          <a:p>
            <a:pPr marL="0" indent="0">
              <a:buNone/>
            </a:pPr>
            <a:r>
              <a:rPr lang="en-US" dirty="0"/>
              <a:t>    TreeNode parent;</a:t>
            </a:r>
          </a:p>
          <a:p>
            <a:pPr marL="0" indent="0">
              <a:buNone/>
            </a:pPr>
            <a:r>
              <a:rPr lang="en-US" dirty="0"/>
              <a:t>    TreeNode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firstChild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TreeNode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nextSibling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… other data …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CLR book calls this the left child/right sibling representation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8" name="Oval 37"/>
          <p:cNvSpPr/>
          <p:nvPr/>
        </p:nvSpPr>
        <p:spPr>
          <a:xfrm>
            <a:off x="2448791" y="18669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3138055" y="5105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2157846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1066801" y="5486400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3134591" y="3553691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1610591" y="3546764"/>
            <a:ext cx="381000" cy="381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Elbow Connector 43"/>
          <p:cNvCxnSpPr>
            <a:stCxn id="38" idx="2"/>
            <a:endCxn id="43" idx="0"/>
          </p:cNvCxnSpPr>
          <p:nvPr/>
        </p:nvCxnSpPr>
        <p:spPr>
          <a:xfrm rot="10800000" flipV="1">
            <a:off x="1801091" y="2057400"/>
            <a:ext cx="647700" cy="1489364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3" idx="7"/>
            <a:endCxn id="38" idx="3"/>
          </p:cNvCxnSpPr>
          <p:nvPr/>
        </p:nvCxnSpPr>
        <p:spPr>
          <a:xfrm flipV="1">
            <a:off x="1935795" y="2192104"/>
            <a:ext cx="568792" cy="141045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2" idx="0"/>
            <a:endCxn id="38" idx="5"/>
          </p:cNvCxnSpPr>
          <p:nvPr/>
        </p:nvCxnSpPr>
        <p:spPr>
          <a:xfrm flipH="1" flipV="1">
            <a:off x="2773995" y="2192104"/>
            <a:ext cx="551096" cy="13615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1" idx="0"/>
            <a:endCxn id="43" idx="3"/>
          </p:cNvCxnSpPr>
          <p:nvPr/>
        </p:nvCxnSpPr>
        <p:spPr>
          <a:xfrm flipV="1">
            <a:off x="1257301" y="3871968"/>
            <a:ext cx="409086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0" idx="0"/>
            <a:endCxn id="43" idx="5"/>
          </p:cNvCxnSpPr>
          <p:nvPr/>
        </p:nvCxnSpPr>
        <p:spPr>
          <a:xfrm flipH="1" flipV="1">
            <a:off x="1935795" y="3871968"/>
            <a:ext cx="412551" cy="1614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9" idx="0"/>
            <a:endCxn id="42" idx="4"/>
          </p:cNvCxnSpPr>
          <p:nvPr/>
        </p:nvCxnSpPr>
        <p:spPr>
          <a:xfrm flipH="1" flipV="1">
            <a:off x="3325091" y="3934691"/>
            <a:ext cx="3464" cy="11707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43" idx="2"/>
            <a:endCxn id="41" idx="2"/>
          </p:cNvCxnSpPr>
          <p:nvPr/>
        </p:nvCxnSpPr>
        <p:spPr>
          <a:xfrm rot="10800000" flipV="1">
            <a:off x="1066801" y="3737264"/>
            <a:ext cx="543790" cy="1939636"/>
          </a:xfrm>
          <a:prstGeom prst="bentConnector3">
            <a:avLst>
              <a:gd name="adj1" fmla="val 142038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42" idx="3"/>
            <a:endCxn id="39" idx="2"/>
          </p:cNvCxnSpPr>
          <p:nvPr/>
        </p:nvCxnSpPr>
        <p:spPr>
          <a:xfrm rot="5400000">
            <a:off x="2455719" y="4561231"/>
            <a:ext cx="1417005" cy="52332"/>
          </a:xfrm>
          <a:prstGeom prst="bentConnector4">
            <a:avLst>
              <a:gd name="adj1" fmla="val 41309"/>
              <a:gd name="adj2" fmla="val 536826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68"/>
          <p:cNvCxnSpPr>
            <a:stCxn id="43" idx="6"/>
            <a:endCxn id="42" idx="2"/>
          </p:cNvCxnSpPr>
          <p:nvPr/>
        </p:nvCxnSpPr>
        <p:spPr>
          <a:xfrm>
            <a:off x="1991591" y="3737264"/>
            <a:ext cx="1143000" cy="692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68"/>
          <p:cNvCxnSpPr>
            <a:stCxn id="41" idx="6"/>
            <a:endCxn id="40" idx="2"/>
          </p:cNvCxnSpPr>
          <p:nvPr/>
        </p:nvCxnSpPr>
        <p:spPr>
          <a:xfrm>
            <a:off x="1447801" y="5676900"/>
            <a:ext cx="71004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68"/>
          <p:cNvCxnSpPr/>
          <p:nvPr/>
        </p:nvCxnSpPr>
        <p:spPr>
          <a:xfrm>
            <a:off x="3515591" y="3733800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68"/>
          <p:cNvCxnSpPr/>
          <p:nvPr/>
        </p:nvCxnSpPr>
        <p:spPr>
          <a:xfrm>
            <a:off x="2535381" y="5674757"/>
            <a:ext cx="29441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68"/>
          <p:cNvCxnSpPr/>
          <p:nvPr/>
        </p:nvCxnSpPr>
        <p:spPr>
          <a:xfrm>
            <a:off x="3515591" y="5293757"/>
            <a:ext cx="29441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40687" y="1688068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71769" y="3352800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sibling</a:t>
            </a:r>
          </a:p>
        </p:txBody>
      </p:sp>
      <p:sp>
        <p:nvSpPr>
          <p:cNvPr id="59" name="TextBox 58"/>
          <p:cNvSpPr txBox="1"/>
          <p:nvPr/>
        </p:nvSpPr>
        <p:spPr>
          <a:xfrm rot="17548671">
            <a:off x="1684609" y="2506491"/>
            <a:ext cx="80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781800" y="2802082"/>
            <a:ext cx="16002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218218" y="2259749"/>
            <a:ext cx="1403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leftChild</a:t>
            </a:r>
            <a:endParaRPr lang="en-US" sz="2800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6858000" y="3200400"/>
            <a:ext cx="16002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207587" y="2753380"/>
            <a:ext cx="1598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rightChild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0802728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 fontScale="90000"/>
          </a:bodyPr>
          <a:lstStyle/>
          <a:p>
            <a:r>
              <a:rPr lang="en-US" dirty="0"/>
              <a:t>Scheme lists are binary trees</a:t>
            </a:r>
            <a:br>
              <a:rPr lang="en-US" dirty="0"/>
            </a:br>
            <a:r>
              <a:rPr lang="en-US" sz="2200" dirty="0"/>
              <a:t>(without parent pointers)</a:t>
            </a:r>
          </a:p>
        </p:txBody>
      </p:sp>
      <p:sp>
        <p:nvSpPr>
          <p:cNvPr id="49" name="Content Placeholder 48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2438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(define (fact n)</a:t>
            </a:r>
          </a:p>
          <a:p>
            <a:pPr marL="0" indent="0">
              <a:buNone/>
            </a:pPr>
            <a:r>
              <a:rPr lang="en-US" dirty="0"/>
              <a:t>   (if (= n 1)</a:t>
            </a:r>
          </a:p>
          <a:p>
            <a:pPr marL="0" indent="0">
              <a:buNone/>
            </a:pPr>
            <a:r>
              <a:rPr lang="en-US" dirty="0"/>
              <a:t>       1</a:t>
            </a:r>
          </a:p>
          <a:p>
            <a:pPr marL="0" indent="0">
              <a:buNone/>
            </a:pPr>
            <a:r>
              <a:rPr lang="en-US" dirty="0"/>
              <a:t>       (* n (fact (- n 1)))))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609600" y="1528742"/>
            <a:ext cx="762000" cy="381000"/>
            <a:chOff x="4876800" y="1828800"/>
            <a:chExt cx="762000" cy="381000"/>
          </a:xfrm>
          <a:solidFill>
            <a:schemeClr val="accent3">
              <a:lumMod val="50000"/>
            </a:schemeClr>
          </a:solidFill>
        </p:grpSpPr>
        <p:sp>
          <p:nvSpPr>
            <p:cNvPr id="5" name="Rectangle 4"/>
            <p:cNvSpPr/>
            <p:nvPr/>
          </p:nvSpPr>
          <p:spPr>
            <a:xfrm>
              <a:off x="4876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257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752600" y="1528742"/>
            <a:ext cx="762000" cy="381000"/>
            <a:chOff x="4876800" y="1828800"/>
            <a:chExt cx="762000" cy="381000"/>
          </a:xfrm>
          <a:solidFill>
            <a:schemeClr val="accent3">
              <a:lumMod val="50000"/>
            </a:schemeClr>
          </a:solidFill>
        </p:grpSpPr>
        <p:sp>
          <p:nvSpPr>
            <p:cNvPr id="9" name="Rectangle 8"/>
            <p:cNvSpPr/>
            <p:nvPr/>
          </p:nvSpPr>
          <p:spPr>
            <a:xfrm>
              <a:off x="4876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57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971800" y="1528742"/>
            <a:ext cx="762000" cy="381000"/>
            <a:chOff x="4876800" y="1828800"/>
            <a:chExt cx="762000" cy="381000"/>
          </a:xfrm>
          <a:solidFill>
            <a:schemeClr val="accent3">
              <a:lumMod val="50000"/>
            </a:schemeClr>
          </a:solidFill>
        </p:grpSpPr>
        <p:sp>
          <p:nvSpPr>
            <p:cNvPr id="12" name="Rectangle 11"/>
            <p:cNvSpPr/>
            <p:nvPr/>
          </p:nvSpPr>
          <p:spPr>
            <a:xfrm>
              <a:off x="4876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57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/>
          <p:cNvCxnSpPr/>
          <p:nvPr/>
        </p:nvCxnSpPr>
        <p:spPr>
          <a:xfrm>
            <a:off x="1371600" y="1719242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514600" y="1719242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9832" y="2150010"/>
            <a:ext cx="78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define</a:t>
            </a:r>
          </a:p>
        </p:txBody>
      </p:sp>
      <p:cxnSp>
        <p:nvCxnSpPr>
          <p:cNvPr id="20" name="Elbow Connector 19"/>
          <p:cNvCxnSpPr>
            <a:endCxn id="18" idx="0"/>
          </p:cNvCxnSpPr>
          <p:nvPr/>
        </p:nvCxnSpPr>
        <p:spPr>
          <a:xfrm rot="5400000">
            <a:off x="679966" y="2029876"/>
            <a:ext cx="240268" cy="1588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990600" y="2900342"/>
            <a:ext cx="762000" cy="381000"/>
            <a:chOff x="4876800" y="1828800"/>
            <a:chExt cx="762000" cy="381000"/>
          </a:xfrm>
          <a:solidFill>
            <a:schemeClr val="accent3">
              <a:lumMod val="50000"/>
            </a:schemeClr>
          </a:solidFill>
        </p:grpSpPr>
        <p:sp>
          <p:nvSpPr>
            <p:cNvPr id="22" name="Rectangle 21"/>
            <p:cNvSpPr/>
            <p:nvPr/>
          </p:nvSpPr>
          <p:spPr>
            <a:xfrm>
              <a:off x="4876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257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209800" y="2900342"/>
            <a:ext cx="762000" cy="381000"/>
            <a:chOff x="4876800" y="1828800"/>
            <a:chExt cx="762000" cy="381000"/>
          </a:xfrm>
          <a:solidFill>
            <a:schemeClr val="accent3">
              <a:lumMod val="50000"/>
            </a:schemeClr>
          </a:solidFill>
        </p:grpSpPr>
        <p:sp>
          <p:nvSpPr>
            <p:cNvPr id="25" name="Rectangle 24"/>
            <p:cNvSpPr/>
            <p:nvPr/>
          </p:nvSpPr>
          <p:spPr>
            <a:xfrm>
              <a:off x="4876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/>
          <p:cNvCxnSpPr/>
          <p:nvPr/>
        </p:nvCxnSpPr>
        <p:spPr>
          <a:xfrm>
            <a:off x="1752600" y="3090842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" y="3516868"/>
            <a:ext cx="536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7053" y="350994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1" name="Elbow Connector 30"/>
          <p:cNvCxnSpPr>
            <a:endCxn id="28" idx="0"/>
          </p:cNvCxnSpPr>
          <p:nvPr/>
        </p:nvCxnSpPr>
        <p:spPr>
          <a:xfrm rot="16200000" flipH="1">
            <a:off x="1063998" y="3398444"/>
            <a:ext cx="235526" cy="1322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endCxn id="29" idx="0"/>
          </p:cNvCxnSpPr>
          <p:nvPr/>
        </p:nvCxnSpPr>
        <p:spPr>
          <a:xfrm rot="5400000">
            <a:off x="2286000" y="3395642"/>
            <a:ext cx="228600" cy="1588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/>
          <p:nvPr/>
        </p:nvCxnSpPr>
        <p:spPr>
          <a:xfrm rot="5400000">
            <a:off x="1066800" y="2024042"/>
            <a:ext cx="990600" cy="762000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2057400" y="4343400"/>
            <a:ext cx="762000" cy="381000"/>
            <a:chOff x="4876800" y="1828800"/>
            <a:chExt cx="762000" cy="381000"/>
          </a:xfrm>
          <a:solidFill>
            <a:schemeClr val="accent3">
              <a:lumMod val="50000"/>
            </a:schemeClr>
          </a:solidFill>
        </p:grpSpPr>
        <p:sp>
          <p:nvSpPr>
            <p:cNvPr id="37" name="Rectangle 36"/>
            <p:cNvSpPr/>
            <p:nvPr/>
          </p:nvSpPr>
          <p:spPr>
            <a:xfrm>
              <a:off x="4876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257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200400" y="4343400"/>
            <a:ext cx="762000" cy="381000"/>
            <a:chOff x="4876800" y="1828800"/>
            <a:chExt cx="762000" cy="381000"/>
          </a:xfrm>
          <a:solidFill>
            <a:schemeClr val="accent3">
              <a:lumMod val="50000"/>
            </a:schemeClr>
          </a:solidFill>
        </p:grpSpPr>
        <p:sp>
          <p:nvSpPr>
            <p:cNvPr id="40" name="Rectangle 39"/>
            <p:cNvSpPr/>
            <p:nvPr/>
          </p:nvSpPr>
          <p:spPr>
            <a:xfrm>
              <a:off x="4876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257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419600" y="4343400"/>
            <a:ext cx="762000" cy="381000"/>
            <a:chOff x="4876800" y="1828800"/>
            <a:chExt cx="762000" cy="381000"/>
          </a:xfrm>
          <a:solidFill>
            <a:schemeClr val="accent3">
              <a:lumMod val="50000"/>
            </a:schemeClr>
          </a:solidFill>
        </p:grpSpPr>
        <p:sp>
          <p:nvSpPr>
            <p:cNvPr id="43" name="Rectangle 42"/>
            <p:cNvSpPr/>
            <p:nvPr/>
          </p:nvSpPr>
          <p:spPr>
            <a:xfrm>
              <a:off x="4876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257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5" name="Straight Arrow Connector 44"/>
          <p:cNvCxnSpPr/>
          <p:nvPr/>
        </p:nvCxnSpPr>
        <p:spPr>
          <a:xfrm>
            <a:off x="2819400" y="45339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3962400" y="4533900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37" idx="2"/>
            <a:endCxn id="59" idx="0"/>
          </p:cNvCxnSpPr>
          <p:nvPr/>
        </p:nvCxnSpPr>
        <p:spPr>
          <a:xfrm rot="5400000">
            <a:off x="2127766" y="4844534"/>
            <a:ext cx="240268" cy="1588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stCxn id="12" idx="2"/>
          </p:cNvCxnSpPr>
          <p:nvPr/>
        </p:nvCxnSpPr>
        <p:spPr>
          <a:xfrm rot="5400000">
            <a:off x="1488271" y="2669371"/>
            <a:ext cx="2433658" cy="914400"/>
          </a:xfrm>
          <a:prstGeom prst="bentConnector3">
            <a:avLst>
              <a:gd name="adj1" fmla="val 82449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093851" y="4964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5638800" y="4343400"/>
            <a:ext cx="762000" cy="381000"/>
            <a:chOff x="4876800" y="1828800"/>
            <a:chExt cx="762000" cy="381000"/>
          </a:xfrm>
          <a:solidFill>
            <a:schemeClr val="accent3">
              <a:lumMod val="50000"/>
            </a:schemeClr>
          </a:solidFill>
        </p:grpSpPr>
        <p:sp>
          <p:nvSpPr>
            <p:cNvPr id="61" name="Rectangle 60"/>
            <p:cNvSpPr/>
            <p:nvPr/>
          </p:nvSpPr>
          <p:spPr>
            <a:xfrm>
              <a:off x="4876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257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3" name="Straight Arrow Connector 62"/>
          <p:cNvCxnSpPr/>
          <p:nvPr/>
        </p:nvCxnSpPr>
        <p:spPr>
          <a:xfrm>
            <a:off x="5181600" y="4533900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>
            <a:stCxn id="43" idx="2"/>
            <a:endCxn id="68" idx="0"/>
          </p:cNvCxnSpPr>
          <p:nvPr/>
        </p:nvCxnSpPr>
        <p:spPr>
          <a:xfrm rot="16200000" flipH="1">
            <a:off x="4490363" y="4844136"/>
            <a:ext cx="239475" cy="1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459258" y="49638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3200400" y="5574268"/>
            <a:ext cx="762000" cy="381000"/>
            <a:chOff x="4876800" y="1828800"/>
            <a:chExt cx="762000" cy="381000"/>
          </a:xfrm>
          <a:solidFill>
            <a:schemeClr val="accent3">
              <a:lumMod val="50000"/>
            </a:schemeClr>
          </a:solidFill>
        </p:grpSpPr>
        <p:sp>
          <p:nvSpPr>
            <p:cNvPr id="72" name="Rectangle 71"/>
            <p:cNvSpPr/>
            <p:nvPr/>
          </p:nvSpPr>
          <p:spPr>
            <a:xfrm>
              <a:off x="4876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257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4343400" y="5574268"/>
            <a:ext cx="762000" cy="381000"/>
            <a:chOff x="4876800" y="1828800"/>
            <a:chExt cx="762000" cy="381000"/>
          </a:xfrm>
          <a:solidFill>
            <a:schemeClr val="accent3">
              <a:lumMod val="50000"/>
            </a:schemeClr>
          </a:solidFill>
        </p:grpSpPr>
        <p:sp>
          <p:nvSpPr>
            <p:cNvPr id="75" name="Rectangle 74"/>
            <p:cNvSpPr/>
            <p:nvPr/>
          </p:nvSpPr>
          <p:spPr>
            <a:xfrm>
              <a:off x="4876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257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5562600" y="5574268"/>
            <a:ext cx="762000" cy="381000"/>
            <a:chOff x="4876800" y="1828800"/>
            <a:chExt cx="762000" cy="381000"/>
          </a:xfrm>
          <a:solidFill>
            <a:schemeClr val="accent3">
              <a:lumMod val="50000"/>
            </a:schemeClr>
          </a:solidFill>
        </p:grpSpPr>
        <p:sp>
          <p:nvSpPr>
            <p:cNvPr id="78" name="Rectangle 77"/>
            <p:cNvSpPr/>
            <p:nvPr/>
          </p:nvSpPr>
          <p:spPr>
            <a:xfrm>
              <a:off x="4876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257800" y="1828800"/>
              <a:ext cx="3810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0" name="Straight Arrow Connector 79"/>
          <p:cNvCxnSpPr/>
          <p:nvPr/>
        </p:nvCxnSpPr>
        <p:spPr>
          <a:xfrm>
            <a:off x="3962400" y="5764768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5105400" y="5764768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240859" y="6260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83" name="Elbow Connector 82"/>
          <p:cNvCxnSpPr>
            <a:stCxn id="72" idx="2"/>
            <a:endCxn id="82" idx="0"/>
          </p:cNvCxnSpPr>
          <p:nvPr/>
        </p:nvCxnSpPr>
        <p:spPr>
          <a:xfrm rot="5400000">
            <a:off x="3238500" y="6107668"/>
            <a:ext cx="304800" cy="1588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380652" y="62600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87" name="Elbow Connector 86"/>
          <p:cNvCxnSpPr>
            <a:stCxn id="75" idx="2"/>
            <a:endCxn id="86" idx="0"/>
          </p:cNvCxnSpPr>
          <p:nvPr/>
        </p:nvCxnSpPr>
        <p:spPr>
          <a:xfrm rot="5400000">
            <a:off x="4381500" y="6107668"/>
            <a:ext cx="304800" cy="1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/>
          <p:cNvCxnSpPr>
            <a:stCxn id="78" idx="2"/>
            <a:endCxn id="98" idx="0"/>
          </p:cNvCxnSpPr>
          <p:nvPr/>
        </p:nvCxnSpPr>
        <p:spPr>
          <a:xfrm rot="5400000">
            <a:off x="5600700" y="6107668"/>
            <a:ext cx="304800" cy="1588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602257" y="626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102" name="Elbow Connector 101"/>
          <p:cNvCxnSpPr>
            <a:stCxn id="40" idx="2"/>
            <a:endCxn id="72" idx="0"/>
          </p:cNvCxnSpPr>
          <p:nvPr/>
        </p:nvCxnSpPr>
        <p:spPr>
          <a:xfrm rot="5400000">
            <a:off x="2965966" y="5149334"/>
            <a:ext cx="849868" cy="1588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/>
          <p:cNvCxnSpPr>
            <a:stCxn id="61" idx="2"/>
            <a:endCxn id="105" idx="1"/>
          </p:cNvCxnSpPr>
          <p:nvPr/>
        </p:nvCxnSpPr>
        <p:spPr>
          <a:xfrm rot="16200000" flipH="1">
            <a:off x="5799550" y="4754149"/>
            <a:ext cx="445718" cy="386219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6215519" y="4985452"/>
            <a:ext cx="2656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am </a:t>
            </a:r>
            <a:r>
              <a:rPr lang="en-US" b="1" i="1" dirty="0"/>
              <a:t>so</a:t>
            </a:r>
            <a:r>
              <a:rPr lang="en-US" dirty="0"/>
              <a:t> not drawing this …</a:t>
            </a:r>
          </a:p>
        </p:txBody>
      </p:sp>
    </p:spTree>
    <p:extLst>
      <p:ext uri="{BB962C8B-B14F-4D97-AF65-F5344CB8AC3E}">
        <p14:creationId xmlns:p14="http://schemas.microsoft.com/office/powerpoint/2010/main" val="394314164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decision tree is a binary tree in which </a:t>
            </a:r>
          </a:p>
          <a:p>
            <a:pPr lvl="1"/>
            <a:r>
              <a:rPr lang="en-US" dirty="0"/>
              <a:t>The leaf nodes are decisions</a:t>
            </a:r>
          </a:p>
          <a:p>
            <a:pPr lvl="1"/>
            <a:r>
              <a:rPr lang="en-US" dirty="0"/>
              <a:t>The interior nodes are yes/no questions for deciding between decisions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9800" y="1447800"/>
            <a:ext cx="1828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Photosynthesis?</a:t>
            </a:r>
          </a:p>
        </p:txBody>
      </p:sp>
      <p:cxnSp>
        <p:nvCxnSpPr>
          <p:cNvPr id="24" name="Straight Arrow Connector 23"/>
          <p:cNvCxnSpPr>
            <a:stCxn id="22" idx="2"/>
            <a:endCxn id="31" idx="0"/>
          </p:cNvCxnSpPr>
          <p:nvPr/>
        </p:nvCxnSpPr>
        <p:spPr>
          <a:xfrm>
            <a:off x="6934200" y="1981200"/>
            <a:ext cx="10668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581900" y="2743200"/>
            <a:ext cx="838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2743200"/>
            <a:ext cx="838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Flies?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95455" y="4191000"/>
            <a:ext cx="838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15100" y="4191000"/>
            <a:ext cx="838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Four legs?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19800" y="5562600"/>
            <a:ext cx="838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animal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97437" y="5562600"/>
            <a:ext cx="838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</a:t>
            </a:r>
          </a:p>
        </p:txBody>
      </p:sp>
      <p:cxnSp>
        <p:nvCxnSpPr>
          <p:cNvPr id="39" name="Straight Arrow Connector 38"/>
          <p:cNvCxnSpPr>
            <a:stCxn id="22" idx="2"/>
            <a:endCxn id="33" idx="0"/>
          </p:cNvCxnSpPr>
          <p:nvPr/>
        </p:nvCxnSpPr>
        <p:spPr>
          <a:xfrm flipH="1">
            <a:off x="6134100" y="1981200"/>
            <a:ext cx="8001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3" idx="2"/>
            <a:endCxn id="34" idx="0"/>
          </p:cNvCxnSpPr>
          <p:nvPr/>
        </p:nvCxnSpPr>
        <p:spPr>
          <a:xfrm flipH="1">
            <a:off x="5614555" y="3276600"/>
            <a:ext cx="519545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3" idx="2"/>
            <a:endCxn id="35" idx="0"/>
          </p:cNvCxnSpPr>
          <p:nvPr/>
        </p:nvCxnSpPr>
        <p:spPr>
          <a:xfrm>
            <a:off x="6134100" y="3276600"/>
            <a:ext cx="8001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5" idx="2"/>
            <a:endCxn id="36" idx="0"/>
          </p:cNvCxnSpPr>
          <p:nvPr/>
        </p:nvCxnSpPr>
        <p:spPr>
          <a:xfrm flipH="1">
            <a:off x="6438900" y="4724400"/>
            <a:ext cx="4953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5" idx="2"/>
            <a:endCxn id="37" idx="0"/>
          </p:cNvCxnSpPr>
          <p:nvPr/>
        </p:nvCxnSpPr>
        <p:spPr>
          <a:xfrm>
            <a:off x="6934200" y="4724400"/>
            <a:ext cx="682337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419600" y="6400800"/>
            <a:ext cx="4650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very bad decision tree for classifying </a:t>
            </a:r>
            <a:r>
              <a:rPr lang="en-US" dirty="0" err="1"/>
              <a:t>lifeforms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6019800" y="21336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03851" y="2133600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1527" y="354913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53300" y="495883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61975" y="4958834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23775" y="3557155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4327934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Depth-first traversals of binary trees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Suppose you want to </a:t>
            </a:r>
            <a:r>
              <a:rPr lang="en-US" b="1" dirty="0">
                <a:solidFill>
                  <a:srgbClr val="E46C0A"/>
                </a:solidFill>
              </a:rPr>
              <a:t>print all the nodes </a:t>
            </a:r>
            <a:r>
              <a:rPr lang="en-US" dirty="0"/>
              <a:t>in a binary tree</a:t>
            </a:r>
          </a:p>
          <a:p>
            <a:pPr lvl="1"/>
            <a:r>
              <a:rPr lang="en-US" dirty="0"/>
              <a:t>You could use a depth-first traversal</a:t>
            </a:r>
          </a:p>
          <a:p>
            <a:pPr lvl="1"/>
            <a:r>
              <a:rPr lang="en-US" dirty="0"/>
              <a:t>But there are actually three different DFTs you could use</a:t>
            </a:r>
          </a:p>
          <a:p>
            <a:pPr lvl="1"/>
            <a:endParaRPr lang="en-US" dirty="0"/>
          </a:p>
          <a:p>
            <a:r>
              <a:rPr lang="en-US" dirty="0"/>
              <a:t>We call these three versions the </a:t>
            </a:r>
            <a:r>
              <a:rPr lang="en-US" b="1" dirty="0">
                <a:solidFill>
                  <a:srgbClr val="E46C0A"/>
                </a:solidFill>
              </a:rPr>
              <a:t>preorder</a:t>
            </a:r>
            <a:r>
              <a:rPr lang="en-US" dirty="0"/>
              <a:t>, </a:t>
            </a:r>
            <a:r>
              <a:rPr lang="en-US" b="1" dirty="0" err="1">
                <a:solidFill>
                  <a:srgbClr val="E46C0A"/>
                </a:solidFill>
              </a:rPr>
              <a:t>postorder</a:t>
            </a:r>
            <a:r>
              <a:rPr lang="en-US" dirty="0"/>
              <a:t>, and </a:t>
            </a:r>
            <a:r>
              <a:rPr lang="en-US" b="1" dirty="0" err="1">
                <a:solidFill>
                  <a:srgbClr val="E46C0A"/>
                </a:solidFill>
              </a:rPr>
              <a:t>inorder</a:t>
            </a:r>
            <a:r>
              <a:rPr lang="en-US" dirty="0">
                <a:solidFill>
                  <a:srgbClr val="E46C0A"/>
                </a:solidFill>
              </a:rPr>
              <a:t> </a:t>
            </a:r>
            <a:r>
              <a:rPr lang="en-US" dirty="0"/>
              <a:t>traversals of the tree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Preorder</a:t>
            </a:r>
            <a:r>
              <a:rPr lang="en-US" sz="1600" dirty="0"/>
              <a:t>(node) {</a:t>
            </a:r>
          </a:p>
          <a:p>
            <a:pPr marL="0" indent="0">
              <a:buNone/>
            </a:pPr>
            <a:r>
              <a:rPr lang="en-US" sz="1600" dirty="0"/>
              <a:t>   print node</a:t>
            </a:r>
          </a:p>
          <a:p>
            <a:pPr marL="0" indent="0">
              <a:buNone/>
            </a:pPr>
            <a:r>
              <a:rPr lang="en-US" sz="1600" dirty="0"/>
              <a:t>   Preorder(</a:t>
            </a:r>
            <a:r>
              <a:rPr lang="en-US" sz="1600" dirty="0" err="1"/>
              <a:t>node.leftChild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Preorder(</a:t>
            </a:r>
            <a:r>
              <a:rPr lang="en-US" sz="1600" dirty="0" err="1"/>
              <a:t>node.rightChild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 err="1"/>
              <a:t>Postorder</a:t>
            </a:r>
            <a:r>
              <a:rPr lang="en-US" sz="1600" dirty="0"/>
              <a:t>(node) {</a:t>
            </a:r>
          </a:p>
          <a:p>
            <a:pPr marL="0" indent="0">
              <a:buNone/>
            </a:pPr>
            <a:r>
              <a:rPr lang="en-US" sz="1600" dirty="0"/>
              <a:t>   </a:t>
            </a:r>
            <a:r>
              <a:rPr lang="en-US" sz="1600" dirty="0" err="1"/>
              <a:t>Postorder</a:t>
            </a:r>
            <a:r>
              <a:rPr lang="en-US" sz="1600" dirty="0"/>
              <a:t>(</a:t>
            </a:r>
            <a:r>
              <a:rPr lang="en-US" sz="1600" dirty="0" err="1"/>
              <a:t>node.leftChild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</a:t>
            </a:r>
            <a:r>
              <a:rPr lang="en-US" sz="1600" dirty="0" err="1"/>
              <a:t>Postorder</a:t>
            </a:r>
            <a:r>
              <a:rPr lang="en-US" sz="1600" dirty="0"/>
              <a:t>(</a:t>
            </a:r>
            <a:r>
              <a:rPr lang="en-US" sz="1600" dirty="0" err="1"/>
              <a:t>node.rightChild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print node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 err="1"/>
              <a:t>Inorder</a:t>
            </a:r>
            <a:r>
              <a:rPr lang="en-US" sz="1600" dirty="0"/>
              <a:t>(node) {</a:t>
            </a:r>
          </a:p>
          <a:p>
            <a:pPr marL="0" indent="0">
              <a:buNone/>
            </a:pPr>
            <a:r>
              <a:rPr lang="en-US" sz="1600" dirty="0"/>
              <a:t>   </a:t>
            </a:r>
            <a:r>
              <a:rPr lang="en-US" sz="1600" dirty="0" err="1"/>
              <a:t>Inorder</a:t>
            </a:r>
            <a:r>
              <a:rPr lang="en-US" sz="1600" dirty="0"/>
              <a:t>(</a:t>
            </a:r>
            <a:r>
              <a:rPr lang="en-US" sz="1600" dirty="0" err="1"/>
              <a:t>node.leftChild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print node</a:t>
            </a:r>
            <a:br>
              <a:rPr lang="en-US" sz="1600" dirty="0"/>
            </a:br>
            <a:r>
              <a:rPr lang="en-US" sz="1600" dirty="0"/>
              <a:t>   </a:t>
            </a:r>
            <a:r>
              <a:rPr lang="en-US" sz="1600" dirty="0" err="1"/>
              <a:t>Inorder</a:t>
            </a:r>
            <a:r>
              <a:rPr lang="en-US" sz="1600" dirty="0"/>
              <a:t>(</a:t>
            </a:r>
            <a:r>
              <a:rPr lang="en-US" sz="1600" dirty="0" err="1"/>
              <a:t>node.rightChild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7755370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Preorder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Preorder</a:t>
            </a:r>
            <a:r>
              <a:rPr lang="en-US" sz="2400" dirty="0"/>
              <a:t>(node) {</a:t>
            </a:r>
          </a:p>
          <a:p>
            <a:pPr marL="0" indent="0">
              <a:buNone/>
            </a:pPr>
            <a:r>
              <a:rPr lang="en-US" sz="2400" dirty="0"/>
              <a:t>   print node</a:t>
            </a:r>
          </a:p>
          <a:p>
            <a:pPr marL="0" indent="0">
              <a:buNone/>
            </a:pPr>
            <a:r>
              <a:rPr lang="en-US" sz="2400" dirty="0"/>
              <a:t>   Preorder(</a:t>
            </a:r>
            <a:r>
              <a:rPr lang="en-US" sz="2400" dirty="0" err="1"/>
              <a:t>node.leftChild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Preorder(</a:t>
            </a:r>
            <a:r>
              <a:rPr lang="en-US" sz="2400" dirty="0" err="1"/>
              <a:t>node.rightChild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46900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Preorder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Preorder</a:t>
            </a:r>
            <a:r>
              <a:rPr lang="en-US" sz="2400" dirty="0"/>
              <a:t>(node) {</a:t>
            </a:r>
          </a:p>
          <a:p>
            <a:pPr marL="0" indent="0">
              <a:buNone/>
            </a:pPr>
            <a:r>
              <a:rPr lang="en-US" sz="2400" dirty="0"/>
              <a:t>   print node</a:t>
            </a:r>
          </a:p>
          <a:p>
            <a:pPr marL="0" indent="0">
              <a:buNone/>
            </a:pPr>
            <a:r>
              <a:rPr lang="en-US" sz="2400" dirty="0"/>
              <a:t>   Preorder(</a:t>
            </a:r>
            <a:r>
              <a:rPr lang="en-US" sz="2400" dirty="0" err="1"/>
              <a:t>node.leftChild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Preorder(</a:t>
            </a:r>
            <a:r>
              <a:rPr lang="en-US" sz="2400" dirty="0" err="1"/>
              <a:t>node.rightChild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1 2 3 4 5 6 7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4924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Postorder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Postorder</a:t>
            </a:r>
            <a:r>
              <a:rPr lang="en-US" sz="2400" dirty="0"/>
              <a:t>(node) {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Postorder</a:t>
            </a:r>
            <a:r>
              <a:rPr lang="en-US" sz="2400" dirty="0"/>
              <a:t>(</a:t>
            </a:r>
            <a:r>
              <a:rPr lang="en-US" sz="2400" dirty="0" err="1"/>
              <a:t>node.leftChild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Postorder</a:t>
            </a:r>
            <a:r>
              <a:rPr lang="en-US" sz="2400" dirty="0"/>
              <a:t>(</a:t>
            </a:r>
            <a:r>
              <a:rPr lang="en-US" sz="2400" dirty="0" err="1"/>
              <a:t>node.rightChild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print node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1956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Postorder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Postorder</a:t>
            </a:r>
            <a:r>
              <a:rPr lang="en-US" sz="2400" dirty="0"/>
              <a:t>(node) {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Postorder</a:t>
            </a:r>
            <a:r>
              <a:rPr lang="en-US" sz="2400" dirty="0"/>
              <a:t>(</a:t>
            </a:r>
            <a:r>
              <a:rPr lang="en-US" sz="2400" dirty="0" err="1"/>
              <a:t>node.leftChild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Postorder</a:t>
            </a:r>
            <a:r>
              <a:rPr lang="en-US" sz="2400" dirty="0"/>
              <a:t>(</a:t>
            </a:r>
            <a:r>
              <a:rPr lang="en-US" sz="2400" dirty="0" err="1"/>
              <a:t>node.rightChild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print node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3 6 7 5 4 2 1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51511" y="495173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6096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313311" y="60629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7541756" y="5341980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6703556" y="5341980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84711" y="1364691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4"/>
            <a:endCxn id="5" idx="0"/>
          </p:cNvCxnSpPr>
          <p:nvPr/>
        </p:nvCxnSpPr>
        <p:spPr>
          <a:xfrm>
            <a:off x="6313311" y="1821891"/>
            <a:ext cx="0" cy="75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7" idx="0"/>
          </p:cNvCxnSpPr>
          <p:nvPr/>
        </p:nvCxnSpPr>
        <p:spPr>
          <a:xfrm>
            <a:off x="7380111" y="4126868"/>
            <a:ext cx="0" cy="824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2873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Inorder</a:t>
            </a:r>
            <a:r>
              <a:rPr lang="en-US" sz="2400" dirty="0"/>
              <a:t>(node) {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Inorder</a:t>
            </a:r>
            <a:r>
              <a:rPr lang="en-US" sz="2400" dirty="0"/>
              <a:t>(</a:t>
            </a:r>
            <a:r>
              <a:rPr lang="en-US" sz="2400" dirty="0" err="1"/>
              <a:t>node.leftChild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print node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Inorder</a:t>
            </a:r>
            <a:r>
              <a:rPr lang="en-US" sz="2400" dirty="0"/>
              <a:t>(</a:t>
            </a:r>
            <a:r>
              <a:rPr lang="en-US" sz="2400" dirty="0" err="1"/>
              <a:t>node.rightChild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084711" y="4876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6934200" y="602106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5246511" y="59879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474956" y="5267045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636756" y="5267045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292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5"/>
            <a:endCxn id="5" idx="1"/>
          </p:cNvCxnSpPr>
          <p:nvPr/>
        </p:nvCxnSpPr>
        <p:spPr>
          <a:xfrm>
            <a:off x="5419445" y="1914245"/>
            <a:ext cx="732221" cy="733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474956" y="4059913"/>
            <a:ext cx="743510" cy="883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01848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Inorder</a:t>
            </a:r>
            <a:r>
              <a:rPr lang="en-US" sz="2400" dirty="0"/>
              <a:t>(node) {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Inorder</a:t>
            </a:r>
            <a:r>
              <a:rPr lang="en-US" sz="2400" dirty="0"/>
              <a:t>(</a:t>
            </a:r>
            <a:r>
              <a:rPr lang="en-US" sz="2400" dirty="0" err="1"/>
              <a:t>node.leftChild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print node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Inorder</a:t>
            </a:r>
            <a:r>
              <a:rPr lang="en-US" sz="2400" dirty="0"/>
              <a:t>(</a:t>
            </a:r>
            <a:r>
              <a:rPr lang="en-US" sz="2400" dirty="0" err="1"/>
              <a:t>node.rightChild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1 3 2 6 5 7 4</a:t>
            </a:r>
          </a:p>
        </p:txBody>
      </p:sp>
      <p:sp>
        <p:nvSpPr>
          <p:cNvPr id="5" name="Oval 4"/>
          <p:cNvSpPr/>
          <p:nvPr/>
        </p:nvSpPr>
        <p:spPr>
          <a:xfrm>
            <a:off x="6084711" y="258029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227777" y="3599112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084711" y="4876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7151511" y="3669668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6934200" y="6021065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5246511" y="59879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1" name="Straight Arrow Connector 10"/>
          <p:cNvCxnSpPr>
            <a:stCxn id="7" idx="5"/>
            <a:endCxn id="9" idx="1"/>
          </p:cNvCxnSpPr>
          <p:nvPr/>
        </p:nvCxnSpPr>
        <p:spPr>
          <a:xfrm>
            <a:off x="6474956" y="5267045"/>
            <a:ext cx="526199" cy="82097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7"/>
            <a:endCxn id="7" idx="3"/>
          </p:cNvCxnSpPr>
          <p:nvPr/>
        </p:nvCxnSpPr>
        <p:spPr>
          <a:xfrm flipV="1">
            <a:off x="5636756" y="5267045"/>
            <a:ext cx="514910" cy="7878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18022" y="2970535"/>
            <a:ext cx="533644" cy="6955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74956" y="2970535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292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6" name="Straight Connector 15"/>
          <p:cNvCxnSpPr>
            <a:stCxn id="15" idx="5"/>
            <a:endCxn id="5" idx="1"/>
          </p:cNvCxnSpPr>
          <p:nvPr/>
        </p:nvCxnSpPr>
        <p:spPr>
          <a:xfrm>
            <a:off x="5419445" y="1914245"/>
            <a:ext cx="732221" cy="733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3"/>
            <a:endCxn id="7" idx="7"/>
          </p:cNvCxnSpPr>
          <p:nvPr/>
        </p:nvCxnSpPr>
        <p:spPr>
          <a:xfrm flipH="1">
            <a:off x="6474956" y="4059913"/>
            <a:ext cx="743510" cy="883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0415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CLRS chapter 10, section 4 “Representing rooted </a:t>
            </a:r>
            <a:r>
              <a:rPr lang="en-US"/>
              <a:t>trees”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427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3802</TotalTime>
  <Words>2396</Words>
  <Application>Microsoft Office PowerPoint</Application>
  <PresentationFormat>On-screen Show (4:3)</PresentationFormat>
  <Paragraphs>967</Paragraphs>
  <Slides>105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10" baseType="lpstr">
      <vt:lpstr>Arial</vt:lpstr>
      <vt:lpstr>Calibri</vt:lpstr>
      <vt:lpstr>Kootenay</vt:lpstr>
      <vt:lpstr>Verdana</vt:lpstr>
      <vt:lpstr>Office Theme</vt:lpstr>
      <vt:lpstr>Lecture 5 Tree walks and tree representations</vt:lpstr>
      <vt:lpstr>Trees</vt:lpstr>
      <vt:lpstr>Trees</vt:lpstr>
      <vt:lpstr>Trees</vt:lpstr>
      <vt:lpstr>Rooted trees</vt:lpstr>
      <vt:lpstr>Children</vt:lpstr>
      <vt:lpstr>Children</vt:lpstr>
      <vt:lpstr>Parents and ancestors</vt:lpstr>
      <vt:lpstr>Data structures for trees</vt:lpstr>
      <vt:lpstr>General representation of trees</vt:lpstr>
      <vt:lpstr>Using an array</vt:lpstr>
      <vt:lpstr>Using a linked list</vt:lpstr>
      <vt:lpstr>Using a linked list</vt:lpstr>
      <vt:lpstr>Moving the link into the node</vt:lpstr>
      <vt:lpstr>Moving the link into the node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Tree walks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Breadth-first walk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Using a stack</vt:lpstr>
      <vt:lpstr>Depth-first walk</vt:lpstr>
      <vt:lpstr>Depth-first walk</vt:lpstr>
      <vt:lpstr>Recursive depth-first walk</vt:lpstr>
      <vt:lpstr>Specialized tree representations</vt:lpstr>
      <vt:lpstr>Binary trees</vt:lpstr>
      <vt:lpstr>Optimized binary tree representation</vt:lpstr>
      <vt:lpstr>Why are binary trees popular?</vt:lpstr>
      <vt:lpstr>Left child/right sibling is technically a binary tree</vt:lpstr>
      <vt:lpstr>Scheme lists are binary trees (without parent pointers)</vt:lpstr>
      <vt:lpstr>Decision trees</vt:lpstr>
      <vt:lpstr>Depth-first traversals of binary trees</vt:lpstr>
      <vt:lpstr>Preorder traversal</vt:lpstr>
      <vt:lpstr>Preorder traversal</vt:lpstr>
      <vt:lpstr>Postorder traversal</vt:lpstr>
      <vt:lpstr>Postorder traversal</vt:lpstr>
      <vt:lpstr>Inorder traversal</vt:lpstr>
      <vt:lpstr>Inorder traversal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Ian Horswill</cp:lastModifiedBy>
  <cp:revision>189</cp:revision>
  <cp:lastPrinted>2015-04-16T22:30:35Z</cp:lastPrinted>
  <dcterms:created xsi:type="dcterms:W3CDTF">2010-03-27T22:31:10Z</dcterms:created>
  <dcterms:modified xsi:type="dcterms:W3CDTF">2017-04-10T18:00:25Z</dcterms:modified>
</cp:coreProperties>
</file>