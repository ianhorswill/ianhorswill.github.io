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68" r:id="rId4"/>
    <p:sldId id="267" r:id="rId5"/>
    <p:sldId id="271" r:id="rId6"/>
    <p:sldId id="272" r:id="rId7"/>
    <p:sldId id="273" r:id="rId8"/>
    <p:sldId id="289" r:id="rId9"/>
    <p:sldId id="291" r:id="rId10"/>
    <p:sldId id="290" r:id="rId11"/>
    <p:sldId id="328" r:id="rId12"/>
    <p:sldId id="274" r:id="rId13"/>
    <p:sldId id="279" r:id="rId14"/>
    <p:sldId id="287" r:id="rId15"/>
    <p:sldId id="288" r:id="rId16"/>
    <p:sldId id="275" r:id="rId17"/>
    <p:sldId id="276" r:id="rId18"/>
    <p:sldId id="278" r:id="rId19"/>
    <p:sldId id="277" r:id="rId20"/>
    <p:sldId id="293" r:id="rId21"/>
    <p:sldId id="294" r:id="rId22"/>
    <p:sldId id="295" r:id="rId23"/>
    <p:sldId id="296" r:id="rId24"/>
    <p:sldId id="297" r:id="rId25"/>
    <p:sldId id="298" r:id="rId26"/>
    <p:sldId id="299" r:id="rId27"/>
    <p:sldId id="326" r:id="rId28"/>
    <p:sldId id="281" r:id="rId29"/>
    <p:sldId id="331" r:id="rId30"/>
    <p:sldId id="332" r:id="rId31"/>
    <p:sldId id="300" r:id="rId32"/>
    <p:sldId id="301" r:id="rId33"/>
    <p:sldId id="302" r:id="rId34"/>
    <p:sldId id="303" r:id="rId35"/>
    <p:sldId id="304" r:id="rId36"/>
    <p:sldId id="305" r:id="rId37"/>
    <p:sldId id="306" r:id="rId38"/>
    <p:sldId id="307" r:id="rId39"/>
    <p:sldId id="308" r:id="rId40"/>
    <p:sldId id="309" r:id="rId41"/>
    <p:sldId id="266" r:id="rId42"/>
    <p:sldId id="282" r:id="rId43"/>
    <p:sldId id="319" r:id="rId44"/>
    <p:sldId id="320" r:id="rId45"/>
    <p:sldId id="283" r:id="rId46"/>
    <p:sldId id="284" r:id="rId47"/>
    <p:sldId id="327" r:id="rId48"/>
    <p:sldId id="322" r:id="rId49"/>
    <p:sldId id="336" r:id="rId50"/>
    <p:sldId id="333" r:id="rId51"/>
    <p:sldId id="258" r:id="rId52"/>
    <p:sldId id="321" r:id="rId53"/>
    <p:sldId id="261" r:id="rId54"/>
    <p:sldId id="337" r:id="rId55"/>
    <p:sldId id="259" r:id="rId56"/>
    <p:sldId id="260" r:id="rId57"/>
    <p:sldId id="330" r:id="rId58"/>
    <p:sldId id="334" r:id="rId59"/>
    <p:sldId id="335" r:id="rId60"/>
    <p:sldId id="325" r:id="rId61"/>
    <p:sldId id="262" r:id="rId62"/>
    <p:sldId id="263" r:id="rId63"/>
    <p:sldId id="323"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97" d="100"/>
          <a:sy n="97" d="100"/>
        </p:scale>
        <p:origin x="948"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197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n</c:v>
                </c:pt>
              </c:strCache>
            </c:strRef>
          </c:tx>
          <c:marker>
            <c:symbol val="none"/>
          </c:marker>
          <c:cat>
            <c:numRef>
              <c:f>Sheet1!$A$2:$A$17</c:f>
              <c:numCache>
                <c:formatCode>General</c:formatCode>
                <c:ptCount val="16"/>
              </c:numCache>
            </c:numRef>
          </c:cat>
          <c:val>
            <c:numRef>
              <c:f>Sheet1!$B$2:$B$17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val>
          <c:smooth val="0"/>
          <c:extLst>
            <c:ext xmlns:c16="http://schemas.microsoft.com/office/drawing/2014/chart" uri="{C3380CC4-5D6E-409C-BE32-E72D297353CC}">
              <c16:uniqueId val="{00000000-4770-42A0-BA30-D0D7C935ED99}"/>
            </c:ext>
          </c:extLst>
        </c:ser>
        <c:ser>
          <c:idx val="1"/>
          <c:order val="1"/>
          <c:tx>
            <c:strRef>
              <c:f>Sheet1!$C$1</c:f>
              <c:strCache>
                <c:ptCount val="1"/>
                <c:pt idx="0">
                  <c:v>log2 n</c:v>
                </c:pt>
              </c:strCache>
            </c:strRef>
          </c:tx>
          <c:marker>
            <c:symbol val="none"/>
          </c:marker>
          <c:cat>
            <c:numRef>
              <c:f>Sheet1!$A$2:$A$17</c:f>
              <c:numCache>
                <c:formatCode>General</c:formatCode>
                <c:ptCount val="16"/>
              </c:numCache>
            </c:numRef>
          </c:cat>
          <c:val>
            <c:numRef>
              <c:f>Sheet1!$C$2:$C$17</c:f>
              <c:numCache>
                <c:formatCode>General</c:formatCode>
                <c:ptCount val="16"/>
                <c:pt idx="0">
                  <c:v>0</c:v>
                </c:pt>
                <c:pt idx="1">
                  <c:v>1</c:v>
                </c:pt>
                <c:pt idx="2">
                  <c:v>1.5849625007211561</c:v>
                </c:pt>
                <c:pt idx="3">
                  <c:v>2</c:v>
                </c:pt>
                <c:pt idx="4">
                  <c:v>2.3219280948873622</c:v>
                </c:pt>
                <c:pt idx="5">
                  <c:v>2.5849625007211561</c:v>
                </c:pt>
                <c:pt idx="6">
                  <c:v>2.8073549220576042</c:v>
                </c:pt>
                <c:pt idx="7">
                  <c:v>3</c:v>
                </c:pt>
                <c:pt idx="8">
                  <c:v>3.169925001442313</c:v>
                </c:pt>
                <c:pt idx="9">
                  <c:v>3.3219280948873631</c:v>
                </c:pt>
                <c:pt idx="10">
                  <c:v>3.4594316186372982</c:v>
                </c:pt>
                <c:pt idx="11">
                  <c:v>3.584962500721157</c:v>
                </c:pt>
                <c:pt idx="12">
                  <c:v>3.7004397181410931</c:v>
                </c:pt>
                <c:pt idx="13">
                  <c:v>3.8073549220576042</c:v>
                </c:pt>
                <c:pt idx="14">
                  <c:v>3.9068905956085191</c:v>
                </c:pt>
                <c:pt idx="15">
                  <c:v>4</c:v>
                </c:pt>
              </c:numCache>
            </c:numRef>
          </c:val>
          <c:smooth val="0"/>
          <c:extLst>
            <c:ext xmlns:c16="http://schemas.microsoft.com/office/drawing/2014/chart" uri="{C3380CC4-5D6E-409C-BE32-E72D297353CC}">
              <c16:uniqueId val="{00000001-4770-42A0-BA30-D0D7C935ED99}"/>
            </c:ext>
          </c:extLst>
        </c:ser>
        <c:dLbls>
          <c:showLegendKey val="0"/>
          <c:showVal val="0"/>
          <c:showCatName val="0"/>
          <c:showSerName val="0"/>
          <c:showPercent val="0"/>
          <c:showBubbleSize val="0"/>
        </c:dLbls>
        <c:smooth val="0"/>
        <c:axId val="334691928"/>
        <c:axId val="334685264"/>
      </c:lineChart>
      <c:catAx>
        <c:axId val="334691928"/>
        <c:scaling>
          <c:orientation val="minMax"/>
        </c:scaling>
        <c:delete val="0"/>
        <c:axPos val="b"/>
        <c:numFmt formatCode="General" sourceLinked="1"/>
        <c:majorTickMark val="out"/>
        <c:minorTickMark val="none"/>
        <c:tickLblPos val="nextTo"/>
        <c:crossAx val="334685264"/>
        <c:crosses val="autoZero"/>
        <c:auto val="1"/>
        <c:lblAlgn val="ctr"/>
        <c:lblOffset val="100"/>
        <c:noMultiLvlLbl val="0"/>
      </c:catAx>
      <c:valAx>
        <c:axId val="334685264"/>
        <c:scaling>
          <c:orientation val="minMax"/>
        </c:scaling>
        <c:delete val="0"/>
        <c:axPos val="l"/>
        <c:majorGridlines/>
        <c:numFmt formatCode="General" sourceLinked="1"/>
        <c:majorTickMark val="out"/>
        <c:minorTickMark val="none"/>
        <c:tickLblPos val="nextTo"/>
        <c:crossAx val="334691928"/>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n</c:v>
                </c:pt>
              </c:strCache>
            </c:strRef>
          </c:tx>
          <c:marker>
            <c:symbol val="none"/>
          </c:marker>
          <c:cat>
            <c:numRef>
              <c:f>Sheet1!$A$2:$A$17</c:f>
              <c:numCache>
                <c:formatCode>General</c:formatCode>
                <c:ptCount val="16"/>
              </c:numCache>
            </c:numRef>
          </c:cat>
          <c:val>
            <c:numRef>
              <c:f>Sheet1!$B$2:$B$17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val>
          <c:smooth val="0"/>
          <c:extLst>
            <c:ext xmlns:c16="http://schemas.microsoft.com/office/drawing/2014/chart" uri="{C3380CC4-5D6E-409C-BE32-E72D297353CC}">
              <c16:uniqueId val="{00000000-B931-4BB7-812F-A4DDABCEF7A6}"/>
            </c:ext>
          </c:extLst>
        </c:ser>
        <c:ser>
          <c:idx val="1"/>
          <c:order val="1"/>
          <c:tx>
            <c:strRef>
              <c:f>Sheet1!$C$1</c:f>
              <c:strCache>
                <c:ptCount val="1"/>
                <c:pt idx="0">
                  <c:v>4*log2 n</c:v>
                </c:pt>
              </c:strCache>
            </c:strRef>
          </c:tx>
          <c:marker>
            <c:symbol val="none"/>
          </c:marker>
          <c:cat>
            <c:numRef>
              <c:f>Sheet1!$A$2:$A$17</c:f>
              <c:numCache>
                <c:formatCode>General</c:formatCode>
                <c:ptCount val="16"/>
              </c:numCache>
            </c:numRef>
          </c:cat>
          <c:val>
            <c:numRef>
              <c:f>Sheet1!$C$2:$C$17</c:f>
              <c:numCache>
                <c:formatCode>General</c:formatCode>
                <c:ptCount val="16"/>
                <c:pt idx="0">
                  <c:v>0</c:v>
                </c:pt>
                <c:pt idx="1">
                  <c:v>4</c:v>
                </c:pt>
                <c:pt idx="2">
                  <c:v>6.3398500028846296</c:v>
                </c:pt>
                <c:pt idx="3">
                  <c:v>8</c:v>
                </c:pt>
                <c:pt idx="4">
                  <c:v>9.2877123795494505</c:v>
                </c:pt>
                <c:pt idx="5">
                  <c:v>10.339850002884621</c:v>
                </c:pt>
                <c:pt idx="6">
                  <c:v>11.22941968823042</c:v>
                </c:pt>
                <c:pt idx="7">
                  <c:v>12</c:v>
                </c:pt>
                <c:pt idx="8">
                  <c:v>12.67970000576925</c:v>
                </c:pt>
                <c:pt idx="9">
                  <c:v>13.287712379549451</c:v>
                </c:pt>
                <c:pt idx="10">
                  <c:v>13.8377264745492</c:v>
                </c:pt>
                <c:pt idx="11">
                  <c:v>14.33985000288463</c:v>
                </c:pt>
                <c:pt idx="12">
                  <c:v>14.801758872564371</c:v>
                </c:pt>
                <c:pt idx="13">
                  <c:v>15.22941968823041</c:v>
                </c:pt>
                <c:pt idx="14">
                  <c:v>15.627562382434069</c:v>
                </c:pt>
                <c:pt idx="15">
                  <c:v>16</c:v>
                </c:pt>
              </c:numCache>
            </c:numRef>
          </c:val>
          <c:smooth val="0"/>
          <c:extLst>
            <c:ext xmlns:c16="http://schemas.microsoft.com/office/drawing/2014/chart" uri="{C3380CC4-5D6E-409C-BE32-E72D297353CC}">
              <c16:uniqueId val="{00000001-B931-4BB7-812F-A4DDABCEF7A6}"/>
            </c:ext>
          </c:extLst>
        </c:ser>
        <c:dLbls>
          <c:showLegendKey val="0"/>
          <c:showVal val="0"/>
          <c:showCatName val="0"/>
          <c:showSerName val="0"/>
          <c:showPercent val="0"/>
          <c:showBubbleSize val="0"/>
        </c:dLbls>
        <c:smooth val="0"/>
        <c:axId val="334692320"/>
        <c:axId val="334691144"/>
      </c:lineChart>
      <c:catAx>
        <c:axId val="334692320"/>
        <c:scaling>
          <c:orientation val="minMax"/>
        </c:scaling>
        <c:delete val="0"/>
        <c:axPos val="b"/>
        <c:numFmt formatCode="General" sourceLinked="1"/>
        <c:majorTickMark val="out"/>
        <c:minorTickMark val="none"/>
        <c:tickLblPos val="nextTo"/>
        <c:crossAx val="334691144"/>
        <c:crosses val="autoZero"/>
        <c:auto val="1"/>
        <c:lblAlgn val="ctr"/>
        <c:lblOffset val="100"/>
        <c:noMultiLvlLbl val="0"/>
      </c:catAx>
      <c:valAx>
        <c:axId val="334691144"/>
        <c:scaling>
          <c:orientation val="minMax"/>
        </c:scaling>
        <c:delete val="0"/>
        <c:axPos val="l"/>
        <c:majorGridlines/>
        <c:numFmt formatCode="General" sourceLinked="1"/>
        <c:majorTickMark val="out"/>
        <c:minorTickMark val="none"/>
        <c:tickLblPos val="nextTo"/>
        <c:crossAx val="334692320"/>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n</c:v>
                </c:pt>
              </c:strCache>
            </c:strRef>
          </c:tx>
          <c:marker>
            <c:symbol val="none"/>
          </c:marker>
          <c:cat>
            <c:numRef>
              <c:f>Sheet1!$A$2:$A$81</c:f>
              <c:numCache>
                <c:formatCode>General</c:formatCode>
                <c:ptCount val="80"/>
              </c:numCache>
            </c:numRef>
          </c:cat>
          <c:val>
            <c:numRef>
              <c:f>Sheet1!$B$2:$B$81</c:f>
              <c:numCache>
                <c:formatCode>General</c:formatCode>
                <c:ptCount val="8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numCache>
            </c:numRef>
          </c:val>
          <c:smooth val="0"/>
          <c:extLst>
            <c:ext xmlns:c16="http://schemas.microsoft.com/office/drawing/2014/chart" uri="{C3380CC4-5D6E-409C-BE32-E72D297353CC}">
              <c16:uniqueId val="{00000000-9441-4161-8AB9-A59CC122A771}"/>
            </c:ext>
          </c:extLst>
        </c:ser>
        <c:ser>
          <c:idx val="1"/>
          <c:order val="1"/>
          <c:tx>
            <c:strRef>
              <c:f>Sheet1!$C$1</c:f>
              <c:strCache>
                <c:ptCount val="1"/>
                <c:pt idx="0">
                  <c:v>4*log2 n</c:v>
                </c:pt>
              </c:strCache>
            </c:strRef>
          </c:tx>
          <c:marker>
            <c:symbol val="none"/>
          </c:marker>
          <c:cat>
            <c:numRef>
              <c:f>Sheet1!$A$2:$A$81</c:f>
              <c:numCache>
                <c:formatCode>General</c:formatCode>
                <c:ptCount val="80"/>
              </c:numCache>
            </c:numRef>
          </c:cat>
          <c:val>
            <c:numRef>
              <c:f>Sheet1!$C$2:$C$81</c:f>
              <c:numCache>
                <c:formatCode>General</c:formatCode>
                <c:ptCount val="80"/>
                <c:pt idx="0">
                  <c:v>0</c:v>
                </c:pt>
                <c:pt idx="1">
                  <c:v>4</c:v>
                </c:pt>
                <c:pt idx="2">
                  <c:v>6.3398500028846296</c:v>
                </c:pt>
                <c:pt idx="3">
                  <c:v>8</c:v>
                </c:pt>
                <c:pt idx="4">
                  <c:v>9.2877123795494505</c:v>
                </c:pt>
                <c:pt idx="5">
                  <c:v>10.339850002884621</c:v>
                </c:pt>
                <c:pt idx="6">
                  <c:v>11.22941968823042</c:v>
                </c:pt>
                <c:pt idx="7">
                  <c:v>12</c:v>
                </c:pt>
                <c:pt idx="8">
                  <c:v>12.67970000576925</c:v>
                </c:pt>
                <c:pt idx="9">
                  <c:v>13.287712379549451</c:v>
                </c:pt>
                <c:pt idx="10">
                  <c:v>13.8377264745492</c:v>
                </c:pt>
                <c:pt idx="11">
                  <c:v>14.33985000288463</c:v>
                </c:pt>
                <c:pt idx="12">
                  <c:v>14.801758872564371</c:v>
                </c:pt>
                <c:pt idx="13">
                  <c:v>15.22941968823041</c:v>
                </c:pt>
                <c:pt idx="14">
                  <c:v>15.627562382434069</c:v>
                </c:pt>
                <c:pt idx="15">
                  <c:v>16</c:v>
                </c:pt>
                <c:pt idx="16">
                  <c:v>16.34985136500136</c:v>
                </c:pt>
                <c:pt idx="17">
                  <c:v>16.67970000576922</c:v>
                </c:pt>
                <c:pt idx="18">
                  <c:v>16.99171005377432</c:v>
                </c:pt>
                <c:pt idx="19">
                  <c:v>17.287712379549379</c:v>
                </c:pt>
                <c:pt idx="20">
                  <c:v>17.569269691115039</c:v>
                </c:pt>
                <c:pt idx="21">
                  <c:v>17.837726474549189</c:v>
                </c:pt>
                <c:pt idx="22">
                  <c:v>18.094247824228049</c:v>
                </c:pt>
                <c:pt idx="23">
                  <c:v>18.339850002884631</c:v>
                </c:pt>
                <c:pt idx="24">
                  <c:v>18.575424759098901</c:v>
                </c:pt>
                <c:pt idx="25">
                  <c:v>18.801758872564371</c:v>
                </c:pt>
                <c:pt idx="26">
                  <c:v>19.01955000865388</c:v>
                </c:pt>
                <c:pt idx="27">
                  <c:v>19.229419688230411</c:v>
                </c:pt>
                <c:pt idx="28">
                  <c:v>19.431923980510291</c:v>
                </c:pt>
                <c:pt idx="29">
                  <c:v>19.627562382434071</c:v>
                </c:pt>
                <c:pt idx="30">
                  <c:v>19.8167852415475</c:v>
                </c:pt>
                <c:pt idx="31">
                  <c:v>20</c:v>
                </c:pt>
                <c:pt idx="32">
                  <c:v>20.17757647743381</c:v>
                </c:pt>
                <c:pt idx="33">
                  <c:v>20.34985136500136</c:v>
                </c:pt>
                <c:pt idx="34">
                  <c:v>20.517132067779858</c:v>
                </c:pt>
                <c:pt idx="35">
                  <c:v>20.67970000576922</c:v>
                </c:pt>
                <c:pt idx="36">
                  <c:v>20.8378134625158</c:v>
                </c:pt>
                <c:pt idx="37">
                  <c:v>20.99171005377432</c:v>
                </c:pt>
                <c:pt idx="38">
                  <c:v>21.141608875448991</c:v>
                </c:pt>
                <c:pt idx="39">
                  <c:v>21.287712379549379</c:v>
                </c:pt>
                <c:pt idx="40">
                  <c:v>21.430208018472332</c:v>
                </c:pt>
                <c:pt idx="41">
                  <c:v>21.569269691115039</c:v>
                </c:pt>
                <c:pt idx="42">
                  <c:v>21.705059018808392</c:v>
                </c:pt>
                <c:pt idx="43">
                  <c:v>21.837726474549189</c:v>
                </c:pt>
                <c:pt idx="44">
                  <c:v>21.967412385318699</c:v>
                </c:pt>
                <c:pt idx="45">
                  <c:v>22.094247824228049</c:v>
                </c:pt>
                <c:pt idx="46">
                  <c:v>22.21835540671055</c:v>
                </c:pt>
                <c:pt idx="47">
                  <c:v>22.339850002884631</c:v>
                </c:pt>
                <c:pt idx="48">
                  <c:v>22.458839376460819</c:v>
                </c:pt>
                <c:pt idx="49">
                  <c:v>22.575424759098901</c:v>
                </c:pt>
                <c:pt idx="50">
                  <c:v>22.689701367885981</c:v>
                </c:pt>
                <c:pt idx="51">
                  <c:v>22.801758872564371</c:v>
                </c:pt>
                <c:pt idx="52">
                  <c:v>22.911681818252799</c:v>
                </c:pt>
                <c:pt idx="53">
                  <c:v>23.01955000865388</c:v>
                </c:pt>
                <c:pt idx="54">
                  <c:v>23.12543885409864</c:v>
                </c:pt>
                <c:pt idx="55">
                  <c:v>23.229419688230411</c:v>
                </c:pt>
                <c:pt idx="56">
                  <c:v>23.331560056658969</c:v>
                </c:pt>
                <c:pt idx="57">
                  <c:v>23.431923980510291</c:v>
                </c:pt>
                <c:pt idx="58">
                  <c:v>23.53057219744737</c:v>
                </c:pt>
                <c:pt idx="59">
                  <c:v>23.627562382434071</c:v>
                </c:pt>
                <c:pt idx="60">
                  <c:v>23.72294935025154</c:v>
                </c:pt>
                <c:pt idx="61">
                  <c:v>23.8167852415475</c:v>
                </c:pt>
                <c:pt idx="62">
                  <c:v>23.90911969399966</c:v>
                </c:pt>
                <c:pt idx="63">
                  <c:v>24</c:v>
                </c:pt>
                <c:pt idx="64">
                  <c:v>24.08947125211381</c:v>
                </c:pt>
                <c:pt idx="65">
                  <c:v>24.17757647743381</c:v>
                </c:pt>
                <c:pt idx="66">
                  <c:v>24.264356761831088</c:v>
                </c:pt>
                <c:pt idx="67">
                  <c:v>24.34985136500136</c:v>
                </c:pt>
                <c:pt idx="68">
                  <c:v>24.43409782711268</c:v>
                </c:pt>
                <c:pt idx="69">
                  <c:v>24.517132067779869</c:v>
                </c:pt>
                <c:pt idx="70">
                  <c:v>24.59898847801874</c:v>
                </c:pt>
                <c:pt idx="71">
                  <c:v>24.67970000576922</c:v>
                </c:pt>
                <c:pt idx="72">
                  <c:v>24.75929823552007</c:v>
                </c:pt>
                <c:pt idx="73">
                  <c:v>24.837813462515811</c:v>
                </c:pt>
                <c:pt idx="74">
                  <c:v>24.915274761983529</c:v>
                </c:pt>
                <c:pt idx="75">
                  <c:v>24.99171005377432</c:v>
                </c:pt>
                <c:pt idx="76">
                  <c:v>25.067146162779601</c:v>
                </c:pt>
                <c:pt idx="77">
                  <c:v>25.141608875448991</c:v>
                </c:pt>
                <c:pt idx="78">
                  <c:v>25.215122992708409</c:v>
                </c:pt>
                <c:pt idx="79">
                  <c:v>25.287712379549379</c:v>
                </c:pt>
              </c:numCache>
            </c:numRef>
          </c:val>
          <c:smooth val="0"/>
          <c:extLst>
            <c:ext xmlns:c16="http://schemas.microsoft.com/office/drawing/2014/chart" uri="{C3380CC4-5D6E-409C-BE32-E72D297353CC}">
              <c16:uniqueId val="{00000001-9441-4161-8AB9-A59CC122A771}"/>
            </c:ext>
          </c:extLst>
        </c:ser>
        <c:dLbls>
          <c:showLegendKey val="0"/>
          <c:showVal val="0"/>
          <c:showCatName val="0"/>
          <c:showSerName val="0"/>
          <c:showPercent val="0"/>
          <c:showBubbleSize val="0"/>
        </c:dLbls>
        <c:smooth val="0"/>
        <c:axId val="334687224"/>
        <c:axId val="334687616"/>
      </c:lineChart>
      <c:catAx>
        <c:axId val="334687224"/>
        <c:scaling>
          <c:orientation val="minMax"/>
        </c:scaling>
        <c:delete val="0"/>
        <c:axPos val="b"/>
        <c:numFmt formatCode="General" sourceLinked="1"/>
        <c:majorTickMark val="out"/>
        <c:minorTickMark val="none"/>
        <c:tickLblPos val="nextTo"/>
        <c:crossAx val="334687616"/>
        <c:crosses val="autoZero"/>
        <c:auto val="1"/>
        <c:lblAlgn val="ctr"/>
        <c:lblOffset val="100"/>
        <c:noMultiLvlLbl val="0"/>
      </c:catAx>
      <c:valAx>
        <c:axId val="334687616"/>
        <c:scaling>
          <c:orientation val="minMax"/>
        </c:scaling>
        <c:delete val="0"/>
        <c:axPos val="l"/>
        <c:majorGridlines/>
        <c:numFmt formatCode="General" sourceLinked="1"/>
        <c:majorTickMark val="out"/>
        <c:minorTickMark val="none"/>
        <c:tickLblPos val="nextTo"/>
        <c:crossAx val="33468722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n</c:v>
                </c:pt>
              </c:strCache>
            </c:strRef>
          </c:tx>
          <c:marker>
            <c:symbol val="none"/>
          </c:marker>
          <c:cat>
            <c:numRef>
              <c:f>Sheet1!$A$2:$A$81</c:f>
              <c:numCache>
                <c:formatCode>General</c:formatCode>
                <c:ptCount val="80"/>
              </c:numCache>
            </c:numRef>
          </c:cat>
          <c:val>
            <c:numRef>
              <c:f>Sheet1!$B$2:$B$81</c:f>
              <c:numCache>
                <c:formatCode>General</c:formatCode>
                <c:ptCount val="80"/>
                <c:pt idx="0">
                  <c:v>1</c:v>
                </c:pt>
                <c:pt idx="1">
                  <c:v>1000000</c:v>
                </c:pt>
                <c:pt idx="2">
                  <c:v>2000000</c:v>
                </c:pt>
                <c:pt idx="3">
                  <c:v>3000000</c:v>
                </c:pt>
                <c:pt idx="4">
                  <c:v>4000000</c:v>
                </c:pt>
                <c:pt idx="5">
                  <c:v>5000000</c:v>
                </c:pt>
                <c:pt idx="6">
                  <c:v>6000000</c:v>
                </c:pt>
                <c:pt idx="7">
                  <c:v>7000000</c:v>
                </c:pt>
                <c:pt idx="8">
                  <c:v>8000000</c:v>
                </c:pt>
                <c:pt idx="9">
                  <c:v>9000000</c:v>
                </c:pt>
                <c:pt idx="10">
                  <c:v>10000000</c:v>
                </c:pt>
                <c:pt idx="11">
                  <c:v>11000000</c:v>
                </c:pt>
                <c:pt idx="12">
                  <c:v>12000000</c:v>
                </c:pt>
                <c:pt idx="13">
                  <c:v>13000000</c:v>
                </c:pt>
                <c:pt idx="14">
                  <c:v>14000000</c:v>
                </c:pt>
                <c:pt idx="15">
                  <c:v>15000000</c:v>
                </c:pt>
                <c:pt idx="16">
                  <c:v>16000000</c:v>
                </c:pt>
                <c:pt idx="17">
                  <c:v>17000000</c:v>
                </c:pt>
                <c:pt idx="18">
                  <c:v>18000000</c:v>
                </c:pt>
                <c:pt idx="19">
                  <c:v>19000000</c:v>
                </c:pt>
                <c:pt idx="20">
                  <c:v>20000000</c:v>
                </c:pt>
                <c:pt idx="21">
                  <c:v>21000000</c:v>
                </c:pt>
                <c:pt idx="22">
                  <c:v>22000000</c:v>
                </c:pt>
                <c:pt idx="23">
                  <c:v>23000000</c:v>
                </c:pt>
                <c:pt idx="24">
                  <c:v>24000000</c:v>
                </c:pt>
                <c:pt idx="25">
                  <c:v>25000000</c:v>
                </c:pt>
                <c:pt idx="26">
                  <c:v>26000000</c:v>
                </c:pt>
                <c:pt idx="27">
                  <c:v>27000000</c:v>
                </c:pt>
                <c:pt idx="28">
                  <c:v>28000000</c:v>
                </c:pt>
                <c:pt idx="29">
                  <c:v>29000000</c:v>
                </c:pt>
                <c:pt idx="30">
                  <c:v>30000000</c:v>
                </c:pt>
                <c:pt idx="31">
                  <c:v>31000000</c:v>
                </c:pt>
                <c:pt idx="32">
                  <c:v>32000000</c:v>
                </c:pt>
                <c:pt idx="33">
                  <c:v>33000000</c:v>
                </c:pt>
                <c:pt idx="34">
                  <c:v>34000000</c:v>
                </c:pt>
                <c:pt idx="35">
                  <c:v>35000000</c:v>
                </c:pt>
                <c:pt idx="36">
                  <c:v>36000000</c:v>
                </c:pt>
                <c:pt idx="37">
                  <c:v>37000000</c:v>
                </c:pt>
                <c:pt idx="38">
                  <c:v>38000000</c:v>
                </c:pt>
                <c:pt idx="39">
                  <c:v>39000000</c:v>
                </c:pt>
                <c:pt idx="40">
                  <c:v>40000000</c:v>
                </c:pt>
                <c:pt idx="41">
                  <c:v>41000000</c:v>
                </c:pt>
                <c:pt idx="42">
                  <c:v>42000000</c:v>
                </c:pt>
                <c:pt idx="43">
                  <c:v>43000000</c:v>
                </c:pt>
                <c:pt idx="44">
                  <c:v>44000000</c:v>
                </c:pt>
                <c:pt idx="45">
                  <c:v>45000000</c:v>
                </c:pt>
                <c:pt idx="46">
                  <c:v>46000000</c:v>
                </c:pt>
                <c:pt idx="47">
                  <c:v>47000000</c:v>
                </c:pt>
                <c:pt idx="48">
                  <c:v>48000000</c:v>
                </c:pt>
                <c:pt idx="49">
                  <c:v>49000000</c:v>
                </c:pt>
                <c:pt idx="50">
                  <c:v>50000000</c:v>
                </c:pt>
                <c:pt idx="51">
                  <c:v>51000000</c:v>
                </c:pt>
                <c:pt idx="52">
                  <c:v>52000000</c:v>
                </c:pt>
                <c:pt idx="53">
                  <c:v>53000000</c:v>
                </c:pt>
                <c:pt idx="54">
                  <c:v>54000000</c:v>
                </c:pt>
                <c:pt idx="55">
                  <c:v>55000000</c:v>
                </c:pt>
                <c:pt idx="56">
                  <c:v>56000000</c:v>
                </c:pt>
                <c:pt idx="57">
                  <c:v>57000000</c:v>
                </c:pt>
                <c:pt idx="58">
                  <c:v>58000000</c:v>
                </c:pt>
                <c:pt idx="59">
                  <c:v>59000000</c:v>
                </c:pt>
                <c:pt idx="60">
                  <c:v>60000000</c:v>
                </c:pt>
                <c:pt idx="61">
                  <c:v>61000000</c:v>
                </c:pt>
                <c:pt idx="62">
                  <c:v>62000000</c:v>
                </c:pt>
                <c:pt idx="63">
                  <c:v>63000000</c:v>
                </c:pt>
                <c:pt idx="64">
                  <c:v>64000000</c:v>
                </c:pt>
                <c:pt idx="65">
                  <c:v>65000000</c:v>
                </c:pt>
                <c:pt idx="66">
                  <c:v>66000000</c:v>
                </c:pt>
                <c:pt idx="67">
                  <c:v>67000000</c:v>
                </c:pt>
                <c:pt idx="68">
                  <c:v>68000000</c:v>
                </c:pt>
                <c:pt idx="69">
                  <c:v>69000000</c:v>
                </c:pt>
                <c:pt idx="70">
                  <c:v>70000000</c:v>
                </c:pt>
                <c:pt idx="71">
                  <c:v>71000000</c:v>
                </c:pt>
                <c:pt idx="72">
                  <c:v>72000000</c:v>
                </c:pt>
                <c:pt idx="73">
                  <c:v>73000000</c:v>
                </c:pt>
                <c:pt idx="74">
                  <c:v>74000000</c:v>
                </c:pt>
                <c:pt idx="75">
                  <c:v>75000000</c:v>
                </c:pt>
                <c:pt idx="76">
                  <c:v>76000000</c:v>
                </c:pt>
                <c:pt idx="77">
                  <c:v>77000000</c:v>
                </c:pt>
                <c:pt idx="78">
                  <c:v>78000000</c:v>
                </c:pt>
                <c:pt idx="79">
                  <c:v>79000000</c:v>
                </c:pt>
              </c:numCache>
            </c:numRef>
          </c:val>
          <c:smooth val="0"/>
          <c:extLst>
            <c:ext xmlns:c16="http://schemas.microsoft.com/office/drawing/2014/chart" uri="{C3380CC4-5D6E-409C-BE32-E72D297353CC}">
              <c16:uniqueId val="{00000000-7FA0-4F72-80BD-23AA5EE531FD}"/>
            </c:ext>
          </c:extLst>
        </c:ser>
        <c:ser>
          <c:idx val="1"/>
          <c:order val="1"/>
          <c:tx>
            <c:strRef>
              <c:f>Sheet1!$C$1</c:f>
              <c:strCache>
                <c:ptCount val="1"/>
                <c:pt idx="0">
                  <c:v>1000000*log2 n</c:v>
                </c:pt>
              </c:strCache>
            </c:strRef>
          </c:tx>
          <c:marker>
            <c:symbol val="none"/>
          </c:marker>
          <c:cat>
            <c:numRef>
              <c:f>Sheet1!$A$2:$A$81</c:f>
              <c:numCache>
                <c:formatCode>General</c:formatCode>
                <c:ptCount val="80"/>
              </c:numCache>
            </c:numRef>
          </c:cat>
          <c:val>
            <c:numRef>
              <c:f>Sheet1!$C$2:$C$81</c:f>
              <c:numCache>
                <c:formatCode>General</c:formatCode>
                <c:ptCount val="80"/>
                <c:pt idx="0">
                  <c:v>0</c:v>
                </c:pt>
                <c:pt idx="1">
                  <c:v>19931568.569324199</c:v>
                </c:pt>
                <c:pt idx="2">
                  <c:v>20931568.569324199</c:v>
                </c:pt>
                <c:pt idx="3">
                  <c:v>21516531.0700453</c:v>
                </c:pt>
                <c:pt idx="4">
                  <c:v>21931568.569324199</c:v>
                </c:pt>
                <c:pt idx="5">
                  <c:v>22253496.6642115</c:v>
                </c:pt>
                <c:pt idx="6">
                  <c:v>22516531.0700453</c:v>
                </c:pt>
                <c:pt idx="7">
                  <c:v>22738923.491381802</c:v>
                </c:pt>
                <c:pt idx="8">
                  <c:v>22931568.569324199</c:v>
                </c:pt>
                <c:pt idx="9">
                  <c:v>23101493.570766501</c:v>
                </c:pt>
                <c:pt idx="10">
                  <c:v>23253496.6642115</c:v>
                </c:pt>
                <c:pt idx="11">
                  <c:v>23391000.1879615</c:v>
                </c:pt>
                <c:pt idx="12">
                  <c:v>23516531.0700453</c:v>
                </c:pt>
                <c:pt idx="13">
                  <c:v>23632008.2874653</c:v>
                </c:pt>
                <c:pt idx="14">
                  <c:v>23738923.491381802</c:v>
                </c:pt>
                <c:pt idx="15">
                  <c:v>23838459.164932702</c:v>
                </c:pt>
                <c:pt idx="16">
                  <c:v>23931568.569324199</c:v>
                </c:pt>
                <c:pt idx="17">
                  <c:v>24019031.4105745</c:v>
                </c:pt>
                <c:pt idx="18">
                  <c:v>24101493.570766501</c:v>
                </c:pt>
                <c:pt idx="19">
                  <c:v>24179496.082767799</c:v>
                </c:pt>
                <c:pt idx="20">
                  <c:v>24253496.6642115</c:v>
                </c:pt>
                <c:pt idx="21">
                  <c:v>24323885.992102899</c:v>
                </c:pt>
                <c:pt idx="22">
                  <c:v>24391000.1879615</c:v>
                </c:pt>
                <c:pt idx="23">
                  <c:v>24455130.5253812</c:v>
                </c:pt>
                <c:pt idx="24">
                  <c:v>24516531.0700453</c:v>
                </c:pt>
                <c:pt idx="25">
                  <c:v>24575424.759098899</c:v>
                </c:pt>
                <c:pt idx="26">
                  <c:v>24632008.2874653</c:v>
                </c:pt>
                <c:pt idx="27">
                  <c:v>24686456.071487602</c:v>
                </c:pt>
                <c:pt idx="28">
                  <c:v>24738923.491381802</c:v>
                </c:pt>
                <c:pt idx="29">
                  <c:v>24789549.564451698</c:v>
                </c:pt>
                <c:pt idx="30">
                  <c:v>24838459.164932702</c:v>
                </c:pt>
                <c:pt idx="31">
                  <c:v>24885764.879710998</c:v>
                </c:pt>
                <c:pt idx="32">
                  <c:v>24931568.569324199</c:v>
                </c:pt>
                <c:pt idx="33">
                  <c:v>24975962.688682601</c:v>
                </c:pt>
                <c:pt idx="34">
                  <c:v>25019031.4105745</c:v>
                </c:pt>
                <c:pt idx="35">
                  <c:v>25060851.586269099</c:v>
                </c:pt>
                <c:pt idx="36">
                  <c:v>25101493.570766501</c:v>
                </c:pt>
                <c:pt idx="37">
                  <c:v>25141021.934953101</c:v>
                </c:pt>
                <c:pt idx="38">
                  <c:v>25179496.082767799</c:v>
                </c:pt>
                <c:pt idx="39">
                  <c:v>25216970.788186401</c:v>
                </c:pt>
                <c:pt idx="40">
                  <c:v>25253496.6642115</c:v>
                </c:pt>
                <c:pt idx="41">
                  <c:v>25289120.5739423</c:v>
                </c:pt>
                <c:pt idx="42">
                  <c:v>25323885.992102899</c:v>
                </c:pt>
                <c:pt idx="43">
                  <c:v>25357833.324026302</c:v>
                </c:pt>
                <c:pt idx="44">
                  <c:v>25391000.1879615</c:v>
                </c:pt>
                <c:pt idx="45">
                  <c:v>25423421.665653799</c:v>
                </c:pt>
                <c:pt idx="46">
                  <c:v>25455130.5253812</c:v>
                </c:pt>
                <c:pt idx="47">
                  <c:v>25486157.421001799</c:v>
                </c:pt>
                <c:pt idx="48">
                  <c:v>25516531.0700453</c:v>
                </c:pt>
                <c:pt idx="49">
                  <c:v>25546278.4134394</c:v>
                </c:pt>
                <c:pt idx="50">
                  <c:v>25575424.759098899</c:v>
                </c:pt>
                <c:pt idx="51">
                  <c:v>25603993.911295701</c:v>
                </c:pt>
                <c:pt idx="52">
                  <c:v>25632008.2874653</c:v>
                </c:pt>
                <c:pt idx="53">
                  <c:v>25659489.0238874</c:v>
                </c:pt>
                <c:pt idx="54">
                  <c:v>25686456.071487602</c:v>
                </c:pt>
                <c:pt idx="55">
                  <c:v>25712928.282848801</c:v>
                </c:pt>
                <c:pt idx="56">
                  <c:v>25738923.491381802</c:v>
                </c:pt>
                <c:pt idx="57">
                  <c:v>25764458.5834889</c:v>
                </c:pt>
                <c:pt idx="58">
                  <c:v>25789549.564451698</c:v>
                </c:pt>
                <c:pt idx="59">
                  <c:v>25814211.618686002</c:v>
                </c:pt>
                <c:pt idx="60">
                  <c:v>25838459.164932702</c:v>
                </c:pt>
                <c:pt idx="61">
                  <c:v>25862305.906887099</c:v>
                </c:pt>
                <c:pt idx="62">
                  <c:v>25885764.879710998</c:v>
                </c:pt>
                <c:pt idx="63">
                  <c:v>25908848.4928241</c:v>
                </c:pt>
                <c:pt idx="64">
                  <c:v>25931568.569324199</c:v>
                </c:pt>
                <c:pt idx="65">
                  <c:v>25953936.382352602</c:v>
                </c:pt>
                <c:pt idx="66">
                  <c:v>25975962.688682601</c:v>
                </c:pt>
                <c:pt idx="67">
                  <c:v>25997657.759781901</c:v>
                </c:pt>
                <c:pt idx="68">
                  <c:v>26019031.4105745</c:v>
                </c:pt>
                <c:pt idx="69">
                  <c:v>26040093.026102401</c:v>
                </c:pt>
                <c:pt idx="70">
                  <c:v>26060851.586269099</c:v>
                </c:pt>
                <c:pt idx="71">
                  <c:v>26081315.688829001</c:v>
                </c:pt>
                <c:pt idx="72">
                  <c:v>26101493.570766501</c:v>
                </c:pt>
                <c:pt idx="73">
                  <c:v>26121393.1282042</c:v>
                </c:pt>
                <c:pt idx="74">
                  <c:v>26141021.934953101</c:v>
                </c:pt>
                <c:pt idx="75">
                  <c:v>26160387.2598201</c:v>
                </c:pt>
                <c:pt idx="76">
                  <c:v>26179496.082767799</c:v>
                </c:pt>
                <c:pt idx="77">
                  <c:v>26198355.110019099</c:v>
                </c:pt>
                <c:pt idx="78">
                  <c:v>26216970.788186401</c:v>
                </c:pt>
                <c:pt idx="79">
                  <c:v>26235349.317501299</c:v>
                </c:pt>
              </c:numCache>
            </c:numRef>
          </c:val>
          <c:smooth val="0"/>
          <c:extLst>
            <c:ext xmlns:c16="http://schemas.microsoft.com/office/drawing/2014/chart" uri="{C3380CC4-5D6E-409C-BE32-E72D297353CC}">
              <c16:uniqueId val="{00000001-7FA0-4F72-80BD-23AA5EE531FD}"/>
            </c:ext>
          </c:extLst>
        </c:ser>
        <c:dLbls>
          <c:showLegendKey val="0"/>
          <c:showVal val="0"/>
          <c:showCatName val="0"/>
          <c:showSerName val="0"/>
          <c:showPercent val="0"/>
          <c:showBubbleSize val="0"/>
        </c:dLbls>
        <c:smooth val="0"/>
        <c:axId val="334689968"/>
        <c:axId val="334688008"/>
      </c:lineChart>
      <c:catAx>
        <c:axId val="334689968"/>
        <c:scaling>
          <c:orientation val="minMax"/>
        </c:scaling>
        <c:delete val="0"/>
        <c:axPos val="b"/>
        <c:numFmt formatCode="General" sourceLinked="1"/>
        <c:majorTickMark val="out"/>
        <c:minorTickMark val="none"/>
        <c:tickLblPos val="nextTo"/>
        <c:crossAx val="334688008"/>
        <c:crosses val="autoZero"/>
        <c:auto val="1"/>
        <c:lblAlgn val="ctr"/>
        <c:lblOffset val="100"/>
        <c:noMultiLvlLbl val="0"/>
      </c:catAx>
      <c:valAx>
        <c:axId val="334688008"/>
        <c:scaling>
          <c:orientation val="minMax"/>
        </c:scaling>
        <c:delete val="0"/>
        <c:axPos val="l"/>
        <c:majorGridlines/>
        <c:numFmt formatCode="General" sourceLinked="1"/>
        <c:majorTickMark val="out"/>
        <c:minorTickMark val="none"/>
        <c:tickLblPos val="nextTo"/>
        <c:crossAx val="334689968"/>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n</c:v>
                </c:pt>
              </c:strCache>
            </c:strRef>
          </c:tx>
          <c:marker>
            <c:symbol val="none"/>
          </c:marker>
          <c:cat>
            <c:numRef>
              <c:f>Sheet1!$A$2:$A$81</c:f>
              <c:numCache>
                <c:formatCode>General</c:formatCode>
                <c:ptCount val="80"/>
              </c:numCache>
            </c:numRef>
          </c:cat>
          <c:val>
            <c:numRef>
              <c:f>Sheet1!$B$2:$B$81</c:f>
              <c:numCache>
                <c:formatCode>General</c:formatCode>
                <c:ptCount val="8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numCache>
            </c:numRef>
          </c:val>
          <c:smooth val="0"/>
          <c:extLst>
            <c:ext xmlns:c16="http://schemas.microsoft.com/office/drawing/2014/chart" uri="{C3380CC4-5D6E-409C-BE32-E72D297353CC}">
              <c16:uniqueId val="{00000000-48FC-495C-B843-E02DA3EE2ABD}"/>
            </c:ext>
          </c:extLst>
        </c:ser>
        <c:ser>
          <c:idx val="1"/>
          <c:order val="1"/>
          <c:tx>
            <c:strRef>
              <c:f>Sheet1!$C$1</c:f>
              <c:strCache>
                <c:ptCount val="1"/>
                <c:pt idx="0">
                  <c:v>n log2 n</c:v>
                </c:pt>
              </c:strCache>
            </c:strRef>
          </c:tx>
          <c:marker>
            <c:symbol val="none"/>
          </c:marker>
          <c:cat>
            <c:numRef>
              <c:f>Sheet1!$A$2:$A$81</c:f>
              <c:numCache>
                <c:formatCode>General</c:formatCode>
                <c:ptCount val="80"/>
              </c:numCache>
            </c:numRef>
          </c:cat>
          <c:val>
            <c:numRef>
              <c:f>Sheet1!$C$2:$C$81</c:f>
              <c:numCache>
                <c:formatCode>General</c:formatCode>
                <c:ptCount val="80"/>
                <c:pt idx="0">
                  <c:v>0</c:v>
                </c:pt>
                <c:pt idx="1">
                  <c:v>2</c:v>
                </c:pt>
                <c:pt idx="2">
                  <c:v>4.7548875021634647</c:v>
                </c:pt>
                <c:pt idx="3">
                  <c:v>8</c:v>
                </c:pt>
                <c:pt idx="4">
                  <c:v>11.60964047443681</c:v>
                </c:pt>
                <c:pt idx="5">
                  <c:v>15.50977500432694</c:v>
                </c:pt>
                <c:pt idx="6">
                  <c:v>19.651484454403231</c:v>
                </c:pt>
                <c:pt idx="7">
                  <c:v>24</c:v>
                </c:pt>
                <c:pt idx="8">
                  <c:v>28.529325012980809</c:v>
                </c:pt>
                <c:pt idx="9">
                  <c:v>33.219280948873632</c:v>
                </c:pt>
                <c:pt idx="10">
                  <c:v>38.053747805010211</c:v>
                </c:pt>
                <c:pt idx="11">
                  <c:v>43.01955000865388</c:v>
                </c:pt>
                <c:pt idx="12">
                  <c:v>48.105716335834202</c:v>
                </c:pt>
                <c:pt idx="13">
                  <c:v>53.302968908806449</c:v>
                </c:pt>
                <c:pt idx="14">
                  <c:v>58.603358934127797</c:v>
                </c:pt>
                <c:pt idx="15">
                  <c:v>64</c:v>
                </c:pt>
                <c:pt idx="16">
                  <c:v>69.486868301255782</c:v>
                </c:pt>
                <c:pt idx="17">
                  <c:v>75.058650025961612</c:v>
                </c:pt>
                <c:pt idx="18">
                  <c:v>80.710622755428133</c:v>
                </c:pt>
                <c:pt idx="19">
                  <c:v>86.438561897747263</c:v>
                </c:pt>
                <c:pt idx="20">
                  <c:v>92.23866587835397</c:v>
                </c:pt>
                <c:pt idx="21">
                  <c:v>98.107495610020507</c:v>
                </c:pt>
                <c:pt idx="22">
                  <c:v>104.0419249893113</c:v>
                </c:pt>
                <c:pt idx="23">
                  <c:v>110.0391000173078</c:v>
                </c:pt>
                <c:pt idx="24">
                  <c:v>116.0964047443681</c:v>
                </c:pt>
                <c:pt idx="25">
                  <c:v>122.2114326716684</c:v>
                </c:pt>
                <c:pt idx="26">
                  <c:v>128.3819625584137</c:v>
                </c:pt>
                <c:pt idx="27">
                  <c:v>134.60593781761301</c:v>
                </c:pt>
                <c:pt idx="28">
                  <c:v>140.8814488587</c:v>
                </c:pt>
                <c:pt idx="29">
                  <c:v>147.20671786825559</c:v>
                </c:pt>
                <c:pt idx="30">
                  <c:v>153.58008562199319</c:v>
                </c:pt>
                <c:pt idx="31">
                  <c:v>160</c:v>
                </c:pt>
                <c:pt idx="32">
                  <c:v>166.46500593882891</c:v>
                </c:pt>
                <c:pt idx="33">
                  <c:v>172.97373660251159</c:v>
                </c:pt>
                <c:pt idx="34">
                  <c:v>179.52490559307381</c:v>
                </c:pt>
                <c:pt idx="35">
                  <c:v>186.11730005192331</c:v>
                </c:pt>
                <c:pt idx="36">
                  <c:v>192.74977452827051</c:v>
                </c:pt>
                <c:pt idx="37">
                  <c:v>199.42124551085621</c:v>
                </c:pt>
                <c:pt idx="38">
                  <c:v>206.13068653562769</c:v>
                </c:pt>
                <c:pt idx="39">
                  <c:v>212.8771237954945</c:v>
                </c:pt>
                <c:pt idx="40">
                  <c:v>219.65963218934141</c:v>
                </c:pt>
                <c:pt idx="41">
                  <c:v>226.477331756708</c:v>
                </c:pt>
                <c:pt idx="42">
                  <c:v>233.3293844521902</c:v>
                </c:pt>
                <c:pt idx="43">
                  <c:v>240.21499122004039</c:v>
                </c:pt>
                <c:pt idx="44">
                  <c:v>247.13338933483541</c:v>
                </c:pt>
                <c:pt idx="45">
                  <c:v>254.0838499786226</c:v>
                </c:pt>
                <c:pt idx="46">
                  <c:v>261.065676028849</c:v>
                </c:pt>
                <c:pt idx="47">
                  <c:v>268.07820003461552</c:v>
                </c:pt>
                <c:pt idx="48">
                  <c:v>275.12078236164518</c:v>
                </c:pt>
                <c:pt idx="49">
                  <c:v>282.1928094887362</c:v>
                </c:pt>
                <c:pt idx="50">
                  <c:v>289.29369244054618</c:v>
                </c:pt>
                <c:pt idx="51">
                  <c:v>296.42286534333681</c:v>
                </c:pt>
                <c:pt idx="52">
                  <c:v>303.5797840918496</c:v>
                </c:pt>
                <c:pt idx="53">
                  <c:v>310.76392511682741</c:v>
                </c:pt>
                <c:pt idx="54">
                  <c:v>317.97478424385628</c:v>
                </c:pt>
                <c:pt idx="55">
                  <c:v>325.21187563522602</c:v>
                </c:pt>
                <c:pt idx="56">
                  <c:v>332.47473080739019</c:v>
                </c:pt>
                <c:pt idx="57">
                  <c:v>339.76289771739908</c:v>
                </c:pt>
                <c:pt idx="58">
                  <c:v>347.07593991234859</c:v>
                </c:pt>
                <c:pt idx="59">
                  <c:v>354.41343573651108</c:v>
                </c:pt>
                <c:pt idx="60">
                  <c:v>361.7749775913361</c:v>
                </c:pt>
                <c:pt idx="61">
                  <c:v>369.16017124398633</c:v>
                </c:pt>
                <c:pt idx="62">
                  <c:v>376.56863518049471</c:v>
                </c:pt>
                <c:pt idx="63">
                  <c:v>384</c:v>
                </c:pt>
                <c:pt idx="64">
                  <c:v>391.45390784684952</c:v>
                </c:pt>
                <c:pt idx="65">
                  <c:v>398.93001187765731</c:v>
                </c:pt>
                <c:pt idx="66">
                  <c:v>406.42797576066999</c:v>
                </c:pt>
                <c:pt idx="67">
                  <c:v>413.94747320502319</c:v>
                </c:pt>
                <c:pt idx="68">
                  <c:v>421.48818751769301</c:v>
                </c:pt>
                <c:pt idx="69">
                  <c:v>429.04981118614779</c:v>
                </c:pt>
                <c:pt idx="70">
                  <c:v>436.63204548483242</c:v>
                </c:pt>
                <c:pt idx="71">
                  <c:v>444.23460010384667</c:v>
                </c:pt>
                <c:pt idx="72">
                  <c:v>451.85719279824127</c:v>
                </c:pt>
                <c:pt idx="73">
                  <c:v>459.49954905654221</c:v>
                </c:pt>
                <c:pt idx="74">
                  <c:v>467.16140178719098</c:v>
                </c:pt>
                <c:pt idx="75">
                  <c:v>474.8424910217127</c:v>
                </c:pt>
                <c:pt idx="76">
                  <c:v>482.54256363350748</c:v>
                </c:pt>
                <c:pt idx="77">
                  <c:v>490.26137307125521</c:v>
                </c:pt>
                <c:pt idx="78">
                  <c:v>497.99867910599107</c:v>
                </c:pt>
                <c:pt idx="79">
                  <c:v>505.754247590989</c:v>
                </c:pt>
              </c:numCache>
            </c:numRef>
          </c:val>
          <c:smooth val="0"/>
          <c:extLst>
            <c:ext xmlns:c16="http://schemas.microsoft.com/office/drawing/2014/chart" uri="{C3380CC4-5D6E-409C-BE32-E72D297353CC}">
              <c16:uniqueId val="{00000001-48FC-495C-B843-E02DA3EE2ABD}"/>
            </c:ext>
          </c:extLst>
        </c:ser>
        <c:dLbls>
          <c:showLegendKey val="0"/>
          <c:showVal val="0"/>
          <c:showCatName val="0"/>
          <c:showSerName val="0"/>
          <c:showPercent val="0"/>
          <c:showBubbleSize val="0"/>
        </c:dLbls>
        <c:smooth val="0"/>
        <c:axId val="334686048"/>
        <c:axId val="334686440"/>
      </c:lineChart>
      <c:catAx>
        <c:axId val="334686048"/>
        <c:scaling>
          <c:orientation val="minMax"/>
        </c:scaling>
        <c:delete val="0"/>
        <c:axPos val="b"/>
        <c:numFmt formatCode="General" sourceLinked="1"/>
        <c:majorTickMark val="out"/>
        <c:minorTickMark val="none"/>
        <c:tickLblPos val="nextTo"/>
        <c:crossAx val="334686440"/>
        <c:crosses val="autoZero"/>
        <c:auto val="1"/>
        <c:lblAlgn val="ctr"/>
        <c:lblOffset val="100"/>
        <c:noMultiLvlLbl val="0"/>
      </c:catAx>
      <c:valAx>
        <c:axId val="334686440"/>
        <c:scaling>
          <c:orientation val="minMax"/>
        </c:scaling>
        <c:delete val="0"/>
        <c:axPos val="l"/>
        <c:majorGridlines/>
        <c:numFmt formatCode="General" sourceLinked="1"/>
        <c:majorTickMark val="out"/>
        <c:minorTickMark val="none"/>
        <c:tickLblPos val="nextTo"/>
        <c:crossAx val="334686048"/>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86200"/>
            <a:ext cx="7772400" cy="1470025"/>
          </a:xfrm>
        </p:spPr>
        <p:txBody>
          <a:bodyPr anchor="b"/>
          <a:lstStyle/>
          <a:p>
            <a:r>
              <a:rPr lang="en-US" dirty="0"/>
              <a:t>Click to edit Master title style</a:t>
            </a:r>
          </a:p>
        </p:txBody>
      </p:sp>
      <p:sp>
        <p:nvSpPr>
          <p:cNvPr id="3" name="Subtitle 2"/>
          <p:cNvSpPr>
            <a:spLocks noGrp="1"/>
          </p:cNvSpPr>
          <p:nvPr>
            <p:ph type="subTitle" idx="1"/>
          </p:nvPr>
        </p:nvSpPr>
        <p:spPr>
          <a:xfrm>
            <a:off x="685800" y="5334000"/>
            <a:ext cx="6400800" cy="7620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6896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207140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3479075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1888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562206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2360800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455886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4206203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57651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372798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4/1/2019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00478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Kootenay" pitchFamily="2" charset="0"/>
              </a:defRPr>
            </a:lvl1pPr>
          </a:lstStyle>
          <a:p>
            <a:fld id="{78F7F9AA-A437-4C1D-B7A7-132C663DC277}" type="datetimeFigureOut">
              <a:rPr lang="en-US" smtClean="0"/>
              <a:pPr/>
              <a:t>4/1/2019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Kootenay" pitchFamily="2"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Kootenay" pitchFamily="2" charset="0"/>
              </a:defRPr>
            </a:lvl1pPr>
          </a:lstStyle>
          <a:p>
            <a:fld id="{54A6550D-5249-4695-AA6F-4029ECE97DB6}" type="slidenum">
              <a:rPr lang="en-US" smtClean="0"/>
              <a:pPr/>
              <a:t>‹#›</a:t>
            </a:fld>
            <a:endParaRPr lang="en-US" dirty="0"/>
          </a:p>
        </p:txBody>
      </p:sp>
    </p:spTree>
    <p:extLst>
      <p:ext uri="{BB962C8B-B14F-4D97-AF65-F5344CB8AC3E}">
        <p14:creationId xmlns:p14="http://schemas.microsoft.com/office/powerpoint/2010/main" val="332971127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400" kern="1200">
          <a:solidFill>
            <a:schemeClr val="tx1"/>
          </a:solidFill>
          <a:latin typeface="Kootenay" pitchFamily="2"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lumMod val="75000"/>
              <a:lumOff val="25000"/>
            </a:schemeClr>
          </a:solidFill>
          <a:latin typeface="Kootenay" pitchFamily="2"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lumMod val="75000"/>
              <a:lumOff val="25000"/>
            </a:schemeClr>
          </a:solidFill>
          <a:latin typeface="Kootenay" pitchFamily="2"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lumMod val="75000"/>
              <a:lumOff val="25000"/>
            </a:schemeClr>
          </a:solidFill>
          <a:latin typeface="Kootenay" pitchFamily="2"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Kootenay" pitchFamily="2"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Kootenay"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www.ima.umn.edu/complex/poster.html"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www.autonorth.ca/home/tag/toyota-prius" TargetMode="External"/><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mailto:wwhancock@u.northwestern.edu" TargetMode="External"/><Relationship Id="rId2" Type="http://schemas.openxmlformats.org/officeDocument/2006/relationships/hyperlink" Target="mailto:ian@northwestern.edu"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jetbrains.com/student/?fromMenu" TargetMode="External"/><Relationship Id="rId2" Type="http://schemas.openxmlformats.org/officeDocument/2006/relationships/hyperlink" Target="https://www.visualstudio.com/vs/community/"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hyperlink" Target="https://www.jetbrains.com/student/?fromMenu" TargetMode="External"/><Relationship Id="rId2" Type="http://schemas.openxmlformats.org/officeDocument/2006/relationships/hyperlink" Target="https://www.visualstudio.com/vs/community/?rr=https://www.bing.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dirty="0">
                <a:latin typeface="Kootenay" pitchFamily="2" charset="0"/>
                <a:ea typeface="Verdana" pitchFamily="34" charset="0"/>
                <a:cs typeface="Verdana" pitchFamily="34" charset="0"/>
              </a:rPr>
              <a:t>Introduction to</a:t>
            </a:r>
            <a:br>
              <a:rPr lang="en-US" dirty="0">
                <a:latin typeface="Kootenay" pitchFamily="2" charset="0"/>
                <a:ea typeface="Verdana" pitchFamily="34" charset="0"/>
                <a:cs typeface="Verdana" pitchFamily="34" charset="0"/>
              </a:rPr>
            </a:br>
            <a:r>
              <a:rPr lang="en-US" dirty="0">
                <a:latin typeface="Kootenay" pitchFamily="2" charset="0"/>
                <a:ea typeface="Verdana" pitchFamily="34" charset="0"/>
                <a:cs typeface="Verdana" pitchFamily="34" charset="0"/>
              </a:rPr>
              <a:t>Data Structures and Algorithms</a:t>
            </a:r>
          </a:p>
        </p:txBody>
      </p:sp>
      <p:sp>
        <p:nvSpPr>
          <p:cNvPr id="3" name="Subtitle 2"/>
          <p:cNvSpPr>
            <a:spLocks noGrp="1"/>
          </p:cNvSpPr>
          <p:nvPr>
            <p:ph type="subTitle" idx="1"/>
          </p:nvPr>
        </p:nvSpPr>
        <p:spPr/>
        <p:txBody>
          <a:bodyPr/>
          <a:lstStyle/>
          <a:p>
            <a:pPr algn="l"/>
            <a:r>
              <a:rPr lang="en-US" dirty="0">
                <a:solidFill>
                  <a:schemeClr val="tx1">
                    <a:lumMod val="75000"/>
                    <a:lumOff val="25000"/>
                  </a:schemeClr>
                </a:solidFill>
                <a:latin typeface="Kootenay" pitchFamily="2" charset="0"/>
              </a:rPr>
              <a:t>Ian Horswill</a:t>
            </a:r>
          </a:p>
        </p:txBody>
      </p:sp>
    </p:spTree>
    <p:extLst>
      <p:ext uri="{BB962C8B-B14F-4D97-AF65-F5344CB8AC3E}">
        <p14:creationId xmlns:p14="http://schemas.microsoft.com/office/powerpoint/2010/main" val="115332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dirty="0">
                <a:solidFill>
                  <a:schemeClr val="tx1">
                    <a:lumMod val="50000"/>
                    <a:lumOff val="50000"/>
                  </a:schemeClr>
                </a:solidFill>
                <a:latin typeface="Kootenay" pitchFamily="2" charset="0"/>
                <a:ea typeface="Verdana" pitchFamily="34" charset="0"/>
                <a:cs typeface="Verdana" pitchFamily="34" charset="0"/>
              </a:rPr>
              <a:t>Introduction to</a:t>
            </a:r>
            <a:br>
              <a:rPr lang="en-US" dirty="0">
                <a:solidFill>
                  <a:schemeClr val="tx1">
                    <a:lumMod val="50000"/>
                    <a:lumOff val="50000"/>
                  </a:schemeClr>
                </a:solidFill>
                <a:latin typeface="Kootenay" pitchFamily="2" charset="0"/>
                <a:ea typeface="Verdana" pitchFamily="34" charset="0"/>
                <a:cs typeface="Verdana" pitchFamily="34" charset="0"/>
              </a:rPr>
            </a:br>
            <a:r>
              <a:rPr lang="en-US" dirty="0">
                <a:solidFill>
                  <a:schemeClr val="tx1">
                    <a:lumMod val="50000"/>
                    <a:lumOff val="50000"/>
                  </a:schemeClr>
                </a:solidFill>
                <a:latin typeface="Kootenay" pitchFamily="2" charset="0"/>
                <a:ea typeface="Verdana" pitchFamily="34" charset="0"/>
                <a:cs typeface="Verdana" pitchFamily="34" charset="0"/>
              </a:rPr>
              <a:t>Data Structures and </a:t>
            </a:r>
            <a:r>
              <a:rPr lang="en-US" dirty="0">
                <a:latin typeface="Kootenay" pitchFamily="2" charset="0"/>
                <a:ea typeface="Verdana" pitchFamily="34" charset="0"/>
                <a:cs typeface="Verdana" pitchFamily="34" charset="0"/>
              </a:rPr>
              <a:t>Algorithms</a:t>
            </a:r>
          </a:p>
        </p:txBody>
      </p:sp>
      <p:sp>
        <p:nvSpPr>
          <p:cNvPr id="3" name="Subtitle 2"/>
          <p:cNvSpPr>
            <a:spLocks noGrp="1"/>
          </p:cNvSpPr>
          <p:nvPr>
            <p:ph type="subTitle" idx="1"/>
          </p:nvPr>
        </p:nvSpPr>
        <p:spPr/>
        <p:txBody>
          <a:bodyPr/>
          <a:lstStyle/>
          <a:p>
            <a:pPr algn="l"/>
            <a:endParaRPr lang="en-US" dirty="0">
              <a:solidFill>
                <a:schemeClr val="tx1">
                  <a:lumMod val="75000"/>
                  <a:lumOff val="25000"/>
                </a:schemeClr>
              </a:solidFill>
              <a:latin typeface="Kootenay" pitchFamily="2" charset="0"/>
            </a:endParaRPr>
          </a:p>
        </p:txBody>
      </p:sp>
    </p:spTree>
    <p:extLst>
      <p:ext uri="{BB962C8B-B14F-4D97-AF65-F5344CB8AC3E}">
        <p14:creationId xmlns:p14="http://schemas.microsoft.com/office/powerpoint/2010/main" val="3447551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What do we study</a:t>
            </a:r>
            <a:br>
              <a:rPr lang="en-US" dirty="0"/>
            </a:br>
            <a:r>
              <a:rPr lang="en-US" dirty="0"/>
              <a:t>when we study algorithms?</a:t>
            </a:r>
          </a:p>
        </p:txBody>
      </p:sp>
      <p:sp>
        <p:nvSpPr>
          <p:cNvPr id="3" name="Content Placeholder 2"/>
          <p:cNvSpPr>
            <a:spLocks noGrp="1"/>
          </p:cNvSpPr>
          <p:nvPr>
            <p:ph type="subTitle" idx="1"/>
          </p:nvPr>
        </p:nvSpPr>
        <p:spPr>
          <a:xfrm>
            <a:off x="685800" y="5562600"/>
            <a:ext cx="7620000" cy="533400"/>
          </a:xfrm>
        </p:spPr>
        <p:txBody>
          <a:bodyPr>
            <a:normAutofit fontScale="92500" lnSpcReduction="10000"/>
          </a:bodyPr>
          <a:lstStyle/>
          <a:p>
            <a:pPr algn="l"/>
            <a:r>
              <a:rPr lang="en-US" dirty="0"/>
              <a:t>We find solutions to computational problems</a:t>
            </a:r>
          </a:p>
        </p:txBody>
      </p:sp>
    </p:spTree>
    <p:extLst>
      <p:ext uri="{BB962C8B-B14F-4D97-AF65-F5344CB8AC3E}">
        <p14:creationId xmlns:p14="http://schemas.microsoft.com/office/powerpoint/2010/main" val="261956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do we study</a:t>
            </a:r>
            <a:br>
              <a:rPr lang="en-US" dirty="0"/>
            </a:br>
            <a:r>
              <a:rPr lang="en-US" dirty="0"/>
              <a:t>    when we study algorithms?</a:t>
            </a:r>
          </a:p>
        </p:txBody>
      </p:sp>
      <p:sp>
        <p:nvSpPr>
          <p:cNvPr id="3" name="Content Placeholder 2"/>
          <p:cNvSpPr>
            <a:spLocks noGrp="1"/>
          </p:cNvSpPr>
          <p:nvPr>
            <p:ph sz="half" idx="1"/>
          </p:nvPr>
        </p:nvSpPr>
        <p:spPr>
          <a:xfrm>
            <a:off x="457200" y="1874837"/>
            <a:ext cx="4038600" cy="4525963"/>
          </a:xfrm>
        </p:spPr>
        <p:txBody>
          <a:bodyPr>
            <a:normAutofit fontScale="92500" lnSpcReduction="10000"/>
          </a:bodyPr>
          <a:lstStyle/>
          <a:p>
            <a:r>
              <a:rPr lang="en-US" dirty="0"/>
              <a:t>Problem</a:t>
            </a:r>
          </a:p>
          <a:p>
            <a:pPr lvl="1"/>
            <a:r>
              <a:rPr lang="en-US" dirty="0"/>
              <a:t>Well-defined </a:t>
            </a:r>
            <a:r>
              <a:rPr lang="en-US" b="1" dirty="0">
                <a:solidFill>
                  <a:schemeClr val="accent6">
                    <a:lumMod val="75000"/>
                  </a:schemeClr>
                </a:solidFill>
              </a:rPr>
              <a:t>input</a:t>
            </a:r>
          </a:p>
          <a:p>
            <a:pPr lvl="1"/>
            <a:r>
              <a:rPr lang="en-US" dirty="0"/>
              <a:t>Well-defined </a:t>
            </a:r>
            <a:r>
              <a:rPr lang="en-US" b="1" dirty="0">
                <a:solidFill>
                  <a:schemeClr val="accent6">
                    <a:lumMod val="75000"/>
                  </a:schemeClr>
                </a:solidFill>
              </a:rPr>
              <a:t>desired output</a:t>
            </a:r>
          </a:p>
          <a:p>
            <a:pPr lvl="1"/>
            <a:endParaRPr lang="en-US" dirty="0"/>
          </a:p>
          <a:p>
            <a:r>
              <a:rPr lang="en-US" dirty="0"/>
              <a:t>Solution (</a:t>
            </a:r>
            <a:r>
              <a:rPr lang="en-US" b="1" dirty="0">
                <a:solidFill>
                  <a:schemeClr val="accent6">
                    <a:lumMod val="75000"/>
                  </a:schemeClr>
                </a:solidFill>
              </a:rPr>
              <a:t>algorithm</a:t>
            </a:r>
            <a:r>
              <a:rPr lang="en-US" dirty="0"/>
              <a:t>)</a:t>
            </a:r>
          </a:p>
          <a:p>
            <a:pPr lvl="1"/>
            <a:r>
              <a:rPr lang="en-US" dirty="0"/>
              <a:t>Description of </a:t>
            </a:r>
            <a:r>
              <a:rPr lang="en-US" b="1" dirty="0">
                <a:solidFill>
                  <a:schemeClr val="accent6">
                    <a:lumMod val="75000"/>
                  </a:schemeClr>
                </a:solidFill>
              </a:rPr>
              <a:t>how</a:t>
            </a:r>
            <a:r>
              <a:rPr lang="en-US" dirty="0">
                <a:solidFill>
                  <a:schemeClr val="accent6">
                    <a:lumMod val="75000"/>
                  </a:schemeClr>
                </a:solidFill>
              </a:rPr>
              <a:t> </a:t>
            </a:r>
            <a:r>
              <a:rPr lang="en-US" dirty="0"/>
              <a:t>to derive the output from the input</a:t>
            </a:r>
          </a:p>
          <a:p>
            <a:pPr lvl="1"/>
            <a:r>
              <a:rPr lang="en-US" dirty="0"/>
              <a:t>In terms of </a:t>
            </a:r>
            <a:r>
              <a:rPr lang="en-US" b="1" dirty="0">
                <a:solidFill>
                  <a:schemeClr val="accent6">
                    <a:lumMod val="75000"/>
                  </a:schemeClr>
                </a:solidFill>
              </a:rPr>
              <a:t>operations the computer already understands</a:t>
            </a:r>
          </a:p>
        </p:txBody>
      </p:sp>
      <p:pic>
        <p:nvPicPr>
          <p:cNvPr id="6146" name="Picture 2" descr="http://www.sm.luth.se/csee/courses/smd/167/cormen.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752975" y="1875631"/>
            <a:ext cx="3829050" cy="45243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74560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searching</a:t>
            </a:r>
          </a:p>
        </p:txBody>
      </p:sp>
      <p:sp>
        <p:nvSpPr>
          <p:cNvPr id="3" name="Content Placeholder 2"/>
          <p:cNvSpPr>
            <a:spLocks noGrp="1"/>
          </p:cNvSpPr>
          <p:nvPr>
            <p:ph sz="half" idx="1"/>
          </p:nvPr>
        </p:nvSpPr>
        <p:spPr/>
        <p:txBody>
          <a:bodyPr/>
          <a:lstStyle/>
          <a:p>
            <a:r>
              <a:rPr lang="en-US" dirty="0"/>
              <a:t>Input</a:t>
            </a:r>
          </a:p>
          <a:p>
            <a:pPr lvl="1"/>
            <a:r>
              <a:rPr lang="en-US" dirty="0"/>
              <a:t>A sequence of </a:t>
            </a:r>
            <a:r>
              <a:rPr lang="en-US" b="1" dirty="0">
                <a:solidFill>
                  <a:schemeClr val="accent6">
                    <a:lumMod val="75000"/>
                  </a:schemeClr>
                </a:solidFill>
              </a:rPr>
              <a:t>numbers</a:t>
            </a:r>
          </a:p>
          <a:p>
            <a:pPr lvl="1"/>
            <a:r>
              <a:rPr lang="en-US" dirty="0"/>
              <a:t>A </a:t>
            </a:r>
            <a:r>
              <a:rPr lang="en-US" b="1" dirty="0">
                <a:solidFill>
                  <a:schemeClr val="accent6">
                    <a:lumMod val="75000"/>
                  </a:schemeClr>
                </a:solidFill>
              </a:rPr>
              <a:t>target number </a:t>
            </a:r>
            <a:r>
              <a:rPr lang="en-US" dirty="0"/>
              <a:t>to search for</a:t>
            </a:r>
          </a:p>
          <a:p>
            <a:endParaRPr lang="en-US" dirty="0"/>
          </a:p>
          <a:p>
            <a:r>
              <a:rPr lang="en-US" dirty="0"/>
              <a:t>Output</a:t>
            </a:r>
          </a:p>
          <a:p>
            <a:pPr lvl="1"/>
            <a:r>
              <a:rPr lang="en-US" dirty="0"/>
              <a:t>Does the sequence </a:t>
            </a:r>
            <a:r>
              <a:rPr lang="en-US" b="1" dirty="0">
                <a:solidFill>
                  <a:schemeClr val="accent6">
                    <a:lumMod val="75000"/>
                  </a:schemeClr>
                </a:solidFill>
              </a:rPr>
              <a:t>contain</a:t>
            </a:r>
            <a:r>
              <a:rPr lang="en-US" dirty="0">
                <a:solidFill>
                  <a:schemeClr val="accent6">
                    <a:lumMod val="75000"/>
                  </a:schemeClr>
                </a:solidFill>
              </a:rPr>
              <a:t> </a:t>
            </a:r>
            <a:r>
              <a:rPr lang="en-US" dirty="0"/>
              <a:t>the number?</a:t>
            </a:r>
          </a:p>
        </p:txBody>
      </p:sp>
      <p:pic>
        <p:nvPicPr>
          <p:cNvPr id="9218" name="Picture 2" descr="http://fnc0486.files.wordpress.com/2009/09/searching-man.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191125" y="2020094"/>
            <a:ext cx="2952750" cy="3686175"/>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5867400" y="55626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96367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1: brute force</a:t>
            </a:r>
          </a:p>
        </p:txBody>
      </p:sp>
      <p:sp>
        <p:nvSpPr>
          <p:cNvPr id="5" name="Content Placeholder 4"/>
          <p:cNvSpPr>
            <a:spLocks noGrp="1"/>
          </p:cNvSpPr>
          <p:nvPr>
            <p:ph idx="1"/>
          </p:nvPr>
        </p:nvSpPr>
        <p:spPr/>
        <p:txBody>
          <a:bodyPr/>
          <a:lstStyle/>
          <a:p>
            <a:pPr marL="0" indent="0">
              <a:buNone/>
            </a:pPr>
            <a:r>
              <a:rPr lang="en-US" dirty="0">
                <a:solidFill>
                  <a:schemeClr val="accent3">
                    <a:lumMod val="75000"/>
                  </a:schemeClr>
                </a:solidFill>
              </a:rPr>
              <a:t>for each number n in sequence</a:t>
            </a:r>
          </a:p>
          <a:p>
            <a:pPr marL="0" indent="0">
              <a:buNone/>
            </a:pPr>
            <a:r>
              <a:rPr lang="en-US" dirty="0">
                <a:solidFill>
                  <a:schemeClr val="accent3">
                    <a:lumMod val="75000"/>
                  </a:schemeClr>
                </a:solidFill>
              </a:rPr>
              <a:t>    if (n == target)</a:t>
            </a:r>
          </a:p>
          <a:p>
            <a:pPr marL="0" indent="0">
              <a:buNone/>
            </a:pPr>
            <a:r>
              <a:rPr lang="en-US" dirty="0">
                <a:solidFill>
                  <a:schemeClr val="accent3">
                    <a:lumMod val="75000"/>
                  </a:schemeClr>
                </a:solidFill>
              </a:rPr>
              <a:t>       return true</a:t>
            </a:r>
          </a:p>
          <a:p>
            <a:pPr marL="0" indent="0">
              <a:buNone/>
            </a:pPr>
            <a:r>
              <a:rPr lang="en-US" dirty="0">
                <a:solidFill>
                  <a:schemeClr val="accent3">
                    <a:lumMod val="75000"/>
                  </a:schemeClr>
                </a:solidFill>
              </a:rPr>
              <a:t>return false</a:t>
            </a:r>
          </a:p>
        </p:txBody>
      </p:sp>
    </p:spTree>
    <p:extLst>
      <p:ext uri="{BB962C8B-B14F-4D97-AF65-F5344CB8AC3E}">
        <p14:creationId xmlns:p14="http://schemas.microsoft.com/office/powerpoint/2010/main" val="1240191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fast is it?</a:t>
            </a:r>
          </a:p>
        </p:txBody>
      </p:sp>
      <p:sp>
        <p:nvSpPr>
          <p:cNvPr id="3" name="Content Placeholder 2"/>
          <p:cNvSpPr>
            <a:spLocks noGrp="1"/>
          </p:cNvSpPr>
          <p:nvPr>
            <p:ph sz="half" idx="1"/>
          </p:nvPr>
        </p:nvSpPr>
        <p:spPr/>
        <p:txBody>
          <a:bodyPr/>
          <a:lstStyle/>
          <a:p>
            <a:r>
              <a:rPr lang="en-US" dirty="0"/>
              <a:t>Worst case analysis</a:t>
            </a:r>
          </a:p>
          <a:p>
            <a:pPr lvl="1"/>
            <a:r>
              <a:rPr lang="en-US" dirty="0"/>
              <a:t>Target </a:t>
            </a:r>
            <a:r>
              <a:rPr lang="en-US" b="1" dirty="0">
                <a:solidFill>
                  <a:schemeClr val="accent6">
                    <a:lumMod val="75000"/>
                  </a:schemeClr>
                </a:solidFill>
              </a:rPr>
              <a:t>doesn’t appear</a:t>
            </a:r>
            <a:r>
              <a:rPr lang="en-US" dirty="0"/>
              <a:t> in sequence</a:t>
            </a:r>
          </a:p>
          <a:p>
            <a:pPr lvl="1"/>
            <a:r>
              <a:rPr lang="en-US" dirty="0"/>
              <a:t>Every item tested in sequence</a:t>
            </a:r>
          </a:p>
          <a:p>
            <a:pPr lvl="1"/>
            <a:r>
              <a:rPr lang="en-US" dirty="0"/>
              <a:t>Execution time is at worst, </a:t>
            </a:r>
            <a:r>
              <a:rPr lang="en-US" b="1" dirty="0">
                <a:solidFill>
                  <a:schemeClr val="accent6">
                    <a:lumMod val="75000"/>
                  </a:schemeClr>
                </a:solidFill>
              </a:rPr>
              <a:t>proportional to length of sequence</a:t>
            </a:r>
          </a:p>
          <a:p>
            <a:pPr lvl="1"/>
            <a:r>
              <a:rPr lang="en-US" dirty="0"/>
              <a:t>“</a:t>
            </a:r>
            <a:r>
              <a:rPr lang="en-US" b="1" dirty="0">
                <a:solidFill>
                  <a:schemeClr val="accent6">
                    <a:lumMod val="75000"/>
                  </a:schemeClr>
                </a:solidFill>
              </a:rPr>
              <a:t>O(n)</a:t>
            </a:r>
            <a:r>
              <a:rPr lang="en-US" dirty="0"/>
              <a:t> time”</a:t>
            </a:r>
          </a:p>
        </p:txBody>
      </p:sp>
      <p:sp>
        <p:nvSpPr>
          <p:cNvPr id="4" name="Content Placeholder 3"/>
          <p:cNvSpPr>
            <a:spLocks noGrp="1"/>
          </p:cNvSpPr>
          <p:nvPr>
            <p:ph sz="half" idx="2"/>
          </p:nvPr>
        </p:nvSpPr>
        <p:spPr/>
        <p:txBody>
          <a:bodyPr/>
          <a:lstStyle/>
          <a:p>
            <a:pPr marL="0" indent="0">
              <a:buNone/>
            </a:pPr>
            <a:r>
              <a:rPr lang="en-US" b="1" dirty="0">
                <a:solidFill>
                  <a:schemeClr val="accent3">
                    <a:lumMod val="75000"/>
                  </a:schemeClr>
                </a:solidFill>
              </a:rPr>
              <a:t>for each n in sequence</a:t>
            </a: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a:p>
            <a:pPr marL="0" indent="0">
              <a:buNone/>
            </a:pPr>
            <a:endParaRPr lang="en-US" b="1" dirty="0">
              <a:solidFill>
                <a:schemeClr val="accent3">
                  <a:lumMod val="75000"/>
                </a:schemeClr>
              </a:solidFill>
            </a:endParaRPr>
          </a:p>
        </p:txBody>
      </p:sp>
    </p:spTree>
    <p:extLst>
      <p:ext uri="{BB962C8B-B14F-4D97-AF65-F5344CB8AC3E}">
        <p14:creationId xmlns:p14="http://schemas.microsoft.com/office/powerpoint/2010/main" val="21040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p:sp>
        <p:nvSpPr>
          <p:cNvPr id="4" name="Content Placeholder 3"/>
          <p:cNvSpPr>
            <a:spLocks noGrp="1"/>
          </p:cNvSpPr>
          <p:nvPr>
            <p:ph sz="half" idx="1"/>
          </p:nvPr>
        </p:nvSpPr>
        <p:spPr/>
        <p:txBody>
          <a:bodyPr>
            <a:normAutofit lnSpcReduction="10000"/>
          </a:bodyPr>
          <a:lstStyle/>
          <a:p>
            <a:r>
              <a:rPr lang="en-US" dirty="0"/>
              <a:t>Predicting the </a:t>
            </a:r>
            <a:r>
              <a:rPr lang="en-US" b="1" dirty="0">
                <a:solidFill>
                  <a:schemeClr val="accent6">
                    <a:lumMod val="75000"/>
                  </a:schemeClr>
                </a:solidFill>
              </a:rPr>
              <a:t>exact performance</a:t>
            </a:r>
            <a:r>
              <a:rPr lang="en-US" dirty="0"/>
              <a:t> of a program is hard</a:t>
            </a:r>
          </a:p>
          <a:p>
            <a:pPr lvl="1"/>
            <a:r>
              <a:rPr lang="en-US" dirty="0"/>
              <a:t>Different processors</a:t>
            </a:r>
          </a:p>
          <a:p>
            <a:pPr lvl="1"/>
            <a:r>
              <a:rPr lang="en-US" dirty="0"/>
              <a:t>Different inputs</a:t>
            </a:r>
          </a:p>
          <a:p>
            <a:pPr lvl="1"/>
            <a:r>
              <a:rPr lang="en-US" dirty="0"/>
              <a:t>Extraneous factors</a:t>
            </a:r>
          </a:p>
          <a:p>
            <a:endParaRPr lang="en-US" dirty="0"/>
          </a:p>
          <a:p>
            <a:r>
              <a:rPr lang="en-US" dirty="0"/>
              <a:t>Focus on how performance </a:t>
            </a:r>
            <a:r>
              <a:rPr lang="en-US" b="1" dirty="0">
                <a:solidFill>
                  <a:schemeClr val="accent6">
                    <a:lumMod val="75000"/>
                  </a:schemeClr>
                </a:solidFill>
              </a:rPr>
              <a:t>degrades </a:t>
            </a:r>
            <a:r>
              <a:rPr lang="en-US" dirty="0"/>
              <a:t>for </a:t>
            </a:r>
            <a:r>
              <a:rPr lang="en-US" b="1" dirty="0">
                <a:solidFill>
                  <a:schemeClr val="accent6">
                    <a:lumMod val="75000"/>
                  </a:schemeClr>
                </a:solidFill>
              </a:rPr>
              <a:t>larger inputs</a:t>
            </a:r>
          </a:p>
        </p:txBody>
      </p:sp>
      <p:pic>
        <p:nvPicPr>
          <p:cNvPr id="3074" name="Picture 2" descr="Poster Image for the 2003-2004 IMA Annual Program on Probability and Statistics in Complex Systems: Genomics, Networks, and Financial Engineeri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1843881"/>
            <a:ext cx="4038600" cy="403860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Box 5"/>
          <p:cNvSpPr txBox="1"/>
          <p:nvPr/>
        </p:nvSpPr>
        <p:spPr>
          <a:xfrm>
            <a:off x="6319702" y="5865168"/>
            <a:ext cx="2443298" cy="230832"/>
          </a:xfrm>
          <a:prstGeom prst="rect">
            <a:avLst/>
          </a:prstGeom>
          <a:noFill/>
        </p:spPr>
        <p:txBody>
          <a:bodyPr wrap="none" rtlCol="0">
            <a:spAutoFit/>
          </a:bodyPr>
          <a:lstStyle/>
          <a:p>
            <a:r>
              <a:rPr lang="en-US" sz="900" dirty="0">
                <a:hlinkClick r:id="rId3"/>
              </a:rPr>
              <a:t>http://www.ima.umn.edu/complex/poster.html</a:t>
            </a:r>
            <a:endParaRPr lang="en-US" sz="900" dirty="0"/>
          </a:p>
        </p:txBody>
      </p:sp>
    </p:spTree>
    <p:extLst>
      <p:ext uri="{BB962C8B-B14F-4D97-AF65-F5344CB8AC3E}">
        <p14:creationId xmlns:p14="http://schemas.microsoft.com/office/powerpoint/2010/main" val="99026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p:sp>
        <p:nvSpPr>
          <p:cNvPr id="4" name="Content Placeholder 3"/>
          <p:cNvSpPr>
            <a:spLocks noGrp="1"/>
          </p:cNvSpPr>
          <p:nvPr>
            <p:ph sz="half" idx="1"/>
          </p:nvPr>
        </p:nvSpPr>
        <p:spPr>
          <a:xfrm>
            <a:off x="457200" y="1600200"/>
            <a:ext cx="4038600" cy="5105400"/>
          </a:xfrm>
        </p:spPr>
        <p:txBody>
          <a:bodyPr>
            <a:normAutofit fontScale="92500" lnSpcReduction="20000"/>
          </a:bodyPr>
          <a:lstStyle/>
          <a:p>
            <a:r>
              <a:rPr lang="en-US" dirty="0"/>
              <a:t>Look at how execution time, t(n), </a:t>
            </a:r>
            <a:r>
              <a:rPr lang="en-US" b="1" dirty="0">
                <a:solidFill>
                  <a:schemeClr val="accent6">
                    <a:lumMod val="75000"/>
                  </a:schemeClr>
                </a:solidFill>
              </a:rPr>
              <a:t>grows </a:t>
            </a:r>
            <a:r>
              <a:rPr lang="en-US" dirty="0"/>
              <a:t>as a </a:t>
            </a:r>
            <a:r>
              <a:rPr lang="en-US" b="1" dirty="0">
                <a:solidFill>
                  <a:schemeClr val="accent6">
                    <a:lumMod val="75000"/>
                  </a:schemeClr>
                </a:solidFill>
              </a:rPr>
              <a:t>function of the “size” </a:t>
            </a:r>
            <a:r>
              <a:rPr lang="en-US" dirty="0"/>
              <a:t>of its input (asymptotic analysis)</a:t>
            </a:r>
          </a:p>
          <a:p>
            <a:pPr>
              <a:spcBef>
                <a:spcPts val="1800"/>
              </a:spcBef>
            </a:pPr>
            <a:r>
              <a:rPr lang="en-US" dirty="0"/>
              <a:t>Care about whether t(n) is </a:t>
            </a:r>
            <a:r>
              <a:rPr lang="en-US" dirty="0">
                <a:solidFill>
                  <a:schemeClr val="tx1"/>
                </a:solidFill>
              </a:rPr>
              <a:t>“roughly”</a:t>
            </a:r>
          </a:p>
          <a:p>
            <a:pPr lvl="1">
              <a:spcBef>
                <a:spcPts val="0"/>
              </a:spcBef>
            </a:pPr>
            <a:r>
              <a:rPr lang="en-US" b="1" dirty="0">
                <a:solidFill>
                  <a:schemeClr val="accent6">
                    <a:lumMod val="75000"/>
                  </a:schemeClr>
                </a:solidFill>
              </a:rPr>
              <a:t>linear</a:t>
            </a:r>
            <a:r>
              <a:rPr lang="en-US" dirty="0"/>
              <a:t>,</a:t>
            </a:r>
          </a:p>
          <a:p>
            <a:pPr lvl="1">
              <a:spcBef>
                <a:spcPts val="0"/>
              </a:spcBef>
            </a:pPr>
            <a:r>
              <a:rPr lang="en-US" b="1" dirty="0">
                <a:solidFill>
                  <a:schemeClr val="accent6">
                    <a:lumMod val="75000"/>
                  </a:schemeClr>
                </a:solidFill>
              </a:rPr>
              <a:t>quadratic </a:t>
            </a:r>
            <a:r>
              <a:rPr lang="en-US" dirty="0"/>
              <a:t>(n</a:t>
            </a:r>
            <a:r>
              <a:rPr lang="en-US" baseline="30000" dirty="0"/>
              <a:t>2</a:t>
            </a:r>
            <a:r>
              <a:rPr lang="en-US" dirty="0"/>
              <a:t>),</a:t>
            </a:r>
          </a:p>
          <a:p>
            <a:pPr lvl="1">
              <a:spcBef>
                <a:spcPts val="0"/>
              </a:spcBef>
            </a:pPr>
            <a:r>
              <a:rPr lang="en-US" b="1" dirty="0">
                <a:solidFill>
                  <a:schemeClr val="accent6">
                    <a:lumMod val="75000"/>
                  </a:schemeClr>
                </a:solidFill>
              </a:rPr>
              <a:t>cubic </a:t>
            </a:r>
            <a:r>
              <a:rPr lang="en-US" dirty="0"/>
              <a:t>(n</a:t>
            </a:r>
            <a:r>
              <a:rPr lang="en-US" baseline="30000" dirty="0"/>
              <a:t>3</a:t>
            </a:r>
            <a:r>
              <a:rPr lang="en-US" dirty="0"/>
              <a:t>),</a:t>
            </a:r>
          </a:p>
          <a:p>
            <a:pPr lvl="1">
              <a:spcBef>
                <a:spcPts val="0"/>
              </a:spcBef>
            </a:pPr>
            <a:r>
              <a:rPr lang="en-US" b="1" dirty="0">
                <a:solidFill>
                  <a:schemeClr val="accent6">
                    <a:lumMod val="75000"/>
                  </a:schemeClr>
                </a:solidFill>
              </a:rPr>
              <a:t>Exponential</a:t>
            </a:r>
          </a:p>
          <a:p>
            <a:pPr lvl="1">
              <a:spcBef>
                <a:spcPts val="0"/>
              </a:spcBef>
            </a:pPr>
            <a:r>
              <a:rPr lang="en-US" dirty="0"/>
              <a:t>etc.</a:t>
            </a:r>
          </a:p>
          <a:p>
            <a:pPr>
              <a:spcBef>
                <a:spcPts val="1800"/>
              </a:spcBef>
            </a:pPr>
            <a:r>
              <a:rPr lang="en-US" dirty="0"/>
              <a:t>What do we mean by </a:t>
            </a:r>
            <a:r>
              <a:rPr lang="en-US" b="1" dirty="0">
                <a:solidFill>
                  <a:schemeClr val="accent6">
                    <a:lumMod val="75000"/>
                  </a:schemeClr>
                </a:solidFill>
              </a:rPr>
              <a:t>“roughly”</a:t>
            </a:r>
            <a:r>
              <a:rPr lang="en-US" dirty="0"/>
              <a:t>?</a:t>
            </a:r>
          </a:p>
        </p:txBody>
      </p:sp>
      <p:pic>
        <p:nvPicPr>
          <p:cNvPr id="3074" name="Picture 2" descr="Poster Image for the 2003-2004 IMA Annual Program on Probability and Statistics in Complex Systems: Genomics, Networks, and Financial Engineeri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1843881"/>
            <a:ext cx="4038600" cy="4038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293824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complexity notation</a:t>
            </a:r>
          </a:p>
        </p:txBody>
      </p:sp>
      <p:sp>
        <p:nvSpPr>
          <p:cNvPr id="4" name="Content Placeholder 3"/>
          <p:cNvSpPr>
            <a:spLocks noGrp="1"/>
          </p:cNvSpPr>
          <p:nvPr>
            <p:ph sz="half" idx="1"/>
          </p:nvPr>
        </p:nvSpPr>
        <p:spPr>
          <a:xfrm>
            <a:off x="457200" y="1600200"/>
            <a:ext cx="4038600" cy="4800600"/>
          </a:xfrm>
        </p:spPr>
        <p:txBody>
          <a:bodyPr>
            <a:normAutofit fontScale="70000" lnSpcReduction="20000"/>
          </a:bodyPr>
          <a:lstStyle/>
          <a:p>
            <a:r>
              <a:rPr lang="en-US" dirty="0"/>
              <a:t>f(n) = O(n</a:t>
            </a:r>
            <a:r>
              <a:rPr lang="en-US" baseline="30000" dirty="0"/>
              <a:t>2</a:t>
            </a:r>
            <a:r>
              <a:rPr lang="en-US" dirty="0"/>
              <a:t>)</a:t>
            </a:r>
          </a:p>
          <a:p>
            <a:pPr lvl="1"/>
            <a:r>
              <a:rPr lang="en-US" b="1" dirty="0">
                <a:solidFill>
                  <a:schemeClr val="accent6">
                    <a:lumMod val="75000"/>
                  </a:schemeClr>
                </a:solidFill>
              </a:rPr>
              <a:t>Upper bound</a:t>
            </a:r>
          </a:p>
          <a:p>
            <a:pPr lvl="1"/>
            <a:r>
              <a:rPr lang="en-US" dirty="0"/>
              <a:t>f(n) is </a:t>
            </a:r>
            <a:r>
              <a:rPr lang="en-US" b="1" dirty="0">
                <a:solidFill>
                  <a:schemeClr val="accent6">
                    <a:lumMod val="75000"/>
                  </a:schemeClr>
                </a:solidFill>
              </a:rPr>
              <a:t>no worse </a:t>
            </a:r>
            <a:r>
              <a:rPr lang="en-US" dirty="0"/>
              <a:t>than proportional to n</a:t>
            </a:r>
            <a:r>
              <a:rPr lang="en-US" baseline="30000" dirty="0"/>
              <a:t>2</a:t>
            </a:r>
          </a:p>
          <a:p>
            <a:pPr lvl="1"/>
            <a:r>
              <a:rPr lang="en-US" dirty="0"/>
              <a:t>f(n) </a:t>
            </a:r>
            <a:r>
              <a:rPr lang="en-US" dirty="0">
                <a:sym typeface="Symbol"/>
              </a:rPr>
              <a:t> </a:t>
            </a:r>
            <a:r>
              <a:rPr lang="en-US" dirty="0"/>
              <a:t>kn</a:t>
            </a:r>
            <a:r>
              <a:rPr lang="en-US" baseline="30000" dirty="0"/>
              <a:t>2</a:t>
            </a:r>
            <a:r>
              <a:rPr lang="en-US" dirty="0"/>
              <a:t>, for some k and for sufficiently large n</a:t>
            </a:r>
          </a:p>
          <a:p>
            <a:endParaRPr lang="en-US" dirty="0"/>
          </a:p>
          <a:p>
            <a:r>
              <a:rPr lang="en-US" dirty="0"/>
              <a:t>f(n) = </a:t>
            </a:r>
            <a:r>
              <a:rPr lang="en-US" dirty="0">
                <a:sym typeface="Symbol"/>
              </a:rPr>
              <a:t></a:t>
            </a:r>
            <a:r>
              <a:rPr lang="en-US" dirty="0"/>
              <a:t>(n</a:t>
            </a:r>
            <a:r>
              <a:rPr lang="en-US" baseline="30000" dirty="0"/>
              <a:t>2</a:t>
            </a:r>
            <a:r>
              <a:rPr lang="en-US" dirty="0"/>
              <a:t>)</a:t>
            </a:r>
          </a:p>
          <a:p>
            <a:pPr lvl="1"/>
            <a:r>
              <a:rPr lang="en-US" b="1" dirty="0">
                <a:solidFill>
                  <a:schemeClr val="accent6">
                    <a:lumMod val="75000"/>
                  </a:schemeClr>
                </a:solidFill>
              </a:rPr>
              <a:t>Lower bound</a:t>
            </a:r>
          </a:p>
          <a:p>
            <a:pPr lvl="1"/>
            <a:r>
              <a:rPr lang="en-US" dirty="0"/>
              <a:t>f(n) </a:t>
            </a:r>
            <a:r>
              <a:rPr lang="en-US" b="1" dirty="0">
                <a:solidFill>
                  <a:schemeClr val="accent6">
                    <a:lumMod val="75000"/>
                  </a:schemeClr>
                </a:solidFill>
              </a:rPr>
              <a:t>at least as bad</a:t>
            </a:r>
            <a:r>
              <a:rPr lang="en-US" dirty="0">
                <a:solidFill>
                  <a:schemeClr val="accent6">
                    <a:lumMod val="75000"/>
                  </a:schemeClr>
                </a:solidFill>
              </a:rPr>
              <a:t> </a:t>
            </a:r>
            <a:r>
              <a:rPr lang="en-US" dirty="0"/>
              <a:t>as n</a:t>
            </a:r>
            <a:r>
              <a:rPr lang="en-US" baseline="30000" dirty="0"/>
              <a:t>2</a:t>
            </a:r>
          </a:p>
          <a:p>
            <a:pPr lvl="1"/>
            <a:r>
              <a:rPr lang="en-US" dirty="0"/>
              <a:t>f(n) </a:t>
            </a:r>
            <a:r>
              <a:rPr lang="en-US" dirty="0">
                <a:sym typeface="Symbol"/>
              </a:rPr>
              <a:t></a:t>
            </a:r>
            <a:r>
              <a:rPr lang="en-US" dirty="0"/>
              <a:t> kn</a:t>
            </a:r>
            <a:r>
              <a:rPr lang="en-US" baseline="30000" dirty="0"/>
              <a:t>2</a:t>
            </a:r>
            <a:r>
              <a:rPr lang="en-US" dirty="0"/>
              <a:t>, for some k and for sufficiently large n</a:t>
            </a:r>
            <a:endParaRPr lang="en-US" b="1" dirty="0"/>
          </a:p>
          <a:p>
            <a:endParaRPr lang="en-US" dirty="0"/>
          </a:p>
          <a:p>
            <a:r>
              <a:rPr lang="en-US" dirty="0"/>
              <a:t>f(n) = </a:t>
            </a:r>
            <a:r>
              <a:rPr lang="en-US" dirty="0">
                <a:sym typeface="Symbol"/>
              </a:rPr>
              <a:t>(n</a:t>
            </a:r>
            <a:r>
              <a:rPr lang="en-US" baseline="30000" dirty="0">
                <a:sym typeface="Symbol"/>
              </a:rPr>
              <a:t>2</a:t>
            </a:r>
            <a:r>
              <a:rPr lang="en-US" dirty="0">
                <a:sym typeface="Symbol"/>
              </a:rPr>
              <a:t>)</a:t>
            </a:r>
          </a:p>
          <a:p>
            <a:pPr lvl="1"/>
            <a:r>
              <a:rPr lang="en-US" b="1" dirty="0">
                <a:solidFill>
                  <a:schemeClr val="accent6">
                    <a:lumMod val="75000"/>
                  </a:schemeClr>
                </a:solidFill>
                <a:sym typeface="Symbol"/>
              </a:rPr>
              <a:t>Tight bound</a:t>
            </a:r>
          </a:p>
          <a:p>
            <a:pPr lvl="1"/>
            <a:r>
              <a:rPr lang="en-US" dirty="0">
                <a:sym typeface="Symbol"/>
              </a:rPr>
              <a:t>f(n) grows </a:t>
            </a:r>
            <a:r>
              <a:rPr lang="en-US" b="1" dirty="0">
                <a:solidFill>
                  <a:schemeClr val="accent6">
                    <a:lumMod val="75000"/>
                  </a:schemeClr>
                </a:solidFill>
                <a:sym typeface="Symbol"/>
              </a:rPr>
              <a:t>as fast </a:t>
            </a:r>
            <a:r>
              <a:rPr lang="en-US" dirty="0">
                <a:sym typeface="Symbol"/>
              </a:rPr>
              <a:t>as n</a:t>
            </a:r>
            <a:r>
              <a:rPr lang="en-US" baseline="30000" dirty="0">
                <a:sym typeface="Symbol"/>
              </a:rPr>
              <a:t>2</a:t>
            </a:r>
          </a:p>
          <a:p>
            <a:pPr lvl="1"/>
            <a:r>
              <a:rPr lang="en-US" dirty="0"/>
              <a:t>k</a:t>
            </a:r>
            <a:r>
              <a:rPr lang="en-US" baseline="-25000" dirty="0"/>
              <a:t>1</a:t>
            </a:r>
            <a:r>
              <a:rPr lang="en-US" dirty="0"/>
              <a:t>n</a:t>
            </a:r>
            <a:r>
              <a:rPr lang="en-US" baseline="30000" dirty="0"/>
              <a:t>2 </a:t>
            </a:r>
            <a:r>
              <a:rPr lang="en-US" dirty="0">
                <a:sym typeface="Symbol"/>
              </a:rPr>
              <a:t> </a:t>
            </a:r>
            <a:r>
              <a:rPr lang="en-US" dirty="0"/>
              <a:t>f(n) </a:t>
            </a:r>
            <a:r>
              <a:rPr lang="en-US" dirty="0">
                <a:sym typeface="Symbol"/>
              </a:rPr>
              <a:t></a:t>
            </a:r>
            <a:r>
              <a:rPr lang="en-US" dirty="0"/>
              <a:t> k</a:t>
            </a:r>
            <a:r>
              <a:rPr lang="en-US" baseline="-25000" dirty="0"/>
              <a:t>2</a:t>
            </a:r>
            <a:r>
              <a:rPr lang="en-US" dirty="0"/>
              <a:t>n</a:t>
            </a:r>
            <a:r>
              <a:rPr lang="en-US" baseline="30000" dirty="0"/>
              <a:t>2</a:t>
            </a:r>
            <a:r>
              <a:rPr lang="en-US" dirty="0"/>
              <a:t>, for some k</a:t>
            </a:r>
            <a:r>
              <a:rPr lang="en-US" baseline="-25000" dirty="0"/>
              <a:t>1</a:t>
            </a:r>
            <a:r>
              <a:rPr lang="en-US" dirty="0"/>
              <a:t>, k</a:t>
            </a:r>
            <a:r>
              <a:rPr lang="en-US" baseline="-25000" dirty="0"/>
              <a:t>2</a:t>
            </a:r>
            <a:r>
              <a:rPr lang="en-US" dirty="0"/>
              <a:t>, and for sufficiently large n</a:t>
            </a:r>
            <a:endParaRPr lang="en-US" b="1" dirty="0"/>
          </a:p>
          <a:p>
            <a:pPr lvl="1"/>
            <a:endParaRPr lang="en-US" dirty="0">
              <a:sym typeface="Symbol"/>
            </a:endParaRPr>
          </a:p>
          <a:p>
            <a:pPr lvl="1"/>
            <a:endParaRPr lang="en-US" dirty="0">
              <a:sym typeface="Symbol"/>
            </a:endParaRPr>
          </a:p>
          <a:p>
            <a:pPr lvl="1"/>
            <a:endParaRPr lang="en-US" dirty="0"/>
          </a:p>
        </p:txBody>
      </p:sp>
      <p:pic>
        <p:nvPicPr>
          <p:cNvPr id="3074" name="Picture 2" descr="Poster Image for the 2003-2004 IMA Annual Program on Probability and Statistics in Complex Systems: Genomics, Networks, and Financial Engineeri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1843881"/>
            <a:ext cx="4038600" cy="4038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00719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complexity notation</a:t>
            </a:r>
          </a:p>
        </p:txBody>
      </p:sp>
      <p:sp>
        <p:nvSpPr>
          <p:cNvPr id="4" name="Content Placeholder 3"/>
          <p:cNvSpPr>
            <a:spLocks noGrp="1"/>
          </p:cNvSpPr>
          <p:nvPr>
            <p:ph sz="half" idx="1"/>
          </p:nvPr>
        </p:nvSpPr>
        <p:spPr>
          <a:xfrm>
            <a:off x="457200" y="1600200"/>
            <a:ext cx="4038600" cy="4800600"/>
          </a:xfrm>
        </p:spPr>
        <p:txBody>
          <a:bodyPr>
            <a:normAutofit fontScale="85000" lnSpcReduction="20000"/>
          </a:bodyPr>
          <a:lstStyle/>
          <a:p>
            <a:r>
              <a:rPr lang="en-US" dirty="0"/>
              <a:t>Ideally, we want solutions that grow </a:t>
            </a:r>
            <a:r>
              <a:rPr lang="en-US" b="1" dirty="0">
                <a:solidFill>
                  <a:schemeClr val="accent6">
                    <a:lumMod val="75000"/>
                  </a:schemeClr>
                </a:solidFill>
              </a:rPr>
              <a:t>linearly</a:t>
            </a:r>
            <a:r>
              <a:rPr lang="en-US" dirty="0"/>
              <a:t>, or </a:t>
            </a:r>
            <a:r>
              <a:rPr lang="en-US" b="1" dirty="0">
                <a:solidFill>
                  <a:schemeClr val="accent6">
                    <a:lumMod val="75000"/>
                  </a:schemeClr>
                </a:solidFill>
              </a:rPr>
              <a:t>sublinearly</a:t>
            </a:r>
          </a:p>
          <a:p>
            <a:pPr lvl="1"/>
            <a:r>
              <a:rPr lang="en-US" dirty="0"/>
              <a:t>i.e. don’t grow any faster than n</a:t>
            </a:r>
          </a:p>
          <a:p>
            <a:pPr>
              <a:spcBef>
                <a:spcPts val="1800"/>
              </a:spcBef>
            </a:pPr>
            <a:r>
              <a:rPr lang="en-US" dirty="0"/>
              <a:t>Superlinear algorithms are avoided because they don’t </a:t>
            </a:r>
            <a:r>
              <a:rPr lang="en-US" b="1" dirty="0">
                <a:solidFill>
                  <a:schemeClr val="accent6">
                    <a:lumMod val="75000"/>
                  </a:schemeClr>
                </a:solidFill>
              </a:rPr>
              <a:t>scale</a:t>
            </a:r>
            <a:r>
              <a:rPr lang="en-US" dirty="0">
                <a:solidFill>
                  <a:schemeClr val="accent6">
                    <a:lumMod val="75000"/>
                  </a:schemeClr>
                </a:solidFill>
              </a:rPr>
              <a:t> </a:t>
            </a:r>
            <a:r>
              <a:rPr lang="en-US" dirty="0"/>
              <a:t>to large inputs</a:t>
            </a:r>
          </a:p>
          <a:p>
            <a:pPr>
              <a:spcBef>
                <a:spcPts val="1800"/>
              </a:spcBef>
            </a:pPr>
            <a:r>
              <a:rPr lang="en-US" dirty="0"/>
              <a:t>So</a:t>
            </a:r>
          </a:p>
          <a:p>
            <a:pPr marL="457200" lvl="1" indent="0">
              <a:buNone/>
            </a:pPr>
            <a:r>
              <a:rPr lang="en-US" dirty="0"/>
              <a:t>t(n) = O(1)	    </a:t>
            </a:r>
            <a:r>
              <a:rPr lang="en-US" i="1" dirty="0"/>
              <a:t>awesome</a:t>
            </a:r>
          </a:p>
          <a:p>
            <a:pPr marL="457200" lvl="1" indent="0">
              <a:buNone/>
            </a:pPr>
            <a:r>
              <a:rPr lang="en-US" dirty="0"/>
              <a:t>t(n) = O(n)	    </a:t>
            </a:r>
            <a:r>
              <a:rPr lang="en-US" i="1" dirty="0"/>
              <a:t>good</a:t>
            </a:r>
          </a:p>
          <a:p>
            <a:pPr marL="457200" lvl="1" indent="0">
              <a:buNone/>
            </a:pPr>
            <a:r>
              <a:rPr lang="en-US" dirty="0"/>
              <a:t>t(n) = O(n</a:t>
            </a:r>
            <a:r>
              <a:rPr lang="en-US" baseline="30000" dirty="0"/>
              <a:t>2</a:t>
            </a:r>
            <a:r>
              <a:rPr lang="en-US" dirty="0"/>
              <a:t>)	    </a:t>
            </a:r>
            <a:r>
              <a:rPr lang="en-US" i="1" dirty="0"/>
              <a:t>bad</a:t>
            </a:r>
          </a:p>
          <a:p>
            <a:pPr marL="457200" lvl="1" indent="0">
              <a:buNone/>
            </a:pPr>
            <a:r>
              <a:rPr lang="en-US" dirty="0"/>
              <a:t>t(n) = O(2</a:t>
            </a:r>
            <a:r>
              <a:rPr lang="en-US" baseline="30000" dirty="0"/>
              <a:t>n</a:t>
            </a:r>
            <a:r>
              <a:rPr lang="en-US" dirty="0"/>
              <a:t>)	    </a:t>
            </a:r>
            <a:r>
              <a:rPr lang="en-US" i="1" dirty="0"/>
              <a:t>horrific</a:t>
            </a:r>
          </a:p>
          <a:p>
            <a:pPr marL="0" indent="0">
              <a:buNone/>
            </a:pPr>
            <a:endParaRPr lang="en-US" dirty="0"/>
          </a:p>
        </p:txBody>
      </p:sp>
      <p:pic>
        <p:nvPicPr>
          <p:cNvPr id="3074" name="Picture 2" descr="Poster Image for the 2003-2004 IMA Annual Program on Probability and Statistics in Complex Systems: Genomics, Networks, and Financial Engineeri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1843881"/>
            <a:ext cx="4038600" cy="4038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68741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Great, but does our algorithm actually work?</a:t>
            </a:r>
          </a:p>
        </p:txBody>
      </p:sp>
      <p:sp>
        <p:nvSpPr>
          <p:cNvPr id="3" name="Content Placeholder 2"/>
          <p:cNvSpPr>
            <a:spLocks noGrp="1"/>
          </p:cNvSpPr>
          <p:nvPr>
            <p:ph idx="1"/>
          </p:nvPr>
        </p:nvSpPr>
        <p:spPr>
          <a:xfrm>
            <a:off x="457200" y="1905000"/>
            <a:ext cx="8229600" cy="4221163"/>
          </a:xfrm>
        </p:spPr>
        <p:txBody>
          <a:bodyPr/>
          <a:lstStyle/>
          <a:p>
            <a:r>
              <a:rPr lang="en-US" b="1" dirty="0">
                <a:solidFill>
                  <a:schemeClr val="accent6">
                    <a:lumMod val="75000"/>
                  </a:schemeClr>
                </a:solidFill>
              </a:rPr>
              <a:t>Simple</a:t>
            </a:r>
            <a:r>
              <a:rPr lang="en-US" dirty="0">
                <a:solidFill>
                  <a:schemeClr val="accent6">
                    <a:lumMod val="75000"/>
                  </a:schemeClr>
                </a:solidFill>
              </a:rPr>
              <a:t> </a:t>
            </a:r>
            <a:r>
              <a:rPr lang="en-US" dirty="0"/>
              <a:t>algorithms seem pretty </a:t>
            </a:r>
            <a:r>
              <a:rPr lang="en-US" b="1" dirty="0">
                <a:solidFill>
                  <a:schemeClr val="accent6">
                    <a:lumMod val="75000"/>
                  </a:schemeClr>
                </a:solidFill>
              </a:rPr>
              <a:t>obvious</a:t>
            </a:r>
          </a:p>
          <a:p>
            <a:pPr lvl="1"/>
            <a:r>
              <a:rPr lang="en-US" dirty="0"/>
              <a:t>But deciding whether more </a:t>
            </a:r>
            <a:r>
              <a:rPr lang="en-US" b="1" dirty="0">
                <a:solidFill>
                  <a:schemeClr val="accent6">
                    <a:lumMod val="75000"/>
                  </a:schemeClr>
                </a:solidFill>
              </a:rPr>
              <a:t>complex</a:t>
            </a:r>
            <a:r>
              <a:rPr lang="en-US" dirty="0">
                <a:solidFill>
                  <a:schemeClr val="accent6">
                    <a:lumMod val="75000"/>
                  </a:schemeClr>
                </a:solidFill>
              </a:rPr>
              <a:t> </a:t>
            </a:r>
            <a:r>
              <a:rPr lang="en-US" dirty="0"/>
              <a:t>algorithms are correct is a lot </a:t>
            </a:r>
            <a:r>
              <a:rPr lang="en-US" b="1" dirty="0">
                <a:solidFill>
                  <a:schemeClr val="accent6">
                    <a:lumMod val="75000"/>
                  </a:schemeClr>
                </a:solidFill>
              </a:rPr>
              <a:t>harder</a:t>
            </a:r>
          </a:p>
          <a:p>
            <a:r>
              <a:rPr lang="en-US" dirty="0"/>
              <a:t>So let’s look at some simple </a:t>
            </a:r>
            <a:r>
              <a:rPr lang="en-US" b="1" dirty="0">
                <a:solidFill>
                  <a:schemeClr val="accent6">
                    <a:lumMod val="75000"/>
                  </a:schemeClr>
                </a:solidFill>
              </a:rPr>
              <a:t>tools</a:t>
            </a:r>
            <a:r>
              <a:rPr lang="en-US" dirty="0">
                <a:solidFill>
                  <a:schemeClr val="accent6">
                    <a:lumMod val="75000"/>
                  </a:schemeClr>
                </a:solidFill>
              </a:rPr>
              <a:t> </a:t>
            </a:r>
            <a:r>
              <a:rPr lang="en-US" dirty="0"/>
              <a:t>for </a:t>
            </a:r>
            <a:r>
              <a:rPr lang="en-US" b="1" dirty="0">
                <a:solidFill>
                  <a:schemeClr val="accent6">
                    <a:lumMod val="75000"/>
                  </a:schemeClr>
                </a:solidFill>
              </a:rPr>
              <a:t>proving correctness</a:t>
            </a:r>
          </a:p>
          <a:p>
            <a:pPr>
              <a:spcBef>
                <a:spcPts val="2200"/>
              </a:spcBef>
            </a:pPr>
            <a:r>
              <a:rPr lang="en-US" dirty="0"/>
              <a:t>Note: this is more a focus of EECS-336</a:t>
            </a:r>
          </a:p>
        </p:txBody>
      </p:sp>
    </p:spTree>
    <p:extLst>
      <p:ext uri="{BB962C8B-B14F-4D97-AF65-F5344CB8AC3E}">
        <p14:creationId xmlns:p14="http://schemas.microsoft.com/office/powerpoint/2010/main" val="735321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proof</a:t>
            </a:r>
          </a:p>
        </p:txBody>
      </p:sp>
      <p:sp>
        <p:nvSpPr>
          <p:cNvPr id="4" name="Content Placeholder 3"/>
          <p:cNvSpPr>
            <a:spLocks noGrp="1"/>
          </p:cNvSpPr>
          <p:nvPr>
            <p:ph sz="half" idx="1"/>
          </p:nvPr>
        </p:nvSpPr>
        <p:spPr/>
        <p:txBody>
          <a:bodyPr>
            <a:normAutofit lnSpcReduction="10000"/>
          </a:bodyPr>
          <a:lstStyle/>
          <a:p>
            <a:r>
              <a:rPr lang="en-US" dirty="0"/>
              <a:t>In math and CS, it’s very easy for something to be </a:t>
            </a:r>
            <a:r>
              <a:rPr lang="en-US" b="1" dirty="0">
                <a:solidFill>
                  <a:schemeClr val="accent6">
                    <a:lumMod val="75000"/>
                  </a:schemeClr>
                </a:solidFill>
              </a:rPr>
              <a:t>almost correct</a:t>
            </a:r>
            <a:endParaRPr lang="en-US" dirty="0">
              <a:solidFill>
                <a:schemeClr val="accent6">
                  <a:lumMod val="75000"/>
                </a:schemeClr>
              </a:solidFill>
            </a:endParaRPr>
          </a:p>
          <a:p>
            <a:endParaRPr lang="en-US" dirty="0"/>
          </a:p>
          <a:p>
            <a:r>
              <a:rPr lang="en-US" dirty="0"/>
              <a:t>Sometimes the difference between almost correct and correct is </a:t>
            </a:r>
            <a:r>
              <a:rPr lang="en-US" b="1" dirty="0">
                <a:solidFill>
                  <a:schemeClr val="accent6">
                    <a:lumMod val="75000"/>
                  </a:schemeClr>
                </a:solidFill>
              </a:rPr>
              <a:t>important</a:t>
            </a:r>
          </a:p>
          <a:p>
            <a:pPr lvl="1"/>
            <a:r>
              <a:rPr lang="en-US" dirty="0"/>
              <a:t>E.g. correctness of </a:t>
            </a:r>
            <a:r>
              <a:rPr lang="en-US" b="1" dirty="0">
                <a:solidFill>
                  <a:schemeClr val="accent6">
                    <a:lumMod val="75000"/>
                  </a:schemeClr>
                </a:solidFill>
              </a:rPr>
              <a:t>Toyota brake-control software</a:t>
            </a:r>
          </a:p>
        </p:txBody>
      </p:sp>
      <p:pic>
        <p:nvPicPr>
          <p:cNvPr id="2050" name="Picture 2" descr="http://www.autonorth.ca/storage/2010Prius?__SQUARESPACE_CACHEVERSION=124092127959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057400"/>
            <a:ext cx="4038600" cy="246354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7242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proof</a:t>
            </a:r>
          </a:p>
        </p:txBody>
      </p:sp>
      <p:sp>
        <p:nvSpPr>
          <p:cNvPr id="4" name="Content Placeholder 3"/>
          <p:cNvSpPr>
            <a:spLocks noGrp="1"/>
          </p:cNvSpPr>
          <p:nvPr>
            <p:ph sz="half" idx="1"/>
          </p:nvPr>
        </p:nvSpPr>
        <p:spPr/>
        <p:txBody>
          <a:bodyPr>
            <a:normAutofit/>
          </a:bodyPr>
          <a:lstStyle/>
          <a:p>
            <a:pPr marL="514350" indent="-457200"/>
            <a:r>
              <a:rPr lang="en-US" dirty="0"/>
              <a:t>Formal proof is when you</a:t>
            </a:r>
          </a:p>
          <a:p>
            <a:pPr marL="914400" lvl="1" indent="-457200"/>
            <a:r>
              <a:rPr lang="en-US" dirty="0"/>
              <a:t>Make an </a:t>
            </a:r>
            <a:r>
              <a:rPr lang="en-US" b="1" dirty="0">
                <a:solidFill>
                  <a:schemeClr val="accent6">
                    <a:lumMod val="75000"/>
                  </a:schemeClr>
                </a:solidFill>
              </a:rPr>
              <a:t>argument </a:t>
            </a:r>
            <a:r>
              <a:rPr lang="en-US" dirty="0"/>
              <a:t>for the truth of a proposition</a:t>
            </a:r>
          </a:p>
          <a:p>
            <a:pPr marL="914400" lvl="1" indent="-457200"/>
            <a:r>
              <a:rPr lang="en-US" dirty="0"/>
              <a:t>By starting with </a:t>
            </a:r>
            <a:r>
              <a:rPr lang="en-US" b="1" dirty="0">
                <a:solidFill>
                  <a:schemeClr val="accent6">
                    <a:lumMod val="75000"/>
                  </a:schemeClr>
                </a:solidFill>
              </a:rPr>
              <a:t>agreed upon suppositions</a:t>
            </a:r>
          </a:p>
          <a:p>
            <a:pPr marL="914400" lvl="1" indent="-457200"/>
            <a:r>
              <a:rPr lang="en-US" dirty="0"/>
              <a:t>And conclude the proposition by using </a:t>
            </a:r>
            <a:r>
              <a:rPr lang="en-US" b="1" dirty="0">
                <a:solidFill>
                  <a:schemeClr val="accent6">
                    <a:lumMod val="75000"/>
                  </a:schemeClr>
                </a:solidFill>
              </a:rPr>
              <a:t>agreed upon reasoning steps</a:t>
            </a:r>
          </a:p>
        </p:txBody>
      </p:sp>
      <p:pic>
        <p:nvPicPr>
          <p:cNvPr id="2050" name="Picture 2" descr="http://www.autonorth.ca/storage/2010Prius?__SQUARESPACE_CACHEVERSION=124092127959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057400"/>
            <a:ext cx="4038600" cy="2463546"/>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5943600" y="4493568"/>
            <a:ext cx="2515432" cy="230832"/>
          </a:xfrm>
          <a:prstGeom prst="rect">
            <a:avLst/>
          </a:prstGeom>
          <a:noFill/>
        </p:spPr>
        <p:txBody>
          <a:bodyPr wrap="none" rtlCol="0">
            <a:spAutoFit/>
          </a:bodyPr>
          <a:lstStyle/>
          <a:p>
            <a:r>
              <a:rPr lang="en-US" sz="900" dirty="0">
                <a:hlinkClick r:id="rId3"/>
              </a:rPr>
              <a:t>http://www.autonorth.ca/home/tag/toyota-prius</a:t>
            </a:r>
            <a:endParaRPr lang="en-US" sz="900" dirty="0"/>
          </a:p>
        </p:txBody>
      </p:sp>
    </p:spTree>
    <p:extLst>
      <p:ext uri="{BB962C8B-B14F-4D97-AF65-F5344CB8AC3E}">
        <p14:creationId xmlns:p14="http://schemas.microsoft.com/office/powerpoint/2010/main" val="85071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proof</a:t>
            </a:r>
          </a:p>
        </p:txBody>
      </p:sp>
      <p:sp>
        <p:nvSpPr>
          <p:cNvPr id="4" name="Content Placeholder 3"/>
          <p:cNvSpPr>
            <a:spLocks noGrp="1"/>
          </p:cNvSpPr>
          <p:nvPr>
            <p:ph sz="half" idx="1"/>
          </p:nvPr>
        </p:nvSpPr>
        <p:spPr/>
        <p:txBody>
          <a:bodyPr>
            <a:normAutofit fontScale="85000" lnSpcReduction="20000"/>
          </a:bodyPr>
          <a:lstStyle/>
          <a:p>
            <a:pPr marL="514350" indent="-457200"/>
            <a:r>
              <a:rPr lang="en-US" dirty="0"/>
              <a:t>Formal proof can be </a:t>
            </a:r>
            <a:r>
              <a:rPr lang="en-US" b="1" dirty="0">
                <a:solidFill>
                  <a:schemeClr val="accent6">
                    <a:lumMod val="75000"/>
                  </a:schemeClr>
                </a:solidFill>
              </a:rPr>
              <a:t>very formal</a:t>
            </a:r>
          </a:p>
          <a:p>
            <a:pPr marL="914400" lvl="1" indent="-457200"/>
            <a:r>
              <a:rPr lang="en-US" dirty="0"/>
              <a:t>Symbolic logic completely mechanical</a:t>
            </a:r>
          </a:p>
          <a:p>
            <a:pPr marL="914400" lvl="1" indent="-457200"/>
            <a:r>
              <a:rPr lang="en-US" dirty="0"/>
              <a:t>Can be </a:t>
            </a:r>
            <a:r>
              <a:rPr lang="en-US" b="1" dirty="0">
                <a:solidFill>
                  <a:schemeClr val="accent6">
                    <a:lumMod val="75000"/>
                  </a:schemeClr>
                </a:solidFill>
              </a:rPr>
              <a:t>automated </a:t>
            </a:r>
            <a:r>
              <a:rPr lang="en-US" dirty="0"/>
              <a:t>with computers</a:t>
            </a:r>
          </a:p>
          <a:p>
            <a:pPr marL="514350" indent="-457200"/>
            <a:endParaRPr lang="en-US" dirty="0"/>
          </a:p>
          <a:p>
            <a:pPr marL="514350" indent="-457200"/>
            <a:r>
              <a:rPr lang="en-US" dirty="0"/>
              <a:t>Or it can be </a:t>
            </a:r>
            <a:r>
              <a:rPr lang="en-US" b="1" dirty="0">
                <a:solidFill>
                  <a:schemeClr val="accent6">
                    <a:lumMod val="75000"/>
                  </a:schemeClr>
                </a:solidFill>
              </a:rPr>
              <a:t>looser</a:t>
            </a:r>
          </a:p>
          <a:p>
            <a:pPr marL="914400" lvl="1" indent="-457200"/>
            <a:r>
              <a:rPr lang="en-US" dirty="0"/>
              <a:t>Which can make it difficult for beginners to know what “community standards” are</a:t>
            </a:r>
          </a:p>
          <a:p>
            <a:pPr marL="514350" indent="-457200"/>
            <a:endParaRPr lang="en-US" dirty="0"/>
          </a:p>
          <a:p>
            <a:pPr marL="514350" indent="-457200"/>
            <a:r>
              <a:rPr lang="en-US" dirty="0"/>
              <a:t>We’ll be </a:t>
            </a:r>
            <a:r>
              <a:rPr lang="en-US" b="1" dirty="0">
                <a:solidFill>
                  <a:schemeClr val="accent6">
                    <a:lumMod val="75000"/>
                  </a:schemeClr>
                </a:solidFill>
              </a:rPr>
              <a:t>less formal in this class</a:t>
            </a:r>
          </a:p>
        </p:txBody>
      </p:sp>
      <p:pic>
        <p:nvPicPr>
          <p:cNvPr id="2050" name="Picture 2" descr="http://www.autonorth.ca/storage/2010Prius?__SQUARESPACE_CACHEVERSION=124092127959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057400"/>
            <a:ext cx="4038600" cy="246354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88347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Weak correctness</a:t>
            </a:r>
            <a:br>
              <a:rPr lang="en-US" dirty="0"/>
            </a:br>
            <a:r>
              <a:rPr lang="en-US" dirty="0"/>
              <a:t>(if you get an answer, it’s right)</a:t>
            </a:r>
          </a:p>
        </p:txBody>
      </p:sp>
      <p:sp>
        <p:nvSpPr>
          <p:cNvPr id="8" name="Content Placeholder 7"/>
          <p:cNvSpPr>
            <a:spLocks noGrp="1"/>
          </p:cNvSpPr>
          <p:nvPr>
            <p:ph sz="half" idx="1"/>
          </p:nvPr>
        </p:nvSpPr>
        <p:spPr/>
        <p:txBody>
          <a:bodyPr/>
          <a:lstStyle/>
          <a:p>
            <a:pPr marL="0" indent="0">
              <a:buNone/>
            </a:pPr>
            <a:r>
              <a:rPr lang="en-US" dirty="0"/>
              <a:t>Case 1: it </a:t>
            </a:r>
            <a:r>
              <a:rPr lang="en-US" b="1" dirty="0">
                <a:solidFill>
                  <a:schemeClr val="accent6">
                    <a:lumMod val="75000"/>
                  </a:schemeClr>
                </a:solidFill>
              </a:rPr>
              <a:t>returns true</a:t>
            </a:r>
          </a:p>
          <a:p>
            <a:r>
              <a:rPr lang="en-US" dirty="0"/>
              <a:t>Then </a:t>
            </a:r>
            <a:r>
              <a:rPr lang="en-US" b="1" dirty="0">
                <a:solidFill>
                  <a:schemeClr val="accent6">
                    <a:lumMod val="50000"/>
                  </a:schemeClr>
                </a:solidFill>
              </a:rPr>
              <a:t>n == target </a:t>
            </a:r>
            <a:r>
              <a:rPr lang="en-US" dirty="0"/>
              <a:t>in the last step before returning</a:t>
            </a:r>
          </a:p>
          <a:p>
            <a:r>
              <a:rPr lang="en-US" dirty="0"/>
              <a:t>But </a:t>
            </a:r>
            <a:r>
              <a:rPr lang="en-US" b="1" dirty="0">
                <a:solidFill>
                  <a:schemeClr val="accent6">
                    <a:lumMod val="50000"/>
                  </a:schemeClr>
                </a:solidFill>
              </a:rPr>
              <a:t>n </a:t>
            </a:r>
            <a:r>
              <a:rPr lang="en-US" b="1" dirty="0">
                <a:solidFill>
                  <a:schemeClr val="accent6">
                    <a:lumMod val="50000"/>
                  </a:schemeClr>
                </a:solidFill>
                <a:sym typeface="Symbol"/>
              </a:rPr>
              <a:t>is chosen from the sequence</a:t>
            </a:r>
            <a:r>
              <a:rPr lang="en-US" b="1" dirty="0">
                <a:solidFill>
                  <a:schemeClr val="accent6">
                    <a:lumMod val="50000"/>
                  </a:schemeClr>
                </a:solidFill>
              </a:rPr>
              <a:t> </a:t>
            </a:r>
          </a:p>
          <a:p>
            <a:r>
              <a:rPr lang="en-US" dirty="0"/>
              <a:t>So target </a:t>
            </a:r>
            <a:r>
              <a:rPr lang="en-US" dirty="0">
                <a:sym typeface="Symbol"/>
              </a:rPr>
              <a:t>in sequence</a:t>
            </a:r>
          </a:p>
          <a:p>
            <a:r>
              <a:rPr lang="en-US" dirty="0">
                <a:sym typeface="Symbol"/>
              </a:rPr>
              <a:t>So the result was correct</a:t>
            </a:r>
            <a:endParaRPr lang="en-US" dirty="0"/>
          </a:p>
        </p:txBody>
      </p:sp>
      <p:sp>
        <p:nvSpPr>
          <p:cNvPr id="9" name="Content Placeholder 8"/>
          <p:cNvSpPr>
            <a:spLocks noGrp="1"/>
          </p:cNvSpPr>
          <p:nvPr>
            <p:ph sz="half" idx="2"/>
          </p:nvPr>
        </p:nvSpPr>
        <p:spPr/>
        <p:txBody>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a:p>
            <a:pPr marL="0" indent="0">
              <a:buNone/>
            </a:pPr>
            <a:endParaRPr lang="en-US" b="1" dirty="0">
              <a:solidFill>
                <a:schemeClr val="accent3">
                  <a:lumMod val="75000"/>
                </a:schemeClr>
              </a:solidFill>
            </a:endParaRPr>
          </a:p>
        </p:txBody>
      </p:sp>
    </p:spTree>
    <p:extLst>
      <p:ext uri="{BB962C8B-B14F-4D97-AF65-F5344CB8AC3E}">
        <p14:creationId xmlns:p14="http://schemas.microsoft.com/office/powerpoint/2010/main" val="3162538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Weak correctness</a:t>
            </a:r>
            <a:br>
              <a:rPr lang="en-US" dirty="0"/>
            </a:br>
            <a:r>
              <a:rPr lang="en-US" dirty="0"/>
              <a:t>(if you get an answer, it’s right)</a:t>
            </a:r>
          </a:p>
        </p:txBody>
      </p:sp>
      <p:sp>
        <p:nvSpPr>
          <p:cNvPr id="8" name="Content Placeholder 7"/>
          <p:cNvSpPr>
            <a:spLocks noGrp="1"/>
          </p:cNvSpPr>
          <p:nvPr>
            <p:ph sz="half" idx="1"/>
          </p:nvPr>
        </p:nvSpPr>
        <p:spPr/>
        <p:txBody>
          <a:bodyPr>
            <a:normAutofit/>
          </a:bodyPr>
          <a:lstStyle/>
          <a:p>
            <a:pPr marL="0" indent="0">
              <a:buNone/>
            </a:pPr>
            <a:r>
              <a:rPr lang="en-US" dirty="0"/>
              <a:t>Case 2: it </a:t>
            </a:r>
            <a:r>
              <a:rPr lang="en-US" b="1" dirty="0">
                <a:solidFill>
                  <a:schemeClr val="accent6">
                    <a:lumMod val="75000"/>
                  </a:schemeClr>
                </a:solidFill>
              </a:rPr>
              <a:t>returns false</a:t>
            </a:r>
          </a:p>
          <a:p>
            <a:r>
              <a:rPr lang="en-US" b="1" dirty="0">
                <a:solidFill>
                  <a:schemeClr val="accent6">
                    <a:lumMod val="50000"/>
                  </a:schemeClr>
                </a:solidFill>
              </a:rPr>
              <a:t>Want to show</a:t>
            </a:r>
            <a:r>
              <a:rPr lang="en-US" dirty="0"/>
              <a:t> that target </a:t>
            </a:r>
            <a:r>
              <a:rPr lang="en-US" b="1" dirty="0">
                <a:solidFill>
                  <a:schemeClr val="accent6">
                    <a:lumMod val="50000"/>
                  </a:schemeClr>
                </a:solidFill>
              </a:rPr>
              <a:t>can’t</a:t>
            </a:r>
            <a:r>
              <a:rPr lang="en-US" dirty="0">
                <a:solidFill>
                  <a:schemeClr val="accent6">
                    <a:lumMod val="50000"/>
                  </a:schemeClr>
                </a:solidFill>
              </a:rPr>
              <a:t> </a:t>
            </a:r>
            <a:r>
              <a:rPr lang="en-US" dirty="0"/>
              <a:t>be in sequence</a:t>
            </a:r>
          </a:p>
          <a:p>
            <a:r>
              <a:rPr lang="en-US" b="1" dirty="0">
                <a:solidFill>
                  <a:schemeClr val="accent6">
                    <a:lumMod val="50000"/>
                  </a:schemeClr>
                </a:solidFill>
              </a:rPr>
              <a:t>Assume otherwise</a:t>
            </a:r>
            <a:br>
              <a:rPr lang="en-US" dirty="0"/>
            </a:br>
            <a:r>
              <a:rPr lang="en-US" dirty="0"/>
              <a:t>(i.e. it really is in the sequence)</a:t>
            </a:r>
          </a:p>
        </p:txBody>
      </p:sp>
      <p:sp>
        <p:nvSpPr>
          <p:cNvPr id="9" name="Content Placeholder 8"/>
          <p:cNvSpPr>
            <a:spLocks noGrp="1"/>
          </p:cNvSpPr>
          <p:nvPr>
            <p:ph sz="half" idx="2"/>
          </p:nvPr>
        </p:nvSpPr>
        <p:spPr/>
        <p:txBody>
          <a:bodyPr>
            <a:normAutofit/>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a:p>
            <a:pPr marL="0" indent="0">
              <a:buNone/>
            </a:pPr>
            <a:endParaRPr lang="en-US" b="1" dirty="0">
              <a:solidFill>
                <a:schemeClr val="accent3">
                  <a:lumMod val="75000"/>
                </a:schemeClr>
              </a:solidFill>
            </a:endParaRPr>
          </a:p>
        </p:txBody>
      </p:sp>
    </p:spTree>
    <p:extLst>
      <p:ext uri="{BB962C8B-B14F-4D97-AF65-F5344CB8AC3E}">
        <p14:creationId xmlns:p14="http://schemas.microsoft.com/office/powerpoint/2010/main" val="2885269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Weak correctness</a:t>
            </a:r>
            <a:br>
              <a:rPr lang="en-US" dirty="0"/>
            </a:br>
            <a:r>
              <a:rPr lang="en-US" dirty="0"/>
              <a:t>(if you get an answer, it’s right)</a:t>
            </a:r>
          </a:p>
        </p:txBody>
      </p:sp>
      <p:sp>
        <p:nvSpPr>
          <p:cNvPr id="8" name="Content Placeholder 7"/>
          <p:cNvSpPr>
            <a:spLocks noGrp="1"/>
          </p:cNvSpPr>
          <p:nvPr>
            <p:ph sz="half" idx="1"/>
          </p:nvPr>
        </p:nvSpPr>
        <p:spPr>
          <a:xfrm>
            <a:off x="457200" y="1600200"/>
            <a:ext cx="4038600" cy="5257800"/>
          </a:xfrm>
        </p:spPr>
        <p:txBody>
          <a:bodyPr>
            <a:normAutofit lnSpcReduction="10000"/>
          </a:bodyPr>
          <a:lstStyle/>
          <a:p>
            <a:pPr marL="0" indent="0">
              <a:buNone/>
            </a:pPr>
            <a:r>
              <a:rPr lang="en-US" dirty="0"/>
              <a:t>Case 2: it </a:t>
            </a:r>
            <a:r>
              <a:rPr lang="en-US" b="1" dirty="0">
                <a:solidFill>
                  <a:schemeClr val="accent6">
                    <a:lumMod val="75000"/>
                  </a:schemeClr>
                </a:solidFill>
              </a:rPr>
              <a:t>returns false</a:t>
            </a:r>
          </a:p>
          <a:p>
            <a:r>
              <a:rPr lang="en-US" b="1" dirty="0">
                <a:solidFill>
                  <a:schemeClr val="accent6">
                    <a:lumMod val="50000"/>
                  </a:schemeClr>
                </a:solidFill>
              </a:rPr>
              <a:t>Assume</a:t>
            </a:r>
            <a:r>
              <a:rPr lang="en-US" dirty="0">
                <a:solidFill>
                  <a:schemeClr val="accent6">
                    <a:lumMod val="50000"/>
                  </a:schemeClr>
                </a:solidFill>
              </a:rPr>
              <a:t> </a:t>
            </a:r>
            <a:r>
              <a:rPr lang="en-US" dirty="0"/>
              <a:t>it’s </a:t>
            </a:r>
            <a:r>
              <a:rPr lang="en-US" b="1" dirty="0">
                <a:solidFill>
                  <a:schemeClr val="accent6">
                    <a:lumMod val="50000"/>
                  </a:schemeClr>
                </a:solidFill>
              </a:rPr>
              <a:t>in the sequence</a:t>
            </a:r>
          </a:p>
          <a:p>
            <a:pPr lvl="1"/>
            <a:r>
              <a:rPr lang="en-US" dirty="0"/>
              <a:t>Then the for each loop will </a:t>
            </a:r>
            <a:r>
              <a:rPr lang="en-US" b="1" dirty="0">
                <a:solidFill>
                  <a:schemeClr val="accent6">
                    <a:lumMod val="50000"/>
                  </a:schemeClr>
                </a:solidFill>
              </a:rPr>
              <a:t>eventually get to it </a:t>
            </a:r>
            <a:r>
              <a:rPr lang="en-US" dirty="0"/>
              <a:t>in the sequence</a:t>
            </a:r>
          </a:p>
          <a:p>
            <a:pPr lvl="1"/>
            <a:r>
              <a:rPr lang="en-US" dirty="0"/>
              <a:t>At that point, </a:t>
            </a:r>
            <a:r>
              <a:rPr lang="en-US" b="1" dirty="0">
                <a:solidFill>
                  <a:schemeClr val="accent6">
                    <a:lumMod val="50000"/>
                  </a:schemeClr>
                </a:solidFill>
              </a:rPr>
              <a:t>n == target</a:t>
            </a:r>
          </a:p>
          <a:p>
            <a:pPr lvl="1"/>
            <a:r>
              <a:rPr lang="en-US" dirty="0"/>
              <a:t>So the if’s test will pass</a:t>
            </a:r>
          </a:p>
          <a:p>
            <a:pPr lvl="1"/>
            <a:r>
              <a:rPr lang="en-US" dirty="0"/>
              <a:t>And it will </a:t>
            </a:r>
            <a:r>
              <a:rPr lang="en-US" b="1" dirty="0">
                <a:solidFill>
                  <a:schemeClr val="accent6">
                    <a:lumMod val="50000"/>
                  </a:schemeClr>
                </a:solidFill>
              </a:rPr>
              <a:t>return true</a:t>
            </a:r>
          </a:p>
          <a:p>
            <a:pPr lvl="1"/>
            <a:r>
              <a:rPr lang="en-US" dirty="0"/>
              <a:t>Which </a:t>
            </a:r>
            <a:r>
              <a:rPr lang="en-US" b="1" dirty="0">
                <a:solidFill>
                  <a:schemeClr val="accent6">
                    <a:lumMod val="75000"/>
                  </a:schemeClr>
                </a:solidFill>
              </a:rPr>
              <a:t>contradicts </a:t>
            </a:r>
            <a:r>
              <a:rPr lang="en-US" dirty="0"/>
              <a:t>the assumption</a:t>
            </a:r>
          </a:p>
          <a:p>
            <a:pPr lvl="1"/>
            <a:r>
              <a:rPr lang="en-US" dirty="0"/>
              <a:t>So the assumption </a:t>
            </a:r>
            <a:r>
              <a:rPr lang="en-US" b="1" dirty="0">
                <a:solidFill>
                  <a:schemeClr val="accent6">
                    <a:lumMod val="50000"/>
                  </a:schemeClr>
                </a:solidFill>
              </a:rPr>
              <a:t>must necessarily be false</a:t>
            </a:r>
          </a:p>
        </p:txBody>
      </p:sp>
      <p:sp>
        <p:nvSpPr>
          <p:cNvPr id="9" name="Content Placeholder 8"/>
          <p:cNvSpPr>
            <a:spLocks noGrp="1"/>
          </p:cNvSpPr>
          <p:nvPr>
            <p:ph sz="half" idx="2"/>
          </p:nvPr>
        </p:nvSpPr>
        <p:spPr/>
        <p:txBody>
          <a:bodyPr>
            <a:normAutofit lnSpcReduction="10000"/>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a:p>
            <a:pPr marL="0" indent="0">
              <a:buNone/>
            </a:pPr>
            <a:endParaRPr lang="en-US" b="1" dirty="0">
              <a:solidFill>
                <a:schemeClr val="accent3">
                  <a:lumMod val="75000"/>
                </a:schemeClr>
              </a:solidFill>
            </a:endParaRPr>
          </a:p>
        </p:txBody>
      </p:sp>
    </p:spTree>
    <p:extLst>
      <p:ext uri="{BB962C8B-B14F-4D97-AF65-F5344CB8AC3E}">
        <p14:creationId xmlns:p14="http://schemas.microsoft.com/office/powerpoint/2010/main" val="1343125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Weak correctness</a:t>
            </a:r>
            <a:br>
              <a:rPr lang="en-US" dirty="0"/>
            </a:br>
            <a:r>
              <a:rPr lang="en-US" dirty="0"/>
              <a:t>(if you get an answer, it’s right)</a:t>
            </a:r>
          </a:p>
        </p:txBody>
      </p:sp>
      <p:sp>
        <p:nvSpPr>
          <p:cNvPr id="8" name="Content Placeholder 7"/>
          <p:cNvSpPr>
            <a:spLocks noGrp="1"/>
          </p:cNvSpPr>
          <p:nvPr>
            <p:ph sz="half" idx="1"/>
          </p:nvPr>
        </p:nvSpPr>
        <p:spPr/>
        <p:txBody>
          <a:bodyPr>
            <a:normAutofit/>
          </a:bodyPr>
          <a:lstStyle/>
          <a:p>
            <a:r>
              <a:rPr lang="en-US" dirty="0"/>
              <a:t>Case 2: it </a:t>
            </a:r>
            <a:r>
              <a:rPr lang="en-US" b="1" dirty="0">
                <a:solidFill>
                  <a:schemeClr val="accent6">
                    <a:lumMod val="75000"/>
                  </a:schemeClr>
                </a:solidFill>
              </a:rPr>
              <a:t>returns false</a:t>
            </a:r>
          </a:p>
          <a:p>
            <a:pPr lvl="1"/>
            <a:r>
              <a:rPr lang="en-US" b="1" dirty="0">
                <a:solidFill>
                  <a:schemeClr val="accent6">
                    <a:lumMod val="50000"/>
                  </a:schemeClr>
                </a:solidFill>
              </a:rPr>
              <a:t>Wanted</a:t>
            </a:r>
            <a:r>
              <a:rPr lang="en-US" dirty="0"/>
              <a:t> to show that target </a:t>
            </a:r>
            <a:r>
              <a:rPr lang="en-US" b="1" dirty="0">
                <a:solidFill>
                  <a:schemeClr val="accent6">
                    <a:lumMod val="50000"/>
                  </a:schemeClr>
                </a:solidFill>
              </a:rPr>
              <a:t>can’t be </a:t>
            </a:r>
            <a:r>
              <a:rPr lang="en-US" dirty="0"/>
              <a:t>in sequence</a:t>
            </a:r>
          </a:p>
          <a:p>
            <a:pPr lvl="1"/>
            <a:r>
              <a:rPr lang="en-US" b="1" dirty="0">
                <a:solidFill>
                  <a:schemeClr val="accent6">
                    <a:lumMod val="50000"/>
                  </a:schemeClr>
                </a:solidFill>
              </a:rPr>
              <a:t>Assumed</a:t>
            </a:r>
            <a:r>
              <a:rPr lang="en-US" dirty="0"/>
              <a:t> otherwise</a:t>
            </a:r>
          </a:p>
          <a:p>
            <a:pPr lvl="2">
              <a:buFont typeface="Symbol" pitchFamily="18" charset="2"/>
              <a:buChar char=""/>
            </a:pPr>
            <a:r>
              <a:rPr lang="en-US" dirty="0"/>
              <a:t> </a:t>
            </a:r>
            <a:r>
              <a:rPr lang="en-US" b="1" dirty="0">
                <a:solidFill>
                  <a:schemeClr val="accent6">
                    <a:lumMod val="75000"/>
                  </a:schemeClr>
                </a:solidFill>
              </a:rPr>
              <a:t>Contradiction</a:t>
            </a:r>
          </a:p>
          <a:p>
            <a:pPr lvl="1"/>
            <a:r>
              <a:rPr lang="en-US" dirty="0"/>
              <a:t>So the target </a:t>
            </a:r>
            <a:r>
              <a:rPr lang="en-US" b="1" dirty="0">
                <a:solidFill>
                  <a:schemeClr val="accent6">
                    <a:lumMod val="50000"/>
                  </a:schemeClr>
                </a:solidFill>
              </a:rPr>
              <a:t>can’t have been </a:t>
            </a:r>
            <a:r>
              <a:rPr lang="en-US" dirty="0"/>
              <a:t>in the sequence</a:t>
            </a:r>
          </a:p>
          <a:p>
            <a:pPr lvl="1"/>
            <a:r>
              <a:rPr lang="en-US" dirty="0"/>
              <a:t>So the result (false) was correct</a:t>
            </a:r>
          </a:p>
        </p:txBody>
      </p:sp>
      <p:sp>
        <p:nvSpPr>
          <p:cNvPr id="9" name="Content Placeholder 8"/>
          <p:cNvSpPr>
            <a:spLocks noGrp="1"/>
          </p:cNvSpPr>
          <p:nvPr>
            <p:ph sz="half" idx="2"/>
          </p:nvPr>
        </p:nvSpPr>
        <p:spPr/>
        <p:txBody>
          <a:bodyPr>
            <a:normAutofit/>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a:p>
            <a:pPr marL="0" indent="0">
              <a:buNone/>
            </a:pPr>
            <a:endParaRPr lang="en-US" b="1" dirty="0">
              <a:solidFill>
                <a:schemeClr val="accent3">
                  <a:lumMod val="75000"/>
                </a:schemeClr>
              </a:solidFill>
            </a:endParaRPr>
          </a:p>
        </p:txBody>
      </p:sp>
    </p:spTree>
    <p:extLst>
      <p:ext uri="{BB962C8B-B14F-4D97-AF65-F5344CB8AC3E}">
        <p14:creationId xmlns:p14="http://schemas.microsoft.com/office/powerpoint/2010/main" val="480536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Weak correctness</a:t>
            </a:r>
            <a:br>
              <a:rPr lang="en-US" dirty="0"/>
            </a:br>
            <a:r>
              <a:rPr lang="en-US" dirty="0"/>
              <a:t>(if you get an answer, it’s right)</a:t>
            </a:r>
          </a:p>
        </p:txBody>
      </p:sp>
      <p:sp>
        <p:nvSpPr>
          <p:cNvPr id="8" name="Content Placeholder 7"/>
          <p:cNvSpPr>
            <a:spLocks noGrp="1"/>
          </p:cNvSpPr>
          <p:nvPr>
            <p:ph sz="half" idx="1"/>
          </p:nvPr>
        </p:nvSpPr>
        <p:spPr/>
        <p:txBody>
          <a:bodyPr>
            <a:normAutofit/>
          </a:bodyPr>
          <a:lstStyle/>
          <a:p>
            <a:r>
              <a:rPr lang="en-US" dirty="0"/>
              <a:t>But the algorithm can only return </a:t>
            </a:r>
            <a:r>
              <a:rPr lang="en-US" b="1" dirty="0">
                <a:solidFill>
                  <a:schemeClr val="accent6">
                    <a:lumMod val="75000"/>
                  </a:schemeClr>
                </a:solidFill>
              </a:rPr>
              <a:t>either true or false</a:t>
            </a:r>
          </a:p>
          <a:p>
            <a:pPr lvl="1"/>
            <a:r>
              <a:rPr lang="en-US" dirty="0"/>
              <a:t>And in both cases, it’s correct</a:t>
            </a:r>
          </a:p>
          <a:p>
            <a:r>
              <a:rPr lang="en-US" dirty="0"/>
              <a:t>So its return value is </a:t>
            </a:r>
            <a:r>
              <a:rPr lang="en-US" b="1" dirty="0">
                <a:solidFill>
                  <a:schemeClr val="accent6">
                    <a:lumMod val="75000"/>
                  </a:schemeClr>
                </a:solidFill>
              </a:rPr>
              <a:t>correct in all cases</a:t>
            </a:r>
          </a:p>
        </p:txBody>
      </p:sp>
      <p:sp>
        <p:nvSpPr>
          <p:cNvPr id="9" name="Content Placeholder 8"/>
          <p:cNvSpPr>
            <a:spLocks noGrp="1"/>
          </p:cNvSpPr>
          <p:nvPr>
            <p:ph sz="half" idx="2"/>
          </p:nvPr>
        </p:nvSpPr>
        <p:spPr/>
        <p:txBody>
          <a:bodyPr>
            <a:normAutofit/>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a:p>
            <a:pPr marL="0" indent="0">
              <a:buNone/>
            </a:pPr>
            <a:endParaRPr lang="en-US" b="1" dirty="0">
              <a:solidFill>
                <a:schemeClr val="accent3">
                  <a:lumMod val="75000"/>
                </a:schemeClr>
              </a:solidFill>
            </a:endParaRPr>
          </a:p>
        </p:txBody>
      </p:sp>
    </p:spTree>
    <p:extLst>
      <p:ext uri="{BB962C8B-B14F-4D97-AF65-F5344CB8AC3E}">
        <p14:creationId xmlns:p14="http://schemas.microsoft.com/office/powerpoint/2010/main" val="3226869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Proving termination</a:t>
            </a:r>
          </a:p>
        </p:txBody>
      </p:sp>
      <p:sp>
        <p:nvSpPr>
          <p:cNvPr id="3" name="Content Placeholder 2"/>
          <p:cNvSpPr>
            <a:spLocks noGrp="1"/>
          </p:cNvSpPr>
          <p:nvPr>
            <p:ph sz="half" idx="1"/>
          </p:nvPr>
        </p:nvSpPr>
        <p:spPr/>
        <p:txBody>
          <a:bodyPr>
            <a:normAutofit/>
          </a:bodyPr>
          <a:lstStyle/>
          <a:p>
            <a:r>
              <a:rPr lang="en-US" dirty="0"/>
              <a:t>We didn’t </a:t>
            </a:r>
            <a:r>
              <a:rPr lang="en-US" b="1" dirty="0">
                <a:solidFill>
                  <a:schemeClr val="accent6">
                    <a:lumMod val="75000"/>
                  </a:schemeClr>
                </a:solidFill>
              </a:rPr>
              <a:t>technically prove </a:t>
            </a:r>
            <a:r>
              <a:rPr lang="en-US" dirty="0"/>
              <a:t>the algorithm is correct</a:t>
            </a:r>
          </a:p>
          <a:p>
            <a:pPr>
              <a:spcBef>
                <a:spcPts val="1800"/>
              </a:spcBef>
            </a:pPr>
            <a:r>
              <a:rPr lang="en-US" dirty="0"/>
              <a:t>Because we didn’t prove it </a:t>
            </a:r>
            <a:r>
              <a:rPr lang="en-US" b="1" dirty="0">
                <a:solidFill>
                  <a:schemeClr val="accent6">
                    <a:lumMod val="75000"/>
                  </a:schemeClr>
                </a:solidFill>
              </a:rPr>
              <a:t>always returned a result</a:t>
            </a:r>
            <a:endParaRPr lang="en-US" dirty="0"/>
          </a:p>
          <a:p>
            <a:pPr>
              <a:spcBef>
                <a:spcPts val="1800"/>
              </a:spcBef>
            </a:pPr>
            <a:r>
              <a:rPr lang="en-US" dirty="0"/>
              <a:t>What if it gets in an </a:t>
            </a:r>
            <a:r>
              <a:rPr lang="en-US" b="1" dirty="0">
                <a:solidFill>
                  <a:schemeClr val="accent6">
                    <a:lumMod val="75000"/>
                  </a:schemeClr>
                </a:solidFill>
              </a:rPr>
              <a:t>infinite loop</a:t>
            </a:r>
            <a:r>
              <a:rPr lang="en-US" dirty="0"/>
              <a:t>?</a:t>
            </a:r>
          </a:p>
        </p:txBody>
      </p:sp>
      <p:sp>
        <p:nvSpPr>
          <p:cNvPr id="4" name="Content Placeholder 3"/>
          <p:cNvSpPr>
            <a:spLocks noGrp="1"/>
          </p:cNvSpPr>
          <p:nvPr>
            <p:ph sz="half" idx="2"/>
          </p:nvPr>
        </p:nvSpPr>
        <p:spPr/>
        <p:txBody>
          <a:bodyPr>
            <a:normAutofit/>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p:txBody>
      </p:sp>
    </p:spTree>
    <p:extLst>
      <p:ext uri="{BB962C8B-B14F-4D97-AF65-F5344CB8AC3E}">
        <p14:creationId xmlns:p14="http://schemas.microsoft.com/office/powerpoint/2010/main" val="687003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Proving termination</a:t>
            </a:r>
          </a:p>
        </p:txBody>
      </p:sp>
      <p:sp>
        <p:nvSpPr>
          <p:cNvPr id="3" name="Content Placeholder 2"/>
          <p:cNvSpPr>
            <a:spLocks noGrp="1"/>
          </p:cNvSpPr>
          <p:nvPr>
            <p:ph sz="half" idx="1"/>
          </p:nvPr>
        </p:nvSpPr>
        <p:spPr/>
        <p:txBody>
          <a:bodyPr>
            <a:normAutofit/>
          </a:bodyPr>
          <a:lstStyle/>
          <a:p>
            <a:r>
              <a:rPr lang="en-US" dirty="0"/>
              <a:t>But it’s </a:t>
            </a:r>
            <a:r>
              <a:rPr lang="en-US" b="1" dirty="0">
                <a:solidFill>
                  <a:schemeClr val="accent6">
                    <a:lumMod val="75000"/>
                  </a:schemeClr>
                </a:solidFill>
              </a:rPr>
              <a:t>obvious</a:t>
            </a:r>
            <a:r>
              <a:rPr lang="en-US" dirty="0">
                <a:solidFill>
                  <a:schemeClr val="accent6">
                    <a:lumMod val="75000"/>
                  </a:schemeClr>
                </a:solidFill>
              </a:rPr>
              <a:t> </a:t>
            </a:r>
            <a:r>
              <a:rPr lang="en-US" dirty="0"/>
              <a:t>that it terminates, right?</a:t>
            </a:r>
          </a:p>
          <a:p>
            <a:endParaRPr lang="en-US" dirty="0"/>
          </a:p>
          <a:p>
            <a:r>
              <a:rPr lang="en-US" dirty="0"/>
              <a:t>Yes, but let’s </a:t>
            </a:r>
            <a:r>
              <a:rPr lang="en-US" b="1" dirty="0">
                <a:solidFill>
                  <a:schemeClr val="accent6">
                    <a:lumMod val="75000"/>
                  </a:schemeClr>
                </a:solidFill>
              </a:rPr>
              <a:t>practice</a:t>
            </a:r>
            <a:r>
              <a:rPr lang="en-US" dirty="0">
                <a:solidFill>
                  <a:schemeClr val="accent6">
                    <a:lumMod val="75000"/>
                  </a:schemeClr>
                </a:solidFill>
              </a:rPr>
              <a:t> </a:t>
            </a:r>
            <a:r>
              <a:rPr lang="en-US" dirty="0"/>
              <a:t>proving termination on a nice, </a:t>
            </a:r>
            <a:r>
              <a:rPr lang="en-US" b="1" dirty="0">
                <a:solidFill>
                  <a:schemeClr val="accent6">
                    <a:lumMod val="75000"/>
                  </a:schemeClr>
                </a:solidFill>
              </a:rPr>
              <a:t>simple </a:t>
            </a:r>
            <a:r>
              <a:rPr lang="en-US" dirty="0"/>
              <a:t>algorithm before we get into a hard one</a:t>
            </a:r>
          </a:p>
        </p:txBody>
      </p:sp>
      <p:sp>
        <p:nvSpPr>
          <p:cNvPr id="4" name="Content Placeholder 3"/>
          <p:cNvSpPr>
            <a:spLocks noGrp="1"/>
          </p:cNvSpPr>
          <p:nvPr>
            <p:ph sz="half" idx="2"/>
          </p:nvPr>
        </p:nvSpPr>
        <p:spPr/>
        <p:txBody>
          <a:bodyPr>
            <a:normAutofit/>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p:txBody>
      </p:sp>
    </p:spTree>
    <p:extLst>
      <p:ext uri="{BB962C8B-B14F-4D97-AF65-F5344CB8AC3E}">
        <p14:creationId xmlns:p14="http://schemas.microsoft.com/office/powerpoint/2010/main" val="671770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Proving termination</a:t>
            </a:r>
          </a:p>
        </p:txBody>
      </p:sp>
      <p:sp>
        <p:nvSpPr>
          <p:cNvPr id="3" name="Content Placeholder 2"/>
          <p:cNvSpPr>
            <a:spLocks noGrp="1"/>
          </p:cNvSpPr>
          <p:nvPr>
            <p:ph sz="half" idx="1"/>
          </p:nvPr>
        </p:nvSpPr>
        <p:spPr/>
        <p:txBody>
          <a:bodyPr>
            <a:normAutofit/>
          </a:bodyPr>
          <a:lstStyle/>
          <a:p>
            <a:r>
              <a:rPr lang="en-US" dirty="0"/>
              <a:t>Let’s </a:t>
            </a:r>
            <a:r>
              <a:rPr lang="en-US" b="1" dirty="0">
                <a:solidFill>
                  <a:schemeClr val="accent6">
                    <a:lumMod val="75000"/>
                  </a:schemeClr>
                </a:solidFill>
              </a:rPr>
              <a:t>expand</a:t>
            </a:r>
            <a:r>
              <a:rPr lang="en-US" dirty="0">
                <a:solidFill>
                  <a:schemeClr val="accent6">
                    <a:lumMod val="75000"/>
                  </a:schemeClr>
                </a:solidFill>
              </a:rPr>
              <a:t> </a:t>
            </a:r>
            <a:r>
              <a:rPr lang="en-US" dirty="0"/>
              <a:t>the foreach loop into its equivalent </a:t>
            </a:r>
            <a:r>
              <a:rPr lang="en-US" b="1" dirty="0">
                <a:solidFill>
                  <a:schemeClr val="accent6">
                    <a:lumMod val="75000"/>
                  </a:schemeClr>
                </a:solidFill>
              </a:rPr>
              <a:t>for loop</a:t>
            </a:r>
          </a:p>
        </p:txBody>
      </p:sp>
      <p:sp>
        <p:nvSpPr>
          <p:cNvPr id="4" name="Content Placeholder 3"/>
          <p:cNvSpPr>
            <a:spLocks noGrp="1"/>
          </p:cNvSpPr>
          <p:nvPr>
            <p:ph sz="half" idx="2"/>
          </p:nvPr>
        </p:nvSpPr>
        <p:spPr/>
        <p:txBody>
          <a:bodyPr>
            <a:normAutofit/>
          </a:bodyPr>
          <a:lstStyle/>
          <a:p>
            <a:pPr marL="0" indent="0">
              <a:buNone/>
            </a:pPr>
            <a:r>
              <a:rPr lang="en-US" b="1" dirty="0">
                <a:solidFill>
                  <a:schemeClr val="accent3">
                    <a:lumMod val="75000"/>
                  </a:schemeClr>
                </a:solidFill>
              </a:rPr>
              <a:t>for each n</a:t>
            </a:r>
            <a:r>
              <a:rPr lang="en-US" b="1" dirty="0">
                <a:solidFill>
                  <a:schemeClr val="accent3">
                    <a:lumMod val="75000"/>
                  </a:schemeClr>
                </a:solidFill>
                <a:sym typeface="Symbol"/>
              </a:rPr>
              <a:t> in sequence</a:t>
            </a:r>
            <a:endParaRPr lang="en-US" b="1" dirty="0">
              <a:solidFill>
                <a:schemeClr val="accent3">
                  <a:lumMod val="75000"/>
                </a:schemeClr>
              </a:solidFill>
            </a:endParaRP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return false</a:t>
            </a:r>
          </a:p>
        </p:txBody>
      </p:sp>
    </p:spTree>
    <p:extLst>
      <p:ext uri="{BB962C8B-B14F-4D97-AF65-F5344CB8AC3E}">
        <p14:creationId xmlns:p14="http://schemas.microsoft.com/office/powerpoint/2010/main" val="1746129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Proving termination</a:t>
            </a:r>
          </a:p>
        </p:txBody>
      </p:sp>
      <p:sp>
        <p:nvSpPr>
          <p:cNvPr id="3" name="Content Placeholder 2"/>
          <p:cNvSpPr>
            <a:spLocks noGrp="1"/>
          </p:cNvSpPr>
          <p:nvPr>
            <p:ph sz="half" idx="1"/>
          </p:nvPr>
        </p:nvSpPr>
        <p:spPr/>
        <p:txBody>
          <a:bodyPr>
            <a:normAutofit/>
          </a:bodyPr>
          <a:lstStyle/>
          <a:p>
            <a:r>
              <a:rPr lang="en-US" dirty="0"/>
              <a:t>We </a:t>
            </a:r>
            <a:r>
              <a:rPr lang="en-US" b="1" dirty="0">
                <a:solidFill>
                  <a:schemeClr val="accent6">
                    <a:lumMod val="75000"/>
                  </a:schemeClr>
                </a:solidFill>
              </a:rPr>
              <a:t>want</a:t>
            </a:r>
            <a:r>
              <a:rPr lang="en-US" dirty="0">
                <a:solidFill>
                  <a:schemeClr val="accent6">
                    <a:lumMod val="75000"/>
                  </a:schemeClr>
                </a:solidFill>
              </a:rPr>
              <a:t> </a:t>
            </a:r>
            <a:r>
              <a:rPr lang="en-US" dirty="0"/>
              <a:t>to show that the </a:t>
            </a:r>
            <a:r>
              <a:rPr lang="en-US" b="1" dirty="0">
                <a:solidFill>
                  <a:schemeClr val="accent6">
                    <a:lumMod val="75000"/>
                  </a:schemeClr>
                </a:solidFill>
              </a:rPr>
              <a:t>loop terminates</a:t>
            </a:r>
          </a:p>
        </p:txBody>
      </p:sp>
      <p:sp>
        <p:nvSpPr>
          <p:cNvPr id="4" name="Content Placeholder 3"/>
          <p:cNvSpPr>
            <a:spLocks noGrp="1"/>
          </p:cNvSpPr>
          <p:nvPr>
            <p:ph sz="half" idx="2"/>
          </p:nvPr>
        </p:nvSpPr>
        <p:spPr/>
        <p:txBody>
          <a:bodyPr>
            <a:normAutofit/>
          </a:bodyPr>
          <a:lstStyle/>
          <a:p>
            <a:pPr marL="0" indent="0">
              <a:buNone/>
            </a:pPr>
            <a:r>
              <a:rPr lang="en-US" b="1" dirty="0">
                <a:solidFill>
                  <a:schemeClr val="accent3">
                    <a:lumMod val="75000"/>
                  </a:schemeClr>
                </a:solidFill>
              </a:rPr>
              <a:t>for (i=0; i&lt;length; i++) {</a:t>
            </a:r>
          </a:p>
          <a:p>
            <a:pPr marL="0" indent="0">
              <a:buNone/>
            </a:pPr>
            <a:r>
              <a:rPr lang="en-US" b="1" dirty="0">
                <a:solidFill>
                  <a:schemeClr val="accent3">
                    <a:lumMod val="75000"/>
                  </a:schemeClr>
                </a:solidFill>
              </a:rPr>
              <a:t>    int n = sequence[i];</a:t>
            </a: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a:t>
            </a:r>
          </a:p>
          <a:p>
            <a:pPr marL="0" indent="0">
              <a:buNone/>
            </a:pPr>
            <a:r>
              <a:rPr lang="en-US" b="1" dirty="0">
                <a:solidFill>
                  <a:schemeClr val="accent3">
                    <a:lumMod val="75000"/>
                  </a:schemeClr>
                </a:solidFill>
              </a:rPr>
              <a:t>return false</a:t>
            </a:r>
          </a:p>
        </p:txBody>
      </p:sp>
    </p:spTree>
    <p:extLst>
      <p:ext uri="{BB962C8B-B14F-4D97-AF65-F5344CB8AC3E}">
        <p14:creationId xmlns:p14="http://schemas.microsoft.com/office/powerpoint/2010/main" val="4271663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Proving termination</a:t>
            </a:r>
          </a:p>
        </p:txBody>
      </p:sp>
      <p:sp>
        <p:nvSpPr>
          <p:cNvPr id="3" name="Content Placeholder 2"/>
          <p:cNvSpPr>
            <a:spLocks noGrp="1"/>
          </p:cNvSpPr>
          <p:nvPr>
            <p:ph sz="half" idx="1"/>
          </p:nvPr>
        </p:nvSpPr>
        <p:spPr/>
        <p:txBody>
          <a:bodyPr>
            <a:normAutofit/>
          </a:bodyPr>
          <a:lstStyle/>
          <a:p>
            <a:r>
              <a:rPr lang="en-US" dirty="0"/>
              <a:t>For loops terminate when their </a:t>
            </a:r>
            <a:r>
              <a:rPr lang="en-US" b="1" dirty="0">
                <a:solidFill>
                  <a:schemeClr val="accent6">
                    <a:lumMod val="75000"/>
                  </a:schemeClr>
                </a:solidFill>
              </a:rPr>
              <a:t>control conditions </a:t>
            </a:r>
            <a:r>
              <a:rPr lang="en-US" dirty="0"/>
              <a:t>are false</a:t>
            </a:r>
          </a:p>
          <a:p>
            <a:endParaRPr lang="en-US" dirty="0"/>
          </a:p>
          <a:p>
            <a:r>
              <a:rPr lang="en-US" dirty="0"/>
              <a:t>So we want to show that i&lt;length </a:t>
            </a:r>
            <a:r>
              <a:rPr lang="en-US" b="1" dirty="0">
                <a:solidFill>
                  <a:schemeClr val="accent6">
                    <a:lumMod val="75000"/>
                  </a:schemeClr>
                </a:solidFill>
              </a:rPr>
              <a:t>will eventually be false</a:t>
            </a:r>
          </a:p>
        </p:txBody>
      </p:sp>
      <p:sp>
        <p:nvSpPr>
          <p:cNvPr id="4" name="Content Placeholder 3"/>
          <p:cNvSpPr>
            <a:spLocks noGrp="1"/>
          </p:cNvSpPr>
          <p:nvPr>
            <p:ph sz="half" idx="2"/>
          </p:nvPr>
        </p:nvSpPr>
        <p:spPr/>
        <p:txBody>
          <a:bodyPr>
            <a:normAutofit/>
          </a:bodyPr>
          <a:lstStyle/>
          <a:p>
            <a:pPr marL="0" indent="0">
              <a:buNone/>
            </a:pPr>
            <a:r>
              <a:rPr lang="en-US" b="1" dirty="0">
                <a:solidFill>
                  <a:schemeClr val="accent3">
                    <a:lumMod val="75000"/>
                  </a:schemeClr>
                </a:solidFill>
              </a:rPr>
              <a:t>for (i=0; </a:t>
            </a:r>
            <a:r>
              <a:rPr lang="en-US" b="1" dirty="0">
                <a:solidFill>
                  <a:schemeClr val="accent6">
                    <a:lumMod val="75000"/>
                  </a:schemeClr>
                </a:solidFill>
              </a:rPr>
              <a:t>i&lt;length</a:t>
            </a:r>
            <a:r>
              <a:rPr lang="en-US" b="1" dirty="0">
                <a:solidFill>
                  <a:schemeClr val="accent3">
                    <a:lumMod val="75000"/>
                  </a:schemeClr>
                </a:solidFill>
              </a:rPr>
              <a:t>; i++) {</a:t>
            </a:r>
          </a:p>
          <a:p>
            <a:pPr marL="0" indent="0">
              <a:buNone/>
            </a:pPr>
            <a:r>
              <a:rPr lang="en-US" b="1" dirty="0">
                <a:solidFill>
                  <a:schemeClr val="accent3">
                    <a:lumMod val="75000"/>
                  </a:schemeClr>
                </a:solidFill>
              </a:rPr>
              <a:t>    int n = sequence[i];</a:t>
            </a: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a:t>
            </a:r>
          </a:p>
          <a:p>
            <a:pPr marL="0" indent="0">
              <a:buNone/>
            </a:pPr>
            <a:r>
              <a:rPr lang="en-US" b="1" dirty="0">
                <a:solidFill>
                  <a:schemeClr val="accent3">
                    <a:lumMod val="75000"/>
                  </a:schemeClr>
                </a:solidFill>
              </a:rPr>
              <a:t>return false;</a:t>
            </a:r>
          </a:p>
        </p:txBody>
      </p:sp>
    </p:spTree>
    <p:extLst>
      <p:ext uri="{BB962C8B-B14F-4D97-AF65-F5344CB8AC3E}">
        <p14:creationId xmlns:p14="http://schemas.microsoft.com/office/powerpoint/2010/main" val="1358884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Proving termination</a:t>
            </a:r>
          </a:p>
        </p:txBody>
      </p:sp>
      <p:sp>
        <p:nvSpPr>
          <p:cNvPr id="3" name="Content Placeholder 2"/>
          <p:cNvSpPr>
            <a:spLocks noGrp="1"/>
          </p:cNvSpPr>
          <p:nvPr>
            <p:ph sz="half" idx="1"/>
          </p:nvPr>
        </p:nvSpPr>
        <p:spPr>
          <a:xfrm>
            <a:off x="457200" y="1600200"/>
            <a:ext cx="4038600" cy="5029200"/>
          </a:xfrm>
        </p:spPr>
        <p:txBody>
          <a:bodyPr>
            <a:normAutofit/>
          </a:bodyPr>
          <a:lstStyle/>
          <a:p>
            <a:r>
              <a:rPr lang="en-US" dirty="0"/>
              <a:t>Since i </a:t>
            </a:r>
            <a:r>
              <a:rPr lang="en-US" b="1" dirty="0">
                <a:solidFill>
                  <a:schemeClr val="accent6">
                    <a:lumMod val="75000"/>
                  </a:schemeClr>
                </a:solidFill>
              </a:rPr>
              <a:t>keeps increasing </a:t>
            </a:r>
            <a:r>
              <a:rPr lang="en-US" dirty="0"/>
              <a:t>with each iteration</a:t>
            </a:r>
          </a:p>
          <a:p>
            <a:pPr lvl="1"/>
            <a:r>
              <a:rPr lang="en-US" dirty="0"/>
              <a:t>And always </a:t>
            </a:r>
            <a:r>
              <a:rPr lang="en-US" b="1" dirty="0">
                <a:solidFill>
                  <a:schemeClr val="accent6">
                    <a:lumMod val="50000"/>
                  </a:schemeClr>
                </a:solidFill>
              </a:rPr>
              <a:t>increases by 1</a:t>
            </a:r>
          </a:p>
          <a:p>
            <a:endParaRPr lang="en-US" dirty="0"/>
          </a:p>
          <a:p>
            <a:r>
              <a:rPr lang="en-US" dirty="0"/>
              <a:t>Then no matter </a:t>
            </a:r>
            <a:r>
              <a:rPr lang="en-US" b="1" dirty="0">
                <a:solidFill>
                  <a:schemeClr val="accent6">
                    <a:lumMod val="75000"/>
                  </a:schemeClr>
                </a:solidFill>
              </a:rPr>
              <a:t>how big </a:t>
            </a:r>
            <a:r>
              <a:rPr lang="en-US" dirty="0"/>
              <a:t>length is,</a:t>
            </a:r>
          </a:p>
          <a:p>
            <a:pPr lvl="1"/>
            <a:r>
              <a:rPr lang="en-US" dirty="0"/>
              <a:t>The loop </a:t>
            </a:r>
            <a:r>
              <a:rPr lang="en-US" b="1" dirty="0">
                <a:solidFill>
                  <a:schemeClr val="accent6">
                    <a:lumMod val="50000"/>
                  </a:schemeClr>
                </a:solidFill>
              </a:rPr>
              <a:t>can’t run for more than length steps</a:t>
            </a:r>
            <a:r>
              <a:rPr lang="en-US" dirty="0"/>
              <a:t> without terminating</a:t>
            </a:r>
          </a:p>
        </p:txBody>
      </p:sp>
      <p:sp>
        <p:nvSpPr>
          <p:cNvPr id="4" name="Content Placeholder 3"/>
          <p:cNvSpPr>
            <a:spLocks noGrp="1"/>
          </p:cNvSpPr>
          <p:nvPr>
            <p:ph sz="half" idx="2"/>
          </p:nvPr>
        </p:nvSpPr>
        <p:spPr/>
        <p:txBody>
          <a:bodyPr>
            <a:normAutofit/>
          </a:bodyPr>
          <a:lstStyle/>
          <a:p>
            <a:pPr marL="0" indent="0">
              <a:buNone/>
            </a:pPr>
            <a:r>
              <a:rPr lang="en-US" b="1" dirty="0">
                <a:solidFill>
                  <a:schemeClr val="accent3">
                    <a:lumMod val="75000"/>
                  </a:schemeClr>
                </a:solidFill>
              </a:rPr>
              <a:t>for (i=0; i&lt;length; </a:t>
            </a:r>
            <a:r>
              <a:rPr lang="en-US" b="1" dirty="0">
                <a:solidFill>
                  <a:srgbClr val="C00000"/>
                </a:solidFill>
              </a:rPr>
              <a:t>i++</a:t>
            </a:r>
            <a:r>
              <a:rPr lang="en-US" b="1" dirty="0">
                <a:solidFill>
                  <a:schemeClr val="accent3">
                    <a:lumMod val="75000"/>
                  </a:schemeClr>
                </a:solidFill>
              </a:rPr>
              <a:t>) {</a:t>
            </a:r>
          </a:p>
          <a:p>
            <a:pPr marL="0" indent="0">
              <a:buNone/>
            </a:pPr>
            <a:r>
              <a:rPr lang="en-US" b="1" dirty="0">
                <a:solidFill>
                  <a:schemeClr val="accent3">
                    <a:lumMod val="75000"/>
                  </a:schemeClr>
                </a:solidFill>
              </a:rPr>
              <a:t>    int n = sequence[i];</a:t>
            </a: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a:t>
            </a:r>
          </a:p>
          <a:p>
            <a:pPr marL="0" indent="0">
              <a:buNone/>
            </a:pPr>
            <a:r>
              <a:rPr lang="en-US" b="1" dirty="0">
                <a:solidFill>
                  <a:schemeClr val="accent3">
                    <a:lumMod val="75000"/>
                  </a:schemeClr>
                </a:solidFill>
              </a:rPr>
              <a:t>return false</a:t>
            </a:r>
          </a:p>
        </p:txBody>
      </p:sp>
    </p:spTree>
    <p:extLst>
      <p:ext uri="{BB962C8B-B14F-4D97-AF65-F5344CB8AC3E}">
        <p14:creationId xmlns:p14="http://schemas.microsoft.com/office/powerpoint/2010/main" val="1942682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enough brute force …</a:t>
            </a:r>
          </a:p>
        </p:txBody>
      </p:sp>
      <p:sp>
        <p:nvSpPr>
          <p:cNvPr id="6" name="Subtitle 5"/>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25482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2: binary search</a:t>
            </a:r>
          </a:p>
        </p:txBody>
      </p:sp>
      <p:sp>
        <p:nvSpPr>
          <p:cNvPr id="3" name="Content Placeholder 2"/>
          <p:cNvSpPr>
            <a:spLocks noGrp="1"/>
          </p:cNvSpPr>
          <p:nvPr>
            <p:ph sz="half" idx="1"/>
          </p:nvPr>
        </p:nvSpPr>
        <p:spPr>
          <a:xfrm>
            <a:off x="457200" y="1600200"/>
            <a:ext cx="4038600" cy="4953000"/>
          </a:xfrm>
        </p:spPr>
        <p:txBody>
          <a:bodyPr>
            <a:normAutofit fontScale="85000" lnSpcReduction="20000"/>
          </a:bodyPr>
          <a:lstStyle/>
          <a:p>
            <a:r>
              <a:rPr lang="en-US" dirty="0"/>
              <a:t>Assume the numbers in the sequence are </a:t>
            </a:r>
            <a:r>
              <a:rPr lang="en-US" b="1" dirty="0">
                <a:solidFill>
                  <a:schemeClr val="accent6">
                    <a:lumMod val="75000"/>
                  </a:schemeClr>
                </a:solidFill>
              </a:rPr>
              <a:t>sorted</a:t>
            </a:r>
            <a:r>
              <a:rPr lang="en-US" b="1" dirty="0"/>
              <a:t> </a:t>
            </a:r>
            <a:r>
              <a:rPr lang="en-US" dirty="0"/>
              <a:t>into increasing order</a:t>
            </a:r>
          </a:p>
          <a:p>
            <a:endParaRPr lang="en-US" dirty="0"/>
          </a:p>
          <a:p>
            <a:r>
              <a:rPr lang="en-US" dirty="0"/>
              <a:t>Now use this algorithm</a:t>
            </a:r>
          </a:p>
          <a:p>
            <a:pPr lvl="1"/>
            <a:r>
              <a:rPr lang="en-US" dirty="0"/>
              <a:t>Try the </a:t>
            </a:r>
            <a:r>
              <a:rPr lang="en-US" b="1" dirty="0">
                <a:solidFill>
                  <a:schemeClr val="accent6">
                    <a:lumMod val="75000"/>
                  </a:schemeClr>
                </a:solidFill>
              </a:rPr>
              <a:t>middle</a:t>
            </a:r>
            <a:r>
              <a:rPr lang="en-US" dirty="0">
                <a:solidFill>
                  <a:schemeClr val="accent6">
                    <a:lumMod val="75000"/>
                  </a:schemeClr>
                </a:solidFill>
              </a:rPr>
              <a:t> </a:t>
            </a:r>
            <a:r>
              <a:rPr lang="en-US" dirty="0"/>
              <a:t>of the sequence</a:t>
            </a:r>
          </a:p>
          <a:p>
            <a:pPr lvl="1"/>
            <a:r>
              <a:rPr lang="en-US" dirty="0"/>
              <a:t>If you </a:t>
            </a:r>
            <a:r>
              <a:rPr lang="en-US" b="1" dirty="0">
                <a:solidFill>
                  <a:schemeClr val="accent6">
                    <a:lumMod val="75000"/>
                  </a:schemeClr>
                </a:solidFill>
              </a:rPr>
              <a:t>found it</a:t>
            </a:r>
            <a:r>
              <a:rPr lang="en-US" dirty="0"/>
              <a:t>, great</a:t>
            </a:r>
          </a:p>
          <a:p>
            <a:pPr lvl="1"/>
            <a:r>
              <a:rPr lang="en-US" dirty="0"/>
              <a:t>If it’s </a:t>
            </a:r>
            <a:r>
              <a:rPr lang="en-US" b="1" dirty="0">
                <a:solidFill>
                  <a:schemeClr val="accent6">
                    <a:lumMod val="75000"/>
                  </a:schemeClr>
                </a:solidFill>
              </a:rPr>
              <a:t>greater than target</a:t>
            </a:r>
            <a:r>
              <a:rPr lang="en-US" dirty="0"/>
              <a:t>, you can safely </a:t>
            </a:r>
            <a:r>
              <a:rPr lang="en-US" b="1" dirty="0">
                <a:solidFill>
                  <a:schemeClr val="accent6">
                    <a:lumMod val="50000"/>
                  </a:schemeClr>
                </a:solidFill>
              </a:rPr>
              <a:t>ignore the second half </a:t>
            </a:r>
            <a:r>
              <a:rPr lang="en-US" dirty="0"/>
              <a:t>of the sequence</a:t>
            </a:r>
          </a:p>
          <a:p>
            <a:pPr lvl="1"/>
            <a:r>
              <a:rPr lang="en-US" b="1" dirty="0">
                <a:solidFill>
                  <a:schemeClr val="accent6">
                    <a:lumMod val="75000"/>
                  </a:schemeClr>
                </a:solidFill>
              </a:rPr>
              <a:t>Otherwise</a:t>
            </a:r>
            <a:r>
              <a:rPr lang="en-US" dirty="0"/>
              <a:t>, you can </a:t>
            </a:r>
            <a:r>
              <a:rPr lang="en-US" b="1" dirty="0">
                <a:solidFill>
                  <a:schemeClr val="accent6">
                    <a:lumMod val="50000"/>
                  </a:schemeClr>
                </a:solidFill>
              </a:rPr>
              <a:t>ignore the first half</a:t>
            </a:r>
          </a:p>
          <a:p>
            <a:endParaRPr lang="en-US" dirty="0"/>
          </a:p>
          <a:p>
            <a:r>
              <a:rPr lang="en-US" dirty="0"/>
              <a:t>Each iteration </a:t>
            </a:r>
            <a:r>
              <a:rPr lang="en-US" b="1" dirty="0">
                <a:solidFill>
                  <a:schemeClr val="accent6">
                    <a:lumMod val="75000"/>
                  </a:schemeClr>
                </a:solidFill>
              </a:rPr>
              <a:t>eliminates half </a:t>
            </a:r>
            <a:r>
              <a:rPr lang="en-US" dirty="0"/>
              <a:t>the list</a:t>
            </a:r>
          </a:p>
        </p:txBody>
      </p:sp>
      <p:sp>
        <p:nvSpPr>
          <p:cNvPr id="5" name="Rectangle 4"/>
          <p:cNvSpPr/>
          <p:nvPr/>
        </p:nvSpPr>
        <p:spPr>
          <a:xfrm>
            <a:off x="57912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6" name="Rectangle 5"/>
          <p:cNvSpPr/>
          <p:nvPr/>
        </p:nvSpPr>
        <p:spPr>
          <a:xfrm>
            <a:off x="60960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 name="Rectangle 6"/>
          <p:cNvSpPr/>
          <p:nvPr/>
        </p:nvSpPr>
        <p:spPr>
          <a:xfrm>
            <a:off x="64008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 name="Rectangle 7"/>
          <p:cNvSpPr/>
          <p:nvPr/>
        </p:nvSpPr>
        <p:spPr>
          <a:xfrm>
            <a:off x="67056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9" name="Rectangle 8"/>
          <p:cNvSpPr/>
          <p:nvPr/>
        </p:nvSpPr>
        <p:spPr>
          <a:xfrm>
            <a:off x="70104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Rectangle 9"/>
          <p:cNvSpPr/>
          <p:nvPr/>
        </p:nvSpPr>
        <p:spPr>
          <a:xfrm>
            <a:off x="73152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1" name="Rectangle 10"/>
          <p:cNvSpPr/>
          <p:nvPr/>
        </p:nvSpPr>
        <p:spPr>
          <a:xfrm>
            <a:off x="76200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2" name="Rectangle 11"/>
          <p:cNvSpPr/>
          <p:nvPr/>
        </p:nvSpPr>
        <p:spPr>
          <a:xfrm>
            <a:off x="79248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3" name="Rectangle 12"/>
          <p:cNvSpPr/>
          <p:nvPr/>
        </p:nvSpPr>
        <p:spPr>
          <a:xfrm>
            <a:off x="57912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0960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64008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67056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p:nvSpPr>
        <p:spPr>
          <a:xfrm>
            <a:off x="70104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8" name="Rectangle 17"/>
          <p:cNvSpPr/>
          <p:nvPr/>
        </p:nvSpPr>
        <p:spPr>
          <a:xfrm>
            <a:off x="73152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9" name="Rectangle 18"/>
          <p:cNvSpPr/>
          <p:nvPr/>
        </p:nvSpPr>
        <p:spPr>
          <a:xfrm>
            <a:off x="76200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0" name="Rectangle 19"/>
          <p:cNvSpPr/>
          <p:nvPr/>
        </p:nvSpPr>
        <p:spPr>
          <a:xfrm>
            <a:off x="79248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1" name="Rectangle 20"/>
          <p:cNvSpPr/>
          <p:nvPr/>
        </p:nvSpPr>
        <p:spPr>
          <a:xfrm>
            <a:off x="57912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60960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p:nvSpPr>
        <p:spPr>
          <a:xfrm>
            <a:off x="64008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p:nvSpPr>
        <p:spPr>
          <a:xfrm>
            <a:off x="67056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a:off x="7010400" y="35814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6" name="Rectangle 25"/>
          <p:cNvSpPr/>
          <p:nvPr/>
        </p:nvSpPr>
        <p:spPr>
          <a:xfrm>
            <a:off x="7315200" y="35814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7" name="Rectangle 26"/>
          <p:cNvSpPr/>
          <p:nvPr/>
        </p:nvSpPr>
        <p:spPr>
          <a:xfrm>
            <a:off x="76200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p:cNvSpPr/>
          <p:nvPr/>
        </p:nvSpPr>
        <p:spPr>
          <a:xfrm>
            <a:off x="79248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p:cNvSpPr/>
          <p:nvPr/>
        </p:nvSpPr>
        <p:spPr>
          <a:xfrm>
            <a:off x="57912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p:nvSpPr>
        <p:spPr>
          <a:xfrm>
            <a:off x="60960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p:nvSpPr>
        <p:spPr>
          <a:xfrm>
            <a:off x="64008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67056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p:cNvSpPr/>
          <p:nvPr/>
        </p:nvSpPr>
        <p:spPr>
          <a:xfrm>
            <a:off x="70104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7315200" y="42672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35" name="Rectangle 34"/>
          <p:cNvSpPr/>
          <p:nvPr/>
        </p:nvSpPr>
        <p:spPr>
          <a:xfrm>
            <a:off x="76200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79248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p:cNvSpPr/>
          <p:nvPr/>
        </p:nvSpPr>
        <p:spPr>
          <a:xfrm>
            <a:off x="57912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p:cNvSpPr/>
          <p:nvPr/>
        </p:nvSpPr>
        <p:spPr>
          <a:xfrm>
            <a:off x="60960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p:cNvSpPr/>
          <p:nvPr/>
        </p:nvSpPr>
        <p:spPr>
          <a:xfrm>
            <a:off x="64008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p:cNvSpPr/>
          <p:nvPr/>
        </p:nvSpPr>
        <p:spPr>
          <a:xfrm>
            <a:off x="67056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p:cNvSpPr/>
          <p:nvPr/>
        </p:nvSpPr>
        <p:spPr>
          <a:xfrm>
            <a:off x="70104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p:nvSpPr>
        <p:spPr>
          <a:xfrm>
            <a:off x="7315200" y="4953000"/>
            <a:ext cx="304800" cy="304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43" name="Rectangle 42"/>
          <p:cNvSpPr/>
          <p:nvPr/>
        </p:nvSpPr>
        <p:spPr>
          <a:xfrm>
            <a:off x="76200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p:cNvSpPr/>
          <p:nvPr/>
        </p:nvSpPr>
        <p:spPr>
          <a:xfrm>
            <a:off x="79248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9152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 and conquer</a:t>
            </a:r>
          </a:p>
        </p:txBody>
      </p:sp>
      <p:sp>
        <p:nvSpPr>
          <p:cNvPr id="3" name="Content Placeholder 2"/>
          <p:cNvSpPr>
            <a:spLocks noGrp="1"/>
          </p:cNvSpPr>
          <p:nvPr>
            <p:ph sz="half" idx="1"/>
          </p:nvPr>
        </p:nvSpPr>
        <p:spPr>
          <a:xfrm>
            <a:off x="457200" y="1600200"/>
            <a:ext cx="4038600" cy="4953000"/>
          </a:xfrm>
        </p:spPr>
        <p:txBody>
          <a:bodyPr>
            <a:normAutofit/>
          </a:bodyPr>
          <a:lstStyle/>
          <a:p>
            <a:r>
              <a:rPr lang="en-US" dirty="0"/>
              <a:t>Binary search is an example of a general technique in algorithm design: </a:t>
            </a:r>
            <a:r>
              <a:rPr lang="en-US" b="1" dirty="0">
                <a:solidFill>
                  <a:schemeClr val="accent6">
                    <a:lumMod val="75000"/>
                  </a:schemeClr>
                </a:solidFill>
              </a:rPr>
              <a:t>divide and conquer</a:t>
            </a:r>
            <a:r>
              <a:rPr lang="en-US" dirty="0"/>
              <a:t> </a:t>
            </a:r>
          </a:p>
          <a:p>
            <a:pPr lvl="1"/>
            <a:r>
              <a:rPr lang="en-US" dirty="0"/>
              <a:t>Take a hard problem</a:t>
            </a:r>
          </a:p>
          <a:p>
            <a:pPr lvl="1"/>
            <a:r>
              <a:rPr lang="en-US" b="1" dirty="0">
                <a:solidFill>
                  <a:schemeClr val="accent6">
                    <a:lumMod val="50000"/>
                  </a:schemeClr>
                </a:solidFill>
              </a:rPr>
              <a:t>Split </a:t>
            </a:r>
            <a:r>
              <a:rPr lang="en-US" dirty="0"/>
              <a:t>it into “easier” problems</a:t>
            </a:r>
          </a:p>
          <a:p>
            <a:pPr lvl="1"/>
            <a:r>
              <a:rPr lang="en-US" b="1" dirty="0">
                <a:solidFill>
                  <a:schemeClr val="accent6">
                    <a:lumMod val="50000"/>
                  </a:schemeClr>
                </a:solidFill>
              </a:rPr>
              <a:t>Solve </a:t>
            </a:r>
            <a:r>
              <a:rPr lang="en-US" dirty="0"/>
              <a:t>the easier problems</a:t>
            </a:r>
          </a:p>
          <a:p>
            <a:pPr lvl="1"/>
            <a:r>
              <a:rPr lang="en-US" b="1" dirty="0">
                <a:solidFill>
                  <a:schemeClr val="accent6">
                    <a:lumMod val="50000"/>
                  </a:schemeClr>
                </a:solidFill>
              </a:rPr>
              <a:t>Combine </a:t>
            </a:r>
            <a:r>
              <a:rPr lang="en-US" dirty="0"/>
              <a:t>the solutions</a:t>
            </a:r>
          </a:p>
        </p:txBody>
      </p:sp>
      <p:sp>
        <p:nvSpPr>
          <p:cNvPr id="5" name="Rectangle 4"/>
          <p:cNvSpPr/>
          <p:nvPr/>
        </p:nvSpPr>
        <p:spPr>
          <a:xfrm>
            <a:off x="57912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6" name="Rectangle 5"/>
          <p:cNvSpPr/>
          <p:nvPr/>
        </p:nvSpPr>
        <p:spPr>
          <a:xfrm>
            <a:off x="60960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 name="Rectangle 6"/>
          <p:cNvSpPr/>
          <p:nvPr/>
        </p:nvSpPr>
        <p:spPr>
          <a:xfrm>
            <a:off x="64008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 name="Rectangle 7"/>
          <p:cNvSpPr/>
          <p:nvPr/>
        </p:nvSpPr>
        <p:spPr>
          <a:xfrm>
            <a:off x="67056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9" name="Rectangle 8"/>
          <p:cNvSpPr/>
          <p:nvPr/>
        </p:nvSpPr>
        <p:spPr>
          <a:xfrm>
            <a:off x="70104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Rectangle 9"/>
          <p:cNvSpPr/>
          <p:nvPr/>
        </p:nvSpPr>
        <p:spPr>
          <a:xfrm>
            <a:off x="73152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1" name="Rectangle 10"/>
          <p:cNvSpPr/>
          <p:nvPr/>
        </p:nvSpPr>
        <p:spPr>
          <a:xfrm>
            <a:off x="76200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2" name="Rectangle 11"/>
          <p:cNvSpPr/>
          <p:nvPr/>
        </p:nvSpPr>
        <p:spPr>
          <a:xfrm>
            <a:off x="79248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3" name="Rectangle 12"/>
          <p:cNvSpPr/>
          <p:nvPr/>
        </p:nvSpPr>
        <p:spPr>
          <a:xfrm>
            <a:off x="57912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0960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64008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67056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p:nvSpPr>
        <p:spPr>
          <a:xfrm>
            <a:off x="70104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8" name="Rectangle 17"/>
          <p:cNvSpPr/>
          <p:nvPr/>
        </p:nvSpPr>
        <p:spPr>
          <a:xfrm>
            <a:off x="73152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9" name="Rectangle 18"/>
          <p:cNvSpPr/>
          <p:nvPr/>
        </p:nvSpPr>
        <p:spPr>
          <a:xfrm>
            <a:off x="76200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0" name="Rectangle 19"/>
          <p:cNvSpPr/>
          <p:nvPr/>
        </p:nvSpPr>
        <p:spPr>
          <a:xfrm>
            <a:off x="79248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1" name="Rectangle 20"/>
          <p:cNvSpPr/>
          <p:nvPr/>
        </p:nvSpPr>
        <p:spPr>
          <a:xfrm>
            <a:off x="57912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60960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p:nvSpPr>
        <p:spPr>
          <a:xfrm>
            <a:off x="64008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p:nvSpPr>
        <p:spPr>
          <a:xfrm>
            <a:off x="67056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a:off x="7010400" y="35814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6" name="Rectangle 25"/>
          <p:cNvSpPr/>
          <p:nvPr/>
        </p:nvSpPr>
        <p:spPr>
          <a:xfrm>
            <a:off x="7315200" y="35814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7" name="Rectangle 26"/>
          <p:cNvSpPr/>
          <p:nvPr/>
        </p:nvSpPr>
        <p:spPr>
          <a:xfrm>
            <a:off x="76200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p:cNvSpPr/>
          <p:nvPr/>
        </p:nvSpPr>
        <p:spPr>
          <a:xfrm>
            <a:off x="79248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p:cNvSpPr/>
          <p:nvPr/>
        </p:nvSpPr>
        <p:spPr>
          <a:xfrm>
            <a:off x="57912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p:nvSpPr>
        <p:spPr>
          <a:xfrm>
            <a:off x="60960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p:nvSpPr>
        <p:spPr>
          <a:xfrm>
            <a:off x="64008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67056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p:cNvSpPr/>
          <p:nvPr/>
        </p:nvSpPr>
        <p:spPr>
          <a:xfrm>
            <a:off x="70104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7315200" y="42672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35" name="Rectangle 34"/>
          <p:cNvSpPr/>
          <p:nvPr/>
        </p:nvSpPr>
        <p:spPr>
          <a:xfrm>
            <a:off x="76200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79248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p:cNvSpPr/>
          <p:nvPr/>
        </p:nvSpPr>
        <p:spPr>
          <a:xfrm>
            <a:off x="57912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p:cNvSpPr/>
          <p:nvPr/>
        </p:nvSpPr>
        <p:spPr>
          <a:xfrm>
            <a:off x="60960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p:cNvSpPr/>
          <p:nvPr/>
        </p:nvSpPr>
        <p:spPr>
          <a:xfrm>
            <a:off x="64008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p:cNvSpPr/>
          <p:nvPr/>
        </p:nvSpPr>
        <p:spPr>
          <a:xfrm>
            <a:off x="67056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p:cNvSpPr/>
          <p:nvPr/>
        </p:nvSpPr>
        <p:spPr>
          <a:xfrm>
            <a:off x="70104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p:nvSpPr>
        <p:spPr>
          <a:xfrm>
            <a:off x="7315200" y="4953000"/>
            <a:ext cx="304800" cy="304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43" name="Rectangle 42"/>
          <p:cNvSpPr/>
          <p:nvPr/>
        </p:nvSpPr>
        <p:spPr>
          <a:xfrm>
            <a:off x="76200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p:cNvSpPr/>
          <p:nvPr/>
        </p:nvSpPr>
        <p:spPr>
          <a:xfrm>
            <a:off x="79248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52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 and conquer</a:t>
            </a:r>
          </a:p>
        </p:txBody>
      </p:sp>
      <p:sp>
        <p:nvSpPr>
          <p:cNvPr id="3" name="Content Placeholder 2"/>
          <p:cNvSpPr>
            <a:spLocks noGrp="1"/>
          </p:cNvSpPr>
          <p:nvPr>
            <p:ph sz="half" idx="1"/>
          </p:nvPr>
        </p:nvSpPr>
        <p:spPr>
          <a:xfrm>
            <a:off x="457200" y="1600200"/>
            <a:ext cx="4038600" cy="4953000"/>
          </a:xfrm>
        </p:spPr>
        <p:txBody>
          <a:bodyPr>
            <a:normAutofit fontScale="92500" lnSpcReduction="20000"/>
          </a:bodyPr>
          <a:lstStyle/>
          <a:p>
            <a:r>
              <a:rPr lang="en-US" dirty="0"/>
              <a:t>Take a hard problem (searching the </a:t>
            </a:r>
            <a:r>
              <a:rPr lang="en-US" b="1" dirty="0">
                <a:solidFill>
                  <a:schemeClr val="accent6">
                    <a:lumMod val="75000"/>
                  </a:schemeClr>
                </a:solidFill>
              </a:rPr>
              <a:t>whole sequence</a:t>
            </a:r>
            <a:r>
              <a:rPr lang="en-US" dirty="0"/>
              <a:t>)</a:t>
            </a:r>
          </a:p>
          <a:p>
            <a:r>
              <a:rPr lang="en-US" b="1" dirty="0">
                <a:solidFill>
                  <a:schemeClr val="accent6">
                    <a:lumMod val="50000"/>
                  </a:schemeClr>
                </a:solidFill>
              </a:rPr>
              <a:t>Split </a:t>
            </a:r>
            <a:r>
              <a:rPr lang="en-US" dirty="0"/>
              <a:t>it into “easier” problems (short sequences)</a:t>
            </a:r>
          </a:p>
          <a:p>
            <a:r>
              <a:rPr lang="en-US" b="1" dirty="0">
                <a:solidFill>
                  <a:schemeClr val="accent6">
                    <a:lumMod val="50000"/>
                  </a:schemeClr>
                </a:solidFill>
              </a:rPr>
              <a:t>Solve </a:t>
            </a:r>
            <a:r>
              <a:rPr lang="en-US" dirty="0"/>
              <a:t>the easier problems</a:t>
            </a:r>
          </a:p>
          <a:p>
            <a:pPr lvl="1"/>
            <a:r>
              <a:rPr lang="en-US" dirty="0"/>
              <a:t>Search one recursively</a:t>
            </a:r>
          </a:p>
          <a:p>
            <a:pPr lvl="1"/>
            <a:r>
              <a:rPr lang="en-US" dirty="0"/>
              <a:t>The target can’t occur in the other so we know the answer in advance</a:t>
            </a:r>
          </a:p>
          <a:p>
            <a:r>
              <a:rPr lang="en-US" b="1" dirty="0">
                <a:solidFill>
                  <a:schemeClr val="accent6">
                    <a:lumMod val="50000"/>
                  </a:schemeClr>
                </a:solidFill>
              </a:rPr>
              <a:t>Combine </a:t>
            </a:r>
            <a:r>
              <a:rPr lang="en-US" dirty="0"/>
              <a:t>the solutions</a:t>
            </a:r>
          </a:p>
          <a:p>
            <a:pPr lvl="1"/>
            <a:r>
              <a:rPr lang="en-US" dirty="0"/>
              <a:t>In this case, by just taking the answer from the recursive search</a:t>
            </a:r>
          </a:p>
        </p:txBody>
      </p:sp>
      <p:sp>
        <p:nvSpPr>
          <p:cNvPr id="5" name="Rectangle 4"/>
          <p:cNvSpPr/>
          <p:nvPr/>
        </p:nvSpPr>
        <p:spPr>
          <a:xfrm>
            <a:off x="57912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6" name="Rectangle 5"/>
          <p:cNvSpPr/>
          <p:nvPr/>
        </p:nvSpPr>
        <p:spPr>
          <a:xfrm>
            <a:off x="60960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 name="Rectangle 6"/>
          <p:cNvSpPr/>
          <p:nvPr/>
        </p:nvSpPr>
        <p:spPr>
          <a:xfrm>
            <a:off x="64008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 name="Rectangle 7"/>
          <p:cNvSpPr/>
          <p:nvPr/>
        </p:nvSpPr>
        <p:spPr>
          <a:xfrm>
            <a:off x="67056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9" name="Rectangle 8"/>
          <p:cNvSpPr/>
          <p:nvPr/>
        </p:nvSpPr>
        <p:spPr>
          <a:xfrm>
            <a:off x="70104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Rectangle 9"/>
          <p:cNvSpPr/>
          <p:nvPr/>
        </p:nvSpPr>
        <p:spPr>
          <a:xfrm>
            <a:off x="73152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1" name="Rectangle 10"/>
          <p:cNvSpPr/>
          <p:nvPr/>
        </p:nvSpPr>
        <p:spPr>
          <a:xfrm>
            <a:off x="76200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2" name="Rectangle 11"/>
          <p:cNvSpPr/>
          <p:nvPr/>
        </p:nvSpPr>
        <p:spPr>
          <a:xfrm>
            <a:off x="7924800" y="22098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3" name="Rectangle 12"/>
          <p:cNvSpPr/>
          <p:nvPr/>
        </p:nvSpPr>
        <p:spPr>
          <a:xfrm>
            <a:off x="57912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0960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64008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6705600" y="28956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p:nvSpPr>
        <p:spPr>
          <a:xfrm>
            <a:off x="70104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8" name="Rectangle 17"/>
          <p:cNvSpPr/>
          <p:nvPr/>
        </p:nvSpPr>
        <p:spPr>
          <a:xfrm>
            <a:off x="73152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9" name="Rectangle 18"/>
          <p:cNvSpPr/>
          <p:nvPr/>
        </p:nvSpPr>
        <p:spPr>
          <a:xfrm>
            <a:off x="76200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0" name="Rectangle 19"/>
          <p:cNvSpPr/>
          <p:nvPr/>
        </p:nvSpPr>
        <p:spPr>
          <a:xfrm>
            <a:off x="7924800" y="28956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1" name="Rectangle 20"/>
          <p:cNvSpPr/>
          <p:nvPr/>
        </p:nvSpPr>
        <p:spPr>
          <a:xfrm>
            <a:off x="57912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60960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p:nvSpPr>
        <p:spPr>
          <a:xfrm>
            <a:off x="64008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p:nvSpPr>
        <p:spPr>
          <a:xfrm>
            <a:off x="67056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a:off x="7010400" y="35814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6" name="Rectangle 25"/>
          <p:cNvSpPr/>
          <p:nvPr/>
        </p:nvSpPr>
        <p:spPr>
          <a:xfrm>
            <a:off x="7315200" y="35814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7" name="Rectangle 26"/>
          <p:cNvSpPr/>
          <p:nvPr/>
        </p:nvSpPr>
        <p:spPr>
          <a:xfrm>
            <a:off x="76200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p:cNvSpPr/>
          <p:nvPr/>
        </p:nvSpPr>
        <p:spPr>
          <a:xfrm>
            <a:off x="7924800" y="35814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p:cNvSpPr/>
          <p:nvPr/>
        </p:nvSpPr>
        <p:spPr>
          <a:xfrm>
            <a:off x="57912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p:nvSpPr>
        <p:spPr>
          <a:xfrm>
            <a:off x="60960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p:nvSpPr>
        <p:spPr>
          <a:xfrm>
            <a:off x="64008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67056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p:cNvSpPr/>
          <p:nvPr/>
        </p:nvSpPr>
        <p:spPr>
          <a:xfrm>
            <a:off x="70104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7315200" y="4267200"/>
            <a:ext cx="304800" cy="30480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35" name="Rectangle 34"/>
          <p:cNvSpPr/>
          <p:nvPr/>
        </p:nvSpPr>
        <p:spPr>
          <a:xfrm>
            <a:off x="76200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7924800" y="42672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p:cNvSpPr/>
          <p:nvPr/>
        </p:nvSpPr>
        <p:spPr>
          <a:xfrm>
            <a:off x="57912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p:cNvSpPr/>
          <p:nvPr/>
        </p:nvSpPr>
        <p:spPr>
          <a:xfrm>
            <a:off x="60960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p:cNvSpPr/>
          <p:nvPr/>
        </p:nvSpPr>
        <p:spPr>
          <a:xfrm>
            <a:off x="64008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p:cNvSpPr/>
          <p:nvPr/>
        </p:nvSpPr>
        <p:spPr>
          <a:xfrm>
            <a:off x="67056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p:cNvSpPr/>
          <p:nvPr/>
        </p:nvSpPr>
        <p:spPr>
          <a:xfrm>
            <a:off x="70104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p:nvSpPr>
        <p:spPr>
          <a:xfrm>
            <a:off x="7315200" y="4953000"/>
            <a:ext cx="304800" cy="304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43" name="Rectangle 42"/>
          <p:cNvSpPr/>
          <p:nvPr/>
        </p:nvSpPr>
        <p:spPr>
          <a:xfrm>
            <a:off x="76200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p:cNvSpPr/>
          <p:nvPr/>
        </p:nvSpPr>
        <p:spPr>
          <a:xfrm>
            <a:off x="7924800" y="4953000"/>
            <a:ext cx="304800" cy="3048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14059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Pseudocode</a:t>
            </a:r>
          </a:p>
        </p:txBody>
      </p:sp>
      <p:sp>
        <p:nvSpPr>
          <p:cNvPr id="3" name="Content Placeholder 2"/>
          <p:cNvSpPr>
            <a:spLocks noGrp="1"/>
          </p:cNvSpPr>
          <p:nvPr>
            <p:ph idx="1"/>
          </p:nvPr>
        </p:nvSpPr>
        <p:spPr>
          <a:xfrm>
            <a:off x="457200" y="1447800"/>
            <a:ext cx="8229600" cy="5257800"/>
          </a:xfrm>
        </p:spPr>
        <p:txBody>
          <a:bodyPr>
            <a:normAutofit fontScale="850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dirty="0"/>
              <a:t>    while (start</a:t>
            </a:r>
            <a:r>
              <a:rPr lang="en-US" dirty="0">
                <a:sym typeface="Symbol"/>
              </a:rPr>
              <a:t></a:t>
            </a:r>
            <a:r>
              <a:rPr lang="en-US" dirty="0"/>
              <a:t>end)</a:t>
            </a:r>
          </a:p>
          <a:p>
            <a:pPr marL="0" indent="0">
              <a:buNone/>
            </a:pPr>
            <a:r>
              <a:rPr lang="en-US" dirty="0"/>
              <a:t>        int mid = (start+end)/2</a:t>
            </a:r>
          </a:p>
          <a:p>
            <a:pPr marL="0" indent="0">
              <a:buNone/>
            </a:pPr>
            <a:r>
              <a:rPr lang="en-US" dirty="0"/>
              <a:t>        if (seq[mid] == target)</a:t>
            </a:r>
          </a:p>
          <a:p>
            <a:pPr marL="0" indent="0">
              <a:buNone/>
            </a:pPr>
            <a:r>
              <a:rPr lang="en-US" dirty="0"/>
              <a:t>           return true</a:t>
            </a:r>
          </a:p>
          <a:p>
            <a:pPr marL="0" indent="0">
              <a:buNone/>
            </a:pPr>
            <a:r>
              <a:rPr lang="en-US" dirty="0"/>
              <a:t>        else if (seq[mid]&gt;target)</a:t>
            </a:r>
          </a:p>
          <a:p>
            <a:pPr marL="0" indent="0">
              <a:buNone/>
            </a:pPr>
            <a:r>
              <a:rPr lang="en-US" dirty="0"/>
              <a:t>            end = mid-1</a:t>
            </a:r>
          </a:p>
          <a:p>
            <a:pPr marL="0" indent="0">
              <a:buNone/>
            </a:pPr>
            <a:r>
              <a:rPr lang="en-US" dirty="0"/>
              <a:t>        else</a:t>
            </a:r>
          </a:p>
          <a:p>
            <a:pPr marL="0" indent="0">
              <a:buNone/>
            </a:pPr>
            <a:r>
              <a:rPr lang="en-US" dirty="0"/>
              <a:t>            start = mid+1</a:t>
            </a:r>
          </a:p>
          <a:p>
            <a:pPr marL="0" indent="0">
              <a:buNone/>
            </a:pPr>
            <a:r>
              <a:rPr lang="en-US" dirty="0"/>
              <a:t>    return false</a:t>
            </a:r>
          </a:p>
        </p:txBody>
      </p:sp>
    </p:spTree>
    <p:extLst>
      <p:ext uri="{BB962C8B-B14F-4D97-AF65-F5344CB8AC3E}">
        <p14:creationId xmlns:p14="http://schemas.microsoft.com/office/powerpoint/2010/main" val="2440727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fast is it?</a:t>
            </a:r>
          </a:p>
        </p:txBody>
      </p:sp>
      <p:sp>
        <p:nvSpPr>
          <p:cNvPr id="4" name="Content Placeholder 3"/>
          <p:cNvSpPr>
            <a:spLocks noGrp="1"/>
          </p:cNvSpPr>
          <p:nvPr>
            <p:ph sz="half" idx="1"/>
          </p:nvPr>
        </p:nvSpPr>
        <p:spPr/>
        <p:txBody>
          <a:bodyPr>
            <a:normAutofit fontScale="92500" lnSpcReduction="20000"/>
          </a:bodyPr>
          <a:lstStyle/>
          <a:p>
            <a:r>
              <a:rPr lang="en-US" dirty="0"/>
              <a:t>Lines in </a:t>
            </a:r>
            <a:r>
              <a:rPr lang="en-US" b="1" dirty="0">
                <a:solidFill>
                  <a:schemeClr val="tx1"/>
                </a:solidFill>
              </a:rPr>
              <a:t>black run once</a:t>
            </a:r>
            <a:r>
              <a:rPr lang="en-US" dirty="0"/>
              <a:t>, if at all</a:t>
            </a:r>
          </a:p>
          <a:p>
            <a:endParaRPr lang="en-US" dirty="0"/>
          </a:p>
          <a:p>
            <a:r>
              <a:rPr lang="en-US" b="1" dirty="0">
                <a:solidFill>
                  <a:schemeClr val="accent3">
                    <a:lumMod val="75000"/>
                  </a:schemeClr>
                </a:solidFill>
              </a:rPr>
              <a:t>Performance dominated </a:t>
            </a:r>
            <a:r>
              <a:rPr lang="en-US" dirty="0"/>
              <a:t>by the while loop (</a:t>
            </a:r>
            <a:r>
              <a:rPr lang="en-US" b="1" dirty="0">
                <a:solidFill>
                  <a:schemeClr val="accent3">
                    <a:lumMod val="75000"/>
                  </a:schemeClr>
                </a:solidFill>
              </a:rPr>
              <a:t>green</a:t>
            </a:r>
            <a:r>
              <a:rPr lang="en-US" dirty="0"/>
              <a:t>)</a:t>
            </a:r>
          </a:p>
        </p:txBody>
      </p:sp>
      <p:sp>
        <p:nvSpPr>
          <p:cNvPr id="5" name="Content Placeholder 4"/>
          <p:cNvSpPr>
            <a:spLocks noGrp="1"/>
          </p:cNvSpPr>
          <p:nvPr>
            <p:ph sz="half" idx="2"/>
          </p:nvPr>
        </p:nvSpPr>
        <p:spPr>
          <a:xfrm>
            <a:off x="4648200" y="1600200"/>
            <a:ext cx="4495800" cy="5105400"/>
          </a:xfrm>
        </p:spPr>
        <p:txBody>
          <a:bodyPr>
            <a:normAutofit fontScale="925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b="1" dirty="0">
                <a:solidFill>
                  <a:schemeClr val="accent3">
                    <a:lumMod val="75000"/>
                  </a:schemeClr>
                </a:solidFill>
              </a:rPr>
              <a:t>    while (start</a:t>
            </a:r>
            <a:r>
              <a:rPr lang="en-US" b="1" dirty="0">
                <a:solidFill>
                  <a:schemeClr val="accent3">
                    <a:lumMod val="75000"/>
                  </a:schemeClr>
                </a:solidFill>
                <a:sym typeface="Symbol"/>
              </a:rPr>
              <a:t></a:t>
            </a:r>
            <a:r>
              <a:rPr lang="en-US" b="1" dirty="0">
                <a:solidFill>
                  <a:schemeClr val="accent3">
                    <a:lumMod val="75000"/>
                  </a:schemeClr>
                </a:solidFill>
              </a:rPr>
              <a:t>end)</a:t>
            </a:r>
          </a:p>
          <a:p>
            <a:pPr marL="0" indent="0">
              <a:buNone/>
            </a:pPr>
            <a:r>
              <a:rPr lang="en-US" b="1" dirty="0">
                <a:solidFill>
                  <a:schemeClr val="accent3">
                    <a:lumMod val="75000"/>
                  </a:schemeClr>
                </a:solidFill>
              </a:rPr>
              <a:t>        int mid = (start+end)/2</a:t>
            </a:r>
          </a:p>
          <a:p>
            <a:pPr marL="0" indent="0">
              <a:buNone/>
            </a:pPr>
            <a:r>
              <a:rPr lang="en-US" b="1" dirty="0">
                <a:solidFill>
                  <a:schemeClr val="accent3">
                    <a:lumMod val="75000"/>
                  </a:schemeClr>
                </a:solidFill>
              </a:rPr>
              <a:t>        if (seq[mid]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        else if (</a:t>
            </a:r>
            <a:r>
              <a:rPr lang="en-US" sz="2600" b="1" dirty="0">
                <a:solidFill>
                  <a:schemeClr val="accent3">
                    <a:lumMod val="75000"/>
                  </a:schemeClr>
                </a:solidFill>
              </a:rPr>
              <a:t>seq[mid]&gt;target</a:t>
            </a:r>
            <a:r>
              <a:rPr lang="en-US" b="1" dirty="0">
                <a:solidFill>
                  <a:schemeClr val="accent3">
                    <a:lumMod val="75000"/>
                  </a:schemeClr>
                </a:solidFill>
              </a:rPr>
              <a:t>)</a:t>
            </a:r>
          </a:p>
          <a:p>
            <a:pPr marL="0" indent="0">
              <a:buNone/>
            </a:pPr>
            <a:r>
              <a:rPr lang="en-US" b="1" dirty="0">
                <a:solidFill>
                  <a:schemeClr val="accent3">
                    <a:lumMod val="75000"/>
                  </a:schemeClr>
                </a:solidFill>
              </a:rPr>
              <a:t>            end = mid-1</a:t>
            </a:r>
          </a:p>
          <a:p>
            <a:pPr marL="0" indent="0">
              <a:buNone/>
            </a:pPr>
            <a:r>
              <a:rPr lang="en-US" b="1" dirty="0">
                <a:solidFill>
                  <a:schemeClr val="accent3">
                    <a:lumMod val="75000"/>
                  </a:schemeClr>
                </a:solidFill>
              </a:rPr>
              <a:t>        else</a:t>
            </a:r>
          </a:p>
          <a:p>
            <a:pPr marL="0" indent="0">
              <a:buNone/>
            </a:pPr>
            <a:r>
              <a:rPr lang="en-US" b="1" dirty="0">
                <a:solidFill>
                  <a:schemeClr val="accent3">
                    <a:lumMod val="75000"/>
                  </a:schemeClr>
                </a:solidFill>
              </a:rPr>
              <a:t>            start = mid+1</a:t>
            </a:r>
          </a:p>
          <a:p>
            <a:pPr marL="0" indent="0">
              <a:buNone/>
            </a:pPr>
            <a:r>
              <a:rPr lang="en-US" dirty="0"/>
              <a:t>    return false</a:t>
            </a:r>
          </a:p>
        </p:txBody>
      </p:sp>
    </p:spTree>
    <p:extLst>
      <p:ext uri="{BB962C8B-B14F-4D97-AF65-F5344CB8AC3E}">
        <p14:creationId xmlns:p14="http://schemas.microsoft.com/office/powerpoint/2010/main" val="3062839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fast is it?</a:t>
            </a:r>
          </a:p>
        </p:txBody>
      </p:sp>
      <p:sp>
        <p:nvSpPr>
          <p:cNvPr id="4" name="Content Placeholder 3"/>
          <p:cNvSpPr>
            <a:spLocks noGrp="1"/>
          </p:cNvSpPr>
          <p:nvPr>
            <p:ph sz="half" idx="1"/>
          </p:nvPr>
        </p:nvSpPr>
        <p:spPr/>
        <p:txBody>
          <a:bodyPr>
            <a:normAutofit fontScale="92500" lnSpcReduction="20000"/>
          </a:bodyPr>
          <a:lstStyle/>
          <a:p>
            <a:r>
              <a:rPr lang="en-US" dirty="0"/>
              <a:t>How many </a:t>
            </a:r>
            <a:r>
              <a:rPr lang="en-US" b="1" dirty="0">
                <a:solidFill>
                  <a:schemeClr val="accent6">
                    <a:lumMod val="75000"/>
                  </a:schemeClr>
                </a:solidFill>
              </a:rPr>
              <a:t>iterations </a:t>
            </a:r>
            <a:r>
              <a:rPr lang="en-US" dirty="0"/>
              <a:t>does the while loop run for?</a:t>
            </a:r>
          </a:p>
        </p:txBody>
      </p:sp>
      <p:sp>
        <p:nvSpPr>
          <p:cNvPr id="5" name="Content Placeholder 4"/>
          <p:cNvSpPr>
            <a:spLocks noGrp="1"/>
          </p:cNvSpPr>
          <p:nvPr>
            <p:ph sz="half" idx="2"/>
          </p:nvPr>
        </p:nvSpPr>
        <p:spPr>
          <a:xfrm>
            <a:off x="4648200" y="1600200"/>
            <a:ext cx="4495800" cy="5105400"/>
          </a:xfrm>
        </p:spPr>
        <p:txBody>
          <a:bodyPr>
            <a:normAutofit fontScale="925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b="1" dirty="0">
                <a:solidFill>
                  <a:schemeClr val="accent3">
                    <a:lumMod val="75000"/>
                  </a:schemeClr>
                </a:solidFill>
              </a:rPr>
              <a:t>    while (start</a:t>
            </a:r>
            <a:r>
              <a:rPr lang="en-US" b="1" dirty="0">
                <a:solidFill>
                  <a:schemeClr val="accent3">
                    <a:lumMod val="75000"/>
                  </a:schemeClr>
                </a:solidFill>
                <a:sym typeface="Symbol"/>
              </a:rPr>
              <a:t></a:t>
            </a:r>
            <a:r>
              <a:rPr lang="en-US" b="1" dirty="0">
                <a:solidFill>
                  <a:schemeClr val="accent3">
                    <a:lumMod val="75000"/>
                  </a:schemeClr>
                </a:solidFill>
              </a:rPr>
              <a:t>end)</a:t>
            </a:r>
          </a:p>
          <a:p>
            <a:pPr marL="0" indent="0">
              <a:buNone/>
            </a:pPr>
            <a:r>
              <a:rPr lang="en-US" b="1" dirty="0">
                <a:solidFill>
                  <a:schemeClr val="accent3">
                    <a:lumMod val="75000"/>
                  </a:schemeClr>
                </a:solidFill>
              </a:rPr>
              <a:t>        int mid = (start+end)/2</a:t>
            </a:r>
          </a:p>
          <a:p>
            <a:pPr marL="0" indent="0">
              <a:buNone/>
            </a:pPr>
            <a:r>
              <a:rPr lang="en-US" b="1" dirty="0">
                <a:solidFill>
                  <a:schemeClr val="accent3">
                    <a:lumMod val="75000"/>
                  </a:schemeClr>
                </a:solidFill>
              </a:rPr>
              <a:t>        if (seq[mid]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        else if (</a:t>
            </a:r>
            <a:r>
              <a:rPr lang="en-US" sz="2600" b="1" dirty="0">
                <a:solidFill>
                  <a:schemeClr val="accent3">
                    <a:lumMod val="75000"/>
                  </a:schemeClr>
                </a:solidFill>
              </a:rPr>
              <a:t>seq[mid]&gt;target</a:t>
            </a:r>
            <a:r>
              <a:rPr lang="en-US" b="1" dirty="0">
                <a:solidFill>
                  <a:schemeClr val="accent3">
                    <a:lumMod val="75000"/>
                  </a:schemeClr>
                </a:solidFill>
              </a:rPr>
              <a:t>)</a:t>
            </a:r>
          </a:p>
          <a:p>
            <a:pPr marL="0" indent="0">
              <a:buNone/>
            </a:pPr>
            <a:r>
              <a:rPr lang="en-US" b="1" dirty="0">
                <a:solidFill>
                  <a:schemeClr val="accent3">
                    <a:lumMod val="75000"/>
                  </a:schemeClr>
                </a:solidFill>
              </a:rPr>
              <a:t>            end = mid-1</a:t>
            </a:r>
          </a:p>
          <a:p>
            <a:pPr marL="0" indent="0">
              <a:buNone/>
            </a:pPr>
            <a:r>
              <a:rPr lang="en-US" b="1" dirty="0">
                <a:solidFill>
                  <a:schemeClr val="accent3">
                    <a:lumMod val="75000"/>
                  </a:schemeClr>
                </a:solidFill>
              </a:rPr>
              <a:t>        else</a:t>
            </a:r>
          </a:p>
          <a:p>
            <a:pPr marL="0" indent="0">
              <a:buNone/>
            </a:pPr>
            <a:r>
              <a:rPr lang="en-US" b="1" dirty="0">
                <a:solidFill>
                  <a:schemeClr val="accent3">
                    <a:lumMod val="75000"/>
                  </a:schemeClr>
                </a:solidFill>
              </a:rPr>
              <a:t>            start = mid+1</a:t>
            </a:r>
          </a:p>
          <a:p>
            <a:pPr marL="0" indent="0">
              <a:buNone/>
            </a:pPr>
            <a:r>
              <a:rPr lang="en-US" dirty="0"/>
              <a:t>    return false</a:t>
            </a:r>
          </a:p>
        </p:txBody>
      </p:sp>
    </p:spTree>
    <p:extLst>
      <p:ext uri="{BB962C8B-B14F-4D97-AF65-F5344CB8AC3E}">
        <p14:creationId xmlns:p14="http://schemas.microsoft.com/office/powerpoint/2010/main" val="4041785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fast is it?</a:t>
            </a:r>
          </a:p>
        </p:txBody>
      </p:sp>
      <p:sp>
        <p:nvSpPr>
          <p:cNvPr id="4" name="Content Placeholder 3"/>
          <p:cNvSpPr>
            <a:spLocks noGrp="1"/>
          </p:cNvSpPr>
          <p:nvPr>
            <p:ph sz="half" idx="1"/>
          </p:nvPr>
        </p:nvSpPr>
        <p:spPr>
          <a:xfrm>
            <a:off x="457200" y="1600200"/>
            <a:ext cx="4038600" cy="5105400"/>
          </a:xfrm>
        </p:spPr>
        <p:txBody>
          <a:bodyPr>
            <a:normAutofit fontScale="92500" lnSpcReduction="20000"/>
          </a:bodyPr>
          <a:lstStyle/>
          <a:p>
            <a:pPr marL="0" indent="0">
              <a:buNone/>
            </a:pPr>
            <a:r>
              <a:rPr lang="en-US" b="1" dirty="0">
                <a:solidFill>
                  <a:schemeClr val="accent3">
                    <a:lumMod val="75000"/>
                  </a:schemeClr>
                </a:solidFill>
              </a:rPr>
              <a:t>Hand-wavy</a:t>
            </a:r>
            <a:r>
              <a:rPr lang="en-US" dirty="0"/>
              <a:t> analysis:</a:t>
            </a:r>
          </a:p>
          <a:p>
            <a:r>
              <a:rPr lang="en-US" dirty="0"/>
              <a:t>It </a:t>
            </a:r>
            <a:r>
              <a:rPr lang="en-US" b="1" dirty="0">
                <a:solidFill>
                  <a:schemeClr val="accent6">
                    <a:lumMod val="75000"/>
                  </a:schemeClr>
                </a:solidFill>
              </a:rPr>
              <a:t>terminates</a:t>
            </a:r>
            <a:r>
              <a:rPr lang="en-US" dirty="0"/>
              <a:t> if </a:t>
            </a:r>
            <a:r>
              <a:rPr lang="en-US" b="1" dirty="0">
                <a:solidFill>
                  <a:schemeClr val="accent6">
                    <a:lumMod val="75000"/>
                  </a:schemeClr>
                </a:solidFill>
              </a:rPr>
              <a:t>start&gt;end</a:t>
            </a:r>
          </a:p>
          <a:p>
            <a:r>
              <a:rPr lang="en-US" dirty="0"/>
              <a:t>End-start is </a:t>
            </a:r>
            <a:r>
              <a:rPr lang="en-US" b="1" dirty="0">
                <a:solidFill>
                  <a:schemeClr val="accent6">
                    <a:lumMod val="75000"/>
                  </a:schemeClr>
                </a:solidFill>
              </a:rPr>
              <a:t>cut in half </a:t>
            </a:r>
            <a:r>
              <a:rPr lang="en-US" dirty="0"/>
              <a:t>with each iteration</a:t>
            </a:r>
          </a:p>
          <a:p>
            <a:r>
              <a:rPr lang="en-US" dirty="0"/>
              <a:t>So it can only run </a:t>
            </a:r>
            <a:r>
              <a:rPr lang="en-US" dirty="0">
                <a:solidFill>
                  <a:schemeClr val="tx1"/>
                </a:solidFill>
              </a:rPr>
              <a:t>for </a:t>
            </a:r>
            <a:r>
              <a:rPr lang="en-US" b="1" dirty="0">
                <a:solidFill>
                  <a:schemeClr val="accent6">
                    <a:lumMod val="75000"/>
                  </a:schemeClr>
                </a:solidFill>
              </a:rPr>
              <a:t>at most log</a:t>
            </a:r>
            <a:r>
              <a:rPr lang="en-US" b="1" baseline="-25000" dirty="0">
                <a:solidFill>
                  <a:schemeClr val="accent6">
                    <a:lumMod val="75000"/>
                  </a:schemeClr>
                </a:solidFill>
              </a:rPr>
              <a:t>2</a:t>
            </a:r>
            <a:r>
              <a:rPr lang="en-US" b="1" dirty="0">
                <a:solidFill>
                  <a:schemeClr val="accent6">
                    <a:lumMod val="75000"/>
                  </a:schemeClr>
                </a:solidFill>
              </a:rPr>
              <a:t>(length)</a:t>
            </a:r>
            <a:r>
              <a:rPr lang="en-US" dirty="0"/>
              <a:t> iterations</a:t>
            </a:r>
          </a:p>
          <a:p>
            <a:r>
              <a:rPr lang="en-US" dirty="0"/>
              <a:t>Each </a:t>
            </a:r>
            <a:r>
              <a:rPr lang="en-US" b="1" dirty="0">
                <a:solidFill>
                  <a:schemeClr val="accent6">
                    <a:lumMod val="75000"/>
                  </a:schemeClr>
                </a:solidFill>
              </a:rPr>
              <a:t>iteration takes O(1) time</a:t>
            </a:r>
            <a:r>
              <a:rPr lang="en-US" dirty="0"/>
              <a:t> (i.e. it takes no more than a fixed amount of time)</a:t>
            </a:r>
          </a:p>
          <a:p>
            <a:pPr>
              <a:spcBef>
                <a:spcPts val="1800"/>
              </a:spcBef>
            </a:pPr>
            <a:r>
              <a:rPr lang="en-US" dirty="0"/>
              <a:t>So execution time is </a:t>
            </a:r>
            <a:r>
              <a:rPr lang="en-US" b="1" dirty="0">
                <a:solidFill>
                  <a:schemeClr val="accent6">
                    <a:lumMod val="75000"/>
                  </a:schemeClr>
                </a:solidFill>
              </a:rPr>
              <a:t>O(log</a:t>
            </a:r>
            <a:r>
              <a:rPr lang="en-US" b="1" baseline="-25000" dirty="0">
                <a:solidFill>
                  <a:schemeClr val="accent6">
                    <a:lumMod val="75000"/>
                  </a:schemeClr>
                </a:solidFill>
              </a:rPr>
              <a:t>2</a:t>
            </a:r>
            <a:r>
              <a:rPr lang="en-US" b="1" dirty="0">
                <a:solidFill>
                  <a:schemeClr val="accent6">
                    <a:lumMod val="75000"/>
                  </a:schemeClr>
                </a:solidFill>
              </a:rPr>
              <a:t> n)</a:t>
            </a:r>
          </a:p>
        </p:txBody>
      </p:sp>
      <p:sp>
        <p:nvSpPr>
          <p:cNvPr id="5" name="Content Placeholder 4"/>
          <p:cNvSpPr>
            <a:spLocks noGrp="1"/>
          </p:cNvSpPr>
          <p:nvPr>
            <p:ph sz="half" idx="2"/>
          </p:nvPr>
        </p:nvSpPr>
        <p:spPr>
          <a:xfrm>
            <a:off x="4648200" y="1600200"/>
            <a:ext cx="4495800" cy="5257800"/>
          </a:xfrm>
        </p:spPr>
        <p:txBody>
          <a:bodyPr>
            <a:normAutofit fontScale="925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b="1" dirty="0">
                <a:solidFill>
                  <a:schemeClr val="accent3">
                    <a:lumMod val="75000"/>
                  </a:schemeClr>
                </a:solidFill>
              </a:rPr>
              <a:t>    while (start</a:t>
            </a:r>
            <a:r>
              <a:rPr lang="en-US" b="1" dirty="0">
                <a:solidFill>
                  <a:schemeClr val="accent3">
                    <a:lumMod val="75000"/>
                  </a:schemeClr>
                </a:solidFill>
                <a:sym typeface="Symbol"/>
              </a:rPr>
              <a:t></a:t>
            </a:r>
            <a:r>
              <a:rPr lang="en-US" b="1" dirty="0">
                <a:solidFill>
                  <a:schemeClr val="accent3">
                    <a:lumMod val="75000"/>
                  </a:schemeClr>
                </a:solidFill>
              </a:rPr>
              <a:t>end)</a:t>
            </a:r>
          </a:p>
          <a:p>
            <a:pPr marL="0" indent="0">
              <a:buNone/>
            </a:pPr>
            <a:r>
              <a:rPr lang="en-US" b="1" dirty="0">
                <a:solidFill>
                  <a:schemeClr val="accent3">
                    <a:lumMod val="75000"/>
                  </a:schemeClr>
                </a:solidFill>
              </a:rPr>
              <a:t>        int mid = (start+end)/2</a:t>
            </a:r>
          </a:p>
          <a:p>
            <a:pPr marL="0" indent="0">
              <a:buNone/>
            </a:pPr>
            <a:r>
              <a:rPr lang="en-US" b="1" dirty="0">
                <a:solidFill>
                  <a:schemeClr val="accent3">
                    <a:lumMod val="75000"/>
                  </a:schemeClr>
                </a:solidFill>
              </a:rPr>
              <a:t>        if (seq[mid]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        else if (</a:t>
            </a:r>
            <a:r>
              <a:rPr lang="en-US" sz="2600" b="1" dirty="0">
                <a:solidFill>
                  <a:schemeClr val="accent3">
                    <a:lumMod val="75000"/>
                  </a:schemeClr>
                </a:solidFill>
              </a:rPr>
              <a:t>seq[mid]&gt;target</a:t>
            </a:r>
            <a:r>
              <a:rPr lang="en-US" b="1" dirty="0">
                <a:solidFill>
                  <a:schemeClr val="accent3">
                    <a:lumMod val="75000"/>
                  </a:schemeClr>
                </a:solidFill>
              </a:rPr>
              <a:t>)</a:t>
            </a:r>
          </a:p>
          <a:p>
            <a:pPr marL="0" indent="0">
              <a:buNone/>
            </a:pPr>
            <a:r>
              <a:rPr lang="en-US" b="1" dirty="0">
                <a:solidFill>
                  <a:schemeClr val="accent3">
                    <a:lumMod val="75000"/>
                  </a:schemeClr>
                </a:solidFill>
              </a:rPr>
              <a:t>            end = mid-1</a:t>
            </a:r>
          </a:p>
          <a:p>
            <a:pPr marL="0" indent="0">
              <a:buNone/>
            </a:pPr>
            <a:r>
              <a:rPr lang="en-US" b="1" dirty="0">
                <a:solidFill>
                  <a:schemeClr val="accent3">
                    <a:lumMod val="75000"/>
                  </a:schemeClr>
                </a:solidFill>
              </a:rPr>
              <a:t>        else</a:t>
            </a:r>
          </a:p>
          <a:p>
            <a:pPr marL="0" indent="0">
              <a:buNone/>
            </a:pPr>
            <a:r>
              <a:rPr lang="en-US" b="1" dirty="0">
                <a:solidFill>
                  <a:schemeClr val="accent3">
                    <a:lumMod val="75000"/>
                  </a:schemeClr>
                </a:solidFill>
              </a:rPr>
              <a:t>            start = mid+1</a:t>
            </a:r>
          </a:p>
          <a:p>
            <a:pPr marL="0" indent="0">
              <a:buNone/>
            </a:pPr>
            <a:r>
              <a:rPr lang="en-US" dirty="0"/>
              <a:t>    return false</a:t>
            </a:r>
          </a:p>
        </p:txBody>
      </p:sp>
    </p:spTree>
    <p:extLst>
      <p:ext uri="{BB962C8B-B14F-4D97-AF65-F5344CB8AC3E}">
        <p14:creationId xmlns:p14="http://schemas.microsoft.com/office/powerpoint/2010/main" val="1528198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fast is it?</a:t>
            </a:r>
          </a:p>
        </p:txBody>
      </p:sp>
      <p:sp>
        <p:nvSpPr>
          <p:cNvPr id="4" name="Content Placeholder 3"/>
          <p:cNvSpPr>
            <a:spLocks noGrp="1"/>
          </p:cNvSpPr>
          <p:nvPr>
            <p:ph sz="half" idx="1"/>
          </p:nvPr>
        </p:nvSpPr>
        <p:spPr>
          <a:xfrm>
            <a:off x="457200" y="1600200"/>
            <a:ext cx="4038600" cy="5257800"/>
          </a:xfrm>
        </p:spPr>
        <p:txBody>
          <a:bodyPr>
            <a:normAutofit fontScale="70000" lnSpcReduction="20000"/>
          </a:bodyPr>
          <a:lstStyle/>
          <a:p>
            <a:pPr marL="0" indent="0">
              <a:buNone/>
            </a:pPr>
            <a:r>
              <a:rPr lang="en-US" b="1" dirty="0">
                <a:solidFill>
                  <a:schemeClr val="accent3">
                    <a:lumMod val="75000"/>
                  </a:schemeClr>
                </a:solidFill>
              </a:rPr>
              <a:t>Fussy</a:t>
            </a:r>
            <a:r>
              <a:rPr lang="en-US" dirty="0">
                <a:solidFill>
                  <a:schemeClr val="accent3">
                    <a:lumMod val="75000"/>
                  </a:schemeClr>
                </a:solidFill>
              </a:rPr>
              <a:t> </a:t>
            </a:r>
            <a:r>
              <a:rPr lang="en-US" dirty="0"/>
              <a:t>analysis:</a:t>
            </a:r>
          </a:p>
          <a:p>
            <a:r>
              <a:rPr lang="en-US" dirty="0"/>
              <a:t>Case 1: end=start</a:t>
            </a:r>
          </a:p>
          <a:p>
            <a:pPr lvl="1"/>
            <a:r>
              <a:rPr lang="en-US" dirty="0"/>
              <a:t>It can only run for one more iteration</a:t>
            </a:r>
          </a:p>
          <a:p>
            <a:r>
              <a:rPr lang="en-US" dirty="0"/>
              <a:t>Case 2: end&gt;start</a:t>
            </a:r>
          </a:p>
          <a:p>
            <a:pPr lvl="1"/>
            <a:r>
              <a:rPr lang="en-US" dirty="0"/>
              <a:t>End-start&lt;1 within log</a:t>
            </a:r>
            <a:r>
              <a:rPr lang="en-US" baseline="-25000" dirty="0"/>
              <a:t>2</a:t>
            </a:r>
            <a:r>
              <a:rPr lang="en-US" dirty="0"/>
              <a:t>(end-start) iterations</a:t>
            </a:r>
          </a:p>
          <a:p>
            <a:pPr lvl="1"/>
            <a:r>
              <a:rPr lang="en-US" dirty="0"/>
              <a:t>But we’re doing integer arithmetic (rounding down)</a:t>
            </a:r>
          </a:p>
          <a:p>
            <a:pPr lvl="1"/>
            <a:r>
              <a:rPr lang="en-US" dirty="0"/>
              <a:t>So if end-start&lt;1, then end==start</a:t>
            </a:r>
          </a:p>
          <a:p>
            <a:pPr lvl="1"/>
            <a:r>
              <a:rPr lang="en-US" dirty="0"/>
              <a:t>So </a:t>
            </a:r>
            <a:r>
              <a:rPr lang="en-US" b="1" dirty="0">
                <a:solidFill>
                  <a:schemeClr val="accent6">
                    <a:lumMod val="75000"/>
                  </a:schemeClr>
                </a:solidFill>
              </a:rPr>
              <a:t>end==start within log</a:t>
            </a:r>
            <a:r>
              <a:rPr lang="en-US" b="1" baseline="-25000" dirty="0">
                <a:solidFill>
                  <a:schemeClr val="accent6">
                    <a:lumMod val="75000"/>
                  </a:schemeClr>
                </a:solidFill>
              </a:rPr>
              <a:t>2</a:t>
            </a:r>
            <a:r>
              <a:rPr lang="en-US" b="1" dirty="0">
                <a:solidFill>
                  <a:schemeClr val="accent6">
                    <a:lumMod val="75000"/>
                  </a:schemeClr>
                </a:solidFill>
              </a:rPr>
              <a:t> iterations</a:t>
            </a:r>
          </a:p>
          <a:p>
            <a:pPr lvl="1"/>
            <a:r>
              <a:rPr lang="en-US" dirty="0"/>
              <a:t>After which we can only </a:t>
            </a:r>
            <a:r>
              <a:rPr lang="en-US" b="1" dirty="0">
                <a:solidFill>
                  <a:schemeClr val="accent6">
                    <a:lumMod val="75000"/>
                  </a:schemeClr>
                </a:solidFill>
              </a:rPr>
              <a:t>run for one more iteration </a:t>
            </a:r>
            <a:r>
              <a:rPr lang="en-US" dirty="0"/>
              <a:t>(by case 1)</a:t>
            </a:r>
          </a:p>
          <a:p>
            <a:endParaRPr lang="en-US" dirty="0"/>
          </a:p>
          <a:p>
            <a:r>
              <a:rPr lang="en-US" dirty="0"/>
              <a:t>So we can run for at most </a:t>
            </a:r>
            <a:r>
              <a:rPr lang="en-US" b="1" dirty="0">
                <a:solidFill>
                  <a:schemeClr val="accent6">
                    <a:lumMod val="75000"/>
                  </a:schemeClr>
                </a:solidFill>
              </a:rPr>
              <a:t>log</a:t>
            </a:r>
            <a:r>
              <a:rPr lang="en-US" b="1" baseline="-25000" dirty="0">
                <a:solidFill>
                  <a:schemeClr val="accent6">
                    <a:lumMod val="75000"/>
                  </a:schemeClr>
                </a:solidFill>
              </a:rPr>
              <a:t>2</a:t>
            </a:r>
            <a:r>
              <a:rPr lang="en-US" b="1" dirty="0">
                <a:solidFill>
                  <a:schemeClr val="accent6">
                    <a:lumMod val="75000"/>
                  </a:schemeClr>
                </a:solidFill>
              </a:rPr>
              <a:t>(end-start)+1</a:t>
            </a:r>
            <a:r>
              <a:rPr lang="en-US" dirty="0"/>
              <a:t> iterations</a:t>
            </a:r>
          </a:p>
          <a:p>
            <a:r>
              <a:rPr lang="en-US" dirty="0"/>
              <a:t>Execution time </a:t>
            </a:r>
            <a:r>
              <a:rPr lang="en-US" b="1" dirty="0">
                <a:solidFill>
                  <a:schemeClr val="accent6">
                    <a:lumMod val="75000"/>
                  </a:schemeClr>
                </a:solidFill>
              </a:rPr>
              <a:t>still O(log</a:t>
            </a:r>
            <a:r>
              <a:rPr lang="en-US" b="1" baseline="-25000" dirty="0">
                <a:solidFill>
                  <a:schemeClr val="accent6">
                    <a:lumMod val="75000"/>
                  </a:schemeClr>
                </a:solidFill>
              </a:rPr>
              <a:t>2</a:t>
            </a:r>
            <a:r>
              <a:rPr lang="en-US" b="1" dirty="0">
                <a:solidFill>
                  <a:schemeClr val="accent6">
                    <a:lumMod val="75000"/>
                  </a:schemeClr>
                </a:solidFill>
              </a:rPr>
              <a:t> n)</a:t>
            </a:r>
          </a:p>
        </p:txBody>
      </p:sp>
      <p:sp>
        <p:nvSpPr>
          <p:cNvPr id="5" name="Content Placeholder 4"/>
          <p:cNvSpPr>
            <a:spLocks noGrp="1"/>
          </p:cNvSpPr>
          <p:nvPr>
            <p:ph sz="half" idx="2"/>
          </p:nvPr>
        </p:nvSpPr>
        <p:spPr>
          <a:xfrm>
            <a:off x="4648200" y="1600200"/>
            <a:ext cx="4495800" cy="5257800"/>
          </a:xfrm>
        </p:spPr>
        <p:txBody>
          <a:bodyPr>
            <a:normAutofit fontScale="700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b="1" dirty="0">
                <a:solidFill>
                  <a:schemeClr val="accent3">
                    <a:lumMod val="75000"/>
                  </a:schemeClr>
                </a:solidFill>
              </a:rPr>
              <a:t>    while (start</a:t>
            </a:r>
            <a:r>
              <a:rPr lang="en-US" b="1" dirty="0">
                <a:solidFill>
                  <a:schemeClr val="accent3">
                    <a:lumMod val="75000"/>
                  </a:schemeClr>
                </a:solidFill>
                <a:sym typeface="Symbol"/>
              </a:rPr>
              <a:t></a:t>
            </a:r>
            <a:r>
              <a:rPr lang="en-US" b="1" dirty="0">
                <a:solidFill>
                  <a:schemeClr val="accent3">
                    <a:lumMod val="75000"/>
                  </a:schemeClr>
                </a:solidFill>
              </a:rPr>
              <a:t>end)</a:t>
            </a:r>
          </a:p>
          <a:p>
            <a:pPr marL="0" indent="0">
              <a:buNone/>
            </a:pPr>
            <a:r>
              <a:rPr lang="en-US" b="1" dirty="0">
                <a:solidFill>
                  <a:schemeClr val="accent3">
                    <a:lumMod val="75000"/>
                  </a:schemeClr>
                </a:solidFill>
              </a:rPr>
              <a:t>        int mid = (start+end)/2</a:t>
            </a:r>
          </a:p>
          <a:p>
            <a:pPr marL="0" indent="0">
              <a:buNone/>
            </a:pPr>
            <a:r>
              <a:rPr lang="en-US" b="1" dirty="0">
                <a:solidFill>
                  <a:schemeClr val="accent3">
                    <a:lumMod val="75000"/>
                  </a:schemeClr>
                </a:solidFill>
              </a:rPr>
              <a:t>        if (seq[mid]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        else if (seq[mid]&gt;target)</a:t>
            </a:r>
          </a:p>
          <a:p>
            <a:pPr marL="0" indent="0">
              <a:buNone/>
            </a:pPr>
            <a:r>
              <a:rPr lang="en-US" b="1" dirty="0">
                <a:solidFill>
                  <a:schemeClr val="accent3">
                    <a:lumMod val="75000"/>
                  </a:schemeClr>
                </a:solidFill>
              </a:rPr>
              <a:t>            end = mid-1</a:t>
            </a:r>
          </a:p>
          <a:p>
            <a:pPr marL="0" indent="0">
              <a:buNone/>
            </a:pPr>
            <a:r>
              <a:rPr lang="en-US" b="1" dirty="0">
                <a:solidFill>
                  <a:schemeClr val="accent3">
                    <a:lumMod val="75000"/>
                  </a:schemeClr>
                </a:solidFill>
              </a:rPr>
              <a:t>        else</a:t>
            </a:r>
          </a:p>
          <a:p>
            <a:pPr marL="0" indent="0">
              <a:buNone/>
            </a:pPr>
            <a:r>
              <a:rPr lang="en-US" b="1" dirty="0">
                <a:solidFill>
                  <a:schemeClr val="accent3">
                    <a:lumMod val="75000"/>
                  </a:schemeClr>
                </a:solidFill>
              </a:rPr>
              <a:t>            start = mid+1</a:t>
            </a:r>
          </a:p>
          <a:p>
            <a:pPr marL="0" indent="0">
              <a:buNone/>
            </a:pPr>
            <a:r>
              <a:rPr lang="en-US" dirty="0"/>
              <a:t>    return false</a:t>
            </a:r>
          </a:p>
        </p:txBody>
      </p:sp>
    </p:spTree>
    <p:extLst>
      <p:ext uri="{BB962C8B-B14F-4D97-AF65-F5344CB8AC3E}">
        <p14:creationId xmlns:p14="http://schemas.microsoft.com/office/powerpoint/2010/main" val="2117495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O(log n) good?</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96060256"/>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914400" y="6096000"/>
            <a:ext cx="2577885" cy="369332"/>
          </a:xfrm>
          <a:prstGeom prst="rect">
            <a:avLst/>
          </a:prstGeom>
          <a:noFill/>
        </p:spPr>
        <p:txBody>
          <a:bodyPr wrap="none" rtlCol="0">
            <a:spAutoFit/>
          </a:bodyPr>
          <a:lstStyle/>
          <a:p>
            <a:r>
              <a:rPr lang="en-US" dirty="0"/>
              <a:t>It’s sure better than O(n)!</a:t>
            </a:r>
          </a:p>
        </p:txBody>
      </p:sp>
    </p:spTree>
    <p:extLst>
      <p:ext uri="{BB962C8B-B14F-4D97-AF65-F5344CB8AC3E}">
        <p14:creationId xmlns:p14="http://schemas.microsoft.com/office/powerpoint/2010/main" val="3173090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But wait!</a:t>
            </a:r>
          </a:p>
        </p:txBody>
      </p:sp>
      <p:sp>
        <p:nvSpPr>
          <p:cNvPr id="4" name="Content Placeholder 3"/>
          <p:cNvSpPr>
            <a:spLocks noGrp="1"/>
          </p:cNvSpPr>
          <p:nvPr>
            <p:ph sz="half" idx="1"/>
          </p:nvPr>
        </p:nvSpPr>
        <p:spPr/>
        <p:txBody>
          <a:bodyPr>
            <a:normAutofit fontScale="85000" lnSpcReduction="20000"/>
          </a:bodyPr>
          <a:lstStyle/>
          <a:p>
            <a:pPr marL="0" indent="0">
              <a:buNone/>
            </a:pPr>
            <a:r>
              <a:rPr lang="en-US" dirty="0"/>
              <a:t>for each n in sequence</a:t>
            </a:r>
          </a:p>
          <a:p>
            <a:pPr marL="0" indent="0">
              <a:buNone/>
            </a:pPr>
            <a:r>
              <a:rPr lang="en-US" b="1" dirty="0">
                <a:solidFill>
                  <a:schemeClr val="accent3">
                    <a:lumMod val="75000"/>
                  </a:schemeClr>
                </a:solidFill>
              </a:rPr>
              <a:t>    if (n == target)</a:t>
            </a:r>
          </a:p>
          <a:p>
            <a:pPr marL="0" indent="0">
              <a:buNone/>
            </a:pPr>
            <a:r>
              <a:rPr lang="en-US" b="1" dirty="0">
                <a:solidFill>
                  <a:schemeClr val="accent3">
                    <a:lumMod val="75000"/>
                  </a:schemeClr>
                </a:solidFill>
              </a:rPr>
              <a:t>       return true</a:t>
            </a:r>
          </a:p>
          <a:p>
            <a:pPr marL="0" indent="0">
              <a:buNone/>
            </a:pPr>
            <a:r>
              <a:rPr lang="en-US" dirty="0"/>
              <a:t>return false</a:t>
            </a:r>
          </a:p>
          <a:p>
            <a:pPr marL="0" indent="0">
              <a:buNone/>
            </a:pPr>
            <a:endParaRPr lang="en-US" dirty="0">
              <a:solidFill>
                <a:schemeClr val="accent3">
                  <a:lumMod val="75000"/>
                </a:schemeClr>
              </a:solidFill>
            </a:endParaRPr>
          </a:p>
        </p:txBody>
      </p:sp>
      <p:sp>
        <p:nvSpPr>
          <p:cNvPr id="5" name="Content Placeholder 4"/>
          <p:cNvSpPr>
            <a:spLocks noGrp="1"/>
          </p:cNvSpPr>
          <p:nvPr>
            <p:ph sz="half" idx="2"/>
          </p:nvPr>
        </p:nvSpPr>
        <p:spPr/>
        <p:txBody>
          <a:bodyPr>
            <a:normAutofit fontScale="850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dirty="0"/>
              <a:t>    while (start</a:t>
            </a:r>
            <a:r>
              <a:rPr lang="en-US" dirty="0">
                <a:sym typeface="Symbol"/>
              </a:rPr>
              <a:t></a:t>
            </a:r>
            <a:r>
              <a:rPr lang="en-US" dirty="0"/>
              <a:t>end)</a:t>
            </a:r>
          </a:p>
          <a:p>
            <a:pPr marL="0" indent="0">
              <a:buNone/>
            </a:pPr>
            <a:r>
              <a:rPr lang="en-US" b="1" dirty="0">
                <a:solidFill>
                  <a:schemeClr val="accent3">
                    <a:lumMod val="75000"/>
                  </a:schemeClr>
                </a:solidFill>
              </a:rPr>
              <a:t>        int mid = (start+end)/2</a:t>
            </a:r>
          </a:p>
          <a:p>
            <a:pPr marL="0" indent="0">
              <a:buNone/>
            </a:pPr>
            <a:r>
              <a:rPr lang="en-US" b="1" dirty="0">
                <a:solidFill>
                  <a:schemeClr val="accent3">
                    <a:lumMod val="75000"/>
                  </a:schemeClr>
                </a:solidFill>
              </a:rPr>
              <a:t>        if (seq[mid]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        else if (seq[mid]&gt;target)</a:t>
            </a:r>
          </a:p>
          <a:p>
            <a:pPr marL="0" indent="0">
              <a:buNone/>
            </a:pPr>
            <a:r>
              <a:rPr lang="en-US" b="1" dirty="0">
                <a:solidFill>
                  <a:schemeClr val="accent3">
                    <a:lumMod val="75000"/>
                  </a:schemeClr>
                </a:solidFill>
              </a:rPr>
              <a:t>            end = mid-1</a:t>
            </a:r>
          </a:p>
          <a:p>
            <a:pPr marL="0" indent="0">
              <a:buNone/>
            </a:pPr>
            <a:r>
              <a:rPr lang="en-US" b="1" dirty="0">
                <a:solidFill>
                  <a:schemeClr val="accent3">
                    <a:lumMod val="75000"/>
                  </a:schemeClr>
                </a:solidFill>
              </a:rPr>
              <a:t>        else</a:t>
            </a:r>
          </a:p>
          <a:p>
            <a:pPr marL="0" indent="0">
              <a:buNone/>
            </a:pPr>
            <a:r>
              <a:rPr lang="en-US" b="1" dirty="0">
                <a:solidFill>
                  <a:schemeClr val="accent3">
                    <a:lumMod val="75000"/>
                  </a:schemeClr>
                </a:solidFill>
              </a:rPr>
              <a:t>            start = mid+1</a:t>
            </a:r>
          </a:p>
          <a:p>
            <a:pPr marL="0" indent="0">
              <a:buNone/>
            </a:pPr>
            <a:r>
              <a:rPr lang="en-US" dirty="0"/>
              <a:t>    return false</a:t>
            </a:r>
          </a:p>
          <a:p>
            <a:endParaRPr lang="en-US" dirty="0"/>
          </a:p>
        </p:txBody>
      </p:sp>
      <p:sp>
        <p:nvSpPr>
          <p:cNvPr id="6" name="TextBox 5"/>
          <p:cNvSpPr txBox="1"/>
          <p:nvPr/>
        </p:nvSpPr>
        <p:spPr>
          <a:xfrm>
            <a:off x="533400" y="6019800"/>
            <a:ext cx="8034122" cy="523220"/>
          </a:xfrm>
          <a:prstGeom prst="rect">
            <a:avLst/>
          </a:prstGeom>
          <a:noFill/>
        </p:spPr>
        <p:txBody>
          <a:bodyPr wrap="none" rtlCol="0">
            <a:spAutoFit/>
          </a:bodyPr>
          <a:lstStyle/>
          <a:p>
            <a:r>
              <a:rPr lang="en-US" sz="2800" dirty="0"/>
              <a:t>Binary search is doing </a:t>
            </a:r>
            <a:r>
              <a:rPr lang="en-US" sz="2800" b="1" dirty="0">
                <a:solidFill>
                  <a:schemeClr val="accent6">
                    <a:lumMod val="75000"/>
                  </a:schemeClr>
                </a:solidFill>
              </a:rPr>
              <a:t>much more work per iteration</a:t>
            </a:r>
            <a:r>
              <a:rPr lang="en-US" sz="2800" dirty="0"/>
              <a:t>!</a:t>
            </a:r>
          </a:p>
        </p:txBody>
      </p:sp>
    </p:spTree>
    <p:extLst>
      <p:ext uri="{BB962C8B-B14F-4D97-AF65-F5344CB8AC3E}">
        <p14:creationId xmlns:p14="http://schemas.microsoft.com/office/powerpoint/2010/main" val="2405789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Uh oh…</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91375138"/>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914400" y="6096000"/>
            <a:ext cx="3528338" cy="523220"/>
          </a:xfrm>
          <a:prstGeom prst="rect">
            <a:avLst/>
          </a:prstGeom>
          <a:noFill/>
        </p:spPr>
        <p:txBody>
          <a:bodyPr wrap="none" rtlCol="0">
            <a:spAutoFit/>
          </a:bodyPr>
          <a:lstStyle/>
          <a:p>
            <a:r>
              <a:rPr lang="en-US" sz="2800" dirty="0"/>
              <a:t>Binary search is worse!</a:t>
            </a:r>
          </a:p>
        </p:txBody>
      </p:sp>
    </p:spTree>
    <p:extLst>
      <p:ext uri="{BB962C8B-B14F-4D97-AF65-F5344CB8AC3E}">
        <p14:creationId xmlns:p14="http://schemas.microsoft.com/office/powerpoint/2010/main" val="2554053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 maybe not …</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880892390"/>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914400" y="6096000"/>
            <a:ext cx="6425733" cy="523220"/>
          </a:xfrm>
          <a:prstGeom prst="rect">
            <a:avLst/>
          </a:prstGeom>
          <a:noFill/>
        </p:spPr>
        <p:txBody>
          <a:bodyPr wrap="none" rtlCol="0">
            <a:spAutoFit/>
          </a:bodyPr>
          <a:lstStyle/>
          <a:p>
            <a:r>
              <a:rPr lang="en-US" sz="2800" dirty="0"/>
              <a:t>Binary search still wins for large values of n</a:t>
            </a:r>
          </a:p>
        </p:txBody>
      </p:sp>
    </p:spTree>
    <p:extLst>
      <p:ext uri="{BB962C8B-B14F-4D97-AF65-F5344CB8AC3E}">
        <p14:creationId xmlns:p14="http://schemas.microsoft.com/office/powerpoint/2010/main" val="397339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performance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539078250"/>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914400" y="6096000"/>
            <a:ext cx="7316426" cy="523220"/>
          </a:xfrm>
          <a:prstGeom prst="rect">
            <a:avLst/>
          </a:prstGeom>
          <a:noFill/>
        </p:spPr>
        <p:txBody>
          <a:bodyPr wrap="none" rtlCol="0">
            <a:spAutoFit/>
          </a:bodyPr>
          <a:lstStyle/>
          <a:p>
            <a:r>
              <a:rPr lang="en-US" sz="2800" dirty="0"/>
              <a:t>O(log n) </a:t>
            </a:r>
            <a:r>
              <a:rPr lang="en-US" sz="2800" b="1" dirty="0">
                <a:solidFill>
                  <a:schemeClr val="accent6">
                    <a:lumMod val="75000"/>
                  </a:schemeClr>
                </a:solidFill>
              </a:rPr>
              <a:t>always</a:t>
            </a:r>
            <a:r>
              <a:rPr lang="en-US" sz="2800" dirty="0">
                <a:solidFill>
                  <a:schemeClr val="accent6">
                    <a:lumMod val="75000"/>
                  </a:schemeClr>
                </a:solidFill>
              </a:rPr>
              <a:t> </a:t>
            </a:r>
            <a:r>
              <a:rPr lang="en-US" sz="2800" dirty="0"/>
              <a:t>beats O(n) for </a:t>
            </a:r>
            <a:r>
              <a:rPr lang="en-US" sz="2800" b="1" dirty="0">
                <a:solidFill>
                  <a:schemeClr val="accent6">
                    <a:lumMod val="75000"/>
                  </a:schemeClr>
                </a:solidFill>
              </a:rPr>
              <a:t>sufficiently large </a:t>
            </a:r>
            <a:r>
              <a:rPr lang="en-US" sz="2800" dirty="0"/>
              <a:t>n</a:t>
            </a:r>
          </a:p>
        </p:txBody>
      </p:sp>
    </p:spTree>
    <p:extLst>
      <p:ext uri="{BB962C8B-B14F-4D97-AF65-F5344CB8AC3E}">
        <p14:creationId xmlns:p14="http://schemas.microsoft.com/office/powerpoint/2010/main" val="3797114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do we study</a:t>
            </a:r>
            <a:br>
              <a:rPr lang="en-US" dirty="0"/>
            </a:br>
            <a:r>
              <a:rPr lang="en-US" dirty="0"/>
              <a:t>    when we study algorithms?</a:t>
            </a:r>
          </a:p>
        </p:txBody>
      </p:sp>
      <p:sp>
        <p:nvSpPr>
          <p:cNvPr id="3" name="Content Placeholder 2"/>
          <p:cNvSpPr>
            <a:spLocks noGrp="1"/>
          </p:cNvSpPr>
          <p:nvPr>
            <p:ph sz="half" idx="1"/>
          </p:nvPr>
        </p:nvSpPr>
        <p:spPr>
          <a:xfrm>
            <a:off x="457200" y="1905000"/>
            <a:ext cx="4038600" cy="4525963"/>
          </a:xfrm>
        </p:spPr>
        <p:txBody>
          <a:bodyPr>
            <a:normAutofit fontScale="85000" lnSpcReduction="20000"/>
          </a:bodyPr>
          <a:lstStyle/>
          <a:p>
            <a:r>
              <a:rPr lang="en-US" dirty="0"/>
              <a:t>Finding </a:t>
            </a:r>
            <a:r>
              <a:rPr lang="en-US" b="1" dirty="0">
                <a:solidFill>
                  <a:schemeClr val="accent6">
                    <a:lumMod val="75000"/>
                  </a:schemeClr>
                </a:solidFill>
              </a:rPr>
              <a:t>solutions</a:t>
            </a:r>
          </a:p>
          <a:p>
            <a:pPr lvl="1"/>
            <a:r>
              <a:rPr lang="en-US" dirty="0"/>
              <a:t>How do we solve a problem efficiently?</a:t>
            </a:r>
          </a:p>
          <a:p>
            <a:pPr lvl="1"/>
            <a:r>
              <a:rPr lang="en-US" dirty="0"/>
              <a:t>Or just: how do we solve it at all?</a:t>
            </a:r>
          </a:p>
          <a:p>
            <a:pPr lvl="1"/>
            <a:endParaRPr lang="en-US" dirty="0"/>
          </a:p>
          <a:p>
            <a:r>
              <a:rPr lang="en-US" b="1" dirty="0">
                <a:solidFill>
                  <a:schemeClr val="accent6">
                    <a:lumMod val="75000"/>
                  </a:schemeClr>
                </a:solidFill>
              </a:rPr>
              <a:t>Evaluating</a:t>
            </a:r>
            <a:r>
              <a:rPr lang="en-US" dirty="0">
                <a:solidFill>
                  <a:schemeClr val="accent6">
                    <a:lumMod val="75000"/>
                  </a:schemeClr>
                </a:solidFill>
              </a:rPr>
              <a:t> </a:t>
            </a:r>
            <a:r>
              <a:rPr lang="en-US" dirty="0"/>
              <a:t>solutions</a:t>
            </a:r>
          </a:p>
          <a:p>
            <a:pPr lvl="1"/>
            <a:r>
              <a:rPr lang="en-US" dirty="0"/>
              <a:t>How efficient is a given solution?</a:t>
            </a:r>
            <a:br>
              <a:rPr lang="en-US" dirty="0"/>
            </a:br>
            <a:r>
              <a:rPr lang="en-US" dirty="0"/>
              <a:t>(algorithmic </a:t>
            </a:r>
            <a:r>
              <a:rPr lang="en-US" b="1" dirty="0">
                <a:solidFill>
                  <a:schemeClr val="accent6">
                    <a:lumMod val="75000"/>
                  </a:schemeClr>
                </a:solidFill>
              </a:rPr>
              <a:t>complexity</a:t>
            </a:r>
            <a:r>
              <a:rPr lang="en-US" dirty="0"/>
              <a:t>)</a:t>
            </a:r>
          </a:p>
          <a:p>
            <a:pPr lvl="1"/>
            <a:r>
              <a:rPr lang="en-US" dirty="0"/>
              <a:t>Can we do better?</a:t>
            </a:r>
            <a:br>
              <a:rPr lang="en-US" dirty="0"/>
            </a:br>
            <a:r>
              <a:rPr lang="en-US" dirty="0"/>
              <a:t>(looking for </a:t>
            </a:r>
            <a:r>
              <a:rPr lang="en-US" b="1" dirty="0">
                <a:solidFill>
                  <a:schemeClr val="accent6">
                    <a:lumMod val="75000"/>
                  </a:schemeClr>
                </a:solidFill>
              </a:rPr>
              <a:t>lower bounds</a:t>
            </a:r>
            <a:r>
              <a:rPr lang="en-US" dirty="0"/>
              <a:t>)</a:t>
            </a:r>
          </a:p>
          <a:p>
            <a:pPr lvl="1"/>
            <a:r>
              <a:rPr lang="en-US" dirty="0"/>
              <a:t>How do we even know it’s a solution?</a:t>
            </a:r>
            <a:br>
              <a:rPr lang="en-US" dirty="0"/>
            </a:br>
            <a:r>
              <a:rPr lang="en-US" dirty="0"/>
              <a:t>(proving </a:t>
            </a:r>
            <a:r>
              <a:rPr lang="en-US" b="1" dirty="0">
                <a:solidFill>
                  <a:schemeClr val="accent6">
                    <a:lumMod val="75000"/>
                  </a:schemeClr>
                </a:solidFill>
              </a:rPr>
              <a:t>correctness</a:t>
            </a:r>
            <a:r>
              <a:rPr lang="en-US" dirty="0"/>
              <a:t>)</a:t>
            </a:r>
          </a:p>
        </p:txBody>
      </p:sp>
      <p:sp>
        <p:nvSpPr>
          <p:cNvPr id="4" name="Content Placeholder 3"/>
          <p:cNvSpPr>
            <a:spLocks noGrp="1"/>
          </p:cNvSpPr>
          <p:nvPr>
            <p:ph sz="half" idx="2"/>
          </p:nvPr>
        </p:nvSpPr>
        <p:spPr>
          <a:xfrm>
            <a:off x="4648200" y="1905000"/>
            <a:ext cx="4038600" cy="4525963"/>
          </a:xfrm>
        </p:spPr>
        <p:txBody>
          <a:bodyPr>
            <a:normAutofit fontScale="85000" lnSpcReduction="20000"/>
          </a:bodyPr>
          <a:lstStyle/>
          <a:p>
            <a:r>
              <a:rPr lang="en-US" dirty="0"/>
              <a:t>Forming a </a:t>
            </a:r>
            <a:r>
              <a:rPr lang="en-US" b="1" dirty="0">
                <a:solidFill>
                  <a:schemeClr val="accent6">
                    <a:lumMod val="75000"/>
                  </a:schemeClr>
                </a:solidFill>
              </a:rPr>
              <a:t>general theory</a:t>
            </a:r>
          </a:p>
          <a:p>
            <a:pPr lvl="1"/>
            <a:r>
              <a:rPr lang="en-US" dirty="0"/>
              <a:t>What are some </a:t>
            </a:r>
            <a:r>
              <a:rPr lang="en-US" b="1" dirty="0">
                <a:solidFill>
                  <a:schemeClr val="accent6">
                    <a:lumMod val="75000"/>
                  </a:schemeClr>
                </a:solidFill>
              </a:rPr>
              <a:t>reusable</a:t>
            </a:r>
            <a:r>
              <a:rPr lang="en-US" dirty="0">
                <a:solidFill>
                  <a:schemeClr val="accent6">
                    <a:lumMod val="75000"/>
                  </a:schemeClr>
                </a:solidFill>
              </a:rPr>
              <a:t> </a:t>
            </a:r>
            <a:r>
              <a:rPr lang="en-US" dirty="0"/>
              <a:t>techniques for solving problems?</a:t>
            </a:r>
          </a:p>
          <a:p>
            <a:pPr lvl="1"/>
            <a:r>
              <a:rPr lang="en-US" dirty="0"/>
              <a:t>What problems are harder than others, and why?</a:t>
            </a:r>
          </a:p>
          <a:p>
            <a:pPr lvl="2"/>
            <a:r>
              <a:rPr lang="en-US" dirty="0"/>
              <a:t>Are there problems that are inherently </a:t>
            </a:r>
            <a:r>
              <a:rPr lang="en-US" b="1" dirty="0">
                <a:solidFill>
                  <a:schemeClr val="accent6">
                    <a:lumMod val="75000"/>
                  </a:schemeClr>
                </a:solidFill>
              </a:rPr>
              <a:t>insoluble</a:t>
            </a:r>
            <a:r>
              <a:rPr lang="en-US" dirty="0"/>
              <a:t>?</a:t>
            </a:r>
          </a:p>
          <a:p>
            <a:pPr lvl="2"/>
            <a:r>
              <a:rPr lang="en-US" dirty="0"/>
              <a:t>Are there problems that are inherently </a:t>
            </a:r>
            <a:r>
              <a:rPr lang="en-US" b="1" dirty="0">
                <a:solidFill>
                  <a:schemeClr val="accent6">
                    <a:lumMod val="75000"/>
                  </a:schemeClr>
                </a:solidFill>
              </a:rPr>
              <a:t>expensive</a:t>
            </a:r>
            <a:r>
              <a:rPr lang="en-US" dirty="0"/>
              <a:t>?</a:t>
            </a:r>
          </a:p>
        </p:txBody>
      </p:sp>
    </p:spTree>
    <p:extLst>
      <p:ext uri="{BB962C8B-B14F-4D97-AF65-F5344CB8AC3E}">
        <p14:creationId xmlns:p14="http://schemas.microsoft.com/office/powerpoint/2010/main" val="4244557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But wait!</a:t>
            </a:r>
          </a:p>
        </p:txBody>
      </p:sp>
      <p:sp>
        <p:nvSpPr>
          <p:cNvPr id="3" name="Content Placeholder 2"/>
          <p:cNvSpPr>
            <a:spLocks noGrp="1"/>
          </p:cNvSpPr>
          <p:nvPr>
            <p:ph sz="half" idx="1"/>
          </p:nvPr>
        </p:nvSpPr>
        <p:spPr/>
        <p:txBody>
          <a:bodyPr>
            <a:normAutofit/>
          </a:bodyPr>
          <a:lstStyle/>
          <a:p>
            <a:r>
              <a:rPr lang="en-US" dirty="0"/>
              <a:t>When we did binary search</a:t>
            </a:r>
          </a:p>
          <a:p>
            <a:pPr lvl="1"/>
            <a:r>
              <a:rPr lang="en-US" dirty="0"/>
              <a:t>We assumed the sequence was </a:t>
            </a:r>
            <a:r>
              <a:rPr lang="en-US" b="1" dirty="0">
                <a:solidFill>
                  <a:schemeClr val="accent6">
                    <a:lumMod val="75000"/>
                  </a:schemeClr>
                </a:solidFill>
              </a:rPr>
              <a:t>presorted</a:t>
            </a:r>
          </a:p>
          <a:p>
            <a:pPr lvl="1"/>
            <a:r>
              <a:rPr lang="en-US" dirty="0"/>
              <a:t>We implicitly assumed it was an </a:t>
            </a:r>
            <a:r>
              <a:rPr lang="en-US" b="1" dirty="0">
                <a:solidFill>
                  <a:schemeClr val="accent6">
                    <a:lumMod val="75000"/>
                  </a:schemeClr>
                </a:solidFill>
              </a:rPr>
              <a:t>array</a:t>
            </a:r>
          </a:p>
          <a:p>
            <a:endParaRPr lang="en-US" dirty="0"/>
          </a:p>
          <a:p>
            <a:r>
              <a:rPr lang="en-US" dirty="0"/>
              <a:t>What if it was a </a:t>
            </a:r>
            <a:r>
              <a:rPr lang="en-US" b="1" dirty="0">
                <a:solidFill>
                  <a:schemeClr val="accent6">
                    <a:lumMod val="75000"/>
                  </a:schemeClr>
                </a:solidFill>
              </a:rPr>
              <a:t>linked list</a:t>
            </a:r>
            <a:r>
              <a:rPr lang="en-US" dirty="0"/>
              <a:t>?</a:t>
            </a:r>
          </a:p>
        </p:txBody>
      </p:sp>
      <p:sp>
        <p:nvSpPr>
          <p:cNvPr id="4" name="Content Placeholder 3"/>
          <p:cNvSpPr>
            <a:spLocks noGrp="1"/>
          </p:cNvSpPr>
          <p:nvPr>
            <p:ph sz="half" idx="2"/>
          </p:nvPr>
        </p:nvSpPr>
        <p:spPr/>
        <p:txBody>
          <a:bodyPr>
            <a:normAutofit/>
          </a:bodyPr>
          <a:lstStyle/>
          <a:p>
            <a:r>
              <a:rPr lang="en-US" dirty="0"/>
              <a:t>Getting the nth element of a linked list </a:t>
            </a:r>
            <a:r>
              <a:rPr lang="en-US" b="1" dirty="0">
                <a:solidFill>
                  <a:schemeClr val="accent6">
                    <a:lumMod val="75000"/>
                  </a:schemeClr>
                </a:solidFill>
              </a:rPr>
              <a:t>always</a:t>
            </a:r>
            <a:r>
              <a:rPr lang="en-US" b="1" dirty="0"/>
              <a:t> </a:t>
            </a:r>
            <a:r>
              <a:rPr lang="en-US" b="1" dirty="0">
                <a:solidFill>
                  <a:schemeClr val="accent6">
                    <a:lumMod val="75000"/>
                  </a:schemeClr>
                </a:solidFill>
              </a:rPr>
              <a:t>takes n steps</a:t>
            </a:r>
          </a:p>
          <a:p>
            <a:endParaRPr lang="en-US" dirty="0"/>
          </a:p>
          <a:p>
            <a:r>
              <a:rPr lang="en-US" dirty="0"/>
              <a:t>So seq[n] takes </a:t>
            </a:r>
            <a:r>
              <a:rPr lang="en-US" b="1" dirty="0">
                <a:solidFill>
                  <a:schemeClr val="accent6">
                    <a:lumMod val="75000"/>
                  </a:schemeClr>
                </a:solidFill>
              </a:rPr>
              <a:t>O(n) </a:t>
            </a:r>
            <a:r>
              <a:rPr lang="en-US" dirty="0"/>
              <a:t>time all by itself!</a:t>
            </a:r>
          </a:p>
        </p:txBody>
      </p:sp>
    </p:spTree>
    <p:extLst>
      <p:ext uri="{BB962C8B-B14F-4D97-AF65-F5344CB8AC3E}">
        <p14:creationId xmlns:p14="http://schemas.microsoft.com/office/powerpoint/2010/main" val="1960830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But wait!</a:t>
            </a:r>
          </a:p>
        </p:txBody>
      </p:sp>
      <p:sp>
        <p:nvSpPr>
          <p:cNvPr id="4" name="Content Placeholder 3"/>
          <p:cNvSpPr>
            <a:spLocks noGrp="1"/>
          </p:cNvSpPr>
          <p:nvPr>
            <p:ph sz="half" idx="1"/>
          </p:nvPr>
        </p:nvSpPr>
        <p:spPr>
          <a:xfrm>
            <a:off x="457200" y="1600200"/>
            <a:ext cx="4038600" cy="5257800"/>
          </a:xfrm>
        </p:spPr>
        <p:txBody>
          <a:bodyPr>
            <a:noAutofit/>
          </a:bodyPr>
          <a:lstStyle/>
          <a:p>
            <a:r>
              <a:rPr lang="en-US" sz="2400" dirty="0">
                <a:solidFill>
                  <a:schemeClr val="tx1">
                    <a:lumMod val="65000"/>
                    <a:lumOff val="35000"/>
                  </a:schemeClr>
                </a:solidFill>
              </a:rPr>
              <a:t>If seq is a </a:t>
            </a:r>
            <a:r>
              <a:rPr lang="en-US" sz="2400" b="1" dirty="0">
                <a:solidFill>
                  <a:schemeClr val="accent6">
                    <a:lumMod val="75000"/>
                  </a:schemeClr>
                </a:solidFill>
              </a:rPr>
              <a:t>linked list</a:t>
            </a:r>
            <a:r>
              <a:rPr lang="en-US" sz="2400" dirty="0">
                <a:solidFill>
                  <a:schemeClr val="tx1">
                    <a:lumMod val="65000"/>
                    <a:lumOff val="35000"/>
                  </a:schemeClr>
                </a:solidFill>
              </a:rPr>
              <a:t>, then we still </a:t>
            </a:r>
            <a:r>
              <a:rPr lang="en-US" sz="2400" b="1" dirty="0">
                <a:solidFill>
                  <a:schemeClr val="accent6">
                    <a:lumMod val="75000"/>
                  </a:schemeClr>
                </a:solidFill>
              </a:rPr>
              <a:t>have to run O(log n) iterations </a:t>
            </a:r>
            <a:r>
              <a:rPr lang="en-US" sz="2400" dirty="0">
                <a:solidFill>
                  <a:schemeClr val="tx1">
                    <a:lumMod val="65000"/>
                    <a:lumOff val="35000"/>
                  </a:schemeClr>
                </a:solidFill>
              </a:rPr>
              <a:t>of the loop</a:t>
            </a:r>
          </a:p>
          <a:p>
            <a:endParaRPr lang="en-US" sz="2400" dirty="0">
              <a:solidFill>
                <a:schemeClr val="tx1">
                  <a:lumMod val="65000"/>
                  <a:lumOff val="35000"/>
                </a:schemeClr>
              </a:solidFill>
            </a:endParaRPr>
          </a:p>
          <a:p>
            <a:r>
              <a:rPr lang="en-US" sz="2400" dirty="0">
                <a:solidFill>
                  <a:schemeClr val="tx1">
                    <a:lumMod val="65000"/>
                    <a:lumOff val="35000"/>
                  </a:schemeClr>
                </a:solidFill>
              </a:rPr>
              <a:t>But now each iteration takes </a:t>
            </a:r>
            <a:r>
              <a:rPr lang="en-US" sz="2400" b="1" dirty="0">
                <a:solidFill>
                  <a:schemeClr val="accent6">
                    <a:lumMod val="75000"/>
                  </a:schemeClr>
                </a:solidFill>
              </a:rPr>
              <a:t>O(n) </a:t>
            </a:r>
            <a:r>
              <a:rPr lang="en-US" sz="2400" dirty="0">
                <a:solidFill>
                  <a:schemeClr val="tx1">
                    <a:lumMod val="65000"/>
                    <a:lumOff val="35000"/>
                  </a:schemeClr>
                </a:solidFill>
              </a:rPr>
              <a:t>time</a:t>
            </a:r>
          </a:p>
          <a:p>
            <a:endParaRPr lang="en-US" sz="2400" dirty="0">
              <a:solidFill>
                <a:schemeClr val="tx1">
                  <a:lumMod val="65000"/>
                  <a:lumOff val="35000"/>
                </a:schemeClr>
              </a:solidFill>
            </a:endParaRPr>
          </a:p>
          <a:p>
            <a:r>
              <a:rPr lang="en-US" sz="2400" dirty="0">
                <a:solidFill>
                  <a:schemeClr val="tx1">
                    <a:lumMod val="65000"/>
                    <a:lumOff val="35000"/>
                  </a:schemeClr>
                </a:solidFill>
              </a:rPr>
              <a:t>So the algorithm takes</a:t>
            </a:r>
            <a:br>
              <a:rPr lang="en-US" sz="2400" dirty="0">
                <a:solidFill>
                  <a:schemeClr val="tx1">
                    <a:lumMod val="65000"/>
                    <a:lumOff val="35000"/>
                  </a:schemeClr>
                </a:solidFill>
              </a:rPr>
            </a:br>
            <a:r>
              <a:rPr lang="en-US" sz="2400" b="1" dirty="0">
                <a:solidFill>
                  <a:schemeClr val="accent6">
                    <a:lumMod val="75000"/>
                  </a:schemeClr>
                </a:solidFill>
              </a:rPr>
              <a:t>O(n log n) </a:t>
            </a:r>
            <a:r>
              <a:rPr lang="en-US" sz="2400" dirty="0">
                <a:solidFill>
                  <a:schemeClr val="tx1">
                    <a:lumMod val="65000"/>
                    <a:lumOff val="35000"/>
                  </a:schemeClr>
                </a:solidFill>
              </a:rPr>
              <a:t>time</a:t>
            </a:r>
          </a:p>
        </p:txBody>
      </p:sp>
      <p:sp>
        <p:nvSpPr>
          <p:cNvPr id="5" name="Content Placeholder 4"/>
          <p:cNvSpPr>
            <a:spLocks noGrp="1"/>
          </p:cNvSpPr>
          <p:nvPr>
            <p:ph sz="half" idx="2"/>
          </p:nvPr>
        </p:nvSpPr>
        <p:spPr/>
        <p:txBody>
          <a:bodyPr>
            <a:normAutofit fontScale="85000" lnSpcReduction="20000"/>
          </a:bodyPr>
          <a:lstStyle/>
          <a:p>
            <a:pPr marL="0" indent="0">
              <a:buNone/>
            </a:pPr>
            <a:r>
              <a:rPr lang="en-US" dirty="0"/>
              <a:t>Search(target, seq)</a:t>
            </a:r>
          </a:p>
          <a:p>
            <a:pPr marL="0" indent="0">
              <a:buNone/>
            </a:pPr>
            <a:r>
              <a:rPr lang="en-US" dirty="0"/>
              <a:t>    int start = 0</a:t>
            </a:r>
          </a:p>
          <a:p>
            <a:pPr marL="0" indent="0">
              <a:buNone/>
            </a:pPr>
            <a:r>
              <a:rPr lang="en-US" dirty="0"/>
              <a:t>    int end = seq.length-1</a:t>
            </a:r>
          </a:p>
          <a:p>
            <a:pPr marL="0" indent="0">
              <a:buNone/>
            </a:pPr>
            <a:r>
              <a:rPr lang="en-US" dirty="0"/>
              <a:t>    while (start</a:t>
            </a:r>
            <a:r>
              <a:rPr lang="en-US" dirty="0">
                <a:sym typeface="Symbol"/>
              </a:rPr>
              <a:t></a:t>
            </a:r>
            <a:r>
              <a:rPr lang="en-US" dirty="0"/>
              <a:t>end)</a:t>
            </a:r>
          </a:p>
          <a:p>
            <a:pPr marL="0" indent="0">
              <a:buNone/>
            </a:pPr>
            <a:r>
              <a:rPr lang="en-US" b="1" dirty="0">
                <a:solidFill>
                  <a:schemeClr val="accent3">
                    <a:lumMod val="75000"/>
                  </a:schemeClr>
                </a:solidFill>
              </a:rPr>
              <a:t>        int mid = (start+end)/2</a:t>
            </a:r>
          </a:p>
          <a:p>
            <a:pPr marL="0" indent="0">
              <a:buNone/>
            </a:pPr>
            <a:r>
              <a:rPr lang="en-US" b="1" dirty="0">
                <a:solidFill>
                  <a:schemeClr val="accent3">
                    <a:lumMod val="75000"/>
                  </a:schemeClr>
                </a:solidFill>
              </a:rPr>
              <a:t>        if (seq[mid] == target)</a:t>
            </a:r>
          </a:p>
          <a:p>
            <a:pPr marL="0" indent="0">
              <a:buNone/>
            </a:pPr>
            <a:r>
              <a:rPr lang="en-US" b="1" dirty="0">
                <a:solidFill>
                  <a:schemeClr val="accent3">
                    <a:lumMod val="75000"/>
                  </a:schemeClr>
                </a:solidFill>
              </a:rPr>
              <a:t>           return true</a:t>
            </a:r>
          </a:p>
          <a:p>
            <a:pPr marL="0" indent="0">
              <a:buNone/>
            </a:pPr>
            <a:r>
              <a:rPr lang="en-US" b="1" dirty="0">
                <a:solidFill>
                  <a:schemeClr val="accent3">
                    <a:lumMod val="75000"/>
                  </a:schemeClr>
                </a:solidFill>
              </a:rPr>
              <a:t>        else if (seq[mid]&gt;target)</a:t>
            </a:r>
          </a:p>
          <a:p>
            <a:pPr marL="0" indent="0">
              <a:buNone/>
            </a:pPr>
            <a:r>
              <a:rPr lang="en-US" b="1" dirty="0">
                <a:solidFill>
                  <a:schemeClr val="accent3">
                    <a:lumMod val="75000"/>
                  </a:schemeClr>
                </a:solidFill>
              </a:rPr>
              <a:t>            end = mid-1</a:t>
            </a:r>
          </a:p>
          <a:p>
            <a:pPr marL="0" indent="0">
              <a:buNone/>
            </a:pPr>
            <a:r>
              <a:rPr lang="en-US" b="1" dirty="0">
                <a:solidFill>
                  <a:schemeClr val="accent3">
                    <a:lumMod val="75000"/>
                  </a:schemeClr>
                </a:solidFill>
              </a:rPr>
              <a:t>        else</a:t>
            </a:r>
          </a:p>
          <a:p>
            <a:pPr marL="0" indent="0">
              <a:buNone/>
            </a:pPr>
            <a:r>
              <a:rPr lang="en-US" b="1" dirty="0">
                <a:solidFill>
                  <a:schemeClr val="accent3">
                    <a:lumMod val="75000"/>
                  </a:schemeClr>
                </a:solidFill>
              </a:rPr>
              <a:t>            start = mid+1</a:t>
            </a:r>
          </a:p>
          <a:p>
            <a:pPr marL="0" indent="0">
              <a:buNone/>
            </a:pPr>
            <a:r>
              <a:rPr lang="en-US" dirty="0"/>
              <a:t>    return false</a:t>
            </a:r>
          </a:p>
          <a:p>
            <a:endParaRPr lang="en-US" dirty="0"/>
          </a:p>
        </p:txBody>
      </p:sp>
    </p:spTree>
    <p:extLst>
      <p:ext uri="{BB962C8B-B14F-4D97-AF65-F5344CB8AC3E}">
        <p14:creationId xmlns:p14="http://schemas.microsoft.com/office/powerpoint/2010/main" val="3094969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Brute force</a:t>
            </a:r>
            <a:br>
              <a:rPr lang="en-US" dirty="0"/>
            </a:br>
            <a:r>
              <a:rPr lang="en-US" dirty="0"/>
              <a:t>   doesn’t look so bad now …</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24762277"/>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914400" y="6096000"/>
            <a:ext cx="3487173" cy="523220"/>
          </a:xfrm>
          <a:prstGeom prst="rect">
            <a:avLst/>
          </a:prstGeom>
          <a:noFill/>
        </p:spPr>
        <p:txBody>
          <a:bodyPr wrap="none" rtlCol="0">
            <a:spAutoFit/>
          </a:bodyPr>
          <a:lstStyle/>
          <a:p>
            <a:r>
              <a:rPr lang="en-US" sz="2800" dirty="0"/>
              <a:t>O(n) stomps O(n log n)</a:t>
            </a:r>
          </a:p>
        </p:txBody>
      </p:sp>
    </p:spTree>
    <p:extLst>
      <p:ext uri="{BB962C8B-B14F-4D97-AF65-F5344CB8AC3E}">
        <p14:creationId xmlns:p14="http://schemas.microsoft.com/office/powerpoint/2010/main" val="460372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matter</a:t>
            </a:r>
          </a:p>
        </p:txBody>
      </p:sp>
      <p:sp>
        <p:nvSpPr>
          <p:cNvPr id="5" name="Content Placeholder 4"/>
          <p:cNvSpPr>
            <a:spLocks noGrp="1"/>
          </p:cNvSpPr>
          <p:nvPr>
            <p:ph idx="1"/>
          </p:nvPr>
        </p:nvSpPr>
        <p:spPr/>
        <p:txBody>
          <a:bodyPr>
            <a:normAutofit fontScale="85000" lnSpcReduction="20000"/>
          </a:bodyPr>
          <a:lstStyle/>
          <a:p>
            <a:r>
              <a:rPr lang="en-US" dirty="0"/>
              <a:t>How your data is </a:t>
            </a:r>
            <a:r>
              <a:rPr lang="en-US" b="1" dirty="0">
                <a:solidFill>
                  <a:schemeClr val="accent6">
                    <a:lumMod val="75000"/>
                  </a:schemeClr>
                </a:solidFill>
              </a:rPr>
              <a:t>represented</a:t>
            </a:r>
            <a:r>
              <a:rPr lang="en-US" dirty="0">
                <a:solidFill>
                  <a:schemeClr val="accent6">
                    <a:lumMod val="75000"/>
                  </a:schemeClr>
                </a:solidFill>
              </a:rPr>
              <a:t> </a:t>
            </a:r>
            <a:r>
              <a:rPr lang="en-US" dirty="0"/>
              <a:t>has a huge impact on how efficiently you can </a:t>
            </a:r>
            <a:r>
              <a:rPr lang="en-US" b="1" dirty="0">
                <a:solidFill>
                  <a:schemeClr val="accent6">
                    <a:lumMod val="75000"/>
                  </a:schemeClr>
                </a:solidFill>
              </a:rPr>
              <a:t>process it</a:t>
            </a:r>
          </a:p>
          <a:p>
            <a:endParaRPr lang="en-US" dirty="0"/>
          </a:p>
          <a:p>
            <a:r>
              <a:rPr lang="en-US" b="1" dirty="0">
                <a:solidFill>
                  <a:schemeClr val="accent6">
                    <a:lumMod val="75000"/>
                  </a:schemeClr>
                </a:solidFill>
              </a:rPr>
              <a:t>Searching</a:t>
            </a:r>
            <a:r>
              <a:rPr lang="en-US" dirty="0"/>
              <a:t> for an item</a:t>
            </a:r>
          </a:p>
          <a:p>
            <a:pPr lvl="1"/>
            <a:r>
              <a:rPr lang="en-US" b="1" dirty="0">
                <a:solidFill>
                  <a:schemeClr val="accent6">
                    <a:lumMod val="50000"/>
                  </a:schemeClr>
                </a:solidFill>
              </a:rPr>
              <a:t>Sorted array </a:t>
            </a:r>
            <a:r>
              <a:rPr lang="en-US" dirty="0">
                <a:sym typeface="Symbol"/>
              </a:rPr>
              <a:t> binary search  </a:t>
            </a:r>
            <a:r>
              <a:rPr lang="en-US" b="1" dirty="0">
                <a:solidFill>
                  <a:schemeClr val="accent6">
                    <a:lumMod val="50000"/>
                  </a:schemeClr>
                </a:solidFill>
                <a:sym typeface="Symbol"/>
              </a:rPr>
              <a:t>O(log n)</a:t>
            </a:r>
          </a:p>
          <a:p>
            <a:pPr lvl="1"/>
            <a:r>
              <a:rPr lang="en-US" b="1" dirty="0">
                <a:solidFill>
                  <a:schemeClr val="accent6">
                    <a:lumMod val="50000"/>
                  </a:schemeClr>
                </a:solidFill>
                <a:sym typeface="Symbol"/>
              </a:rPr>
              <a:t>Linked list </a:t>
            </a:r>
            <a:r>
              <a:rPr lang="en-US" dirty="0">
                <a:sym typeface="Symbol"/>
              </a:rPr>
              <a:t> brute force  </a:t>
            </a:r>
            <a:r>
              <a:rPr lang="en-US" b="1" dirty="0">
                <a:solidFill>
                  <a:schemeClr val="accent6">
                    <a:lumMod val="50000"/>
                  </a:schemeClr>
                </a:solidFill>
                <a:sym typeface="Symbol"/>
              </a:rPr>
              <a:t>O(n)</a:t>
            </a:r>
          </a:p>
          <a:p>
            <a:endParaRPr lang="en-US" dirty="0">
              <a:sym typeface="Symbol"/>
            </a:endParaRPr>
          </a:p>
          <a:p>
            <a:r>
              <a:rPr lang="en-US" b="1" dirty="0">
                <a:solidFill>
                  <a:schemeClr val="accent6">
                    <a:lumMod val="75000"/>
                  </a:schemeClr>
                </a:solidFill>
                <a:sym typeface="Symbol"/>
              </a:rPr>
              <a:t>Adding</a:t>
            </a:r>
            <a:r>
              <a:rPr lang="en-US" dirty="0">
                <a:solidFill>
                  <a:schemeClr val="accent6">
                    <a:lumMod val="75000"/>
                  </a:schemeClr>
                </a:solidFill>
                <a:sym typeface="Symbol"/>
              </a:rPr>
              <a:t> </a:t>
            </a:r>
            <a:r>
              <a:rPr lang="en-US" dirty="0">
                <a:sym typeface="Symbol"/>
              </a:rPr>
              <a:t>an item</a:t>
            </a:r>
          </a:p>
          <a:p>
            <a:pPr lvl="1"/>
            <a:r>
              <a:rPr lang="en-US" b="1" dirty="0">
                <a:solidFill>
                  <a:schemeClr val="accent6">
                    <a:lumMod val="50000"/>
                  </a:schemeClr>
                </a:solidFill>
                <a:sym typeface="Symbol"/>
              </a:rPr>
              <a:t>Sorted array</a:t>
            </a:r>
            <a:r>
              <a:rPr lang="en-US" dirty="0">
                <a:solidFill>
                  <a:schemeClr val="accent6">
                    <a:lumMod val="50000"/>
                  </a:schemeClr>
                </a:solidFill>
                <a:sym typeface="Symbol"/>
              </a:rPr>
              <a:t> </a:t>
            </a:r>
            <a:r>
              <a:rPr lang="en-US" dirty="0">
                <a:sym typeface="Symbol"/>
              </a:rPr>
              <a:t> </a:t>
            </a:r>
            <a:r>
              <a:rPr lang="en-US" b="1" dirty="0">
                <a:solidFill>
                  <a:schemeClr val="accent6">
                    <a:lumMod val="75000"/>
                  </a:schemeClr>
                </a:solidFill>
                <a:sym typeface="Symbol"/>
              </a:rPr>
              <a:t>recopy</a:t>
            </a:r>
            <a:r>
              <a:rPr lang="en-US" dirty="0">
                <a:solidFill>
                  <a:schemeClr val="accent6">
                    <a:lumMod val="75000"/>
                  </a:schemeClr>
                </a:solidFill>
                <a:sym typeface="Symbol"/>
              </a:rPr>
              <a:t> </a:t>
            </a:r>
            <a:r>
              <a:rPr lang="en-US" dirty="0">
                <a:sym typeface="Symbol"/>
              </a:rPr>
              <a:t>elements to make room in the middle of the array  </a:t>
            </a:r>
            <a:r>
              <a:rPr lang="en-US" b="1" dirty="0">
                <a:solidFill>
                  <a:schemeClr val="accent6">
                    <a:lumMod val="50000"/>
                  </a:schemeClr>
                </a:solidFill>
                <a:sym typeface="Symbol"/>
              </a:rPr>
              <a:t>O(n)</a:t>
            </a:r>
          </a:p>
          <a:p>
            <a:pPr lvl="1"/>
            <a:r>
              <a:rPr lang="en-US" b="1" dirty="0">
                <a:solidFill>
                  <a:schemeClr val="accent6">
                    <a:lumMod val="50000"/>
                  </a:schemeClr>
                </a:solidFill>
                <a:sym typeface="Symbol"/>
              </a:rPr>
              <a:t>Linked list</a:t>
            </a:r>
            <a:r>
              <a:rPr lang="en-US" dirty="0">
                <a:sym typeface="Symbol"/>
              </a:rPr>
              <a:t>  stick it at the beginning  </a:t>
            </a:r>
            <a:r>
              <a:rPr lang="en-US" b="1" dirty="0">
                <a:solidFill>
                  <a:schemeClr val="accent6">
                    <a:lumMod val="50000"/>
                  </a:schemeClr>
                </a:solidFill>
                <a:sym typeface="Symbol"/>
              </a:rPr>
              <a:t>O(1)</a:t>
            </a:r>
            <a:endParaRPr lang="en-US" b="1" dirty="0">
              <a:solidFill>
                <a:schemeClr val="accent6">
                  <a:lumMod val="50000"/>
                </a:schemeClr>
              </a:solidFill>
            </a:endParaRPr>
          </a:p>
        </p:txBody>
      </p:sp>
    </p:spTree>
    <p:extLst>
      <p:ext uri="{BB962C8B-B14F-4D97-AF65-F5344CB8AC3E}">
        <p14:creationId xmlns:p14="http://schemas.microsoft.com/office/powerpoint/2010/main" val="23877909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dirty="0">
                <a:solidFill>
                  <a:schemeClr val="tx1">
                    <a:lumMod val="50000"/>
                    <a:lumOff val="50000"/>
                  </a:schemeClr>
                </a:solidFill>
                <a:latin typeface="Kootenay" pitchFamily="2" charset="0"/>
                <a:ea typeface="Verdana" pitchFamily="34" charset="0"/>
                <a:cs typeface="Verdana" pitchFamily="34" charset="0"/>
              </a:rPr>
              <a:t>Introduction to</a:t>
            </a:r>
            <a:br>
              <a:rPr lang="en-US" dirty="0">
                <a:solidFill>
                  <a:schemeClr val="tx1">
                    <a:lumMod val="50000"/>
                    <a:lumOff val="50000"/>
                  </a:schemeClr>
                </a:solidFill>
                <a:latin typeface="Kootenay" pitchFamily="2" charset="0"/>
                <a:ea typeface="Verdana" pitchFamily="34" charset="0"/>
                <a:cs typeface="Verdana" pitchFamily="34" charset="0"/>
              </a:rPr>
            </a:br>
            <a:r>
              <a:rPr lang="en-US" dirty="0">
                <a:latin typeface="Kootenay" pitchFamily="2" charset="0"/>
                <a:ea typeface="Verdana" pitchFamily="34" charset="0"/>
                <a:cs typeface="Verdana" pitchFamily="34" charset="0"/>
              </a:rPr>
              <a:t>Data Structures </a:t>
            </a:r>
            <a:r>
              <a:rPr lang="en-US" dirty="0">
                <a:solidFill>
                  <a:schemeClr val="tx1">
                    <a:lumMod val="50000"/>
                    <a:lumOff val="50000"/>
                  </a:schemeClr>
                </a:solidFill>
                <a:latin typeface="Kootenay" pitchFamily="2" charset="0"/>
                <a:ea typeface="Verdana" pitchFamily="34" charset="0"/>
                <a:cs typeface="Verdana" pitchFamily="34" charset="0"/>
              </a:rPr>
              <a:t>and</a:t>
            </a:r>
            <a:r>
              <a:rPr lang="en-US" dirty="0">
                <a:latin typeface="Kootenay" pitchFamily="2" charset="0"/>
                <a:ea typeface="Verdana" pitchFamily="34" charset="0"/>
                <a:cs typeface="Verdana" pitchFamily="34" charset="0"/>
              </a:rPr>
              <a:t> </a:t>
            </a:r>
            <a:r>
              <a:rPr lang="en-US" dirty="0">
                <a:solidFill>
                  <a:schemeClr val="tx1">
                    <a:lumMod val="50000"/>
                    <a:lumOff val="50000"/>
                  </a:schemeClr>
                </a:solidFill>
                <a:latin typeface="Kootenay" pitchFamily="2" charset="0"/>
                <a:ea typeface="Verdana" pitchFamily="34" charset="0"/>
                <a:cs typeface="Verdana" pitchFamily="34" charset="0"/>
              </a:rPr>
              <a:t>Algorithms</a:t>
            </a:r>
          </a:p>
        </p:txBody>
      </p:sp>
      <p:sp>
        <p:nvSpPr>
          <p:cNvPr id="3" name="Subtitle 2"/>
          <p:cNvSpPr>
            <a:spLocks noGrp="1"/>
          </p:cNvSpPr>
          <p:nvPr>
            <p:ph type="subTitle" idx="1"/>
          </p:nvPr>
        </p:nvSpPr>
        <p:spPr/>
        <p:txBody>
          <a:bodyPr/>
          <a:lstStyle/>
          <a:p>
            <a:pPr algn="l"/>
            <a:endParaRPr lang="en-US" dirty="0">
              <a:solidFill>
                <a:schemeClr val="tx1">
                  <a:lumMod val="75000"/>
                  <a:lumOff val="25000"/>
                </a:schemeClr>
              </a:solidFill>
              <a:latin typeface="Kootenay" pitchFamily="2" charset="0"/>
            </a:endParaRPr>
          </a:p>
        </p:txBody>
      </p:sp>
    </p:spTree>
    <p:extLst>
      <p:ext uri="{BB962C8B-B14F-4D97-AF65-F5344CB8AC3E}">
        <p14:creationId xmlns:p14="http://schemas.microsoft.com/office/powerpoint/2010/main" val="548361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dirty="0">
                <a:solidFill>
                  <a:schemeClr val="tx1">
                    <a:lumMod val="50000"/>
                    <a:lumOff val="50000"/>
                  </a:schemeClr>
                </a:solidFill>
                <a:latin typeface="Kootenay" pitchFamily="2" charset="0"/>
                <a:ea typeface="Verdana" pitchFamily="34" charset="0"/>
                <a:cs typeface="Verdana" pitchFamily="34" charset="0"/>
              </a:rPr>
              <a:t>Introduction to</a:t>
            </a:r>
            <a:br>
              <a:rPr lang="en-US" dirty="0">
                <a:solidFill>
                  <a:schemeClr val="tx1">
                    <a:lumMod val="50000"/>
                    <a:lumOff val="50000"/>
                  </a:schemeClr>
                </a:solidFill>
                <a:latin typeface="Kootenay" pitchFamily="2" charset="0"/>
                <a:ea typeface="Verdana" pitchFamily="34" charset="0"/>
                <a:cs typeface="Verdana" pitchFamily="34" charset="0"/>
              </a:rPr>
            </a:br>
            <a:r>
              <a:rPr lang="en-US" dirty="0">
                <a:latin typeface="Kootenay" pitchFamily="2" charset="0"/>
                <a:ea typeface="Verdana" pitchFamily="34" charset="0"/>
                <a:cs typeface="Verdana" pitchFamily="34" charset="0"/>
              </a:rPr>
              <a:t>Data Structures for</a:t>
            </a:r>
            <a:r>
              <a:rPr lang="en-US" dirty="0">
                <a:solidFill>
                  <a:schemeClr val="tx1">
                    <a:lumMod val="50000"/>
                    <a:lumOff val="50000"/>
                  </a:schemeClr>
                </a:solidFill>
                <a:latin typeface="Kootenay" pitchFamily="2" charset="0"/>
                <a:ea typeface="Verdana" pitchFamily="34" charset="0"/>
                <a:cs typeface="Verdana" pitchFamily="34" charset="0"/>
              </a:rPr>
              <a:t> Algorithms</a:t>
            </a:r>
          </a:p>
        </p:txBody>
      </p:sp>
      <p:sp>
        <p:nvSpPr>
          <p:cNvPr id="3" name="Subtitle 2"/>
          <p:cNvSpPr>
            <a:spLocks noGrp="1"/>
          </p:cNvSpPr>
          <p:nvPr>
            <p:ph type="subTitle" idx="1"/>
          </p:nvPr>
        </p:nvSpPr>
        <p:spPr/>
        <p:txBody>
          <a:bodyPr/>
          <a:lstStyle/>
          <a:p>
            <a:pPr algn="l"/>
            <a:endParaRPr lang="en-US" dirty="0">
              <a:solidFill>
                <a:schemeClr val="tx1">
                  <a:lumMod val="75000"/>
                  <a:lumOff val="25000"/>
                </a:schemeClr>
              </a:solidFill>
              <a:latin typeface="Kootenay" pitchFamily="2" charset="0"/>
            </a:endParaRPr>
          </a:p>
        </p:txBody>
      </p:sp>
    </p:spTree>
    <p:extLst>
      <p:ext uri="{BB962C8B-B14F-4D97-AF65-F5344CB8AC3E}">
        <p14:creationId xmlns:p14="http://schemas.microsoft.com/office/powerpoint/2010/main" val="12228591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administrivia</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53342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839DF-097A-45F7-9E6D-BFC4FA39DD5C}"/>
              </a:ext>
            </a:extLst>
          </p:cNvPr>
          <p:cNvSpPr>
            <a:spLocks noGrp="1"/>
          </p:cNvSpPr>
          <p:nvPr>
            <p:ph type="title"/>
          </p:nvPr>
        </p:nvSpPr>
        <p:spPr/>
        <p:txBody>
          <a:bodyPr/>
          <a:lstStyle/>
          <a:p>
            <a:r>
              <a:rPr lang="en-US" dirty="0"/>
              <a:t>Teaching staff</a:t>
            </a:r>
          </a:p>
        </p:txBody>
      </p:sp>
      <p:sp>
        <p:nvSpPr>
          <p:cNvPr id="3" name="Content Placeholder 2">
            <a:extLst>
              <a:ext uri="{FF2B5EF4-FFF2-40B4-BE49-F238E27FC236}">
                <a16:creationId xmlns:a16="http://schemas.microsoft.com/office/drawing/2014/main" id="{DAAAC03F-5DE4-46BC-82D3-063434E49FCF}"/>
              </a:ext>
            </a:extLst>
          </p:cNvPr>
          <p:cNvSpPr>
            <a:spLocks noGrp="1"/>
          </p:cNvSpPr>
          <p:nvPr>
            <p:ph idx="1"/>
          </p:nvPr>
        </p:nvSpPr>
        <p:spPr>
          <a:xfrm>
            <a:off x="457200" y="1600200"/>
            <a:ext cx="8229600" cy="5029200"/>
          </a:xfrm>
        </p:spPr>
        <p:txBody>
          <a:bodyPr>
            <a:normAutofit fontScale="92500" lnSpcReduction="10000"/>
          </a:bodyPr>
          <a:lstStyle/>
          <a:p>
            <a:r>
              <a:rPr lang="en-US" dirty="0"/>
              <a:t>Instructor: Ian </a:t>
            </a:r>
            <a:r>
              <a:rPr lang="en-US" dirty="0" err="1"/>
              <a:t>Horswil</a:t>
            </a:r>
            <a:r>
              <a:rPr lang="en-US" dirty="0"/>
              <a:t>, </a:t>
            </a:r>
            <a:r>
              <a:rPr lang="en-US" dirty="0">
                <a:hlinkClick r:id="rId2"/>
              </a:rPr>
              <a:t>ian@northwestern.edu</a:t>
            </a:r>
            <a:br>
              <a:rPr lang="en-US" dirty="0"/>
            </a:br>
            <a:r>
              <a:rPr lang="en-US" dirty="0"/>
              <a:t>Mudd 3537</a:t>
            </a:r>
            <a:br>
              <a:rPr lang="en-US" dirty="0"/>
            </a:br>
            <a:r>
              <a:rPr lang="en-US" dirty="0"/>
              <a:t>Office hours: WF5pm</a:t>
            </a:r>
          </a:p>
          <a:p>
            <a:pPr>
              <a:spcBef>
                <a:spcPts val="1800"/>
              </a:spcBef>
            </a:pPr>
            <a:r>
              <a:rPr lang="en-US" dirty="0"/>
              <a:t>TAs</a:t>
            </a:r>
          </a:p>
          <a:p>
            <a:pPr lvl="1"/>
            <a:r>
              <a:rPr lang="en-US" dirty="0"/>
              <a:t>Office hours: Mudd 3538</a:t>
            </a:r>
          </a:p>
          <a:p>
            <a:pPr lvl="2"/>
            <a:r>
              <a:rPr lang="en-US" dirty="0"/>
              <a:t>Generally 2-6pm</a:t>
            </a:r>
          </a:p>
          <a:p>
            <a:pPr lvl="2"/>
            <a:r>
              <a:rPr lang="en-US" dirty="0"/>
              <a:t>See link in syllabus for specific schedule</a:t>
            </a:r>
          </a:p>
          <a:p>
            <a:pPr lvl="1"/>
            <a:r>
              <a:rPr lang="en-US" dirty="0"/>
              <a:t>Grad TA: Will Hancock </a:t>
            </a:r>
            <a:r>
              <a:rPr lang="en-US" sz="2600" u="sng" dirty="0">
                <a:hlinkClick r:id="rId3"/>
              </a:rPr>
              <a:t>wwhancock@u.northwestern.edu</a:t>
            </a:r>
            <a:endParaRPr lang="en-US" dirty="0"/>
          </a:p>
          <a:p>
            <a:pPr lvl="1"/>
            <a:r>
              <a:rPr lang="en-US" dirty="0"/>
              <a:t>Peer mentors:  Haishan Gao, Paul </a:t>
            </a:r>
            <a:r>
              <a:rPr lang="en-US" dirty="0" err="1"/>
              <a:t>Farcasanu</a:t>
            </a:r>
            <a:r>
              <a:rPr lang="en-US" dirty="0"/>
              <a:t>, Amy Yang, </a:t>
            </a:r>
            <a:r>
              <a:rPr lang="en-US" dirty="0" err="1"/>
              <a:t>Rohaan</a:t>
            </a:r>
            <a:r>
              <a:rPr lang="en-US" dirty="0"/>
              <a:t> Advani, May Li, Melissa Renae Perez, Beth Mallon, Caryl Henry</a:t>
            </a:r>
          </a:p>
        </p:txBody>
      </p:sp>
    </p:spTree>
    <p:extLst>
      <p:ext uri="{BB962C8B-B14F-4D97-AF65-F5344CB8AC3E}">
        <p14:creationId xmlns:p14="http://schemas.microsoft.com/office/powerpoint/2010/main" val="42521154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Prerequisites</a:t>
            </a:r>
          </a:p>
        </p:txBody>
      </p:sp>
      <p:sp>
        <p:nvSpPr>
          <p:cNvPr id="3" name="Content Placeholder 2"/>
          <p:cNvSpPr>
            <a:spLocks noGrp="1"/>
          </p:cNvSpPr>
          <p:nvPr>
            <p:ph idx="1"/>
          </p:nvPr>
        </p:nvSpPr>
        <p:spPr/>
        <p:txBody>
          <a:bodyPr>
            <a:normAutofit/>
          </a:bodyPr>
          <a:lstStyle/>
          <a:p>
            <a:r>
              <a:rPr lang="en-US" dirty="0"/>
              <a:t>EECS-111</a:t>
            </a:r>
          </a:p>
          <a:p>
            <a:pPr lvl="1"/>
            <a:r>
              <a:rPr lang="en-US" dirty="0"/>
              <a:t>You will need to be comfortable with </a:t>
            </a:r>
            <a:r>
              <a:rPr lang="en-US" b="1" dirty="0">
                <a:solidFill>
                  <a:schemeClr val="accent6">
                    <a:lumMod val="75000"/>
                  </a:schemeClr>
                </a:solidFill>
              </a:rPr>
              <a:t>recursion</a:t>
            </a:r>
          </a:p>
          <a:p>
            <a:pPr lvl="1"/>
            <a:r>
              <a:rPr lang="en-US" dirty="0"/>
              <a:t>This is </a:t>
            </a:r>
            <a:r>
              <a:rPr lang="en-US" b="1" dirty="0">
                <a:solidFill>
                  <a:schemeClr val="accent6">
                    <a:lumMod val="75000"/>
                  </a:schemeClr>
                </a:solidFill>
              </a:rPr>
              <a:t>really important</a:t>
            </a:r>
          </a:p>
          <a:p>
            <a:pPr lvl="1"/>
            <a:r>
              <a:rPr lang="en-US" dirty="0"/>
              <a:t>We won’t be using Racket, but we’ll be writing code that is more 111-like than 211-like</a:t>
            </a:r>
          </a:p>
          <a:p>
            <a:r>
              <a:rPr lang="en-US" dirty="0"/>
              <a:t>EECS-211</a:t>
            </a:r>
          </a:p>
          <a:p>
            <a:pPr lvl="1"/>
            <a:r>
              <a:rPr lang="en-US" dirty="0"/>
              <a:t>You will need to be comfortable with </a:t>
            </a:r>
            <a:r>
              <a:rPr lang="en-US" b="1" dirty="0">
                <a:solidFill>
                  <a:schemeClr val="accent6">
                    <a:lumMod val="75000"/>
                  </a:schemeClr>
                </a:solidFill>
              </a:rPr>
              <a:t>C-style languages </a:t>
            </a:r>
            <a:r>
              <a:rPr lang="en-US" dirty="0"/>
              <a:t>and using the </a:t>
            </a:r>
            <a:r>
              <a:rPr lang="en-US" b="1" dirty="0">
                <a:solidFill>
                  <a:schemeClr val="accent6">
                    <a:lumMod val="75000"/>
                  </a:schemeClr>
                </a:solidFill>
              </a:rPr>
              <a:t>debugger</a:t>
            </a:r>
          </a:p>
        </p:txBody>
      </p:sp>
    </p:spTree>
    <p:extLst>
      <p:ext uri="{BB962C8B-B14F-4D97-AF65-F5344CB8AC3E}">
        <p14:creationId xmlns:p14="http://schemas.microsoft.com/office/powerpoint/2010/main" val="34871850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Optional text</a:t>
            </a:r>
          </a:p>
        </p:txBody>
      </p:sp>
      <p:sp>
        <p:nvSpPr>
          <p:cNvPr id="3" name="Content Placeholder 2"/>
          <p:cNvSpPr>
            <a:spLocks noGrp="1"/>
          </p:cNvSpPr>
          <p:nvPr>
            <p:ph sz="half" idx="1"/>
          </p:nvPr>
        </p:nvSpPr>
        <p:spPr>
          <a:xfrm>
            <a:off x="457200" y="1600200"/>
            <a:ext cx="4191000" cy="4525963"/>
          </a:xfrm>
        </p:spPr>
        <p:txBody>
          <a:bodyPr/>
          <a:lstStyle/>
          <a:p>
            <a:pPr marL="57150" indent="0">
              <a:buNone/>
            </a:pPr>
            <a:r>
              <a:rPr lang="en-US" dirty="0" err="1"/>
              <a:t>Cormen</a:t>
            </a:r>
            <a:r>
              <a:rPr lang="en-US" dirty="0"/>
              <a:t> et al.,</a:t>
            </a:r>
            <a:br>
              <a:rPr lang="en-US" dirty="0"/>
            </a:br>
            <a:r>
              <a:rPr lang="en-US" i="1" dirty="0"/>
              <a:t>Introduction to Algorithms, 3</a:t>
            </a:r>
            <a:r>
              <a:rPr lang="en-US" i="1" baseline="30000" dirty="0"/>
              <a:t>rd</a:t>
            </a:r>
            <a:r>
              <a:rPr lang="en-US" i="1" dirty="0"/>
              <a:t> edition</a:t>
            </a:r>
          </a:p>
          <a:p>
            <a:pPr marL="57150" indent="0">
              <a:buNone/>
            </a:pPr>
            <a:r>
              <a:rPr lang="en-US" i="1" dirty="0"/>
              <a:t>MIT Press</a:t>
            </a:r>
          </a:p>
        </p:txBody>
      </p:sp>
      <p:pic>
        <p:nvPicPr>
          <p:cNvPr id="1028" name="Picture 4" descr="http://www.5inet.net/R/7/66ff9c3546a4e0c2fd9bf429db40d8af71476(600x).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61903" y="1600200"/>
            <a:ext cx="4011193" cy="452596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881845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Optional text</a:t>
            </a:r>
          </a:p>
        </p:txBody>
      </p:sp>
      <p:sp>
        <p:nvSpPr>
          <p:cNvPr id="3" name="Content Placeholder 2"/>
          <p:cNvSpPr>
            <a:spLocks noGrp="1"/>
          </p:cNvSpPr>
          <p:nvPr>
            <p:ph sz="half" idx="1"/>
          </p:nvPr>
        </p:nvSpPr>
        <p:spPr>
          <a:xfrm>
            <a:off x="457200" y="1600200"/>
            <a:ext cx="5029200" cy="5029200"/>
          </a:xfrm>
        </p:spPr>
        <p:txBody>
          <a:bodyPr>
            <a:normAutofit/>
          </a:bodyPr>
          <a:lstStyle/>
          <a:p>
            <a:pPr marL="0" indent="0">
              <a:buNone/>
            </a:pPr>
            <a:r>
              <a:rPr lang="en-US" dirty="0"/>
              <a:t>Any C# book, such as …</a:t>
            </a:r>
          </a:p>
          <a:p>
            <a:pPr marL="0" indent="0">
              <a:buNone/>
            </a:pPr>
            <a:endParaRPr lang="en-US" dirty="0"/>
          </a:p>
          <a:p>
            <a:pPr marL="0" indent="0">
              <a:buNone/>
            </a:pPr>
            <a:r>
              <a:rPr lang="en-US" dirty="0"/>
              <a:t>     RB Whitaker,</a:t>
            </a:r>
            <a:br>
              <a:rPr lang="en-US" dirty="0"/>
            </a:br>
            <a:r>
              <a:rPr lang="en-US" dirty="0"/>
              <a:t>     </a:t>
            </a:r>
            <a:r>
              <a:rPr lang="en-US" i="1" dirty="0"/>
              <a:t>The C# Player’s Guide, 3</a:t>
            </a:r>
            <a:r>
              <a:rPr lang="en-US" i="1" baseline="30000" dirty="0"/>
              <a:t>rd</a:t>
            </a:r>
            <a:r>
              <a:rPr lang="en-US" i="1" dirty="0"/>
              <a:t> Ed</a:t>
            </a:r>
            <a:endParaRPr lang="en-US" dirty="0"/>
          </a:p>
          <a:p>
            <a:pPr marL="57150" indent="0">
              <a:buNone/>
            </a:pPr>
            <a:endParaRPr lang="en-US" i="1" dirty="0"/>
          </a:p>
        </p:txBody>
      </p:sp>
      <p:pic>
        <p:nvPicPr>
          <p:cNvPr id="5" name="Picture 4">
            <a:extLst>
              <a:ext uri="{FF2B5EF4-FFF2-40B4-BE49-F238E27FC236}">
                <a16:creationId xmlns:a16="http://schemas.microsoft.com/office/drawing/2014/main" id="{66692197-C319-42C4-AE98-8BF4AFEFE733}"/>
              </a:ext>
            </a:extLst>
          </p:cNvPr>
          <p:cNvPicPr>
            <a:picLocks noChangeAspect="1"/>
          </p:cNvPicPr>
          <p:nvPr/>
        </p:nvPicPr>
        <p:blipFill rotWithShape="1">
          <a:blip r:embed="rId2">
            <a:extLst>
              <a:ext uri="{28A0092B-C50C-407E-A947-70E740481C1C}">
                <a14:useLocalDpi xmlns:a14="http://schemas.microsoft.com/office/drawing/2010/main" val="0"/>
              </a:ext>
            </a:extLst>
          </a:blip>
          <a:srcRect l="10091"/>
          <a:stretch/>
        </p:blipFill>
        <p:spPr>
          <a:xfrm>
            <a:off x="5410200" y="1417638"/>
            <a:ext cx="3733800" cy="4152900"/>
          </a:xfrm>
          <a:prstGeom prst="rect">
            <a:avLst/>
          </a:prstGeom>
        </p:spPr>
      </p:pic>
    </p:spTree>
    <p:extLst>
      <p:ext uri="{BB962C8B-B14F-4D97-AF65-F5344CB8AC3E}">
        <p14:creationId xmlns:p14="http://schemas.microsoft.com/office/powerpoint/2010/main" val="1869679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a:t>
            </a:r>
          </a:p>
        </p:txBody>
      </p:sp>
      <p:sp>
        <p:nvSpPr>
          <p:cNvPr id="3" name="Content Placeholder 2"/>
          <p:cNvSpPr>
            <a:spLocks noGrp="1"/>
          </p:cNvSpPr>
          <p:nvPr>
            <p:ph sz="half" idx="1"/>
          </p:nvPr>
        </p:nvSpPr>
        <p:spPr/>
        <p:txBody>
          <a:bodyPr>
            <a:normAutofit lnSpcReduction="10000"/>
          </a:bodyPr>
          <a:lstStyle/>
          <a:p>
            <a:r>
              <a:rPr lang="en-US" dirty="0"/>
              <a:t>40% </a:t>
            </a:r>
            <a:r>
              <a:rPr lang="en-US" b="1" dirty="0">
                <a:solidFill>
                  <a:schemeClr val="accent6">
                    <a:lumMod val="75000"/>
                  </a:schemeClr>
                </a:solidFill>
              </a:rPr>
              <a:t>assignments</a:t>
            </a:r>
          </a:p>
          <a:p>
            <a:pPr lvl="1"/>
            <a:r>
              <a:rPr lang="en-US" dirty="0"/>
              <a:t>Mostly programming assignments</a:t>
            </a:r>
          </a:p>
          <a:p>
            <a:pPr lvl="1"/>
            <a:endParaRPr lang="en-US" dirty="0"/>
          </a:p>
          <a:p>
            <a:pPr lvl="1"/>
            <a:r>
              <a:rPr lang="en-US" dirty="0"/>
              <a:t>Most people will get A’s on most assignments, so </a:t>
            </a:r>
            <a:r>
              <a:rPr lang="en-US" b="1" dirty="0">
                <a:solidFill>
                  <a:schemeClr val="accent6">
                    <a:lumMod val="75000"/>
                  </a:schemeClr>
                </a:solidFill>
              </a:rPr>
              <a:t>don’t infer anything </a:t>
            </a:r>
            <a:r>
              <a:rPr lang="en-US" dirty="0"/>
              <a:t>from that about your final grade</a:t>
            </a:r>
          </a:p>
        </p:txBody>
      </p:sp>
      <p:sp>
        <p:nvSpPr>
          <p:cNvPr id="4" name="Content Placeholder 3"/>
          <p:cNvSpPr>
            <a:spLocks noGrp="1"/>
          </p:cNvSpPr>
          <p:nvPr>
            <p:ph sz="half" idx="2"/>
          </p:nvPr>
        </p:nvSpPr>
        <p:spPr/>
        <p:txBody>
          <a:bodyPr>
            <a:normAutofit lnSpcReduction="10000"/>
          </a:bodyPr>
          <a:lstStyle/>
          <a:p>
            <a:r>
              <a:rPr lang="en-US" dirty="0"/>
              <a:t>10% </a:t>
            </a:r>
            <a:r>
              <a:rPr lang="en-US" b="1" dirty="0" err="1">
                <a:solidFill>
                  <a:schemeClr val="accent6">
                    <a:lumMod val="75000"/>
                  </a:schemeClr>
                </a:solidFill>
              </a:rPr>
              <a:t>microquizzes</a:t>
            </a:r>
            <a:endParaRPr lang="en-US" b="1" dirty="0">
              <a:solidFill>
                <a:schemeClr val="accent6">
                  <a:lumMod val="75000"/>
                </a:schemeClr>
              </a:solidFill>
            </a:endParaRPr>
          </a:p>
          <a:p>
            <a:pPr lvl="1"/>
            <a:r>
              <a:rPr lang="en-US" dirty="0"/>
              <a:t>Weekly 5 min quizzes given in TA session</a:t>
            </a:r>
          </a:p>
          <a:p>
            <a:pPr lvl="1"/>
            <a:r>
              <a:rPr lang="en-US" dirty="0"/>
              <a:t>Graded check/+/-</a:t>
            </a:r>
          </a:p>
          <a:p>
            <a:pPr lvl="1"/>
            <a:endParaRPr lang="en-US" dirty="0"/>
          </a:p>
          <a:p>
            <a:r>
              <a:rPr lang="en-US" dirty="0"/>
              <a:t>50% </a:t>
            </a:r>
            <a:r>
              <a:rPr lang="en-US" b="1" dirty="0">
                <a:solidFill>
                  <a:schemeClr val="accent6">
                    <a:lumMod val="75000"/>
                  </a:schemeClr>
                </a:solidFill>
              </a:rPr>
              <a:t>quizzes</a:t>
            </a:r>
          </a:p>
          <a:p>
            <a:pPr lvl="1"/>
            <a:r>
              <a:rPr lang="en-US" dirty="0"/>
              <a:t>3 one-hour quizzes</a:t>
            </a:r>
          </a:p>
          <a:p>
            <a:pPr lvl="1"/>
            <a:r>
              <a:rPr lang="en-US" dirty="0"/>
              <a:t>First two in class</a:t>
            </a:r>
          </a:p>
          <a:p>
            <a:pPr lvl="1"/>
            <a:r>
              <a:rPr lang="en-US" dirty="0"/>
              <a:t>Last one in finals slot</a:t>
            </a:r>
            <a:br>
              <a:rPr lang="en-US" dirty="0"/>
            </a:br>
            <a:r>
              <a:rPr lang="en-US" dirty="0"/>
              <a:t>(</a:t>
            </a:r>
            <a:r>
              <a:rPr lang="en-US" b="1" dirty="0">
                <a:solidFill>
                  <a:schemeClr val="accent6">
                    <a:lumMod val="75000"/>
                  </a:schemeClr>
                </a:solidFill>
              </a:rPr>
              <a:t>Monday, June 10, 9-11am</a:t>
            </a:r>
            <a:r>
              <a:rPr lang="en-US" dirty="0"/>
              <a:t>)</a:t>
            </a:r>
          </a:p>
          <a:p>
            <a:endParaRPr lang="en-US" dirty="0"/>
          </a:p>
        </p:txBody>
      </p:sp>
    </p:spTree>
    <p:extLst>
      <p:ext uri="{BB962C8B-B14F-4D97-AF65-F5344CB8AC3E}">
        <p14:creationId xmlns:p14="http://schemas.microsoft.com/office/powerpoint/2010/main" val="35983855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F9DB8F-FAA2-4CEA-A00C-A76432200906}"/>
              </a:ext>
            </a:extLst>
          </p:cNvPr>
          <p:cNvSpPr>
            <a:spLocks noGrp="1"/>
          </p:cNvSpPr>
          <p:nvPr>
            <p:ph type="title"/>
          </p:nvPr>
        </p:nvSpPr>
        <p:spPr/>
        <p:txBody>
          <a:bodyPr/>
          <a:lstStyle/>
          <a:p>
            <a:r>
              <a:rPr lang="en-US" dirty="0"/>
              <a:t>Final exam conflicts</a:t>
            </a:r>
          </a:p>
        </p:txBody>
      </p:sp>
      <p:sp>
        <p:nvSpPr>
          <p:cNvPr id="6" name="Content Placeholder 5">
            <a:extLst>
              <a:ext uri="{FF2B5EF4-FFF2-40B4-BE49-F238E27FC236}">
                <a16:creationId xmlns:a16="http://schemas.microsoft.com/office/drawing/2014/main" id="{178A81DE-73D6-4FA0-A49B-6D265439F4B4}"/>
              </a:ext>
            </a:extLst>
          </p:cNvPr>
          <p:cNvSpPr>
            <a:spLocks noGrp="1"/>
          </p:cNvSpPr>
          <p:nvPr>
            <p:ph idx="1"/>
          </p:nvPr>
        </p:nvSpPr>
        <p:spPr/>
        <p:txBody>
          <a:bodyPr>
            <a:normAutofit fontScale="85000" lnSpcReduction="10000"/>
          </a:bodyPr>
          <a:lstStyle/>
          <a:p>
            <a:pPr marL="0" indent="0">
              <a:buNone/>
            </a:pPr>
            <a:r>
              <a:rPr lang="en-US" dirty="0"/>
              <a:t>If you have an </a:t>
            </a:r>
            <a:r>
              <a:rPr lang="en-US" b="1" dirty="0">
                <a:solidFill>
                  <a:schemeClr val="accent6">
                    <a:lumMod val="75000"/>
                  </a:schemeClr>
                </a:solidFill>
              </a:rPr>
              <a:t>internship</a:t>
            </a:r>
            <a:r>
              <a:rPr lang="en-US" dirty="0"/>
              <a:t> that precludes you attending during finals week</a:t>
            </a:r>
          </a:p>
          <a:p>
            <a:r>
              <a:rPr lang="en-US" dirty="0"/>
              <a:t>We </a:t>
            </a:r>
            <a:r>
              <a:rPr lang="en-US" b="1" dirty="0">
                <a:solidFill>
                  <a:schemeClr val="accent6">
                    <a:lumMod val="75000"/>
                  </a:schemeClr>
                </a:solidFill>
              </a:rPr>
              <a:t>can’t give you an early exam </a:t>
            </a:r>
            <a:r>
              <a:rPr lang="en-US" dirty="0"/>
              <a:t>(Northwestern policy)</a:t>
            </a:r>
          </a:p>
          <a:p>
            <a:r>
              <a:rPr lang="en-US" dirty="0"/>
              <a:t>But we’re happy to give you an </a:t>
            </a:r>
            <a:r>
              <a:rPr lang="en-US" b="1" dirty="0">
                <a:solidFill>
                  <a:schemeClr val="accent6">
                    <a:lumMod val="75000"/>
                  </a:schemeClr>
                </a:solidFill>
              </a:rPr>
              <a:t>incomplete</a:t>
            </a:r>
            <a:r>
              <a:rPr lang="en-US" dirty="0"/>
              <a:t> and let you make it up in the fall</a:t>
            </a:r>
          </a:p>
          <a:p>
            <a:pPr lvl="1"/>
            <a:r>
              <a:rPr lang="en-US" dirty="0"/>
              <a:t>Note that Weinberg students require Dean’s approval for this</a:t>
            </a:r>
          </a:p>
          <a:p>
            <a:r>
              <a:rPr lang="en-US" dirty="0"/>
              <a:t>If your company offers a </a:t>
            </a:r>
            <a:r>
              <a:rPr lang="en-US" b="1" dirty="0">
                <a:solidFill>
                  <a:schemeClr val="accent6">
                    <a:lumMod val="75000"/>
                  </a:schemeClr>
                </a:solidFill>
              </a:rPr>
              <a:t>proctoring service</a:t>
            </a:r>
            <a:r>
              <a:rPr lang="en-US" dirty="0"/>
              <a:t>, then we can also work with them</a:t>
            </a:r>
          </a:p>
          <a:p>
            <a:pPr lvl="1"/>
            <a:r>
              <a:rPr lang="en-US" dirty="0"/>
              <a:t>You would however need to take the exam simultaneously with the rest of the class</a:t>
            </a:r>
          </a:p>
        </p:txBody>
      </p:sp>
    </p:spTree>
    <p:extLst>
      <p:ext uri="{BB962C8B-B14F-4D97-AF65-F5344CB8AC3E}">
        <p14:creationId xmlns:p14="http://schemas.microsoft.com/office/powerpoint/2010/main" val="7139234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and programming language</a:t>
            </a:r>
          </a:p>
        </p:txBody>
      </p:sp>
      <p:sp>
        <p:nvSpPr>
          <p:cNvPr id="3" name="Content Placeholder 2"/>
          <p:cNvSpPr>
            <a:spLocks noGrp="1"/>
          </p:cNvSpPr>
          <p:nvPr>
            <p:ph idx="1"/>
          </p:nvPr>
        </p:nvSpPr>
        <p:spPr>
          <a:xfrm>
            <a:off x="457200" y="1600200"/>
            <a:ext cx="8229600" cy="4800600"/>
          </a:xfrm>
        </p:spPr>
        <p:txBody>
          <a:bodyPr>
            <a:normAutofit fontScale="77500" lnSpcReduction="20000"/>
          </a:bodyPr>
          <a:lstStyle/>
          <a:p>
            <a:r>
              <a:rPr lang="en-US" dirty="0"/>
              <a:t>Language: </a:t>
            </a:r>
            <a:r>
              <a:rPr lang="en-US" b="1" dirty="0">
                <a:solidFill>
                  <a:schemeClr val="accent6">
                    <a:lumMod val="75000"/>
                  </a:schemeClr>
                </a:solidFill>
              </a:rPr>
              <a:t>C#</a:t>
            </a:r>
            <a:endParaRPr lang="en-US" dirty="0"/>
          </a:p>
          <a:p>
            <a:r>
              <a:rPr lang="en-US" dirty="0"/>
              <a:t>Software (free)</a:t>
            </a:r>
          </a:p>
          <a:p>
            <a:pPr lvl="1"/>
            <a:r>
              <a:rPr lang="en-US" b="1" dirty="0">
                <a:solidFill>
                  <a:schemeClr val="accent6">
                    <a:lumMod val="75000"/>
                  </a:schemeClr>
                </a:solidFill>
                <a:hlinkClick r:id="rId2"/>
              </a:rPr>
              <a:t>Visual Studio Community 2017</a:t>
            </a:r>
            <a:endParaRPr lang="en-US" b="1" dirty="0">
              <a:solidFill>
                <a:schemeClr val="accent6">
                  <a:lumMod val="75000"/>
                </a:schemeClr>
              </a:solidFill>
            </a:endParaRPr>
          </a:p>
          <a:p>
            <a:pPr lvl="2"/>
            <a:r>
              <a:rPr lang="en-US" b="1" dirty="0">
                <a:solidFill>
                  <a:schemeClr val="accent6">
                    <a:lumMod val="75000"/>
                  </a:schemeClr>
                </a:solidFill>
              </a:rPr>
              <a:t>Windows-only</a:t>
            </a:r>
            <a:endParaRPr lang="en-US" dirty="0"/>
          </a:p>
          <a:p>
            <a:pPr lvl="2"/>
            <a:r>
              <a:rPr lang="en-US" dirty="0"/>
              <a:t>Upgrade if you’re still running 2015; assignment may not run in 2015</a:t>
            </a:r>
          </a:p>
          <a:p>
            <a:pPr lvl="2"/>
            <a:r>
              <a:rPr lang="en-US" dirty="0"/>
              <a:t>Also available on the machines in the </a:t>
            </a:r>
            <a:r>
              <a:rPr lang="en-US" b="1" dirty="0">
                <a:solidFill>
                  <a:schemeClr val="accent6">
                    <a:lumMod val="75000"/>
                  </a:schemeClr>
                </a:solidFill>
              </a:rPr>
              <a:t>Wilkerson Lab </a:t>
            </a:r>
            <a:r>
              <a:rPr lang="en-US" dirty="0"/>
              <a:t>(Tech M338)</a:t>
            </a:r>
          </a:p>
          <a:p>
            <a:pPr lvl="2"/>
            <a:r>
              <a:rPr lang="en-US" b="1" dirty="0">
                <a:solidFill>
                  <a:schemeClr val="accent6">
                    <a:lumMod val="75000"/>
                  </a:schemeClr>
                </a:solidFill>
              </a:rPr>
              <a:t>Visual Studio for Mac will not work</a:t>
            </a:r>
          </a:p>
          <a:p>
            <a:pPr lvl="1"/>
            <a:r>
              <a:rPr lang="en-US" dirty="0"/>
              <a:t>Microsoft Windows</a:t>
            </a:r>
          </a:p>
          <a:p>
            <a:pPr lvl="2"/>
            <a:r>
              <a:rPr lang="en-US" dirty="0"/>
              <a:t>Free to CS students</a:t>
            </a:r>
          </a:p>
          <a:p>
            <a:pPr lvl="2"/>
            <a:r>
              <a:rPr lang="en-US" b="1" dirty="0">
                <a:solidFill>
                  <a:schemeClr val="accent6">
                    <a:lumMod val="75000"/>
                  </a:schemeClr>
                </a:solidFill>
              </a:rPr>
              <a:t>We’ll post instructions</a:t>
            </a:r>
            <a:r>
              <a:rPr lang="en-US" dirty="0"/>
              <a:t> </a:t>
            </a:r>
            <a:r>
              <a:rPr lang="en-US"/>
              <a:t>this week on </a:t>
            </a:r>
            <a:r>
              <a:rPr lang="en-US" dirty="0"/>
              <a:t>dual-booting your Macs</a:t>
            </a:r>
          </a:p>
          <a:p>
            <a:pPr lvl="1"/>
            <a:r>
              <a:rPr lang="en-US" b="1" dirty="0" err="1">
                <a:solidFill>
                  <a:schemeClr val="accent6">
                    <a:lumMod val="75000"/>
                  </a:schemeClr>
                </a:solidFill>
                <a:hlinkClick r:id="rId3"/>
              </a:rPr>
              <a:t>ReSharper</a:t>
            </a:r>
            <a:endParaRPr lang="en-US" b="1" dirty="0">
              <a:solidFill>
                <a:schemeClr val="accent6">
                  <a:lumMod val="75000"/>
                </a:schemeClr>
              </a:solidFill>
            </a:endParaRPr>
          </a:p>
          <a:p>
            <a:pPr lvl="2"/>
            <a:r>
              <a:rPr lang="en-US" dirty="0"/>
              <a:t>Not available in the labs </a:t>
            </a:r>
            <a:r>
              <a:rPr lang="en-US" dirty="0">
                <a:sym typeface="Wingdings" panose="05000000000000000000" pitchFamily="2" charset="2"/>
              </a:rPr>
              <a:t></a:t>
            </a:r>
          </a:p>
          <a:p>
            <a:pPr lvl="2"/>
            <a:r>
              <a:rPr lang="en-US" b="1" dirty="0">
                <a:solidFill>
                  <a:schemeClr val="accent6">
                    <a:lumMod val="75000"/>
                  </a:schemeClr>
                </a:solidFill>
                <a:sym typeface="Wingdings" panose="05000000000000000000" pitchFamily="2" charset="2"/>
              </a:rPr>
              <a:t>But you really </a:t>
            </a:r>
            <a:r>
              <a:rPr lang="en-US" b="1" dirty="0" err="1">
                <a:solidFill>
                  <a:schemeClr val="accent6">
                    <a:lumMod val="75000"/>
                  </a:schemeClr>
                </a:solidFill>
                <a:sym typeface="Wingdings" panose="05000000000000000000" pitchFamily="2" charset="2"/>
              </a:rPr>
              <a:t>really</a:t>
            </a:r>
            <a:r>
              <a:rPr lang="en-US" b="1" dirty="0">
                <a:solidFill>
                  <a:schemeClr val="accent6">
                    <a:lumMod val="75000"/>
                  </a:schemeClr>
                </a:solidFill>
                <a:sym typeface="Wingdings" panose="05000000000000000000" pitchFamily="2" charset="2"/>
              </a:rPr>
              <a:t> </a:t>
            </a:r>
            <a:r>
              <a:rPr lang="en-US" b="1" dirty="0" err="1">
                <a:solidFill>
                  <a:schemeClr val="accent6">
                    <a:lumMod val="75000"/>
                  </a:schemeClr>
                </a:solidFill>
                <a:sym typeface="Wingdings" panose="05000000000000000000" pitchFamily="2" charset="2"/>
              </a:rPr>
              <a:t>really</a:t>
            </a:r>
            <a:r>
              <a:rPr lang="en-US" b="1" dirty="0">
                <a:solidFill>
                  <a:schemeClr val="accent6">
                    <a:lumMod val="75000"/>
                  </a:schemeClr>
                </a:solidFill>
                <a:sym typeface="Wingdings" panose="05000000000000000000" pitchFamily="2" charset="2"/>
              </a:rPr>
              <a:t> want to use it if you’re working on your own machine</a:t>
            </a:r>
            <a:endParaRPr lang="en-US" b="1" dirty="0">
              <a:solidFill>
                <a:schemeClr val="accent6">
                  <a:lumMod val="75000"/>
                </a:schemeClr>
              </a:solidFill>
            </a:endParaRPr>
          </a:p>
          <a:p>
            <a:pPr marL="0" indent="0">
              <a:buNone/>
            </a:pPr>
            <a:endParaRPr lang="en-US" dirty="0"/>
          </a:p>
        </p:txBody>
      </p:sp>
    </p:spTree>
    <p:extLst>
      <p:ext uri="{BB962C8B-B14F-4D97-AF65-F5344CB8AC3E}">
        <p14:creationId xmlns:p14="http://schemas.microsoft.com/office/powerpoint/2010/main" val="30377168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assignments</a:t>
            </a:r>
          </a:p>
        </p:txBody>
      </p:sp>
      <p:sp>
        <p:nvSpPr>
          <p:cNvPr id="3" name="Content Placeholder 2"/>
          <p:cNvSpPr>
            <a:spLocks noGrp="1"/>
          </p:cNvSpPr>
          <p:nvPr>
            <p:ph idx="1"/>
          </p:nvPr>
        </p:nvSpPr>
        <p:spPr/>
        <p:txBody>
          <a:bodyPr>
            <a:normAutofit fontScale="92500" lnSpcReduction="10000"/>
          </a:bodyPr>
          <a:lstStyle/>
          <a:p>
            <a:r>
              <a:rPr lang="en-US" dirty="0"/>
              <a:t>Roughly </a:t>
            </a:r>
            <a:r>
              <a:rPr lang="en-US" b="1" dirty="0">
                <a:solidFill>
                  <a:schemeClr val="accent6">
                    <a:lumMod val="75000"/>
                  </a:schemeClr>
                </a:solidFill>
              </a:rPr>
              <a:t>one per week</a:t>
            </a:r>
            <a:r>
              <a:rPr lang="en-US" dirty="0"/>
              <a:t>, starting next week</a:t>
            </a:r>
          </a:p>
          <a:p>
            <a:pPr>
              <a:spcBef>
                <a:spcPts val="1800"/>
              </a:spcBef>
            </a:pPr>
            <a:r>
              <a:rPr lang="en-US" b="1" dirty="0">
                <a:solidFill>
                  <a:schemeClr val="accent6">
                    <a:lumMod val="75000"/>
                  </a:schemeClr>
                </a:solidFill>
              </a:rPr>
              <a:t>Machine graded </a:t>
            </a:r>
            <a:r>
              <a:rPr lang="en-US" dirty="0"/>
              <a:t>using automated testing features in Visual Studio</a:t>
            </a:r>
          </a:p>
          <a:p>
            <a:pPr lvl="1"/>
            <a:r>
              <a:rPr lang="en-US" dirty="0"/>
              <a:t>Grade is proportional to number of </a:t>
            </a:r>
            <a:r>
              <a:rPr lang="en-US" b="1" dirty="0">
                <a:solidFill>
                  <a:schemeClr val="accent6">
                    <a:lumMod val="50000"/>
                  </a:schemeClr>
                </a:solidFill>
              </a:rPr>
              <a:t>unit tests </a:t>
            </a:r>
            <a:r>
              <a:rPr lang="en-US" dirty="0"/>
              <a:t>that pass</a:t>
            </a:r>
          </a:p>
          <a:p>
            <a:pPr>
              <a:spcBef>
                <a:spcPts val="1800"/>
              </a:spcBef>
            </a:pPr>
            <a:r>
              <a:rPr lang="en-US" dirty="0"/>
              <a:t>You’re responsible for writing </a:t>
            </a:r>
            <a:r>
              <a:rPr lang="en-US" b="1" dirty="0">
                <a:solidFill>
                  <a:schemeClr val="accent6">
                    <a:lumMod val="75000"/>
                  </a:schemeClr>
                </a:solidFill>
              </a:rPr>
              <a:t>unit tests</a:t>
            </a:r>
          </a:p>
          <a:p>
            <a:pPr lvl="1"/>
            <a:r>
              <a:rPr lang="en-US" dirty="0"/>
              <a:t>We </a:t>
            </a:r>
            <a:r>
              <a:rPr lang="en-US" b="1" dirty="0">
                <a:solidFill>
                  <a:schemeClr val="accent6">
                    <a:lumMod val="50000"/>
                  </a:schemeClr>
                </a:solidFill>
              </a:rPr>
              <a:t>won’t publish </a:t>
            </a:r>
            <a:r>
              <a:rPr lang="en-US" dirty="0"/>
              <a:t>the ones we’ll use for grading</a:t>
            </a:r>
          </a:p>
          <a:p>
            <a:pPr lvl="1"/>
            <a:r>
              <a:rPr lang="en-US" dirty="0"/>
              <a:t>So use the </a:t>
            </a:r>
            <a:r>
              <a:rPr lang="en-US" b="1" dirty="0" err="1">
                <a:solidFill>
                  <a:schemeClr val="accent6">
                    <a:lumMod val="50000"/>
                  </a:schemeClr>
                </a:solidFill>
              </a:rPr>
              <a:t>ReSharper</a:t>
            </a:r>
            <a:r>
              <a:rPr lang="en-US" dirty="0"/>
              <a:t> coverage analyzer to make sure you’re testing everything!</a:t>
            </a:r>
          </a:p>
        </p:txBody>
      </p:sp>
    </p:spTree>
    <p:extLst>
      <p:ext uri="{BB962C8B-B14F-4D97-AF65-F5344CB8AC3E}">
        <p14:creationId xmlns:p14="http://schemas.microsoft.com/office/powerpoint/2010/main" val="30647825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 policy</a:t>
            </a:r>
          </a:p>
        </p:txBody>
      </p:sp>
      <p:sp>
        <p:nvSpPr>
          <p:cNvPr id="3" name="Content Placeholder 2"/>
          <p:cNvSpPr>
            <a:spLocks noGrp="1"/>
          </p:cNvSpPr>
          <p:nvPr>
            <p:ph idx="1"/>
          </p:nvPr>
        </p:nvSpPr>
        <p:spPr/>
        <p:txBody>
          <a:bodyPr>
            <a:normAutofit fontScale="85000" lnSpcReduction="10000"/>
          </a:bodyPr>
          <a:lstStyle/>
          <a:p>
            <a:r>
              <a:rPr lang="en-US" dirty="0"/>
              <a:t>You may have a </a:t>
            </a:r>
            <a:r>
              <a:rPr lang="en-US" b="1" dirty="0">
                <a:solidFill>
                  <a:schemeClr val="accent6">
                    <a:lumMod val="75000"/>
                  </a:schemeClr>
                </a:solidFill>
              </a:rPr>
              <a:t>48 hour</a:t>
            </a:r>
            <a:r>
              <a:rPr lang="en-US" dirty="0"/>
              <a:t> </a:t>
            </a:r>
            <a:r>
              <a:rPr lang="en-US" b="1" dirty="0">
                <a:solidFill>
                  <a:schemeClr val="accent6">
                    <a:lumMod val="75000"/>
                  </a:schemeClr>
                </a:solidFill>
              </a:rPr>
              <a:t>extension </a:t>
            </a:r>
            <a:r>
              <a:rPr lang="en-US" dirty="0"/>
              <a:t>for any problem set, no questions asked, provided you </a:t>
            </a:r>
            <a:r>
              <a:rPr lang="en-US" b="1" dirty="0">
                <a:solidFill>
                  <a:schemeClr val="accent6">
                    <a:lumMod val="75000"/>
                  </a:schemeClr>
                </a:solidFill>
              </a:rPr>
              <a:t>request it at least 24 hours before the assignment is due</a:t>
            </a:r>
          </a:p>
          <a:p>
            <a:pPr lvl="1"/>
            <a:r>
              <a:rPr lang="en-US" dirty="0"/>
              <a:t>A </a:t>
            </a:r>
            <a:r>
              <a:rPr lang="en-US" b="1" dirty="0">
                <a:solidFill>
                  <a:schemeClr val="accent6">
                    <a:lumMod val="50000"/>
                  </a:schemeClr>
                </a:solidFill>
              </a:rPr>
              <a:t>web form </a:t>
            </a:r>
            <a:r>
              <a:rPr lang="en-US" dirty="0"/>
              <a:t>will be provided along with your assignment</a:t>
            </a:r>
          </a:p>
          <a:p>
            <a:endParaRPr lang="en-US" dirty="0"/>
          </a:p>
          <a:p>
            <a:r>
              <a:rPr lang="en-US" dirty="0"/>
              <a:t>If you don’t register for an extension or if you overrun the extension, you will receive a </a:t>
            </a:r>
            <a:r>
              <a:rPr lang="en-US" b="1" dirty="0">
                <a:solidFill>
                  <a:schemeClr val="accent6">
                    <a:lumMod val="75000"/>
                  </a:schemeClr>
                </a:solidFill>
              </a:rPr>
              <a:t>30% late penalty</a:t>
            </a:r>
          </a:p>
          <a:p>
            <a:endParaRPr lang="en-US" dirty="0"/>
          </a:p>
          <a:p>
            <a:r>
              <a:rPr lang="en-US" dirty="0"/>
              <a:t>Assignments </a:t>
            </a:r>
            <a:r>
              <a:rPr lang="en-US" b="1" dirty="0">
                <a:solidFill>
                  <a:schemeClr val="accent6">
                    <a:lumMod val="75000"/>
                  </a:schemeClr>
                </a:solidFill>
              </a:rPr>
              <a:t>more than one week late </a:t>
            </a:r>
            <a:r>
              <a:rPr lang="en-US" dirty="0"/>
              <a:t>will not be accepted except in extenuating circumstances</a:t>
            </a:r>
          </a:p>
        </p:txBody>
      </p:sp>
    </p:spTree>
    <p:extLst>
      <p:ext uri="{BB962C8B-B14F-4D97-AF65-F5344CB8AC3E}">
        <p14:creationId xmlns:p14="http://schemas.microsoft.com/office/powerpoint/2010/main" val="23447598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Cheating policy</a:t>
            </a:r>
          </a:p>
        </p:txBody>
      </p:sp>
      <p:sp>
        <p:nvSpPr>
          <p:cNvPr id="3" name="Content Placeholder 2"/>
          <p:cNvSpPr>
            <a:spLocks noGrp="1"/>
          </p:cNvSpPr>
          <p:nvPr>
            <p:ph sz="half" idx="1"/>
          </p:nvPr>
        </p:nvSpPr>
        <p:spPr>
          <a:xfrm>
            <a:off x="457200" y="1600200"/>
            <a:ext cx="4038600" cy="5029200"/>
          </a:xfrm>
        </p:spPr>
        <p:txBody>
          <a:bodyPr>
            <a:normAutofit fontScale="62500" lnSpcReduction="20000"/>
          </a:bodyPr>
          <a:lstStyle/>
          <a:p>
            <a:pPr marL="0" indent="0">
              <a:buNone/>
            </a:pPr>
            <a:r>
              <a:rPr lang="en-US" dirty="0"/>
              <a:t>You are free to ask other people for help, however</a:t>
            </a:r>
          </a:p>
          <a:p>
            <a:r>
              <a:rPr lang="en-US" b="1" dirty="0">
                <a:solidFill>
                  <a:schemeClr val="accent6">
                    <a:lumMod val="75000"/>
                  </a:schemeClr>
                </a:solidFill>
              </a:rPr>
              <a:t>No one else may edit </a:t>
            </a:r>
            <a:r>
              <a:rPr lang="en-US" dirty="0"/>
              <a:t>your code</a:t>
            </a:r>
          </a:p>
          <a:p>
            <a:r>
              <a:rPr lang="en-US" dirty="0"/>
              <a:t>You </a:t>
            </a:r>
            <a:r>
              <a:rPr lang="en-US" b="1" dirty="0">
                <a:solidFill>
                  <a:schemeClr val="accent6">
                    <a:lumMod val="75000"/>
                  </a:schemeClr>
                </a:solidFill>
              </a:rPr>
              <a:t>may not copy code</a:t>
            </a:r>
            <a:r>
              <a:rPr lang="en-US" dirty="0"/>
              <a:t> from other people</a:t>
            </a:r>
          </a:p>
          <a:p>
            <a:r>
              <a:rPr lang="en-US" dirty="0"/>
              <a:t>You </a:t>
            </a:r>
            <a:r>
              <a:rPr lang="en-US" b="1" dirty="0">
                <a:solidFill>
                  <a:schemeClr val="accent6">
                    <a:lumMod val="75000"/>
                  </a:schemeClr>
                </a:solidFill>
              </a:rPr>
              <a:t>may not distribute </a:t>
            </a:r>
            <a:r>
              <a:rPr lang="en-US" dirty="0"/>
              <a:t>your code to others</a:t>
            </a:r>
          </a:p>
          <a:p>
            <a:endParaRPr lang="en-US" dirty="0"/>
          </a:p>
          <a:p>
            <a:pPr marL="0" indent="0">
              <a:buNone/>
            </a:pPr>
            <a:r>
              <a:rPr lang="en-US" dirty="0"/>
              <a:t>Students suspected of violating this policy will be </a:t>
            </a:r>
            <a:r>
              <a:rPr lang="en-US" b="1" dirty="0">
                <a:solidFill>
                  <a:schemeClr val="accent6">
                    <a:lumMod val="75000"/>
                  </a:schemeClr>
                </a:solidFill>
              </a:rPr>
              <a:t>reported to the Dean </a:t>
            </a:r>
            <a:r>
              <a:rPr lang="en-US" dirty="0"/>
              <a:t>for investigation</a:t>
            </a:r>
          </a:p>
          <a:p>
            <a:pPr marL="0" indent="0">
              <a:buNone/>
            </a:pPr>
            <a:endParaRPr lang="en-US" dirty="0"/>
          </a:p>
          <a:p>
            <a:pPr marL="0" indent="0">
              <a:buNone/>
            </a:pPr>
            <a:r>
              <a:rPr lang="en-US" b="1" dirty="0">
                <a:solidFill>
                  <a:schemeClr val="accent6">
                    <a:lumMod val="75000"/>
                  </a:schemeClr>
                </a:solidFill>
              </a:rPr>
              <a:t>Uploading materials</a:t>
            </a:r>
            <a:r>
              <a:rPr lang="en-US" dirty="0"/>
              <a:t> from this course to websites that sell such content to students is prohibited by Northwestern’s academic integrity policies, and may also put you at risk for violating copyright policies in Northwestern’s Student Conduct Code.</a:t>
            </a:r>
          </a:p>
        </p:txBody>
      </p:sp>
      <p:sp>
        <p:nvSpPr>
          <p:cNvPr id="4" name="Content Placeholder 3"/>
          <p:cNvSpPr>
            <a:spLocks noGrp="1"/>
          </p:cNvSpPr>
          <p:nvPr>
            <p:ph sz="half" idx="2"/>
          </p:nvPr>
        </p:nvSpPr>
        <p:spPr/>
        <p:txBody>
          <a:bodyPr>
            <a:normAutofit fontScale="62500" lnSpcReduction="20000"/>
          </a:bodyPr>
          <a:lstStyle/>
          <a:p>
            <a:pPr marL="0" indent="0">
              <a:buNone/>
            </a:pPr>
            <a:r>
              <a:rPr lang="en-US" dirty="0"/>
              <a:t>In other words:</a:t>
            </a:r>
          </a:p>
          <a:p>
            <a:r>
              <a:rPr lang="en-US" b="1" dirty="0">
                <a:solidFill>
                  <a:schemeClr val="accent3">
                    <a:lumMod val="75000"/>
                  </a:schemeClr>
                </a:solidFill>
              </a:rPr>
              <a:t>Hacking parties</a:t>
            </a:r>
            <a:r>
              <a:rPr lang="en-US" dirty="0"/>
              <a:t> are good</a:t>
            </a:r>
          </a:p>
          <a:p>
            <a:r>
              <a:rPr lang="en-US" dirty="0"/>
              <a:t>Asking friends </a:t>
            </a:r>
            <a:r>
              <a:rPr lang="en-US" b="1" dirty="0">
                <a:solidFill>
                  <a:schemeClr val="accent3">
                    <a:lumMod val="75000"/>
                  </a:schemeClr>
                </a:solidFill>
              </a:rPr>
              <a:t>questions </a:t>
            </a:r>
            <a:r>
              <a:rPr lang="en-US" dirty="0"/>
              <a:t>about assignments is good</a:t>
            </a:r>
          </a:p>
          <a:p>
            <a:pPr>
              <a:spcBef>
                <a:spcPts val="1800"/>
              </a:spcBef>
            </a:pPr>
            <a:r>
              <a:rPr lang="en-US" b="1" dirty="0">
                <a:solidFill>
                  <a:srgbClr val="FF0000"/>
                </a:solidFill>
              </a:rPr>
              <a:t>Copying</a:t>
            </a:r>
            <a:r>
              <a:rPr lang="en-US" b="1" dirty="0">
                <a:solidFill>
                  <a:schemeClr val="accent6">
                    <a:lumMod val="75000"/>
                  </a:schemeClr>
                </a:solidFill>
              </a:rPr>
              <a:t> </a:t>
            </a:r>
            <a:r>
              <a:rPr lang="en-US" dirty="0"/>
              <a:t>part of someone’s assignment is forbidden</a:t>
            </a:r>
          </a:p>
          <a:p>
            <a:r>
              <a:rPr lang="en-US" b="1" dirty="0">
                <a:solidFill>
                  <a:srgbClr val="FF0000"/>
                </a:solidFill>
              </a:rPr>
              <a:t>Giving your assignment</a:t>
            </a:r>
            <a:r>
              <a:rPr lang="en-US" dirty="0"/>
              <a:t> to someone to copy is forbidden</a:t>
            </a:r>
          </a:p>
          <a:p>
            <a:r>
              <a:rPr lang="en-US" dirty="0"/>
              <a:t>Having </a:t>
            </a:r>
            <a:r>
              <a:rPr lang="en-US" b="1" dirty="0">
                <a:solidFill>
                  <a:srgbClr val="FF0000"/>
                </a:solidFill>
              </a:rPr>
              <a:t>three people do one assignment </a:t>
            </a:r>
            <a:r>
              <a:rPr lang="en-US" dirty="0"/>
              <a:t>together is forbidden</a:t>
            </a:r>
          </a:p>
          <a:p>
            <a:r>
              <a:rPr lang="en-US" b="1" dirty="0">
                <a:solidFill>
                  <a:srgbClr val="FF0000"/>
                </a:solidFill>
              </a:rPr>
              <a:t>Publishing </a:t>
            </a:r>
            <a:r>
              <a:rPr lang="en-US" dirty="0"/>
              <a:t>your assignment on </a:t>
            </a:r>
            <a:r>
              <a:rPr lang="en-US" dirty="0" err="1"/>
              <a:t>github</a:t>
            </a:r>
            <a:r>
              <a:rPr lang="en-US" dirty="0"/>
              <a:t> is forbidden</a:t>
            </a:r>
          </a:p>
          <a:p>
            <a:pPr marL="0" indent="0">
              <a:buNone/>
            </a:pPr>
            <a:endParaRPr lang="en-US" dirty="0"/>
          </a:p>
        </p:txBody>
      </p:sp>
    </p:spTree>
    <p:extLst>
      <p:ext uri="{BB962C8B-B14F-4D97-AF65-F5344CB8AC3E}">
        <p14:creationId xmlns:p14="http://schemas.microsoft.com/office/powerpoint/2010/main" val="27237511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Seriously: don’t cheat</a:t>
            </a:r>
          </a:p>
        </p:txBody>
      </p:sp>
      <p:sp>
        <p:nvSpPr>
          <p:cNvPr id="3" name="Text Placeholder 2"/>
          <p:cNvSpPr>
            <a:spLocks noGrp="1"/>
          </p:cNvSpPr>
          <p:nvPr>
            <p:ph type="body" idx="1"/>
          </p:nvPr>
        </p:nvSpPr>
        <p:spPr/>
        <p:txBody>
          <a:bodyPr/>
          <a:lstStyle/>
          <a:p>
            <a:r>
              <a:rPr lang="en-US" dirty="0"/>
              <a:t>We will be enforcing this quite stringently</a:t>
            </a:r>
          </a:p>
        </p:txBody>
      </p:sp>
    </p:spTree>
    <p:extLst>
      <p:ext uri="{BB962C8B-B14F-4D97-AF65-F5344CB8AC3E}">
        <p14:creationId xmlns:p14="http://schemas.microsoft.com/office/powerpoint/2010/main" val="13413595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you should use C#</a:t>
            </a:r>
          </a:p>
        </p:txBody>
      </p:sp>
      <p:sp>
        <p:nvSpPr>
          <p:cNvPr id="3" name="Content Placeholder 2"/>
          <p:cNvSpPr>
            <a:spLocks noGrp="1"/>
          </p:cNvSpPr>
          <p:nvPr>
            <p:ph sz="half" idx="1"/>
          </p:nvPr>
        </p:nvSpPr>
        <p:spPr/>
        <p:txBody>
          <a:bodyPr>
            <a:normAutofit fontScale="85000" lnSpcReduction="20000"/>
          </a:bodyPr>
          <a:lstStyle/>
          <a:p>
            <a:r>
              <a:rPr lang="en-US" dirty="0"/>
              <a:t>Very </a:t>
            </a:r>
            <a:r>
              <a:rPr lang="en-US" b="1" dirty="0">
                <a:solidFill>
                  <a:schemeClr val="accent6">
                    <a:lumMod val="75000"/>
                  </a:schemeClr>
                </a:solidFill>
              </a:rPr>
              <a:t>similar to C++</a:t>
            </a:r>
          </a:p>
          <a:p>
            <a:pPr lvl="1"/>
            <a:r>
              <a:rPr lang="en-US" dirty="0"/>
              <a:t>Short learning curve</a:t>
            </a:r>
          </a:p>
          <a:p>
            <a:pPr lvl="1"/>
            <a:endParaRPr lang="en-US" dirty="0"/>
          </a:p>
          <a:p>
            <a:r>
              <a:rPr lang="en-US" b="1" dirty="0">
                <a:solidFill>
                  <a:schemeClr val="accent6">
                    <a:lumMod val="75000"/>
                  </a:schemeClr>
                </a:solidFill>
              </a:rPr>
              <a:t>Simpler</a:t>
            </a:r>
          </a:p>
          <a:p>
            <a:pPr lvl="1"/>
            <a:r>
              <a:rPr lang="en-US" dirty="0"/>
              <a:t>Everything is an object</a:t>
            </a:r>
          </a:p>
          <a:p>
            <a:pPr lvl="1"/>
            <a:r>
              <a:rPr lang="en-US" dirty="0"/>
              <a:t>No .h files</a:t>
            </a:r>
          </a:p>
          <a:p>
            <a:pPr lvl="1"/>
            <a:r>
              <a:rPr lang="en-US" dirty="0"/>
              <a:t>Declaration order doesn’t matter</a:t>
            </a:r>
          </a:p>
          <a:p>
            <a:pPr lvl="1"/>
            <a:r>
              <a:rPr lang="en-US" dirty="0"/>
              <a:t>Automatic storage management (</a:t>
            </a:r>
            <a:r>
              <a:rPr lang="en-US" b="1" dirty="0">
                <a:solidFill>
                  <a:schemeClr val="accent6">
                    <a:lumMod val="75000"/>
                  </a:schemeClr>
                </a:solidFill>
              </a:rPr>
              <a:t>GC</a:t>
            </a:r>
            <a:r>
              <a:rPr lang="en-US" dirty="0"/>
              <a:t>)</a:t>
            </a:r>
          </a:p>
          <a:p>
            <a:endParaRPr lang="en-US" dirty="0"/>
          </a:p>
          <a:p>
            <a:r>
              <a:rPr lang="en-US" dirty="0"/>
              <a:t>You </a:t>
            </a:r>
            <a:r>
              <a:rPr lang="en-US" b="1" dirty="0">
                <a:solidFill>
                  <a:schemeClr val="accent6">
                    <a:lumMod val="75000"/>
                  </a:schemeClr>
                </a:solidFill>
              </a:rPr>
              <a:t>don’t have to write</a:t>
            </a:r>
          </a:p>
          <a:p>
            <a:pPr lvl="1"/>
            <a:r>
              <a:rPr lang="en-US" dirty="0"/>
              <a:t>Destructors</a:t>
            </a:r>
          </a:p>
          <a:p>
            <a:pPr lvl="1"/>
            <a:r>
              <a:rPr lang="en-US" dirty="0"/>
              <a:t>(Some) type declarations</a:t>
            </a:r>
          </a:p>
        </p:txBody>
      </p:sp>
      <p:sp>
        <p:nvSpPr>
          <p:cNvPr id="4" name="Content Placeholder 3"/>
          <p:cNvSpPr>
            <a:spLocks noGrp="1"/>
          </p:cNvSpPr>
          <p:nvPr>
            <p:ph sz="half" idx="2"/>
          </p:nvPr>
        </p:nvSpPr>
        <p:spPr/>
        <p:txBody>
          <a:bodyPr>
            <a:normAutofit fontScale="85000" lnSpcReduction="20000"/>
          </a:bodyPr>
          <a:lstStyle/>
          <a:p>
            <a:r>
              <a:rPr lang="en-US" dirty="0"/>
              <a:t>You </a:t>
            </a:r>
            <a:r>
              <a:rPr lang="en-US" b="1" dirty="0">
                <a:solidFill>
                  <a:schemeClr val="accent6">
                    <a:lumMod val="75000"/>
                  </a:schemeClr>
                </a:solidFill>
              </a:rPr>
              <a:t>can’t</a:t>
            </a:r>
          </a:p>
          <a:p>
            <a:pPr lvl="1"/>
            <a:r>
              <a:rPr lang="en-US" dirty="0"/>
              <a:t>Corrupt memory</a:t>
            </a:r>
          </a:p>
          <a:p>
            <a:pPr lvl="1"/>
            <a:r>
              <a:rPr lang="en-US" dirty="0"/>
              <a:t>Leak memory</a:t>
            </a:r>
          </a:p>
          <a:p>
            <a:pPr lvl="1"/>
            <a:r>
              <a:rPr lang="en-US" dirty="0"/>
              <a:t>Use a null pointer without the system noticing</a:t>
            </a:r>
          </a:p>
          <a:p>
            <a:pPr lvl="1"/>
            <a:r>
              <a:rPr lang="en-US" dirty="0"/>
              <a:t>Have an undetected buffer overflow</a:t>
            </a:r>
          </a:p>
          <a:p>
            <a:pPr>
              <a:spcBef>
                <a:spcPts val="1800"/>
              </a:spcBef>
            </a:pPr>
            <a:r>
              <a:rPr lang="en-US" dirty="0"/>
              <a:t>You </a:t>
            </a:r>
            <a:r>
              <a:rPr lang="en-US" b="1" dirty="0">
                <a:solidFill>
                  <a:schemeClr val="accent6">
                    <a:lumMod val="75000"/>
                  </a:schemeClr>
                </a:solidFill>
              </a:rPr>
              <a:t>can do</a:t>
            </a:r>
          </a:p>
          <a:p>
            <a:pPr lvl="1"/>
            <a:r>
              <a:rPr lang="en-US" dirty="0"/>
              <a:t>Functional programming</a:t>
            </a:r>
          </a:p>
          <a:p>
            <a:pPr lvl="2"/>
            <a:r>
              <a:rPr lang="en-US" dirty="0" err="1"/>
              <a:t>Mmm</a:t>
            </a:r>
            <a:r>
              <a:rPr lang="en-US" dirty="0"/>
              <a:t>…. </a:t>
            </a:r>
            <a:r>
              <a:rPr lang="el-GR" dirty="0">
                <a:latin typeface="Calibri" panose="020F0502020204030204" pitchFamily="34" charset="0"/>
              </a:rPr>
              <a:t>λ</a:t>
            </a:r>
            <a:r>
              <a:rPr lang="en-US" dirty="0">
                <a:latin typeface="Calibri" panose="020F0502020204030204" pitchFamily="34" charset="0"/>
              </a:rPr>
              <a:t>...</a:t>
            </a:r>
            <a:endParaRPr lang="en-US" dirty="0"/>
          </a:p>
          <a:p>
            <a:pPr lvl="1"/>
            <a:r>
              <a:rPr lang="en-US" dirty="0"/>
              <a:t>Reflection</a:t>
            </a:r>
          </a:p>
          <a:p>
            <a:pPr lvl="1"/>
            <a:r>
              <a:rPr lang="en-US" dirty="0"/>
              <a:t>Multithreading</a:t>
            </a:r>
          </a:p>
          <a:p>
            <a:pPr lvl="1"/>
            <a:r>
              <a:rPr lang="en-US" dirty="0" err="1"/>
              <a:t>Asynchonous</a:t>
            </a:r>
            <a:r>
              <a:rPr lang="en-US" dirty="0"/>
              <a:t> calls to servers and other threads</a:t>
            </a:r>
          </a:p>
        </p:txBody>
      </p:sp>
    </p:spTree>
    <p:extLst>
      <p:ext uri="{BB962C8B-B14F-4D97-AF65-F5344CB8AC3E}">
        <p14:creationId xmlns:p14="http://schemas.microsoft.com/office/powerpoint/2010/main" val="16423027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Tentative schedule by week</a:t>
            </a:r>
          </a:p>
        </p:txBody>
      </p:sp>
      <p:sp>
        <p:nvSpPr>
          <p:cNvPr id="4" name="Content Placeholder 3"/>
          <p:cNvSpPr>
            <a:spLocks noGrp="1"/>
          </p:cNvSpPr>
          <p:nvPr>
            <p:ph sz="half" idx="1"/>
          </p:nvPr>
        </p:nvSpPr>
        <p:spPr/>
        <p:txBody>
          <a:bodyPr>
            <a:normAutofit/>
          </a:bodyPr>
          <a:lstStyle/>
          <a:p>
            <a:pPr marL="514350" indent="-514350">
              <a:buFont typeface="+mj-lt"/>
              <a:buAutoNum type="arabicPeriod"/>
            </a:pPr>
            <a:r>
              <a:rPr lang="en-US" dirty="0"/>
              <a:t>Intro, discrete math, C#</a:t>
            </a:r>
          </a:p>
          <a:p>
            <a:pPr marL="514350" indent="-514350">
              <a:buFont typeface="+mj-lt"/>
              <a:buAutoNum type="arabicPeriod"/>
            </a:pPr>
            <a:r>
              <a:rPr lang="en-US" dirty="0"/>
              <a:t>Abstract data types, fundamental data structures</a:t>
            </a:r>
          </a:p>
          <a:p>
            <a:pPr marL="514350" indent="-514350">
              <a:buFont typeface="+mj-lt"/>
              <a:buAutoNum type="arabicPeriod"/>
            </a:pPr>
            <a:r>
              <a:rPr lang="en-US" dirty="0"/>
              <a:t>Trees</a:t>
            </a:r>
          </a:p>
          <a:p>
            <a:pPr marL="514350" indent="-514350">
              <a:buFont typeface="+mj-lt"/>
              <a:buAutoNum type="arabicPeriod"/>
            </a:pPr>
            <a:r>
              <a:rPr lang="en-US" dirty="0"/>
              <a:t>Search trees</a:t>
            </a:r>
          </a:p>
          <a:p>
            <a:pPr marL="514350" indent="-514350">
              <a:buFont typeface="+mj-lt"/>
              <a:buAutoNum type="arabicPeriod"/>
            </a:pPr>
            <a:r>
              <a:rPr lang="en-US" dirty="0"/>
              <a:t>Hash tables</a:t>
            </a:r>
          </a:p>
          <a:p>
            <a:pPr marL="514350" indent="-514350">
              <a:buFont typeface="+mj-lt"/>
              <a:buAutoNum type="arabicPeriod"/>
            </a:pPr>
            <a:r>
              <a:rPr lang="en-US" dirty="0"/>
              <a:t>Graphs</a:t>
            </a:r>
          </a:p>
        </p:txBody>
      </p:sp>
      <p:sp>
        <p:nvSpPr>
          <p:cNvPr id="5" name="Content Placeholder 4"/>
          <p:cNvSpPr>
            <a:spLocks noGrp="1"/>
          </p:cNvSpPr>
          <p:nvPr>
            <p:ph sz="half" idx="2"/>
          </p:nvPr>
        </p:nvSpPr>
        <p:spPr>
          <a:xfrm>
            <a:off x="4648200" y="1600200"/>
            <a:ext cx="4343400" cy="4953000"/>
          </a:xfrm>
        </p:spPr>
        <p:txBody>
          <a:bodyPr>
            <a:normAutofit/>
          </a:bodyPr>
          <a:lstStyle/>
          <a:p>
            <a:pPr marL="514350" indent="-514350">
              <a:buFont typeface="+mj-lt"/>
              <a:buAutoNum type="arabicPeriod" startAt="8"/>
            </a:pPr>
            <a:r>
              <a:rPr lang="en-US" dirty="0"/>
              <a:t>Graph algorithms</a:t>
            </a:r>
          </a:p>
          <a:p>
            <a:pPr marL="514350" indent="-514350">
              <a:buFont typeface="+mj-lt"/>
              <a:buAutoNum type="arabicPeriod" startAt="8"/>
            </a:pPr>
            <a:r>
              <a:rPr lang="en-US" dirty="0"/>
              <a:t>Priority queues, sorting</a:t>
            </a:r>
          </a:p>
          <a:p>
            <a:pPr marL="514350" indent="-514350">
              <a:buFont typeface="+mj-lt"/>
              <a:buAutoNum type="arabicPeriod" startAt="8"/>
            </a:pPr>
            <a:r>
              <a:rPr lang="en-US" dirty="0"/>
              <a:t>Sets</a:t>
            </a:r>
          </a:p>
          <a:p>
            <a:pPr marL="514350" indent="-514350">
              <a:buFont typeface="+mj-lt"/>
              <a:buAutoNum type="arabicPeriod" startAt="8"/>
            </a:pPr>
            <a:endParaRPr lang="en-US" dirty="0"/>
          </a:p>
          <a:p>
            <a:pPr marL="0" indent="0">
              <a:buNone/>
            </a:pPr>
            <a:r>
              <a:rPr lang="en-US" dirty="0"/>
              <a:t>Finals week</a:t>
            </a:r>
          </a:p>
          <a:p>
            <a:pPr marL="228600" indent="-228600"/>
            <a:r>
              <a:rPr lang="en-US" sz="2200" dirty="0"/>
              <a:t>Quiz 3, Monday, </a:t>
            </a:r>
            <a:r>
              <a:rPr lang="en-US" sz="2200" b="1" dirty="0"/>
              <a:t>June 10, 9am</a:t>
            </a:r>
            <a:br>
              <a:rPr lang="en-US" sz="2200" b="1" dirty="0"/>
            </a:br>
            <a:r>
              <a:rPr lang="en-US" sz="2200" b="1" dirty="0"/>
              <a:t>    </a:t>
            </a:r>
            <a:r>
              <a:rPr lang="en-US" sz="2200" dirty="0"/>
              <a:t>:-(</a:t>
            </a:r>
          </a:p>
          <a:p>
            <a:pPr marL="228600" indent="-228600"/>
            <a:r>
              <a:rPr lang="en-US" sz="2200" dirty="0"/>
              <a:t>Same length as Q1, Q2</a:t>
            </a:r>
          </a:p>
          <a:p>
            <a:pPr marL="228600" indent="-228600"/>
            <a:r>
              <a:rPr lang="en-US" sz="2200" dirty="0"/>
              <a:t>But you can take the full 2 hours if you want</a:t>
            </a:r>
          </a:p>
        </p:txBody>
      </p:sp>
    </p:spTree>
    <p:extLst>
      <p:ext uri="{BB962C8B-B14F-4D97-AF65-F5344CB8AC3E}">
        <p14:creationId xmlns:p14="http://schemas.microsoft.com/office/powerpoint/2010/main" val="29406029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FAQ</a:t>
            </a:r>
          </a:p>
        </p:txBody>
      </p:sp>
      <p:sp>
        <p:nvSpPr>
          <p:cNvPr id="3" name="Content Placeholder 2"/>
          <p:cNvSpPr>
            <a:spLocks noGrp="1"/>
          </p:cNvSpPr>
          <p:nvPr>
            <p:ph sz="half" idx="1"/>
          </p:nvPr>
        </p:nvSpPr>
        <p:spPr/>
        <p:txBody>
          <a:bodyPr>
            <a:normAutofit fontScale="77500" lnSpcReduction="20000"/>
          </a:bodyPr>
          <a:lstStyle/>
          <a:p>
            <a:r>
              <a:rPr lang="en-US" b="1" dirty="0"/>
              <a:t>Q: I </a:t>
            </a:r>
            <a:r>
              <a:rPr lang="en-US" b="1" dirty="0">
                <a:solidFill>
                  <a:schemeClr val="accent6">
                    <a:lumMod val="75000"/>
                  </a:schemeClr>
                </a:solidFill>
              </a:rPr>
              <a:t>don’t know C#</a:t>
            </a:r>
            <a:r>
              <a:rPr lang="en-US" b="1" dirty="0"/>
              <a:t>.  Is that a problem?</a:t>
            </a:r>
            <a:br>
              <a:rPr lang="en-US" b="1" dirty="0"/>
            </a:br>
            <a:r>
              <a:rPr lang="en-US" dirty="0"/>
              <a:t>A: No.  Almost none of you know it.  But it’s easy to pick up.  I’ve yet to have a student say they would have preferred C++.</a:t>
            </a:r>
          </a:p>
          <a:p>
            <a:endParaRPr lang="en-US" dirty="0"/>
          </a:p>
          <a:p>
            <a:r>
              <a:rPr lang="en-US" b="1" dirty="0"/>
              <a:t>Q: Do I </a:t>
            </a:r>
            <a:r>
              <a:rPr lang="en-US" b="1" dirty="0">
                <a:solidFill>
                  <a:schemeClr val="accent6">
                    <a:lumMod val="75000"/>
                  </a:schemeClr>
                </a:solidFill>
              </a:rPr>
              <a:t>have to use windows</a:t>
            </a:r>
            <a:r>
              <a:rPr lang="en-US" b="1" dirty="0"/>
              <a:t>?</a:t>
            </a:r>
            <a:br>
              <a:rPr lang="en-US" dirty="0"/>
            </a:br>
            <a:r>
              <a:rPr lang="en-US" dirty="0"/>
              <a:t>A: Yes; sorry.  It’s the only platform Visual Studio runs on.  But both windows and Visual Studio are free.  And VS is excellent.</a:t>
            </a:r>
          </a:p>
          <a:p>
            <a:endParaRPr lang="en-US" dirty="0"/>
          </a:p>
          <a:p>
            <a:endParaRPr lang="en-US" dirty="0"/>
          </a:p>
          <a:p>
            <a:endParaRPr lang="en-US" dirty="0"/>
          </a:p>
        </p:txBody>
      </p:sp>
      <p:sp>
        <p:nvSpPr>
          <p:cNvPr id="4" name="Content Placeholder 3"/>
          <p:cNvSpPr>
            <a:spLocks noGrp="1"/>
          </p:cNvSpPr>
          <p:nvPr>
            <p:ph sz="half" idx="2"/>
          </p:nvPr>
        </p:nvSpPr>
        <p:spPr>
          <a:xfrm>
            <a:off x="4648200" y="1600200"/>
            <a:ext cx="4038600" cy="4724400"/>
          </a:xfrm>
        </p:spPr>
        <p:txBody>
          <a:bodyPr>
            <a:normAutofit fontScale="77500" lnSpcReduction="20000"/>
          </a:bodyPr>
          <a:lstStyle/>
          <a:p>
            <a:r>
              <a:rPr lang="en-US" b="1" dirty="0"/>
              <a:t>Q: I’m a </a:t>
            </a:r>
            <a:r>
              <a:rPr lang="en-US" b="1" dirty="0">
                <a:solidFill>
                  <a:schemeClr val="accent6">
                    <a:lumMod val="75000"/>
                  </a:schemeClr>
                </a:solidFill>
              </a:rPr>
              <a:t>Mac or Linux </a:t>
            </a:r>
            <a:r>
              <a:rPr lang="en-US" b="1" dirty="0"/>
              <a:t>user.  What do I do?</a:t>
            </a:r>
            <a:br>
              <a:rPr lang="en-US" dirty="0"/>
            </a:br>
            <a:r>
              <a:rPr lang="en-US" dirty="0"/>
              <a:t>A: Either:</a:t>
            </a:r>
          </a:p>
          <a:p>
            <a:pPr lvl="1"/>
            <a:r>
              <a:rPr lang="en-US" b="1" dirty="0">
                <a:solidFill>
                  <a:schemeClr val="accent6">
                    <a:lumMod val="50000"/>
                  </a:schemeClr>
                </a:solidFill>
              </a:rPr>
              <a:t>Dual boot</a:t>
            </a:r>
            <a:r>
              <a:rPr lang="en-US" dirty="0"/>
              <a:t> your system (Mac users use </a:t>
            </a:r>
            <a:r>
              <a:rPr lang="en-US" dirty="0" err="1"/>
              <a:t>Bootcamp</a:t>
            </a:r>
            <a:r>
              <a:rPr lang="en-US" dirty="0"/>
              <a:t>)</a:t>
            </a:r>
          </a:p>
          <a:p>
            <a:pPr lvl="1"/>
            <a:r>
              <a:rPr lang="en-US" dirty="0"/>
              <a:t>Run windows in a </a:t>
            </a:r>
            <a:r>
              <a:rPr lang="en-US" b="1" dirty="0">
                <a:solidFill>
                  <a:schemeClr val="accent6">
                    <a:lumMod val="50000"/>
                  </a:schemeClr>
                </a:solidFill>
              </a:rPr>
              <a:t>virtual machine</a:t>
            </a:r>
          </a:p>
          <a:p>
            <a:pPr lvl="2"/>
            <a:r>
              <a:rPr lang="en-US" dirty="0"/>
              <a:t>Windows then looks like an application inside of </a:t>
            </a:r>
            <a:r>
              <a:rPr lang="en-US" dirty="0" err="1"/>
              <a:t>MacOS</a:t>
            </a:r>
            <a:r>
              <a:rPr lang="en-US" dirty="0"/>
              <a:t>/Linux</a:t>
            </a:r>
          </a:p>
          <a:p>
            <a:pPr lvl="2"/>
            <a:r>
              <a:rPr lang="en-US" dirty="0"/>
              <a:t>I use </a:t>
            </a:r>
            <a:r>
              <a:rPr lang="en-US" b="1" dirty="0">
                <a:solidFill>
                  <a:schemeClr val="accent6">
                    <a:lumMod val="50000"/>
                  </a:schemeClr>
                </a:solidFill>
              </a:rPr>
              <a:t>Parallels Desktop </a:t>
            </a:r>
            <a:r>
              <a:rPr lang="en-US" dirty="0"/>
              <a:t>for Mac ($40 for the student license)</a:t>
            </a:r>
          </a:p>
          <a:p>
            <a:pPr lvl="2"/>
            <a:r>
              <a:rPr lang="en-US" dirty="0"/>
              <a:t>But you can also use </a:t>
            </a:r>
            <a:r>
              <a:rPr lang="en-US" b="1" dirty="0" err="1">
                <a:solidFill>
                  <a:schemeClr val="accent6">
                    <a:lumMod val="50000"/>
                  </a:schemeClr>
                </a:solidFill>
              </a:rPr>
              <a:t>VMWare</a:t>
            </a:r>
            <a:r>
              <a:rPr lang="en-US" b="1" dirty="0">
                <a:solidFill>
                  <a:schemeClr val="accent6">
                    <a:lumMod val="50000"/>
                  </a:schemeClr>
                </a:solidFill>
              </a:rPr>
              <a:t> Fusion </a:t>
            </a:r>
            <a:r>
              <a:rPr lang="en-US" dirty="0"/>
              <a:t>($80) or </a:t>
            </a:r>
            <a:r>
              <a:rPr lang="en-US" b="1" dirty="0" err="1">
                <a:solidFill>
                  <a:schemeClr val="accent6">
                    <a:lumMod val="50000"/>
                  </a:schemeClr>
                </a:solidFill>
              </a:rPr>
              <a:t>VirtualBox</a:t>
            </a:r>
            <a:r>
              <a:rPr lang="en-US" b="1" dirty="0">
                <a:solidFill>
                  <a:schemeClr val="accent6">
                    <a:lumMod val="50000"/>
                  </a:schemeClr>
                </a:solidFill>
              </a:rPr>
              <a:t> </a:t>
            </a:r>
            <a:r>
              <a:rPr lang="en-US" dirty="0"/>
              <a:t>(free)</a:t>
            </a:r>
          </a:p>
          <a:p>
            <a:endParaRPr lang="en-US" dirty="0"/>
          </a:p>
        </p:txBody>
      </p:sp>
    </p:spTree>
    <p:extLst>
      <p:ext uri="{BB962C8B-B14F-4D97-AF65-F5344CB8AC3E}">
        <p14:creationId xmlns:p14="http://schemas.microsoft.com/office/powerpoint/2010/main" val="9779654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this week</a:t>
            </a:r>
          </a:p>
        </p:txBody>
      </p:sp>
      <p:sp>
        <p:nvSpPr>
          <p:cNvPr id="5" name="Content Placeholder 4"/>
          <p:cNvSpPr>
            <a:spLocks noGrp="1"/>
          </p:cNvSpPr>
          <p:nvPr>
            <p:ph idx="1"/>
          </p:nvPr>
        </p:nvSpPr>
        <p:spPr/>
        <p:txBody>
          <a:bodyPr>
            <a:normAutofit lnSpcReduction="10000"/>
          </a:bodyPr>
          <a:lstStyle/>
          <a:p>
            <a:r>
              <a:rPr lang="en-US" b="1" dirty="0">
                <a:solidFill>
                  <a:schemeClr val="accent6">
                    <a:lumMod val="75000"/>
                  </a:schemeClr>
                </a:solidFill>
              </a:rPr>
              <a:t>No discussion sections</a:t>
            </a:r>
          </a:p>
          <a:p>
            <a:pPr lvl="1"/>
            <a:r>
              <a:rPr lang="en-US" dirty="0"/>
              <a:t>Sections will start next week</a:t>
            </a:r>
          </a:p>
          <a:p>
            <a:r>
              <a:rPr lang="en-US" b="1" dirty="0">
                <a:solidFill>
                  <a:schemeClr val="accent6">
                    <a:lumMod val="75000"/>
                  </a:schemeClr>
                </a:solidFill>
              </a:rPr>
              <a:t>Install </a:t>
            </a:r>
            <a:r>
              <a:rPr lang="en-US" dirty="0">
                <a:hlinkClick r:id="rId2"/>
              </a:rPr>
              <a:t>Visual Studio Community 2017</a:t>
            </a:r>
            <a:endParaRPr lang="en-US" dirty="0"/>
          </a:p>
          <a:p>
            <a:pPr lvl="1"/>
            <a:r>
              <a:rPr lang="en-US" dirty="0"/>
              <a:t>Upgrade if you have 2015</a:t>
            </a:r>
          </a:p>
          <a:p>
            <a:r>
              <a:rPr lang="en-US" dirty="0"/>
              <a:t>Install </a:t>
            </a:r>
            <a:r>
              <a:rPr lang="en-US" dirty="0" err="1">
                <a:hlinkClick r:id="rId3"/>
              </a:rPr>
              <a:t>ReSharper</a:t>
            </a:r>
            <a:endParaRPr lang="en-US" dirty="0"/>
          </a:p>
          <a:p>
            <a:pPr lvl="1"/>
            <a:r>
              <a:rPr lang="en-US" dirty="0"/>
              <a:t>Free, but you have to apply for a license and wait to hear back</a:t>
            </a:r>
          </a:p>
          <a:p>
            <a:r>
              <a:rPr lang="en-US" dirty="0"/>
              <a:t>Optional</a:t>
            </a:r>
          </a:p>
          <a:p>
            <a:pPr lvl="1"/>
            <a:r>
              <a:rPr lang="en-US" dirty="0"/>
              <a:t>Read Whitaker, parts 2,3 and chapters 27 and 37</a:t>
            </a:r>
          </a:p>
        </p:txBody>
      </p:sp>
    </p:spTree>
    <p:extLst>
      <p:ext uri="{BB962C8B-B14F-4D97-AF65-F5344CB8AC3E}">
        <p14:creationId xmlns:p14="http://schemas.microsoft.com/office/powerpoint/2010/main" val="1951470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2294</TotalTime>
  <Words>3189</Words>
  <Application>Microsoft Office PowerPoint</Application>
  <PresentationFormat>On-screen Show (4:3)</PresentationFormat>
  <Paragraphs>593</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Kootenay</vt:lpstr>
      <vt:lpstr>Symbol</vt:lpstr>
      <vt:lpstr>Office Theme</vt:lpstr>
      <vt:lpstr>Introduction to Data Structures and Algorithms</vt:lpstr>
      <vt:lpstr>Introduction to Data Structures and Algorithms</vt:lpstr>
      <vt:lpstr>What do we study when we study algorithms?</vt:lpstr>
      <vt:lpstr>What do we study     when we study algorithms?</vt:lpstr>
      <vt:lpstr>Example: searching</vt:lpstr>
      <vt:lpstr>Solution 1: brute force</vt:lpstr>
      <vt:lpstr>How fast is it?</vt:lpstr>
      <vt:lpstr>Complexity analysis</vt:lpstr>
      <vt:lpstr>Complexity analysis</vt:lpstr>
      <vt:lpstr>Asymptotic complexity notation</vt:lpstr>
      <vt:lpstr>Asymptotic complexity notation</vt:lpstr>
      <vt:lpstr>Great, but does our algorithm actually work?</vt:lpstr>
      <vt:lpstr>Formal proof</vt:lpstr>
      <vt:lpstr>Formal proof</vt:lpstr>
      <vt:lpstr>Formal proof</vt:lpstr>
      <vt:lpstr>Weak correctness (if you get an answer, it’s right)</vt:lpstr>
      <vt:lpstr>Weak correctness (if you get an answer, it’s right)</vt:lpstr>
      <vt:lpstr>Weak correctness (if you get an answer, it’s right)</vt:lpstr>
      <vt:lpstr>Weak correctness (if you get an answer, it’s right)</vt:lpstr>
      <vt:lpstr>Weak correctness (if you get an answer, it’s right)</vt:lpstr>
      <vt:lpstr>Proving termination</vt:lpstr>
      <vt:lpstr>Proving termination</vt:lpstr>
      <vt:lpstr>Proving termination</vt:lpstr>
      <vt:lpstr>Proving termination</vt:lpstr>
      <vt:lpstr>Proving termination</vt:lpstr>
      <vt:lpstr>Proving termination</vt:lpstr>
      <vt:lpstr>enough brute force …</vt:lpstr>
      <vt:lpstr>Solution 2: binary search</vt:lpstr>
      <vt:lpstr>Divide and conquer</vt:lpstr>
      <vt:lpstr>Divide and conquer</vt:lpstr>
      <vt:lpstr>Pseudocode</vt:lpstr>
      <vt:lpstr>How fast is it?</vt:lpstr>
      <vt:lpstr>How fast is it?</vt:lpstr>
      <vt:lpstr>How fast is it?</vt:lpstr>
      <vt:lpstr>How fast is it?</vt:lpstr>
      <vt:lpstr>Is O(log n) good?</vt:lpstr>
      <vt:lpstr>But wait!</vt:lpstr>
      <vt:lpstr>Uh oh…</vt:lpstr>
      <vt:lpstr>Or maybe not …</vt:lpstr>
      <vt:lpstr>Asymptotic performance</vt:lpstr>
      <vt:lpstr>What do we study     when we study algorithms?</vt:lpstr>
      <vt:lpstr>But wait!</vt:lpstr>
      <vt:lpstr>But wait!</vt:lpstr>
      <vt:lpstr>Brute force    doesn’t look so bad now …</vt:lpstr>
      <vt:lpstr>Data structures matter</vt:lpstr>
      <vt:lpstr>Introduction to Data Structures and Algorithms</vt:lpstr>
      <vt:lpstr>Introduction to Data Structures for Algorithms</vt:lpstr>
      <vt:lpstr>administrivia</vt:lpstr>
      <vt:lpstr>Teaching staff</vt:lpstr>
      <vt:lpstr>Prerequisites</vt:lpstr>
      <vt:lpstr>Optional text</vt:lpstr>
      <vt:lpstr>Optional text</vt:lpstr>
      <vt:lpstr>Grading</vt:lpstr>
      <vt:lpstr>Final exam conflicts</vt:lpstr>
      <vt:lpstr>Software and programming language</vt:lpstr>
      <vt:lpstr>Programming assignments</vt:lpstr>
      <vt:lpstr>Late policy</vt:lpstr>
      <vt:lpstr>Cheating policy</vt:lpstr>
      <vt:lpstr>Seriously: don’t cheat</vt:lpstr>
      <vt:lpstr>Why you should use C#</vt:lpstr>
      <vt:lpstr>Tentative schedule by week</vt:lpstr>
      <vt:lpstr>FAQ</vt:lpstr>
      <vt:lpstr>For this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Structures and Algorithms</dc:title>
  <dc:creator>Ian Horswill</dc:creator>
  <cp:lastModifiedBy>Ian Horswill</cp:lastModifiedBy>
  <cp:revision>233</cp:revision>
  <dcterms:created xsi:type="dcterms:W3CDTF">2010-03-27T22:31:10Z</dcterms:created>
  <dcterms:modified xsi:type="dcterms:W3CDTF">2019-04-01T17:35:22Z</dcterms:modified>
</cp:coreProperties>
</file>