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85"/>
  </p:notesMasterIdLst>
  <p:sldIdLst>
    <p:sldId id="256" r:id="rId2"/>
    <p:sldId id="267" r:id="rId3"/>
    <p:sldId id="268" r:id="rId4"/>
    <p:sldId id="269" r:id="rId5"/>
    <p:sldId id="257" r:id="rId6"/>
    <p:sldId id="272" r:id="rId7"/>
    <p:sldId id="258" r:id="rId8"/>
    <p:sldId id="273" r:id="rId9"/>
    <p:sldId id="274" r:id="rId10"/>
    <p:sldId id="275" r:id="rId11"/>
    <p:sldId id="276" r:id="rId12"/>
    <p:sldId id="279" r:id="rId13"/>
    <p:sldId id="280" r:id="rId14"/>
    <p:sldId id="283" r:id="rId15"/>
    <p:sldId id="286" r:id="rId16"/>
    <p:sldId id="277" r:id="rId17"/>
    <p:sldId id="278" r:id="rId18"/>
    <p:sldId id="282" r:id="rId19"/>
    <p:sldId id="284" r:id="rId20"/>
    <p:sldId id="285" r:id="rId21"/>
    <p:sldId id="287" r:id="rId22"/>
    <p:sldId id="288" r:id="rId23"/>
    <p:sldId id="289" r:id="rId24"/>
    <p:sldId id="290" r:id="rId25"/>
    <p:sldId id="292" r:id="rId26"/>
    <p:sldId id="364" r:id="rId27"/>
    <p:sldId id="291" r:id="rId28"/>
    <p:sldId id="293" r:id="rId29"/>
    <p:sldId id="294" r:id="rId30"/>
    <p:sldId id="295" r:id="rId31"/>
    <p:sldId id="296" r:id="rId32"/>
    <p:sldId id="309" r:id="rId33"/>
    <p:sldId id="310" r:id="rId34"/>
    <p:sldId id="261" r:id="rId35"/>
    <p:sldId id="297" r:id="rId36"/>
    <p:sldId id="298" r:id="rId37"/>
    <p:sldId id="300" r:id="rId38"/>
    <p:sldId id="301" r:id="rId39"/>
    <p:sldId id="302" r:id="rId40"/>
    <p:sldId id="299" r:id="rId41"/>
    <p:sldId id="303" r:id="rId42"/>
    <p:sldId id="262" r:id="rId43"/>
    <p:sldId id="304" r:id="rId44"/>
    <p:sldId id="305" r:id="rId45"/>
    <p:sldId id="306" r:id="rId46"/>
    <p:sldId id="365" r:id="rId47"/>
    <p:sldId id="366" r:id="rId48"/>
    <p:sldId id="367" r:id="rId49"/>
    <p:sldId id="368" r:id="rId50"/>
    <p:sldId id="369" r:id="rId51"/>
    <p:sldId id="264" r:id="rId52"/>
    <p:sldId id="307" r:id="rId53"/>
    <p:sldId id="308" r:id="rId54"/>
    <p:sldId id="311" r:id="rId55"/>
    <p:sldId id="314" r:id="rId56"/>
    <p:sldId id="313" r:id="rId57"/>
    <p:sldId id="315" r:id="rId58"/>
    <p:sldId id="317" r:id="rId59"/>
    <p:sldId id="318" r:id="rId60"/>
    <p:sldId id="319" r:id="rId61"/>
    <p:sldId id="356" r:id="rId62"/>
    <p:sldId id="357" r:id="rId63"/>
    <p:sldId id="320" r:id="rId64"/>
    <p:sldId id="312" r:id="rId65"/>
    <p:sldId id="321" r:id="rId66"/>
    <p:sldId id="322" r:id="rId67"/>
    <p:sldId id="323" r:id="rId68"/>
    <p:sldId id="360" r:id="rId69"/>
    <p:sldId id="324" r:id="rId70"/>
    <p:sldId id="370" r:id="rId71"/>
    <p:sldId id="358" r:id="rId72"/>
    <p:sldId id="359" r:id="rId73"/>
    <p:sldId id="326" r:id="rId74"/>
    <p:sldId id="349" r:id="rId75"/>
    <p:sldId id="350" r:id="rId76"/>
    <p:sldId id="351" r:id="rId77"/>
    <p:sldId id="352" r:id="rId78"/>
    <p:sldId id="353" r:id="rId79"/>
    <p:sldId id="355" r:id="rId80"/>
    <p:sldId id="362" r:id="rId81"/>
    <p:sldId id="363" r:id="rId82"/>
    <p:sldId id="361" r:id="rId83"/>
    <p:sldId id="271" r:id="rId84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0" autoAdjust="0"/>
    <p:restoredTop sz="86376" autoAdjust="0"/>
  </p:normalViewPr>
  <p:slideViewPr>
    <p:cSldViewPr>
      <p:cViewPr varScale="1">
        <p:scale>
          <a:sx n="91" d="100"/>
          <a:sy n="91" d="100"/>
        </p:scale>
        <p:origin x="108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30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95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6C1D8E2-5726-4B5F-A455-3FCFDC67DCD6}" type="datetimeFigureOut">
              <a:rPr lang="en-US" smtClean="0"/>
              <a:t>5/3/2019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681918D-2DDB-4C7A-95BE-B58B1B7F6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18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63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15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45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06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02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26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22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6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73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85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905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90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45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98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47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83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441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748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001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085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7088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588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87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597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818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319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925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938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169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169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629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824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2084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121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072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742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450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602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660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9417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88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534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07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795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11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6749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6490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1534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149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840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680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970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6025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5344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58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3023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4583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273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554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2998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5566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6738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492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0352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7181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777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5826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4707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8611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1820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3453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8192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3131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0692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2947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8776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81918D-2DDB-4C7A-95BE-B58B1B7F6AFF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613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86200"/>
            <a:ext cx="7772400" cy="1470025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34000"/>
            <a:ext cx="6400800" cy="762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4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20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80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88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0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18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8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7F9AA-A437-4C1D-B7A7-132C663DC277}" type="datetimeFigureOut">
              <a:rPr lang="en-US" smtClean="0"/>
              <a:t>5/3/2019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6550D-5249-4695-AA6F-4029ECE97D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8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78F7F9AA-A437-4C1D-B7A7-132C663DC277}" type="datetimeFigureOut">
              <a:rPr lang="en-US" smtClean="0"/>
              <a:pPr/>
              <a:t>5/3/2019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4A6550D-5249-4695-AA6F-4029ECE97D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>
                <a:ea typeface="Verdana" pitchFamily="34" charset="0"/>
                <a:cs typeface="Verdana" pitchFamily="34" charset="0"/>
              </a:rPr>
              <a:t>Lecture 9</a:t>
            </a:r>
            <a:r>
              <a:rPr lang="en-US" dirty="0">
                <a:ea typeface="Verdana" pitchFamily="34" charset="0"/>
                <a:cs typeface="Verdana" pitchFamily="34" charset="0"/>
              </a:rPr>
              <a:t/>
            </a:r>
            <a:br>
              <a:rPr lang="en-US" dirty="0">
                <a:ea typeface="Verdana" pitchFamily="34" charset="0"/>
                <a:cs typeface="Verdana" pitchFamily="34" charset="0"/>
              </a:rPr>
            </a:br>
            <a:r>
              <a:rPr lang="en-US" dirty="0">
                <a:ea typeface="Verdana" pitchFamily="34" charset="0"/>
                <a:cs typeface="Verdana" pitchFamily="34" charset="0"/>
              </a:rPr>
              <a:t>Hash tables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EECS-214</a:t>
            </a:r>
          </a:p>
        </p:txBody>
      </p:sp>
    </p:spTree>
    <p:extLst>
      <p:ext uri="{BB962C8B-B14F-4D97-AF65-F5344CB8AC3E}">
        <p14:creationId xmlns:p14="http://schemas.microsoft.com/office/powerpoint/2010/main" val="115332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A.k.a.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associative array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map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mapping</a:t>
            </a:r>
          </a:p>
          <a:p>
            <a:endParaRPr lang="en-US" dirty="0"/>
          </a:p>
          <a:p>
            <a:r>
              <a:rPr lang="en-US" dirty="0"/>
              <a:t>Data structure that holds associations between pairs of objects called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keys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values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Simplified interface</a:t>
            </a:r>
            <a:br>
              <a:rPr lang="en-US" dirty="0"/>
            </a:br>
            <a:r>
              <a:rPr lang="en-US" dirty="0"/>
              <a:t>(we’ll talk more about dictionaries later):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dict.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Store</a:t>
            </a:r>
            <a:r>
              <a:rPr lang="en-US" dirty="0"/>
              <a:t>(key, value)</a:t>
            </a:r>
          </a:p>
          <a:p>
            <a:pPr lvl="1"/>
            <a:r>
              <a:rPr lang="en-US" dirty="0"/>
              <a:t>Adds key to dictionary with associated value</a:t>
            </a:r>
          </a:p>
          <a:p>
            <a:pPr lvl="1"/>
            <a:r>
              <a:rPr lang="en-US" dirty="0"/>
              <a:t>We’ll assume that if the key is already present, this changes its value</a:t>
            </a:r>
          </a:p>
          <a:p>
            <a:r>
              <a:rPr lang="en-US" dirty="0" err="1"/>
              <a:t>dict.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Lookup</a:t>
            </a:r>
            <a:r>
              <a:rPr lang="en-US" dirty="0"/>
              <a:t>(key)</a:t>
            </a:r>
          </a:p>
          <a:p>
            <a:pPr lvl="1"/>
            <a:r>
              <a:rPr lang="en-US" dirty="0"/>
              <a:t>Returns value associated with key in </a:t>
            </a:r>
            <a:r>
              <a:rPr lang="en-US" dirty="0" err="1"/>
              <a:t>dict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685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</a:t>
            </a:r>
            <a:r>
              <a:rPr lang="en-US" baseline="0" dirty="0"/>
              <a:t> dictionaries with association lists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221163"/>
          </a:xfrm>
        </p:spPr>
        <p:txBody>
          <a:bodyPr/>
          <a:lstStyle/>
          <a:p>
            <a:r>
              <a:rPr lang="en-US" dirty="0"/>
              <a:t>The simplest possible implementation of dictionaries is as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linked list </a:t>
            </a:r>
            <a:r>
              <a:rPr lang="en-US" dirty="0"/>
              <a:t>of key/value pairs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221163"/>
          </a:xfrm>
        </p:spPr>
        <p:txBody>
          <a:bodyPr/>
          <a:lstStyle/>
          <a:p>
            <a:r>
              <a:rPr lang="en-US" dirty="0"/>
              <a:t>Each cell has three fields</a:t>
            </a:r>
          </a:p>
          <a:p>
            <a:pPr lvl="1"/>
            <a:r>
              <a:rPr lang="en-US" dirty="0"/>
              <a:t>Key</a:t>
            </a:r>
          </a:p>
          <a:p>
            <a:pPr lvl="1"/>
            <a:r>
              <a:rPr lang="en-US" dirty="0"/>
              <a:t>Value</a:t>
            </a:r>
          </a:p>
          <a:p>
            <a:pPr lvl="1"/>
            <a:r>
              <a:rPr lang="en-US" dirty="0"/>
              <a:t>Link to next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64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98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052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86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912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46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stCxn id="8" idx="3"/>
            <a:endCxn id="9" idx="1"/>
          </p:cNvCxnSpPr>
          <p:nvPr/>
        </p:nvCxnSpPr>
        <p:spPr>
          <a:xfrm>
            <a:off x="2743200" y="5295900"/>
            <a:ext cx="762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1" idx="3"/>
            <a:endCxn id="12" idx="1"/>
          </p:cNvCxnSpPr>
          <p:nvPr/>
        </p:nvCxnSpPr>
        <p:spPr>
          <a:xfrm>
            <a:off x="5105400" y="5295900"/>
            <a:ext cx="685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3"/>
          </p:cNvCxnSpPr>
          <p:nvPr/>
        </p:nvCxnSpPr>
        <p:spPr>
          <a:xfrm>
            <a:off x="7391400" y="5295900"/>
            <a:ext cx="6096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943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Implementing</a:t>
            </a:r>
            <a:r>
              <a:rPr lang="en-US" baseline="0" dirty="0"/>
              <a:t> dictionaries with association lists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905000"/>
                <a:ext cx="4038600" cy="422116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This isn’t a great representation because lookup requires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dirty="0"/>
                  <a:t> time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905000"/>
                <a:ext cx="4038600" cy="4221163"/>
              </a:xfrm>
              <a:blipFill rotWithShape="0">
                <a:blip r:embed="rId3"/>
                <a:stretch>
                  <a:fillRect l="-2262" t="-1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0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905000"/>
                <a:ext cx="4038600" cy="259079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Last time, we looked at tree structures that can do lookup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𝒍𝒐𝒈</m:t>
                        </m:r>
                      </m:fName>
                      <m:e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time</a:t>
                </a:r>
              </a:p>
              <a:p>
                <a:r>
                  <a:rPr lang="en-US" dirty="0"/>
                  <a:t>Today we’ll look at structures for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dirty="0"/>
                  <a:t> time</a:t>
                </a:r>
              </a:p>
            </p:txBody>
          </p:sp>
        </mc:Choice>
        <mc:Fallback xmlns="">
          <p:sp>
            <p:nvSpPr>
              <p:cNvPr id="21" name="Content Placeholder 2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905000"/>
                <a:ext cx="4038600" cy="2590799"/>
              </a:xfrm>
              <a:blipFill rotWithShape="0">
                <a:blip r:embed="rId4"/>
                <a:stretch>
                  <a:fillRect l="-2417" t="-2123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1430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64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98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052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86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912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46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5029200"/>
            <a:ext cx="533400" cy="5334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stCxn id="8" idx="3"/>
            <a:endCxn id="9" idx="1"/>
          </p:cNvCxnSpPr>
          <p:nvPr/>
        </p:nvCxnSpPr>
        <p:spPr>
          <a:xfrm>
            <a:off x="2743200" y="5295900"/>
            <a:ext cx="762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1" idx="3"/>
            <a:endCxn id="12" idx="1"/>
          </p:cNvCxnSpPr>
          <p:nvPr/>
        </p:nvCxnSpPr>
        <p:spPr>
          <a:xfrm>
            <a:off x="5105400" y="5295900"/>
            <a:ext cx="685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3"/>
          </p:cNvCxnSpPr>
          <p:nvPr/>
        </p:nvCxnSpPr>
        <p:spPr>
          <a:xfrm>
            <a:off x="7391400" y="5295900"/>
            <a:ext cx="6096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68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as dictionaries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Arrays can be thought of as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special kind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of dictionary</a:t>
                </a:r>
              </a:p>
              <a:p>
                <a:pPr lvl="1"/>
                <a:r>
                  <a:rPr lang="en-US" dirty="0"/>
                  <a:t>Keys are always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small integers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{0, 1, 2, …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 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Excellent performance: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for all operations</a:t>
                </a:r>
              </a:p>
              <a:p>
                <a:r>
                  <a:rPr lang="en-US" dirty="0"/>
                  <a:t>Limited utility because of limited keys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3"/>
                <a:stretch>
                  <a:fillRect l="-2715" t="-2291" r="-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4800600" y="2667000"/>
            <a:ext cx="457200" cy="4572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57800" y="2667000"/>
            <a:ext cx="457200" cy="4572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15000" y="2667000"/>
            <a:ext cx="457200" cy="4572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72200" y="2667000"/>
            <a:ext cx="457200" cy="4572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29400" y="2667000"/>
            <a:ext cx="457200" cy="4572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086600" y="2667000"/>
            <a:ext cx="457200" cy="4572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43800" y="2667000"/>
            <a:ext cx="457200" cy="4572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01000" y="2667000"/>
            <a:ext cx="457200" cy="4572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664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can’t everything be like arrays?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76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addressing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5052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Assign numbers</a:t>
            </a:r>
            <a:r>
              <a:rPr lang="en-US" dirty="0"/>
              <a:t> to all possible keys in advance</a:t>
            </a:r>
          </a:p>
          <a:p>
            <a:r>
              <a:rPr lang="en-US" dirty="0"/>
              <a:t>Make an array as big as the set of all keys 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Store value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associated with key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 array slot </a:t>
            </a:r>
            <a:r>
              <a:rPr lang="en-US" dirty="0"/>
              <a:t>corresponding to the key’s number</a:t>
            </a:r>
          </a:p>
          <a:p>
            <a:pPr lvl="1"/>
            <a:r>
              <a:rPr lang="en-US" dirty="0"/>
              <a:t>Value associated with Monday is in a[2]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86277736"/>
              </p:ext>
            </p:extLst>
          </p:nvPr>
        </p:nvGraphicFramePr>
        <p:xfrm>
          <a:off x="5791200" y="1986280"/>
          <a:ext cx="2514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3048000" y="5263634"/>
            <a:ext cx="685800" cy="1131332"/>
            <a:chOff x="3048000" y="5269468"/>
            <a:chExt cx="685800" cy="1131332"/>
          </a:xfrm>
        </p:grpSpPr>
        <p:sp>
          <p:nvSpPr>
            <p:cNvPr id="7" name="Rectangle 6"/>
            <p:cNvSpPr/>
            <p:nvPr/>
          </p:nvSpPr>
          <p:spPr>
            <a:xfrm>
              <a:off x="3048000" y="5715000"/>
              <a:ext cx="685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52950" y="5269468"/>
              <a:ext cx="4759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Sat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733800" y="5263634"/>
            <a:ext cx="685800" cy="1131332"/>
            <a:chOff x="3048000" y="5269468"/>
            <a:chExt cx="685800" cy="1131332"/>
          </a:xfrm>
        </p:grpSpPr>
        <p:sp>
          <p:nvSpPr>
            <p:cNvPr id="17" name="Rectangle 16"/>
            <p:cNvSpPr/>
            <p:nvPr/>
          </p:nvSpPr>
          <p:spPr>
            <a:xfrm>
              <a:off x="3048000" y="5715000"/>
              <a:ext cx="685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123839" y="5269468"/>
              <a:ext cx="5341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Sun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419600" y="5263634"/>
            <a:ext cx="685800" cy="1131332"/>
            <a:chOff x="3048000" y="5269468"/>
            <a:chExt cx="685800" cy="1131332"/>
          </a:xfrm>
        </p:grpSpPr>
        <p:sp>
          <p:nvSpPr>
            <p:cNvPr id="20" name="Rectangle 19"/>
            <p:cNvSpPr/>
            <p:nvPr/>
          </p:nvSpPr>
          <p:spPr>
            <a:xfrm>
              <a:off x="3048000" y="5715000"/>
              <a:ext cx="685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078154" y="5269468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Mon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105400" y="5263634"/>
            <a:ext cx="685800" cy="1131332"/>
            <a:chOff x="3048000" y="5269468"/>
            <a:chExt cx="685800" cy="1131332"/>
          </a:xfrm>
        </p:grpSpPr>
        <p:sp>
          <p:nvSpPr>
            <p:cNvPr id="23" name="Rectangle 22"/>
            <p:cNvSpPr/>
            <p:nvPr/>
          </p:nvSpPr>
          <p:spPr>
            <a:xfrm>
              <a:off x="3048000" y="5715000"/>
              <a:ext cx="685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130989" y="5269468"/>
              <a:ext cx="5198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Tue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791200" y="5263634"/>
            <a:ext cx="685800" cy="1131332"/>
            <a:chOff x="3048000" y="5269468"/>
            <a:chExt cx="685800" cy="1131332"/>
          </a:xfrm>
        </p:grpSpPr>
        <p:sp>
          <p:nvSpPr>
            <p:cNvPr id="26" name="Rectangle 25"/>
            <p:cNvSpPr/>
            <p:nvPr/>
          </p:nvSpPr>
          <p:spPr>
            <a:xfrm>
              <a:off x="3048000" y="5715000"/>
              <a:ext cx="685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081584" y="5269468"/>
              <a:ext cx="6186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Wed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477000" y="5263634"/>
            <a:ext cx="685800" cy="1131332"/>
            <a:chOff x="3048000" y="5269468"/>
            <a:chExt cx="685800" cy="1131332"/>
          </a:xfrm>
        </p:grpSpPr>
        <p:sp>
          <p:nvSpPr>
            <p:cNvPr id="29" name="Rectangle 28"/>
            <p:cNvSpPr/>
            <p:nvPr/>
          </p:nvSpPr>
          <p:spPr>
            <a:xfrm>
              <a:off x="3048000" y="5715000"/>
              <a:ext cx="685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080559" y="5269468"/>
              <a:ext cx="6206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Thur</a:t>
              </a:r>
              <a:endParaRPr lang="en-US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162800" y="5263634"/>
            <a:ext cx="685800" cy="1131332"/>
            <a:chOff x="3048000" y="5269468"/>
            <a:chExt cx="685800" cy="1131332"/>
          </a:xfrm>
        </p:grpSpPr>
        <p:sp>
          <p:nvSpPr>
            <p:cNvPr id="32" name="Rectangle 31"/>
            <p:cNvSpPr/>
            <p:nvPr/>
          </p:nvSpPr>
          <p:spPr>
            <a:xfrm>
              <a:off x="3048000" y="5715000"/>
              <a:ext cx="685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179143" y="5269468"/>
              <a:ext cx="423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Fri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591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addressing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1"/>
                <a:ext cx="4038600" cy="419100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More formally,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 be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universe (set) of keys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𝑈</m:t>
                        </m:r>
                      </m:e>
                    </m:d>
                  </m:oMath>
                </a14:m>
                <a:r>
                  <a:rPr lang="en-US" dirty="0"/>
                  <a:t> be the number of elements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Define a 1:1, onto, “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hash</a:t>
                </a:r>
                <a:r>
                  <a:rPr lang="en-US" dirty="0">
                    <a:solidFill>
                      <a:schemeClr val="tx1"/>
                    </a:solidFill>
                  </a:rPr>
                  <a:t>”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function</a:t>
                </a:r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h</m:t>
                    </m:r>
                    <m:r>
                      <a:rPr lang="en-US" i="1" dirty="0" smtClean="0">
                        <a:latin typeface="Cambria Math"/>
                      </a:rPr>
                      <m:t> :</m:t>
                    </m:r>
                    <m:r>
                      <a:rPr lang="en-US" i="1" dirty="0" smtClean="0">
                        <a:latin typeface="Cambria Math"/>
                      </a:rPr>
                      <m:t>𝑈</m:t>
                    </m:r>
                    <m:r>
                      <a:rPr lang="en-US" i="1" dirty="0" smtClean="0">
                        <a:latin typeface="Cambria Math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0, 1, …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/>
                              </a:rPr>
                              <m:t>𝑈</m:t>
                            </m:r>
                          </m:e>
                        </m:d>
                        <m:r>
                          <a:rPr lang="en-US" i="1" dirty="0" smtClean="0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>that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associates a number with every key</a:t>
                </a:r>
              </a:p>
              <a:p>
                <a:r>
                  <a:rPr lang="en-US" dirty="0"/>
                  <a:t>For any key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𝑢</m:t>
                    </m:r>
                    <m:r>
                      <a:rPr lang="en-US" i="1" dirty="0" smtClean="0">
                        <a:latin typeface="Cambria Math"/>
                      </a:rPr>
                      <m:t>∈</m:t>
                    </m:r>
                    <m:r>
                      <a:rPr lang="en-US" i="1" dirty="0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, store value associated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en-US" dirty="0"/>
                  <a:t> in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a[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𝒉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[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𝒖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]</a:t>
                </a:r>
                <a:endParaRPr lang="en-US" b="1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1"/>
                <a:ext cx="4038600" cy="4191000"/>
              </a:xfrm>
              <a:blipFill rotWithShape="0">
                <a:blip r:embed="rId3"/>
                <a:stretch>
                  <a:fillRect l="-1961" t="-2038" b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/>
                        </a:rPr>
                        <m:t>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3581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0386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495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9530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102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867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3246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781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772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2296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315200" y="60960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2" name="Straight Arrow Connector 11"/>
          <p:cNvCxnSpPr>
            <a:endCxn id="35" idx="0"/>
          </p:cNvCxnSpPr>
          <p:nvPr/>
        </p:nvCxnSpPr>
        <p:spPr>
          <a:xfrm flipH="1">
            <a:off x="4267200" y="3962400"/>
            <a:ext cx="1981200" cy="21336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8" idx="0"/>
          </p:cNvCxnSpPr>
          <p:nvPr/>
        </p:nvCxnSpPr>
        <p:spPr>
          <a:xfrm flipH="1">
            <a:off x="5638800" y="4129253"/>
            <a:ext cx="914400" cy="196674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0" idx="0"/>
          </p:cNvCxnSpPr>
          <p:nvPr/>
        </p:nvCxnSpPr>
        <p:spPr>
          <a:xfrm flipH="1">
            <a:off x="6553200" y="4419600"/>
            <a:ext cx="430348" cy="1676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43" idx="0"/>
          </p:cNvCxnSpPr>
          <p:nvPr/>
        </p:nvCxnSpPr>
        <p:spPr>
          <a:xfrm>
            <a:off x="7467600" y="4147066"/>
            <a:ext cx="990600" cy="1948934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36" idx="0"/>
          </p:cNvCxnSpPr>
          <p:nvPr/>
        </p:nvCxnSpPr>
        <p:spPr>
          <a:xfrm flipH="1">
            <a:off x="4724400" y="2514600"/>
            <a:ext cx="2259148" cy="3581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7" idx="0"/>
          </p:cNvCxnSpPr>
          <p:nvPr/>
        </p:nvCxnSpPr>
        <p:spPr>
          <a:xfrm flipH="1">
            <a:off x="5181600" y="2895600"/>
            <a:ext cx="533400" cy="3200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9" idx="0"/>
          </p:cNvCxnSpPr>
          <p:nvPr/>
        </p:nvCxnSpPr>
        <p:spPr>
          <a:xfrm flipH="1">
            <a:off x="6096000" y="2133600"/>
            <a:ext cx="228600" cy="3962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41" idx="0"/>
          </p:cNvCxnSpPr>
          <p:nvPr/>
        </p:nvCxnSpPr>
        <p:spPr>
          <a:xfrm flipH="1">
            <a:off x="7010400" y="2133600"/>
            <a:ext cx="648164" cy="3962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42" idx="0"/>
          </p:cNvCxnSpPr>
          <p:nvPr/>
        </p:nvCxnSpPr>
        <p:spPr>
          <a:xfrm>
            <a:off x="7962900" y="2667000"/>
            <a:ext cx="38100" cy="34290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endCxn id="34" idx="0"/>
          </p:cNvCxnSpPr>
          <p:nvPr/>
        </p:nvCxnSpPr>
        <p:spPr>
          <a:xfrm flipH="1">
            <a:off x="3810000" y="3657600"/>
            <a:ext cx="1638300" cy="2438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14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addressing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191000"/>
          </a:xfrm>
        </p:spPr>
        <p:txBody>
          <a:bodyPr>
            <a:normAutofit/>
          </a:bodyPr>
          <a:lstStyle/>
          <a:p>
            <a:r>
              <a:rPr lang="en-US" dirty="0"/>
              <a:t>The array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as big as the key space</a:t>
            </a:r>
          </a:p>
          <a:p>
            <a:r>
              <a:rPr lang="en-US" dirty="0"/>
              <a:t>This is a problem when</a:t>
            </a:r>
          </a:p>
          <a:p>
            <a:pPr lvl="1"/>
            <a:r>
              <a:rPr lang="en-US" dirty="0"/>
              <a:t>The dictionary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sparse </a:t>
            </a:r>
            <a:r>
              <a:rPr lang="en-US" dirty="0"/>
              <a:t>(many fewer entries than possible keys)</a:t>
            </a:r>
          </a:p>
          <a:p>
            <a:pPr lvl="1"/>
            <a:r>
              <a:rPr lang="en-US" dirty="0"/>
              <a:t>The key space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infinite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/>
                        </a:rPr>
                        <m:t>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5486400" y="3048000"/>
            <a:ext cx="2590800" cy="20574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keys in 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1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038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495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9530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102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867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324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781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772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229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315200" y="60960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2" name="Straight Arrow Connector 11"/>
          <p:cNvCxnSpPr>
            <a:endCxn id="35" idx="0"/>
          </p:cNvCxnSpPr>
          <p:nvPr/>
        </p:nvCxnSpPr>
        <p:spPr>
          <a:xfrm flipH="1">
            <a:off x="4267200" y="3962400"/>
            <a:ext cx="1981200" cy="21336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8" idx="0"/>
          </p:cNvCxnSpPr>
          <p:nvPr/>
        </p:nvCxnSpPr>
        <p:spPr>
          <a:xfrm flipH="1">
            <a:off x="5638800" y="4129253"/>
            <a:ext cx="914400" cy="196674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0" idx="0"/>
          </p:cNvCxnSpPr>
          <p:nvPr/>
        </p:nvCxnSpPr>
        <p:spPr>
          <a:xfrm flipH="1">
            <a:off x="6553200" y="4419600"/>
            <a:ext cx="430348" cy="1676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43" idx="0"/>
          </p:cNvCxnSpPr>
          <p:nvPr/>
        </p:nvCxnSpPr>
        <p:spPr>
          <a:xfrm>
            <a:off x="7467600" y="4147066"/>
            <a:ext cx="990600" cy="1948934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941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addressing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191000"/>
          </a:xfrm>
        </p:spPr>
        <p:txBody>
          <a:bodyPr>
            <a:normAutofit/>
          </a:bodyPr>
          <a:lstStyle/>
          <a:p>
            <a:r>
              <a:rPr lang="en-US" dirty="0"/>
              <a:t>What if we just use a smaller array 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hope for the best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/>
                        </a:rPr>
                        <m:t>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5486400" y="3048000"/>
            <a:ext cx="2590800" cy="20574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keys in 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1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038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495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9530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102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867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324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781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772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229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315200" y="60960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2" name="Straight Arrow Connector 11"/>
          <p:cNvCxnSpPr>
            <a:endCxn id="35" idx="0"/>
          </p:cNvCxnSpPr>
          <p:nvPr/>
        </p:nvCxnSpPr>
        <p:spPr>
          <a:xfrm flipH="1">
            <a:off x="4267200" y="3962400"/>
            <a:ext cx="1981200" cy="21336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8" idx="0"/>
          </p:cNvCxnSpPr>
          <p:nvPr/>
        </p:nvCxnSpPr>
        <p:spPr>
          <a:xfrm flipH="1">
            <a:off x="5638800" y="4129253"/>
            <a:ext cx="914400" cy="1966747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0" idx="0"/>
          </p:cNvCxnSpPr>
          <p:nvPr/>
        </p:nvCxnSpPr>
        <p:spPr>
          <a:xfrm flipH="1">
            <a:off x="6553200" y="4419600"/>
            <a:ext cx="430348" cy="1676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43" idx="0"/>
          </p:cNvCxnSpPr>
          <p:nvPr/>
        </p:nvCxnSpPr>
        <p:spPr>
          <a:xfrm>
            <a:off x="7467600" y="4147066"/>
            <a:ext cx="990600" cy="1948934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89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Shrinking the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1"/>
                <a:ext cx="4038600" cy="41910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If the array is smaller than the key space</a:t>
                </a:r>
              </a:p>
              <a:p>
                <a:endParaRPr lang="en-US" dirty="0"/>
              </a:p>
              <a:p>
                <a:r>
                  <a:rPr lang="en-US" dirty="0"/>
                  <a:t>Then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multiple keys </a:t>
                </a:r>
                <a:r>
                  <a:rPr lang="en-US" dirty="0"/>
                  <a:t>will necessarily be assigned to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same cell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𝒉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will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no longer </a:t>
                </a:r>
                <a:r>
                  <a:rPr lang="en-US" dirty="0"/>
                  <a:t>be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1:1</a:t>
                </a:r>
              </a:p>
              <a:p>
                <a:endParaRPr lang="en-US" dirty="0"/>
              </a:p>
              <a:p>
                <a:r>
                  <a:rPr lang="en-US" dirty="0"/>
                  <a:t>That’s fine if only one of those keys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actually used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1"/>
                <a:ext cx="4038600" cy="4191000"/>
              </a:xfrm>
              <a:blipFill rotWithShape="0">
                <a:blip r:embed="rId3"/>
                <a:stretch>
                  <a:fillRect l="-2262" t="-3057" r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/>
                        </a:rPr>
                        <m:t>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5486400" y="3048000"/>
            <a:ext cx="2590800" cy="20574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keys in 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1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038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495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9530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102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867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324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781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772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229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315200" y="60960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2" name="Straight Arrow Connector 11"/>
          <p:cNvCxnSpPr>
            <a:endCxn id="35" idx="0"/>
          </p:cNvCxnSpPr>
          <p:nvPr/>
        </p:nvCxnSpPr>
        <p:spPr>
          <a:xfrm flipH="1">
            <a:off x="4267200" y="3962400"/>
            <a:ext cx="1981200" cy="21336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8" idx="0"/>
          </p:cNvCxnSpPr>
          <p:nvPr/>
        </p:nvCxnSpPr>
        <p:spPr>
          <a:xfrm flipH="1">
            <a:off x="5638800" y="4129253"/>
            <a:ext cx="914400" cy="1966747"/>
          </a:xfrm>
          <a:prstGeom prst="straightConnector1">
            <a:avLst/>
          </a:prstGeom>
          <a:ln w="28575"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0" idx="0"/>
          </p:cNvCxnSpPr>
          <p:nvPr/>
        </p:nvCxnSpPr>
        <p:spPr>
          <a:xfrm flipH="1">
            <a:off x="6553200" y="4419600"/>
            <a:ext cx="430348" cy="1676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43" idx="0"/>
          </p:cNvCxnSpPr>
          <p:nvPr/>
        </p:nvCxnSpPr>
        <p:spPr>
          <a:xfrm>
            <a:off x="7467600" y="4147066"/>
            <a:ext cx="990600" cy="1948934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38" idx="0"/>
          </p:cNvCxnSpPr>
          <p:nvPr/>
        </p:nvCxnSpPr>
        <p:spPr>
          <a:xfrm flipH="1">
            <a:off x="5638800" y="2438400"/>
            <a:ext cx="609600" cy="365760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38" idx="0"/>
          </p:cNvCxnSpPr>
          <p:nvPr/>
        </p:nvCxnSpPr>
        <p:spPr>
          <a:xfrm flipH="1">
            <a:off x="5638800" y="2667000"/>
            <a:ext cx="2438400" cy="342900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362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038600" cy="449579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hash table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is a dictionary data structure that</a:t>
                </a:r>
              </a:p>
              <a:p>
                <a:pPr lvl="1"/>
                <a:r>
                  <a:rPr lang="en-US" dirty="0"/>
                  <a:t>Maps keys into an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element array</a:t>
                </a:r>
                <a:endParaRPr lang="en-US" b="1" dirty="0"/>
              </a:p>
              <a:p>
                <a:pPr lvl="2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𝑚</m:t>
                    </m:r>
                    <m:r>
                      <a:rPr lang="en-US" i="1" dirty="0" smtClean="0">
                        <a:latin typeface="Cambria Math"/>
                      </a:rPr>
                      <m:t>≪</m:t>
                    </m:r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𝑈</m:t>
                        </m:r>
                      </m:e>
                    </m:d>
                  </m:oMath>
                </a14:m>
                <a:endParaRPr lang="en-US" i="1" dirty="0">
                  <a:latin typeface="Cambria Math"/>
                </a:endParaRPr>
              </a:p>
              <a:p>
                <a:pPr lvl="2"/>
                <a:r>
                  <a:rPr lang="en-US" sz="1500" dirty="0"/>
                  <a:t>(“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/>
                      </a:rPr>
                      <m:t>≪</m:t>
                    </m:r>
                  </m:oMath>
                </a14:m>
                <a:r>
                  <a:rPr lang="en-US" sz="1500" dirty="0"/>
                  <a:t>” means “much less than”)</a:t>
                </a:r>
              </a:p>
              <a:p>
                <a:pPr lvl="1"/>
                <a:r>
                  <a:rPr lang="en-US" dirty="0"/>
                  <a:t>Using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hash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h</m:t>
                    </m:r>
                    <m:r>
                      <a:rPr lang="en-US" i="1" dirty="0" smtClean="0">
                        <a:latin typeface="Cambria Math"/>
                      </a:rPr>
                      <m:t> :</m:t>
                    </m:r>
                    <m:r>
                      <a:rPr lang="en-US" i="1" dirty="0" smtClean="0">
                        <a:latin typeface="Cambria Math"/>
                      </a:rPr>
                      <m:t>𝑈</m:t>
                    </m:r>
                    <m:r>
                      <a:rPr lang="en-US" i="1" dirty="0" smtClean="0">
                        <a:latin typeface="Cambria Math"/>
                      </a:rPr>
                      <m:t>→{0, 1, …</m:t>
                    </m:r>
                    <m:r>
                      <a:rPr lang="en-US" i="1" dirty="0" smtClean="0">
                        <a:latin typeface="Cambria Math"/>
                      </a:rPr>
                      <m:t>𝑚</m:t>
                    </m:r>
                    <m:r>
                      <a:rPr lang="en-US" i="1" dirty="0" smtClean="0">
                        <a:latin typeface="Cambria Math"/>
                      </a:rPr>
                      <m:t>−1 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Designed to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distribute keys uniformly </a:t>
                </a:r>
                <a:r>
                  <a:rPr lang="en-US" dirty="0"/>
                  <a:t>over array cells</a:t>
                </a:r>
              </a:p>
              <a:p>
                <a:pPr lvl="2"/>
                <a:r>
                  <a:rPr lang="en-US" dirty="0"/>
                  <a:t>a.k.a.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hash buckets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038600" cy="4495799"/>
              </a:xfrm>
              <a:blipFill rotWithShape="0">
                <a:blip r:embed="rId3"/>
                <a:stretch>
                  <a:fillRect l="-2262" t="-1221" r="-3167" b="-1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/>
                        </a:rPr>
                        <m:t>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5486400" y="3048000"/>
            <a:ext cx="2590800" cy="20574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keys in 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1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038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495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9530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102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867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324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781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772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229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315200" y="60960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2" name="Straight Arrow Connector 11"/>
          <p:cNvCxnSpPr>
            <a:endCxn id="35" idx="0"/>
          </p:cNvCxnSpPr>
          <p:nvPr/>
        </p:nvCxnSpPr>
        <p:spPr>
          <a:xfrm flipH="1">
            <a:off x="4267200" y="3962400"/>
            <a:ext cx="1981200" cy="21336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8" idx="0"/>
          </p:cNvCxnSpPr>
          <p:nvPr/>
        </p:nvCxnSpPr>
        <p:spPr>
          <a:xfrm flipH="1">
            <a:off x="5638800" y="4129253"/>
            <a:ext cx="914400" cy="1966747"/>
          </a:xfrm>
          <a:prstGeom prst="straightConnector1">
            <a:avLst/>
          </a:prstGeom>
          <a:ln w="28575"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0" idx="0"/>
          </p:cNvCxnSpPr>
          <p:nvPr/>
        </p:nvCxnSpPr>
        <p:spPr>
          <a:xfrm flipH="1">
            <a:off x="6553200" y="4419600"/>
            <a:ext cx="430348" cy="1676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43" idx="0"/>
          </p:cNvCxnSpPr>
          <p:nvPr/>
        </p:nvCxnSpPr>
        <p:spPr>
          <a:xfrm>
            <a:off x="7467600" y="4147066"/>
            <a:ext cx="990600" cy="1948934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38" idx="0"/>
          </p:cNvCxnSpPr>
          <p:nvPr/>
        </p:nvCxnSpPr>
        <p:spPr>
          <a:xfrm flipH="1">
            <a:off x="5638800" y="2438400"/>
            <a:ext cx="609600" cy="365760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38" idx="0"/>
          </p:cNvCxnSpPr>
          <p:nvPr/>
        </p:nvCxnSpPr>
        <p:spPr>
          <a:xfrm flipH="1">
            <a:off x="5638800" y="2667000"/>
            <a:ext cx="2438400" cy="342900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35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1"/>
                <a:ext cx="4495800" cy="4038599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Store</a:t>
                </a:r>
                <a:r>
                  <a:rPr lang="en-US" dirty="0"/>
                  <a:t>(key, value) {</a:t>
                </a:r>
              </a:p>
              <a:p>
                <a:pPr marL="0" indent="0">
                  <a:buNone/>
                </a:pPr>
                <a:r>
                  <a:rPr lang="en-US" dirty="0"/>
                  <a:t>   array[h(key)] = value;</a:t>
                </a:r>
                <a:br>
                  <a:rPr lang="en-US" dirty="0"/>
                </a:b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Lookup</a:t>
                </a:r>
                <a:r>
                  <a:rPr lang="en-US" dirty="0"/>
                  <a:t>(key) {</a:t>
                </a:r>
              </a:p>
              <a:p>
                <a:pPr marL="0" indent="0">
                  <a:buNone/>
                </a:pPr>
                <a:r>
                  <a:rPr lang="en-US" dirty="0"/>
                  <a:t>   return array[h(key)];</a:t>
                </a:r>
                <a:br>
                  <a:rPr lang="en-US" dirty="0"/>
                </a:b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4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sz="4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sz="4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sz="4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4000" dirty="0"/>
                  <a:t> time!</a:t>
                </a:r>
              </a:p>
              <a:p>
                <a:pPr marL="0" indent="0">
                  <a:buNone/>
                </a:pPr>
                <a:r>
                  <a:rPr lang="en-US" sz="2200" dirty="0"/>
                  <a:t>(assuming</a:t>
                </a:r>
                <a:r>
                  <a:rPr lang="en-US" sz="22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200" b="1" dirty="0">
                    <a:solidFill>
                      <a:schemeClr val="accent6">
                        <a:lumMod val="75000"/>
                      </a:schemeClr>
                    </a:solidFill>
                  </a:rPr>
                  <a:t>h is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d>
                      <m:dPr>
                        <m:ctrlPr>
                          <a:rPr lang="en-US" sz="22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200" dirty="0"/>
                  <a:t>itself)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1"/>
                <a:ext cx="4495800" cy="4038599"/>
              </a:xfrm>
              <a:blipFill rotWithShape="0">
                <a:blip r:embed="rId3"/>
                <a:stretch>
                  <a:fillRect l="-2439" t="-3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/>
                        </a:rPr>
                        <m:t>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5486400" y="3048000"/>
            <a:ext cx="2590800" cy="20574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keys in 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1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038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495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9530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102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867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324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781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772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229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315200" y="60960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2" name="Straight Arrow Connector 11"/>
          <p:cNvCxnSpPr>
            <a:endCxn id="35" idx="0"/>
          </p:cNvCxnSpPr>
          <p:nvPr/>
        </p:nvCxnSpPr>
        <p:spPr>
          <a:xfrm flipH="1">
            <a:off x="4267200" y="3962400"/>
            <a:ext cx="1981200" cy="21336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8" idx="0"/>
          </p:cNvCxnSpPr>
          <p:nvPr/>
        </p:nvCxnSpPr>
        <p:spPr>
          <a:xfrm flipH="1">
            <a:off x="5638800" y="4129253"/>
            <a:ext cx="914400" cy="1966747"/>
          </a:xfrm>
          <a:prstGeom prst="straightConnector1">
            <a:avLst/>
          </a:prstGeom>
          <a:ln w="28575"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0" idx="0"/>
          </p:cNvCxnSpPr>
          <p:nvPr/>
        </p:nvCxnSpPr>
        <p:spPr>
          <a:xfrm flipH="1">
            <a:off x="6553200" y="4419600"/>
            <a:ext cx="430348" cy="1676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43" idx="0"/>
          </p:cNvCxnSpPr>
          <p:nvPr/>
        </p:nvCxnSpPr>
        <p:spPr>
          <a:xfrm>
            <a:off x="7467600" y="4147066"/>
            <a:ext cx="990600" cy="1948934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38" idx="0"/>
          </p:cNvCxnSpPr>
          <p:nvPr/>
        </p:nvCxnSpPr>
        <p:spPr>
          <a:xfrm flipH="1">
            <a:off x="5638800" y="2438400"/>
            <a:ext cx="609600" cy="365760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38" idx="0"/>
          </p:cNvCxnSpPr>
          <p:nvPr/>
        </p:nvCxnSpPr>
        <p:spPr>
          <a:xfrm flipH="1">
            <a:off x="5638800" y="2667000"/>
            <a:ext cx="2438400" cy="342900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165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hash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038600" cy="51054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A simple hash function for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strings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Take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each character </a:t>
                </a:r>
                <a:r>
                  <a:rPr lang="en-US" dirty="0"/>
                  <a:t>in the string</a:t>
                </a:r>
              </a:p>
              <a:p>
                <a:r>
                  <a:rPr lang="en-US" dirty="0"/>
                  <a:t>Convert it to its ASCII or Unicode integer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numeric code</a:t>
                </a:r>
              </a:p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Add them </a:t>
                </a:r>
                <a:r>
                  <a:rPr lang="en-US" dirty="0"/>
                  <a:t>all up</a:t>
                </a:r>
              </a:p>
              <a:p>
                <a:r>
                  <a:rPr lang="en-US" dirty="0"/>
                  <a:t>Take the sum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mod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𝒎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“mod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” means “the remainder after dividing by m”</a:t>
                </a:r>
              </a:p>
              <a:p>
                <a:pPr lvl="2"/>
                <a:r>
                  <a:rPr lang="en-US" dirty="0"/>
                  <a:t>(Except it’s somewhat different for negative numbers, but we can ignore that)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038600" cy="5105400"/>
              </a:xfrm>
              <a:blipFill rotWithShape="0">
                <a:blip r:embed="rId3"/>
                <a:stretch>
                  <a:fillRect l="-2262" t="-2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BadHash</a:t>
            </a:r>
            <a:r>
              <a:rPr lang="en-US" dirty="0"/>
              <a:t>(string s)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sum = 0;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foreach</a:t>
            </a:r>
            <a:r>
              <a:rPr lang="en-US" dirty="0"/>
              <a:t> (char c in s)</a:t>
            </a:r>
            <a:br>
              <a:rPr lang="en-US" dirty="0"/>
            </a:br>
            <a:r>
              <a:rPr lang="en-US" dirty="0"/>
              <a:t>      sum += (</a:t>
            </a:r>
            <a:r>
              <a:rPr lang="en-US" dirty="0" err="1"/>
              <a:t>int</a:t>
            </a:r>
            <a:r>
              <a:rPr lang="en-US" dirty="0"/>
              <a:t>)c;</a:t>
            </a:r>
          </a:p>
          <a:p>
            <a:pPr marL="0" indent="0">
              <a:buNone/>
            </a:pPr>
            <a:r>
              <a:rPr lang="en-US" dirty="0"/>
              <a:t>   return </a:t>
            </a:r>
            <a:r>
              <a:rPr lang="en-US" dirty="0" err="1"/>
              <a:t>sum%tableSize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0125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hash </a:t>
            </a:r>
            <a:r>
              <a:rPr lang="en-US" dirty="0"/>
              <a:t>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A simple hash function for objects in memory:</a:t>
                </a:r>
              </a:p>
              <a:p>
                <a:r>
                  <a:rPr lang="en-US" dirty="0"/>
                  <a:t>X’s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address in memory</a:t>
                </a:r>
              </a:p>
              <a:p>
                <a:pPr lvl="1"/>
                <a:r>
                  <a:rPr lang="en-US" dirty="0"/>
                  <a:t>Remember it can be thought of as an integer</a:t>
                </a:r>
              </a:p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Mod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𝒎</m:t>
                    </m:r>
                  </m:oMath>
                </a14:m>
                <a:endParaRPr lang="en-US" b="1" dirty="0"/>
              </a:p>
              <a:p>
                <a:endParaRPr lang="en-US" dirty="0"/>
              </a:p>
              <a:p>
                <a:r>
                  <a:rPr lang="en-US" dirty="0"/>
                  <a:t>Can’t write this in C# because C# won’t let you manipulate addresses directly</a:t>
                </a:r>
              </a:p>
              <a:p>
                <a:pPr lvl="1"/>
                <a:r>
                  <a:rPr lang="en-US" dirty="0"/>
                  <a:t>C to the rescue!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3"/>
                <a:stretch>
                  <a:fillRect l="-2715" t="-2830" r="-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800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AddressHash</a:t>
            </a:r>
            <a:r>
              <a:rPr lang="en-US" dirty="0"/>
              <a:t>(void *x) {</a:t>
            </a:r>
          </a:p>
          <a:p>
            <a:pPr marL="0" indent="0">
              <a:buNone/>
            </a:pPr>
            <a:r>
              <a:rPr lang="en-US" dirty="0"/>
              <a:t>   return ((</a:t>
            </a:r>
            <a:r>
              <a:rPr lang="en-US" dirty="0" err="1"/>
              <a:t>int</a:t>
            </a:r>
            <a:r>
              <a:rPr lang="en-US" dirty="0"/>
              <a:t>)x)%</a:t>
            </a:r>
            <a:r>
              <a:rPr lang="en-US" dirty="0" err="1"/>
              <a:t>tableSize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200" b="1" dirty="0"/>
              <a:t>Note: </a:t>
            </a:r>
            <a:r>
              <a:rPr lang="en-US" sz="2200" dirty="0"/>
              <a:t>in practice addresses are usually </a:t>
            </a: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multiples of 4 </a:t>
            </a:r>
            <a:r>
              <a:rPr lang="en-US" sz="2200" dirty="0"/>
              <a:t>(for 32 bit machines) or 8 (for 64 bit machines)</a:t>
            </a:r>
          </a:p>
          <a:p>
            <a:r>
              <a:rPr lang="en-US" sz="2200" dirty="0"/>
              <a:t>So in real life, you’d use the address divided by 4 or 8</a:t>
            </a:r>
          </a:p>
          <a:p>
            <a:pPr lvl="1"/>
            <a:r>
              <a:rPr lang="en-US" sz="1800" dirty="0"/>
              <a:t>Or right-shift by 2 or 3 bits, respectively</a:t>
            </a:r>
          </a:p>
          <a:p>
            <a:r>
              <a:rPr lang="en-US" sz="2200" dirty="0"/>
              <a:t>So hash functions often look like:</a:t>
            </a:r>
          </a:p>
          <a:p>
            <a:pPr marL="457200" lvl="1" indent="0">
              <a:buNone/>
            </a:pPr>
            <a:r>
              <a:rPr lang="en-US" sz="1900" dirty="0"/>
              <a:t>( ((unsigned </a:t>
            </a:r>
            <a:r>
              <a:rPr lang="en-US" sz="1900" dirty="0" err="1"/>
              <a:t>int</a:t>
            </a:r>
            <a:r>
              <a:rPr lang="en-US" sz="1900" dirty="0"/>
              <a:t>)x)</a:t>
            </a:r>
            <a:r>
              <a:rPr lang="en-US" sz="1900" b="1" dirty="0">
                <a:solidFill>
                  <a:schemeClr val="accent6">
                    <a:lumMod val="75000"/>
                  </a:schemeClr>
                </a:solidFill>
              </a:rPr>
              <a:t>&gt;&gt;2</a:t>
            </a:r>
            <a:r>
              <a:rPr lang="en-US" sz="1900" dirty="0"/>
              <a:t>)%</a:t>
            </a:r>
            <a:r>
              <a:rPr lang="en-US" sz="1900" dirty="0" err="1"/>
              <a:t>tableSize</a:t>
            </a:r>
            <a:endParaRPr lang="en-US" sz="1900" dirty="0"/>
          </a:p>
          <a:p>
            <a:pPr marL="457200" lvl="1" indent="0">
              <a:buNone/>
            </a:pPr>
            <a:r>
              <a:rPr lang="en-US" sz="1900" dirty="0"/>
              <a:t>( ((unsigned </a:t>
            </a:r>
            <a:r>
              <a:rPr lang="en-US" sz="1900" dirty="0" err="1"/>
              <a:t>int</a:t>
            </a:r>
            <a:r>
              <a:rPr lang="en-US" sz="1900" dirty="0"/>
              <a:t>)x)</a:t>
            </a:r>
            <a:r>
              <a:rPr lang="en-US" sz="1900" b="1" dirty="0">
                <a:solidFill>
                  <a:schemeClr val="accent6">
                    <a:lumMod val="75000"/>
                  </a:schemeClr>
                </a:solidFill>
              </a:rPr>
              <a:t>&gt;&gt;3</a:t>
            </a:r>
            <a:r>
              <a:rPr lang="en-US" sz="1900" dirty="0"/>
              <a:t>)%</a:t>
            </a:r>
            <a:r>
              <a:rPr lang="en-US" sz="1900" dirty="0" err="1"/>
              <a:t>tableSize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299686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191000"/>
          </a:xfrm>
        </p:spPr>
        <p:txBody>
          <a:bodyPr>
            <a:normAutofit/>
          </a:bodyPr>
          <a:lstStyle/>
          <a:p>
            <a:r>
              <a:rPr lang="en-US" dirty="0"/>
              <a:t>Great!</a:t>
            </a:r>
          </a:p>
          <a:p>
            <a:r>
              <a:rPr lang="en-US" dirty="0"/>
              <a:t>But what if two keys in actual use get mapped to the same array slot?</a:t>
            </a:r>
          </a:p>
          <a:p>
            <a:pPr lvl="1"/>
            <a:r>
              <a:rPr lang="en-US" dirty="0"/>
              <a:t>We have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collision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/>
                        </a:rPr>
                        <m:t>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9" y="1066800"/>
                <a:ext cx="3960159" cy="4343400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5486400" y="3048000"/>
            <a:ext cx="2590800" cy="20574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keys in 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1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4038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495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9530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4102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867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324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67818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7772400" y="6096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8229600" y="60960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315200" y="60960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2" name="Straight Arrow Connector 11"/>
          <p:cNvCxnSpPr>
            <a:endCxn id="35" idx="0"/>
          </p:cNvCxnSpPr>
          <p:nvPr/>
        </p:nvCxnSpPr>
        <p:spPr>
          <a:xfrm flipH="1">
            <a:off x="4267200" y="3962400"/>
            <a:ext cx="1981200" cy="21336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38" idx="0"/>
          </p:cNvCxnSpPr>
          <p:nvPr/>
        </p:nvCxnSpPr>
        <p:spPr>
          <a:xfrm flipH="1">
            <a:off x="5638800" y="4129253"/>
            <a:ext cx="914400" cy="1966747"/>
          </a:xfrm>
          <a:prstGeom prst="straightConnector1">
            <a:avLst/>
          </a:prstGeom>
          <a:ln w="28575">
            <a:solidFill>
              <a:srgbClr val="C00000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0" idx="0"/>
          </p:cNvCxnSpPr>
          <p:nvPr/>
        </p:nvCxnSpPr>
        <p:spPr>
          <a:xfrm flipH="1">
            <a:off x="6553200" y="4419600"/>
            <a:ext cx="430348" cy="1676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43" idx="0"/>
          </p:cNvCxnSpPr>
          <p:nvPr/>
        </p:nvCxnSpPr>
        <p:spPr>
          <a:xfrm>
            <a:off x="7467600" y="4147066"/>
            <a:ext cx="990600" cy="1948934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5638800" y="3657600"/>
            <a:ext cx="457200" cy="2438400"/>
          </a:xfrm>
          <a:prstGeom prst="straightConnector1">
            <a:avLst/>
          </a:prstGeom>
          <a:ln w="28575">
            <a:solidFill>
              <a:srgbClr val="C00000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38" idx="0"/>
          </p:cNvCxnSpPr>
          <p:nvPr/>
        </p:nvCxnSpPr>
        <p:spPr>
          <a:xfrm flipH="1">
            <a:off x="5638800" y="2667000"/>
            <a:ext cx="2438400" cy="342900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196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easy solution to this is to store a small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linked list dictionary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in each array cell</a:t>
            </a:r>
          </a:p>
          <a:p>
            <a:pPr lvl="1"/>
            <a:r>
              <a:rPr lang="en-US" dirty="0"/>
              <a:t>Stores just the key/value pairs for those keys in use that map to that particular array cell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7818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818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818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7818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7818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818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543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2" name="Rectangle 1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305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6" name="Rectangle 15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305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9" name="Rectangle 18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543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2" name="Rectangle 2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543800" y="5829300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5" name="Rectangle 24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/>
          <p:cNvCxnSpPr>
            <a:stCxn id="6" idx="3"/>
          </p:cNvCxnSpPr>
          <p:nvPr/>
        </p:nvCxnSpPr>
        <p:spPr>
          <a:xfrm>
            <a:off x="7239000" y="4114800"/>
            <a:ext cx="304800" cy="24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8001000" y="4117275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9" idx="3"/>
          </p:cNvCxnSpPr>
          <p:nvPr/>
        </p:nvCxnSpPr>
        <p:spPr>
          <a:xfrm>
            <a:off x="7239000" y="5486400"/>
            <a:ext cx="304800" cy="49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8001000" y="5491347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0" idx="3"/>
          </p:cNvCxnSpPr>
          <p:nvPr/>
        </p:nvCxnSpPr>
        <p:spPr>
          <a:xfrm>
            <a:off x="7239000" y="5943600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724400" y="9881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8387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>
            <a:endCxn id="6" idx="1"/>
          </p:cNvCxnSpPr>
          <p:nvPr/>
        </p:nvCxnSpPr>
        <p:spPr>
          <a:xfrm>
            <a:off x="5981700" y="3088790"/>
            <a:ext cx="800100" cy="102601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6" idx="1"/>
          </p:cNvCxnSpPr>
          <p:nvPr/>
        </p:nvCxnSpPr>
        <p:spPr>
          <a:xfrm>
            <a:off x="54102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9" idx="1"/>
          </p:cNvCxnSpPr>
          <p:nvPr/>
        </p:nvCxnSpPr>
        <p:spPr>
          <a:xfrm>
            <a:off x="5181600" y="3657600"/>
            <a:ext cx="16002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9" idx="1"/>
          </p:cNvCxnSpPr>
          <p:nvPr/>
        </p:nvCxnSpPr>
        <p:spPr>
          <a:xfrm>
            <a:off x="5981700" y="3657600"/>
            <a:ext cx="8001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10" idx="1"/>
          </p:cNvCxnSpPr>
          <p:nvPr/>
        </p:nvCxnSpPr>
        <p:spPr>
          <a:xfrm>
            <a:off x="5562600" y="3543300"/>
            <a:ext cx="1219200" cy="24003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111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Is this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l="-2963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Store</a:t>
            </a:r>
            <a:r>
              <a:rPr lang="en-US" sz="2400" dirty="0"/>
              <a:t>(key, value) {</a:t>
            </a:r>
          </a:p>
          <a:p>
            <a:pPr marL="0" indent="0">
              <a:buNone/>
            </a:pPr>
            <a:r>
              <a:rPr lang="en-US" sz="2400" dirty="0"/>
              <a:t>  array[h(key)]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.Store(key, value)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Lookup</a:t>
            </a:r>
            <a:r>
              <a:rPr lang="en-US" sz="2400" dirty="0"/>
              <a:t>(key) {</a:t>
            </a:r>
          </a:p>
          <a:p>
            <a:pPr marL="0" indent="0">
              <a:buNone/>
            </a:pPr>
            <a:r>
              <a:rPr lang="en-US" sz="2400" dirty="0"/>
              <a:t> return </a:t>
            </a:r>
            <a:br>
              <a:rPr lang="en-US" sz="2400" dirty="0"/>
            </a:br>
            <a:r>
              <a:rPr lang="en-US" sz="2400" dirty="0"/>
              <a:t>  array[h(key)]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.Lookup(key)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7818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818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818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7818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7818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818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543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2" name="Rectangle 1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305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6" name="Rectangle 15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305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9" name="Rectangle 18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543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2" name="Rectangle 2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543800" y="5829300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5" name="Rectangle 24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/>
          <p:cNvCxnSpPr>
            <a:stCxn id="6" idx="3"/>
          </p:cNvCxnSpPr>
          <p:nvPr/>
        </p:nvCxnSpPr>
        <p:spPr>
          <a:xfrm>
            <a:off x="7239000" y="4114800"/>
            <a:ext cx="304800" cy="24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8001000" y="4117275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9" idx="3"/>
          </p:cNvCxnSpPr>
          <p:nvPr/>
        </p:nvCxnSpPr>
        <p:spPr>
          <a:xfrm>
            <a:off x="7239000" y="5486400"/>
            <a:ext cx="304800" cy="49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8001000" y="5491347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0" idx="3"/>
          </p:cNvCxnSpPr>
          <p:nvPr/>
        </p:nvCxnSpPr>
        <p:spPr>
          <a:xfrm>
            <a:off x="7239000" y="5943600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724400" y="9881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8387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>
            <a:endCxn id="6" idx="1"/>
          </p:cNvCxnSpPr>
          <p:nvPr/>
        </p:nvCxnSpPr>
        <p:spPr>
          <a:xfrm>
            <a:off x="5981700" y="3088790"/>
            <a:ext cx="800100" cy="102601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6" idx="1"/>
          </p:cNvCxnSpPr>
          <p:nvPr/>
        </p:nvCxnSpPr>
        <p:spPr>
          <a:xfrm>
            <a:off x="54102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9" idx="1"/>
          </p:cNvCxnSpPr>
          <p:nvPr/>
        </p:nvCxnSpPr>
        <p:spPr>
          <a:xfrm>
            <a:off x="5181600" y="3657600"/>
            <a:ext cx="16002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9" idx="1"/>
          </p:cNvCxnSpPr>
          <p:nvPr/>
        </p:nvCxnSpPr>
        <p:spPr>
          <a:xfrm>
            <a:off x="5981700" y="3657600"/>
            <a:ext cx="8001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10" idx="1"/>
          </p:cNvCxnSpPr>
          <p:nvPr/>
        </p:nvCxnSpPr>
        <p:spPr>
          <a:xfrm>
            <a:off x="5562600" y="3543300"/>
            <a:ext cx="1219200" cy="24003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961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Is this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l="-2963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00200"/>
            <a:ext cx="44958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Store</a:t>
            </a:r>
            <a:r>
              <a:rPr lang="en-US" sz="2400" dirty="0"/>
              <a:t>(key, value) {</a:t>
            </a:r>
          </a:p>
          <a:p>
            <a:pPr marL="0" indent="0">
              <a:buNone/>
            </a:pPr>
            <a:r>
              <a:rPr lang="en-US" sz="2400" dirty="0"/>
              <a:t>  array[h(key)]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.Store(key, value)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Lookup</a:t>
            </a:r>
            <a:r>
              <a:rPr lang="en-US" sz="2400" dirty="0"/>
              <a:t>(key) {</a:t>
            </a:r>
          </a:p>
          <a:p>
            <a:pPr marL="0" indent="0">
              <a:buNone/>
            </a:pPr>
            <a:r>
              <a:rPr lang="en-US" sz="2400" dirty="0"/>
              <a:t> return </a:t>
            </a:r>
            <a:br>
              <a:rPr lang="en-US" sz="2400" dirty="0"/>
            </a:br>
            <a:r>
              <a:rPr lang="en-US" sz="2400" dirty="0"/>
              <a:t>  array[h(key)]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.Lookup(key)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No!</a:t>
            </a:r>
          </a:p>
        </p:txBody>
      </p:sp>
      <p:sp>
        <p:nvSpPr>
          <p:cNvPr id="5" name="Rectangle 4"/>
          <p:cNvSpPr/>
          <p:nvPr/>
        </p:nvSpPr>
        <p:spPr>
          <a:xfrm>
            <a:off x="67818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818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818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7818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7818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818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543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2" name="Rectangle 1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305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6" name="Rectangle 15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305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9" name="Rectangle 18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543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2" name="Rectangle 2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543800" y="5829300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5" name="Rectangle 24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/>
          <p:cNvCxnSpPr>
            <a:stCxn id="6" idx="3"/>
          </p:cNvCxnSpPr>
          <p:nvPr/>
        </p:nvCxnSpPr>
        <p:spPr>
          <a:xfrm>
            <a:off x="7239000" y="4114800"/>
            <a:ext cx="304800" cy="24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8001000" y="4117275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9" idx="3"/>
          </p:cNvCxnSpPr>
          <p:nvPr/>
        </p:nvCxnSpPr>
        <p:spPr>
          <a:xfrm>
            <a:off x="7239000" y="5486400"/>
            <a:ext cx="304800" cy="49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8001000" y="5491347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0" idx="3"/>
          </p:cNvCxnSpPr>
          <p:nvPr/>
        </p:nvCxnSpPr>
        <p:spPr>
          <a:xfrm>
            <a:off x="7239000" y="5943600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724400" y="9881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8387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>
            <a:endCxn id="6" idx="1"/>
          </p:cNvCxnSpPr>
          <p:nvPr/>
        </p:nvCxnSpPr>
        <p:spPr>
          <a:xfrm>
            <a:off x="5981700" y="3088790"/>
            <a:ext cx="800100" cy="102601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6" idx="1"/>
          </p:cNvCxnSpPr>
          <p:nvPr/>
        </p:nvCxnSpPr>
        <p:spPr>
          <a:xfrm>
            <a:off x="54102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9" idx="1"/>
          </p:cNvCxnSpPr>
          <p:nvPr/>
        </p:nvCxnSpPr>
        <p:spPr>
          <a:xfrm>
            <a:off x="5181600" y="3657600"/>
            <a:ext cx="16002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9" idx="1"/>
          </p:cNvCxnSpPr>
          <p:nvPr/>
        </p:nvCxnSpPr>
        <p:spPr>
          <a:xfrm>
            <a:off x="5981700" y="3657600"/>
            <a:ext cx="8001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10" idx="1"/>
          </p:cNvCxnSpPr>
          <p:nvPr/>
        </p:nvCxnSpPr>
        <p:spPr>
          <a:xfrm>
            <a:off x="5562600" y="3543300"/>
            <a:ext cx="1219200" cy="24003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343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Is this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l="-2963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sz="2400" dirty="0"/>
                  <a:t>No!</a:t>
                </a:r>
              </a:p>
              <a:p>
                <a:r>
                  <a:rPr lang="en-US" sz="2400" dirty="0"/>
                  <a:t>The </a:t>
                </a: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linked list </a:t>
                </a:r>
                <a:r>
                  <a:rPr lang="en-US" sz="2400" dirty="0"/>
                  <a:t>operations are </a:t>
                </a: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linear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/>
                  <a:t>in the number of list elements</a:t>
                </a:r>
              </a:p>
              <a:p>
                <a:r>
                  <a:rPr lang="en-US" sz="2400" dirty="0"/>
                  <a:t>How many list elements will there be?</a:t>
                </a:r>
              </a:p>
              <a:p>
                <a:pPr lvl="1"/>
                <a:r>
                  <a:rPr lang="en-US" sz="2000" dirty="0"/>
                  <a:t>Best case: 1</a:t>
                </a:r>
              </a:p>
              <a:p>
                <a:pPr lvl="1"/>
                <a:r>
                  <a:rPr lang="en-US" sz="2000" dirty="0"/>
                  <a:t>Worst case: all the elements in the dictionary!</a:t>
                </a:r>
              </a:p>
              <a:p>
                <a:pPr lvl="1"/>
                <a:endParaRPr lang="en-US" sz="2000" dirty="0"/>
              </a:p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Worst-case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performance of a hash table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keys stored in it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Crap!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4"/>
                <a:stretch>
                  <a:fillRect l="-2262" t="-2291" b="-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67818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818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818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7818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7818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818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543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2" name="Rectangle 1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305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6" name="Rectangle 15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305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9" name="Rectangle 18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543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2" name="Rectangle 2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543800" y="5829300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5" name="Rectangle 24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/>
          <p:cNvCxnSpPr>
            <a:stCxn id="6" idx="3"/>
          </p:cNvCxnSpPr>
          <p:nvPr/>
        </p:nvCxnSpPr>
        <p:spPr>
          <a:xfrm>
            <a:off x="7239000" y="4114800"/>
            <a:ext cx="304800" cy="24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8001000" y="4117275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9" idx="3"/>
          </p:cNvCxnSpPr>
          <p:nvPr/>
        </p:nvCxnSpPr>
        <p:spPr>
          <a:xfrm>
            <a:off x="7239000" y="5486400"/>
            <a:ext cx="304800" cy="49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8001000" y="5491347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0" idx="3"/>
          </p:cNvCxnSpPr>
          <p:nvPr/>
        </p:nvCxnSpPr>
        <p:spPr>
          <a:xfrm>
            <a:off x="7239000" y="5943600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724400" y="9881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8387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>
            <a:endCxn id="6" idx="1"/>
          </p:cNvCxnSpPr>
          <p:nvPr/>
        </p:nvCxnSpPr>
        <p:spPr>
          <a:xfrm>
            <a:off x="5981700" y="3088790"/>
            <a:ext cx="800100" cy="102601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6" idx="1"/>
          </p:cNvCxnSpPr>
          <p:nvPr/>
        </p:nvCxnSpPr>
        <p:spPr>
          <a:xfrm>
            <a:off x="54102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9" idx="1"/>
          </p:cNvCxnSpPr>
          <p:nvPr/>
        </p:nvCxnSpPr>
        <p:spPr>
          <a:xfrm>
            <a:off x="5181600" y="3657600"/>
            <a:ext cx="16002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9" idx="1"/>
          </p:cNvCxnSpPr>
          <p:nvPr/>
        </p:nvCxnSpPr>
        <p:spPr>
          <a:xfrm>
            <a:off x="5981700" y="3657600"/>
            <a:ext cx="8001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10" idx="1"/>
          </p:cNvCxnSpPr>
          <p:nvPr/>
        </p:nvCxnSpPr>
        <p:spPr>
          <a:xfrm>
            <a:off x="5562600" y="3543300"/>
            <a:ext cx="1219200" cy="24003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27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Average</a:t>
            </a:r>
            <a:r>
              <a:rPr lang="en-US" dirty="0"/>
              <a:t>-case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practice, hash tables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generally perform well</a:t>
            </a:r>
          </a:p>
          <a:p>
            <a:endParaRPr lang="en-US" sz="2400" dirty="0"/>
          </a:p>
          <a:p>
            <a:r>
              <a:rPr lang="en-US" sz="2400" dirty="0"/>
              <a:t>So how do we explain that theoretically?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7818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818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818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7818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7818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818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543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2" name="Rectangle 1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305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6" name="Rectangle 15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305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9" name="Rectangle 18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543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2" name="Rectangle 2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543800" y="5829300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5" name="Rectangle 24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/>
          <p:cNvCxnSpPr>
            <a:stCxn id="6" idx="3"/>
          </p:cNvCxnSpPr>
          <p:nvPr/>
        </p:nvCxnSpPr>
        <p:spPr>
          <a:xfrm>
            <a:off x="7239000" y="4114800"/>
            <a:ext cx="304800" cy="24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8001000" y="4117275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9" idx="3"/>
          </p:cNvCxnSpPr>
          <p:nvPr/>
        </p:nvCxnSpPr>
        <p:spPr>
          <a:xfrm>
            <a:off x="7239000" y="5486400"/>
            <a:ext cx="304800" cy="49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8001000" y="5491347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0" idx="3"/>
          </p:cNvCxnSpPr>
          <p:nvPr/>
        </p:nvCxnSpPr>
        <p:spPr>
          <a:xfrm>
            <a:off x="7239000" y="5943600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724400" y="12167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8387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>
            <a:endCxn id="6" idx="1"/>
          </p:cNvCxnSpPr>
          <p:nvPr/>
        </p:nvCxnSpPr>
        <p:spPr>
          <a:xfrm>
            <a:off x="5981700" y="3088790"/>
            <a:ext cx="800100" cy="102601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6" idx="1"/>
          </p:cNvCxnSpPr>
          <p:nvPr/>
        </p:nvCxnSpPr>
        <p:spPr>
          <a:xfrm>
            <a:off x="54102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9" idx="1"/>
          </p:cNvCxnSpPr>
          <p:nvPr/>
        </p:nvCxnSpPr>
        <p:spPr>
          <a:xfrm>
            <a:off x="5181600" y="3657600"/>
            <a:ext cx="16002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9" idx="1"/>
          </p:cNvCxnSpPr>
          <p:nvPr/>
        </p:nvCxnSpPr>
        <p:spPr>
          <a:xfrm>
            <a:off x="5981700" y="3657600"/>
            <a:ext cx="8001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10" idx="1"/>
          </p:cNvCxnSpPr>
          <p:nvPr/>
        </p:nvCxnSpPr>
        <p:spPr>
          <a:xfrm>
            <a:off x="5562600" y="3543300"/>
            <a:ext cx="1219200" cy="24003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94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Average</a:t>
            </a:r>
            <a:r>
              <a:rPr lang="en-US" dirty="0"/>
              <a:t>-case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3000" dirty="0"/>
                  <a:t>First, let’s make some assumptions</a:t>
                </a:r>
              </a:p>
              <a:p>
                <a:r>
                  <a:rPr lang="en-US" dirty="0"/>
                  <a:t>Simple,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uniform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hashing</a:t>
                </a:r>
              </a:p>
              <a:p>
                <a:pPr lvl="1"/>
                <a:r>
                  <a:rPr lang="en-US" dirty="0"/>
                  <a:t>Hash function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uniformly distributes </a:t>
                </a:r>
                <a:r>
                  <a:rPr lang="en-US" dirty="0"/>
                  <a:t>keys through array</a:t>
                </a:r>
              </a:p>
              <a:p>
                <a:pPr lvl="1"/>
                <a:endParaRPr lang="en-US" dirty="0"/>
              </a:p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Efficient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hash function</a:t>
                </a:r>
              </a:p>
              <a:p>
                <a:pPr lvl="1"/>
                <a:r>
                  <a:rPr lang="en-US" dirty="0"/>
                  <a:t>We’ll assume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h</m:t>
                    </m:r>
                  </m:oMath>
                </a14:m>
                <a:r>
                  <a:rPr lang="en-US" dirty="0"/>
                  <a:t> can be computed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  <a:p>
                <a:pPr lvl="2"/>
                <a:r>
                  <a:rPr lang="en-US" dirty="0"/>
                  <a:t>Or at least that it doesn’t depend on the number of elements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in the hash table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3"/>
                <a:stretch>
                  <a:fillRect l="-3017" t="-3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67818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818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818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7818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7818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818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543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2" name="Rectangle 1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305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6" name="Rectangle 15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305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9" name="Rectangle 18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543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2" name="Rectangle 2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543800" y="5829300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5" name="Rectangle 24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/>
          <p:cNvCxnSpPr>
            <a:stCxn id="6" idx="3"/>
          </p:cNvCxnSpPr>
          <p:nvPr/>
        </p:nvCxnSpPr>
        <p:spPr>
          <a:xfrm>
            <a:off x="7239000" y="4114800"/>
            <a:ext cx="304800" cy="24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8001000" y="4117275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9" idx="3"/>
          </p:cNvCxnSpPr>
          <p:nvPr/>
        </p:nvCxnSpPr>
        <p:spPr>
          <a:xfrm>
            <a:off x="7239000" y="5486400"/>
            <a:ext cx="304800" cy="49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8001000" y="5491347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0" idx="3"/>
          </p:cNvCxnSpPr>
          <p:nvPr/>
        </p:nvCxnSpPr>
        <p:spPr>
          <a:xfrm>
            <a:off x="7239000" y="5943600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724400" y="12167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8387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>
            <a:endCxn id="6" idx="1"/>
          </p:cNvCxnSpPr>
          <p:nvPr/>
        </p:nvCxnSpPr>
        <p:spPr>
          <a:xfrm>
            <a:off x="5981700" y="3088790"/>
            <a:ext cx="800100" cy="102601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6" idx="1"/>
          </p:cNvCxnSpPr>
          <p:nvPr/>
        </p:nvCxnSpPr>
        <p:spPr>
          <a:xfrm>
            <a:off x="54102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9" idx="1"/>
          </p:cNvCxnSpPr>
          <p:nvPr/>
        </p:nvCxnSpPr>
        <p:spPr>
          <a:xfrm>
            <a:off x="5181600" y="3657600"/>
            <a:ext cx="16002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9" idx="1"/>
          </p:cNvCxnSpPr>
          <p:nvPr/>
        </p:nvCxnSpPr>
        <p:spPr>
          <a:xfrm>
            <a:off x="5981700" y="3657600"/>
            <a:ext cx="8001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10" idx="1"/>
          </p:cNvCxnSpPr>
          <p:nvPr/>
        </p:nvCxnSpPr>
        <p:spPr>
          <a:xfrm>
            <a:off x="5562600" y="3543300"/>
            <a:ext cx="1219200" cy="24003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70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Average</a:t>
            </a:r>
            <a:r>
              <a:rPr lang="en-US" dirty="0"/>
              <a:t>-case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000" dirty="0"/>
                  <a:t>Definition: the </a:t>
                </a:r>
                <a:r>
                  <a:rPr lang="en-US" sz="3000" b="1" dirty="0">
                    <a:solidFill>
                      <a:schemeClr val="accent6">
                        <a:lumMod val="75000"/>
                      </a:schemeClr>
                    </a:solidFill>
                  </a:rPr>
                  <a:t>load factor </a:t>
                </a:r>
                <a:r>
                  <a:rPr lang="en-US" sz="3000" dirty="0"/>
                  <a:t>of a hash table is </a:t>
                </a:r>
                <a14:m>
                  <m:oMath xmlns:m="http://schemas.openxmlformats.org/officeDocument/2006/math">
                    <m:r>
                      <a:rPr lang="en-US" sz="3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𝜶</m:t>
                    </m:r>
                    <m:r>
                      <a:rPr lang="en-US" sz="3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sz="3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sz="3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/</m:t>
                    </m:r>
                    <m:r>
                      <a:rPr lang="en-US" sz="3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𝒎</m:t>
                    </m:r>
                  </m:oMath>
                </a14:m>
                <a:endParaRPr lang="en-US" sz="3000" b="1" dirty="0"/>
              </a:p>
              <a:p>
                <a:r>
                  <a:rPr lang="en-US" sz="2400" dirty="0"/>
                  <a:t>The </a:t>
                </a: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ratio</a:t>
                </a:r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sz="2400" dirty="0"/>
                  <a:t>of </a:t>
                </a:r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number of keys stored </a:t>
                </a:r>
                <a:r>
                  <a:rPr lang="en-US" sz="2400" dirty="0"/>
                  <a:t>in the table</a:t>
                </a:r>
              </a:p>
              <a:p>
                <a:r>
                  <a:rPr lang="en-US" sz="2400" dirty="0"/>
                  <a:t>To the </a:t>
                </a:r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size of the array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3"/>
                <a:stretch>
                  <a:fillRect l="-3469" t="-1617" r="-2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67818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818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818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7818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7818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818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543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2" name="Rectangle 1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305800" y="4002975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6" name="Rectangle 15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305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19" name="Rectangle 18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543800" y="5377047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2" name="Rectangle 21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543800" y="5829300"/>
            <a:ext cx="457200" cy="228600"/>
            <a:chOff x="5029200" y="1524000"/>
            <a:chExt cx="457200" cy="228600"/>
          </a:xfrm>
          <a:solidFill>
            <a:schemeClr val="bg1">
              <a:lumMod val="75000"/>
            </a:schemeClr>
          </a:solidFill>
        </p:grpSpPr>
        <p:sp>
          <p:nvSpPr>
            <p:cNvPr id="25" name="Rectangle 24"/>
            <p:cNvSpPr/>
            <p:nvPr/>
          </p:nvSpPr>
          <p:spPr>
            <a:xfrm>
              <a:off x="50292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257800" y="1524000"/>
              <a:ext cx="228600" cy="2286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/>
          <p:cNvCxnSpPr>
            <a:stCxn id="6" idx="3"/>
          </p:cNvCxnSpPr>
          <p:nvPr/>
        </p:nvCxnSpPr>
        <p:spPr>
          <a:xfrm>
            <a:off x="7239000" y="4114800"/>
            <a:ext cx="304800" cy="24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8001000" y="4117275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9" idx="3"/>
          </p:cNvCxnSpPr>
          <p:nvPr/>
        </p:nvCxnSpPr>
        <p:spPr>
          <a:xfrm>
            <a:off x="7239000" y="5486400"/>
            <a:ext cx="304800" cy="49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8001000" y="5491347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0" idx="3"/>
          </p:cNvCxnSpPr>
          <p:nvPr/>
        </p:nvCxnSpPr>
        <p:spPr>
          <a:xfrm>
            <a:off x="7239000" y="5943600"/>
            <a:ext cx="3048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724400" y="12167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8387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>
            <a:endCxn id="6" idx="1"/>
          </p:cNvCxnSpPr>
          <p:nvPr/>
        </p:nvCxnSpPr>
        <p:spPr>
          <a:xfrm>
            <a:off x="5981700" y="3088790"/>
            <a:ext cx="800100" cy="102601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6" idx="1"/>
          </p:cNvCxnSpPr>
          <p:nvPr/>
        </p:nvCxnSpPr>
        <p:spPr>
          <a:xfrm>
            <a:off x="54102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9" idx="1"/>
          </p:cNvCxnSpPr>
          <p:nvPr/>
        </p:nvCxnSpPr>
        <p:spPr>
          <a:xfrm>
            <a:off x="5181600" y="3657600"/>
            <a:ext cx="16002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9" idx="1"/>
          </p:cNvCxnSpPr>
          <p:nvPr/>
        </p:nvCxnSpPr>
        <p:spPr>
          <a:xfrm>
            <a:off x="5981700" y="3657600"/>
            <a:ext cx="8001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10" idx="1"/>
          </p:cNvCxnSpPr>
          <p:nvPr/>
        </p:nvCxnSpPr>
        <p:spPr>
          <a:xfrm>
            <a:off x="5562600" y="3543300"/>
            <a:ext cx="1219200" cy="24003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85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Average-case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Theorem 1: </a:t>
                </a:r>
                <a:r>
                  <a:rPr lang="en-US" dirty="0"/>
                  <a:t>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unsuccessful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search takes time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𝜣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𝜶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+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on average</a:t>
                </a: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6130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Remember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</a:rPr>
                      <m:t>Θ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is like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except it’s both an upper and lower bound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 rotWithShape="1">
                <a:blip r:embed="rId3"/>
                <a:stretch>
                  <a:fillRect l="-2824" t="-38174" r="-471" b="-17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 it’s a stronger assertion</a:t>
            </a:r>
          </a:p>
        </p:txBody>
      </p:sp>
    </p:spTree>
    <p:extLst>
      <p:ext uri="{BB962C8B-B14F-4D97-AF65-F5344CB8AC3E}">
        <p14:creationId xmlns:p14="http://schemas.microsoft.com/office/powerpoint/2010/main" val="3119265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… and if something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</a:rPr>
                      <m:t>Θ</m:t>
                    </m:r>
                    <m:r>
                      <a:rPr lang="en-US" i="1" dirty="0" smtClean="0">
                        <a:latin typeface="Cambria Math"/>
                      </a:rPr>
                      <m:t>(1+</m:t>
                    </m:r>
                    <m:r>
                      <a:rPr lang="en-US" b="0" i="1" dirty="0" smtClean="0">
                        <a:latin typeface="Cambria Math"/>
                      </a:rPr>
                      <m:t>𝛼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it’s also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𝛼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 and so also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𝛼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3"/>
                <a:stretch>
                  <a:fillRect l="-2824" r="-78" b="-17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732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Average-case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Theorem 1: </a:t>
                </a:r>
                <a:r>
                  <a:rPr lang="en-US" dirty="0"/>
                  <a:t>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unsuccessful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search takes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/>
                      </a:rPr>
                      <m:t>Θ</m:t>
                    </m:r>
                    <m:r>
                      <a:rPr lang="en-US" i="1" dirty="0" smtClean="0">
                        <a:latin typeface="Cambria Math"/>
                      </a:rPr>
                      <m:t>(1+</m:t>
                    </m:r>
                    <m:r>
                      <a:rPr lang="en-US" i="1" dirty="0" smtClean="0">
                        <a:latin typeface="Cambria Math"/>
                      </a:rPr>
                      <m:t>𝛼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on average</a:t>
                </a:r>
              </a:p>
              <a:p>
                <a:pPr marL="0" indent="0">
                  <a:buNone/>
                </a:pPr>
                <a:r>
                  <a:rPr lang="en-US" b="1" dirty="0"/>
                  <a:t>Proof:</a:t>
                </a:r>
              </a:p>
              <a:p>
                <a:r>
                  <a:rPr lang="en-US" dirty="0"/>
                  <a:t>The hash table has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keys</a:t>
                </a:r>
                <a:endParaRPr lang="en-US" b="1" dirty="0"/>
              </a:p>
              <a:p>
                <a:pPr lvl="1"/>
                <a:r>
                  <a:rPr lang="en-US" dirty="0"/>
                  <a:t>and 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linked list cells</a:t>
                </a:r>
              </a:p>
              <a:p>
                <a:r>
                  <a:rPr lang="en-US" dirty="0"/>
                  <a:t>But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lists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(one for each array cell)</a:t>
                </a:r>
              </a:p>
              <a:p>
                <a:r>
                  <a:rPr lang="en-US" dirty="0"/>
                  <a:t>So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average list length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en-US" i="1" dirty="0" smtClean="0">
                            <a:latin typeface="Cambria Math"/>
                          </a:rPr>
                          <m:t>𝑚</m:t>
                        </m:r>
                      </m:den>
                    </m:f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𝜶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Time to search is</a:t>
                </a:r>
              </a:p>
              <a:p>
                <a:pPr lvl="1"/>
                <a:r>
                  <a:rPr lang="en-US" dirty="0"/>
                  <a:t>Time to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compute hash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+ time to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search list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𝛼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/>
                      </a:rPr>
                      <m:t>Θ</m:t>
                    </m:r>
                    <m:r>
                      <a:rPr lang="en-US" i="1" dirty="0" smtClean="0">
                        <a:latin typeface="Cambria Math"/>
                      </a:rPr>
                      <m:t>(1+</m:t>
                    </m:r>
                    <m:r>
                      <a:rPr lang="en-US" i="1" dirty="0" smtClean="0">
                        <a:latin typeface="Cambria Math"/>
                      </a:rPr>
                      <m:t>𝛼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407" t="-2156" b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7200" y="6451684"/>
                <a:ext cx="82296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 smtClean="0"/>
                  <a:t>Why do they say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5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105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5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105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sz="1050" dirty="0" smtClean="0"/>
                  <a:t> rather than just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5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105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5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en-US" sz="1050" dirty="0" smtClean="0"/>
                  <a:t>?  Because they want to make clear That execution time never goes to zero even when n is zero.</a:t>
                </a:r>
                <a:endParaRPr lang="en-US" sz="105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6451684"/>
                <a:ext cx="8229600" cy="253916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78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Average-case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Theorem 2: </a:t>
                </a:r>
                <a:r>
                  <a:rPr lang="en-US" dirty="0"/>
                  <a:t>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successful</a:t>
                </a:r>
                <a:r>
                  <a:rPr lang="en-US" i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search </a:t>
                </a:r>
                <a:r>
                  <a:rPr lang="en-US" dirty="0" smtClean="0"/>
                  <a:t>also takes </a:t>
                </a:r>
                <a:r>
                  <a:rPr lang="en-US" dirty="0"/>
                  <a:t>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/>
                      </a:rPr>
                      <m:t>Θ</m:t>
                    </m:r>
                    <m:r>
                      <a:rPr lang="en-US" i="1" dirty="0" smtClean="0">
                        <a:latin typeface="Cambria Math"/>
                      </a:rPr>
                      <m:t>(1+</m:t>
                    </m:r>
                    <m:r>
                      <a:rPr lang="en-US" i="1" dirty="0" smtClean="0">
                        <a:latin typeface="Cambria Math"/>
                      </a:rPr>
                      <m:t>𝛼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on </a:t>
                </a:r>
                <a:r>
                  <a:rPr lang="en-US" dirty="0" smtClean="0"/>
                  <a:t>average</a:t>
                </a:r>
                <a:endParaRPr lang="en-US" dirty="0"/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US" b="1" dirty="0" smtClean="0"/>
                  <a:t>Proof outline:</a:t>
                </a:r>
              </a:p>
              <a:p>
                <a:r>
                  <a:rPr lang="en-US" dirty="0" smtClean="0"/>
                  <a:t>The time to do a successful search of a key is the </a:t>
                </a:r>
                <a:r>
                  <a:rPr lang="en-US" b="1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same as the time it took to insert </a:t>
                </a:r>
                <a:r>
                  <a:rPr lang="en-US" dirty="0" smtClean="0"/>
                  <a:t>that key plus 1</a:t>
                </a:r>
              </a:p>
              <a:p>
                <a:r>
                  <a:rPr lang="en-US" b="1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Determine the insertion time </a:t>
                </a:r>
                <a:r>
                  <a:rPr lang="en-US" dirty="0" smtClean="0"/>
                  <a:t>for individual keys</a:t>
                </a:r>
              </a:p>
              <a:p>
                <a:r>
                  <a:rPr lang="en-US" dirty="0" smtClean="0"/>
                  <a:t>Show the </a:t>
                </a:r>
                <a:r>
                  <a:rPr lang="en-US" b="1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average insertion time</a:t>
                </a:r>
                <a:r>
                  <a:rPr lang="en-US" dirty="0" smtClean="0"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86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Average-case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Lemma: </a:t>
                </a:r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total number of linked list elements searched </a:t>
                </a:r>
                <a:r>
                  <a:rPr lang="en-US" dirty="0"/>
                  <a:t>while inserting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items into an empty hash table is on average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  <m:r>
                          <a:rPr lang="en-US" i="1" dirty="0" smtClean="0">
                            <a:latin typeface="Cambria Math"/>
                          </a:rPr>
                          <m:t>−1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/2</m:t>
                    </m:r>
                    <m:r>
                      <a:rPr lang="en-US" i="1" dirty="0" smtClean="0">
                        <a:latin typeface="Cambria Math"/>
                      </a:rPr>
                      <m:t>𝑚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Proof:</a:t>
                </a:r>
              </a:p>
              <a:p>
                <a:r>
                  <a:rPr lang="en-US" dirty="0"/>
                  <a:t>When we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insert 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b="1" dirty="0" err="1">
                    <a:solidFill>
                      <a:schemeClr val="accent6">
                        <a:lumMod val="75000"/>
                      </a:schemeClr>
                    </a:solidFill>
                  </a:rPr>
                  <a:t>th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key</a:t>
                </a:r>
                <a:r>
                  <a:rPr lang="en-US" dirty="0"/>
                  <a:t>, we perform an unsuccessful search of the list for its hash bucket</a:t>
                </a:r>
              </a:p>
              <a:p>
                <a:r>
                  <a:rPr lang="en-US" dirty="0"/>
                  <a:t>At that point, there are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keys</a:t>
                </a:r>
                <a:endParaRPr lang="en-US" b="1" dirty="0"/>
              </a:p>
              <a:p>
                <a:r>
                  <a:rPr lang="en-US" dirty="0"/>
                  <a:t>So the load factor is</a:t>
                </a:r>
                <a:br>
                  <a:rPr lang="en-US" dirty="0"/>
                </a:b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𝜶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=(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)/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𝒎</m:t>
                    </m:r>
                  </m:oMath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r>
                  <a:rPr lang="en-US" dirty="0"/>
                  <a:t>But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expected number </a:t>
                </a:r>
                <a:r>
                  <a:rPr lang="en-US" dirty="0"/>
                  <a:t>of searches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𝜶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3"/>
                <a:stretch>
                  <a:fillRect l="-1508" t="-2022" r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So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total number </a:t>
                </a:r>
                <a:r>
                  <a:rPr lang="en-US" dirty="0"/>
                  <a:t>of search operations is: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 smtClean="0">
                              <a:latin typeface="Cambria Math"/>
                            </a:rPr>
                            <m:t>𝑖</m:t>
                          </m:r>
                          <m:r>
                            <a:rPr lang="en-US" i="1" dirty="0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i="1" smtClean="0"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/>
                                </a:rPr>
                                <m:t>𝑚</m:t>
                              </m:r>
                            </m:den>
                          </m:f>
                        </m:e>
                      </m:nary>
                      <m:r>
                        <m:rPr>
                          <m:aln/>
                        </m:rPr>
                        <a:rPr lang="en-US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en-US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i="1" smtClean="0">
                              <a:latin typeface="Cambria Math"/>
                            </a:rPr>
                            <m:t>−1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 dirty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i="1" dirty="0"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r>
                            <a:rPr lang="en-US" i="1" dirty="0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 smtClean="0">
                              <a:latin typeface="Cambria Math"/>
                            </a:rPr>
                            <m:t>2</m:t>
                          </m:r>
                          <m:r>
                            <a:rPr lang="en-US" i="1" smtClean="0">
                              <a:latin typeface="Cambria Math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r>
                  <a:rPr lang="en-US" dirty="0">
                    <a:latin typeface="Cambria Math"/>
                  </a:rPr>
                  <a:t/>
                </a:r>
                <a:br>
                  <a:rPr lang="en-US" dirty="0">
                    <a:latin typeface="Cambria Math"/>
                  </a:rPr>
                </a:br>
                <a:endParaRPr lang="en-US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0">
                <a:blip r:embed="rId4"/>
                <a:stretch>
                  <a:fillRect l="-1360"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626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Average-case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Theorem 2: </a:t>
                </a:r>
                <a:r>
                  <a:rPr lang="en-US" dirty="0"/>
                  <a:t>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successful</a:t>
                </a:r>
                <a:r>
                  <a:rPr lang="en-US" i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search takes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/>
                      </a:rPr>
                      <m:t>Θ</m:t>
                    </m:r>
                    <m:r>
                      <a:rPr lang="en-US" i="1" dirty="0" smtClean="0">
                        <a:latin typeface="Cambria Math"/>
                      </a:rPr>
                      <m:t>(1+</m:t>
                    </m:r>
                    <m:r>
                      <a:rPr lang="en-US" i="1" dirty="0" smtClean="0">
                        <a:latin typeface="Cambria Math"/>
                      </a:rPr>
                      <m:t>𝛼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on average</a:t>
                </a:r>
              </a:p>
              <a:p>
                <a:pPr marL="0" indent="0">
                  <a:buNone/>
                </a:pPr>
                <a:r>
                  <a:rPr lang="en-US" b="1" dirty="0"/>
                  <a:t>Proof:</a:t>
                </a:r>
              </a:p>
              <a:p>
                <a:r>
                  <a:rPr lang="en-US" dirty="0"/>
                  <a:t>The number of list elements searched for a successful search is</a:t>
                </a:r>
              </a:p>
              <a:p>
                <a:pPr lvl="1"/>
                <a:r>
                  <a:rPr lang="en-US" dirty="0"/>
                  <a:t>The number of elements searched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when the key was originally inserted</a:t>
                </a:r>
              </a:p>
              <a:p>
                <a:pPr lvl="1"/>
                <a:r>
                  <a:rPr lang="en-US" dirty="0"/>
                  <a:t>Plus 1</a:t>
                </a:r>
              </a:p>
              <a:p>
                <a:r>
                  <a:rPr lang="en-US" dirty="0"/>
                  <a:t>How many elements were searched when the key was inserted?  (on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average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The total number of elements searched while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inserting all the elements in the table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Divided by </a:t>
                </a:r>
                <a:r>
                  <a:rPr lang="en-US" dirty="0"/>
                  <a:t>the number of elements in the table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i="1" dirty="0" smtClean="0"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i="1" dirty="0" smtClean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i="1" smtClean="0">
                                  <a:latin typeface="Cambria Math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/>
                            </a:rPr>
                            <m:t>𝑛</m:t>
                          </m:r>
                          <m:r>
                            <a:rPr lang="en-US" i="1" dirty="0" smtClean="0">
                              <a:latin typeface="Cambria Math"/>
                            </a:rPr>
                            <m:t>−1</m:t>
                          </m:r>
                        </m:num>
                        <m:den>
                          <m:r>
                            <a:rPr lang="en-US" i="1" smtClean="0">
                              <a:latin typeface="Cambria Math"/>
                            </a:rPr>
                            <m:t>2</m:t>
                          </m:r>
                          <m:r>
                            <a:rPr lang="en-US" i="1" smtClean="0"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US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 smtClean="0">
                              <a:latin typeface="Cambria Math"/>
                            </a:rPr>
                            <m:t>2</m:t>
                          </m:r>
                          <m:r>
                            <a:rPr lang="en-US" i="1" smtClean="0"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US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/>
                            </a:rPr>
                            <m:t>2</m:t>
                          </m:r>
                          <m:r>
                            <a:rPr lang="en-US" i="1" smtClean="0"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US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/>
                            </a:rPr>
                            <m:t>𝛼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963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488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Average-case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Theorem 2: </a:t>
                </a:r>
                <a:r>
                  <a:rPr lang="en-US" dirty="0"/>
                  <a:t>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successful</a:t>
                </a:r>
                <a:r>
                  <a:rPr lang="en-US" i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search takes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/>
                      </a:rPr>
                      <m:t>Θ</m:t>
                    </m:r>
                    <m:r>
                      <a:rPr lang="en-US" i="1" dirty="0" smtClean="0">
                        <a:latin typeface="Cambria Math"/>
                      </a:rPr>
                      <m:t>(1+</m:t>
                    </m:r>
                    <m:r>
                      <a:rPr lang="en-US" i="1" dirty="0" smtClean="0">
                        <a:latin typeface="Cambria Math"/>
                      </a:rPr>
                      <m:t>𝛼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on average</a:t>
                </a:r>
              </a:p>
              <a:p>
                <a:pPr marL="0" indent="0">
                  <a:buNone/>
                </a:pPr>
                <a:r>
                  <a:rPr lang="en-US" b="1" dirty="0"/>
                  <a:t>Proof:</a:t>
                </a:r>
              </a:p>
              <a:p>
                <a:r>
                  <a:rPr lang="en-US" dirty="0"/>
                  <a:t>So the total number of elements searched (on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average</a:t>
                </a:r>
                <a:r>
                  <a:rPr lang="en-US" dirty="0"/>
                  <a:t>)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1+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𝛼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latin typeface="Cambria Math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And so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total execution time </a:t>
                </a:r>
                <a:r>
                  <a:rPr lang="en-US" dirty="0"/>
                  <a:t>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/>
                        </a:rPr>
                        <m:t>Θ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i="1" smtClean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/>
                        </a:rPr>
                        <m:t>Θ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𝛼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  <m:r>
                        <a:rPr lang="en-US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/>
                        </a:rPr>
                        <m:t>Θ</m:t>
                      </m:r>
                      <m:r>
                        <a:rPr lang="en-US" i="1" smtClean="0">
                          <a:latin typeface="Cambria Math"/>
                        </a:rPr>
                        <m:t>(1+</m:t>
                      </m:r>
                      <m:r>
                        <a:rPr lang="en-US" i="1" smtClean="0">
                          <a:latin typeface="Cambria Math"/>
                        </a:rPr>
                        <m:t>𝛼</m:t>
                      </m:r>
                      <m:r>
                        <a:rPr lang="en-US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407" t="-2830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509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wait…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If</a:t>
                </a:r>
              </a:p>
              <a:p>
                <a:pPr lvl="1"/>
                <a:r>
                  <a:rPr lang="en-US" dirty="0"/>
                  <a:t>It’s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1+</m:t>
                        </m:r>
                        <m:r>
                          <a:rPr lang="en-US" i="1" dirty="0" smtClean="0">
                            <a:latin typeface="Cambria Math"/>
                          </a:rPr>
                          <m:t>𝛼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𝛼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en-US" i="1" dirty="0" smtClean="0">
                            <a:latin typeface="Cambria Math"/>
                          </a:rPr>
                          <m:t>𝑚</m:t>
                        </m:r>
                      </m:den>
                    </m:f>
                  </m:oMath>
                </a14:m>
                <a:endParaRPr lang="en-US" i="1" dirty="0">
                  <a:latin typeface="Cambria Math"/>
                </a:endParaRPr>
              </a:p>
              <a:p>
                <a:pPr lvl="1"/>
                <a:r>
                  <a:rPr lang="en-US" dirty="0"/>
                  <a:t>doesn’t that sort of make it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?</a:t>
                </a:r>
                <a:endParaRPr lang="en-US" b="1" dirty="0"/>
              </a:p>
              <a:p>
                <a:pPr lvl="1"/>
                <a:endParaRPr lang="en-US" dirty="0"/>
              </a:p>
              <a:p>
                <a:r>
                  <a:rPr lang="en-US" dirty="0"/>
                  <a:t>Yes, but…</a:t>
                </a:r>
              </a:p>
              <a:p>
                <a:pPr lvl="1"/>
                <a:r>
                  <a:rPr lang="en-US" dirty="0"/>
                  <a:t>While time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depends 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𝒏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it also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depends 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𝒎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So you can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compensate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for larger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, by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increasing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to bring the load factor down again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481" t="-3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3742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wait…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 really, it just means that you need to make sure the table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big enough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for the number of entries you’re going to have in it</a:t>
            </a:r>
          </a:p>
          <a:p>
            <a:endParaRPr lang="en-US" dirty="0"/>
          </a:p>
          <a:p>
            <a:r>
              <a:rPr lang="en-US" dirty="0"/>
              <a:t>In fact, it’s possible to make tables that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grow automatically </a:t>
            </a:r>
            <a:r>
              <a:rPr lang="en-US" dirty="0"/>
              <a:t>to keep the load factor down</a:t>
            </a:r>
          </a:p>
          <a:p>
            <a:pPr lvl="1"/>
            <a:r>
              <a:rPr lang="en-US" dirty="0"/>
              <a:t>We’ll talk about this toward the end of the quarter</a:t>
            </a:r>
          </a:p>
        </p:txBody>
      </p:sp>
    </p:spTree>
    <p:extLst>
      <p:ext uri="{BB962C8B-B14F-4D97-AF65-F5344CB8AC3E}">
        <p14:creationId xmlns:p14="http://schemas.microsoft.com/office/powerpoint/2010/main" val="4154795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43400" y="1600200"/>
            <a:ext cx="4343400" cy="4525963"/>
          </a:xfrm>
        </p:spPr>
        <p:txBody>
          <a:bodyPr>
            <a:normAutofit/>
          </a:bodyPr>
          <a:lstStyle/>
          <a:p>
            <a:r>
              <a:rPr lang="en-US" dirty="0"/>
              <a:t>Instead of using a linked list</a:t>
            </a:r>
          </a:p>
          <a:p>
            <a:pPr>
              <a:spcBef>
                <a:spcPts val="1800"/>
              </a:spcBef>
            </a:pPr>
            <a:r>
              <a:rPr lang="en-US" dirty="0"/>
              <a:t>We can resolve collisions by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trying successive locations </a:t>
            </a:r>
            <a:r>
              <a:rPr lang="en-US" dirty="0"/>
              <a:t>in the hash table</a:t>
            </a:r>
          </a:p>
          <a:p>
            <a:pPr>
              <a:spcBef>
                <a:spcPts val="1800"/>
              </a:spcBef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Important:</a:t>
            </a:r>
            <a:r>
              <a:rPr lang="en-US" dirty="0"/>
              <a:t> this requires that the array be an array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key/value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70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670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6670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6670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670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670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09600" y="12167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239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6" idx="1"/>
          </p:cNvCxnSpPr>
          <p:nvPr/>
        </p:nvCxnSpPr>
        <p:spPr>
          <a:xfrm>
            <a:off x="1866900" y="3088790"/>
            <a:ext cx="800100" cy="102601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6" idx="1"/>
          </p:cNvCxnSpPr>
          <p:nvPr/>
        </p:nvCxnSpPr>
        <p:spPr>
          <a:xfrm>
            <a:off x="12954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9" idx="1"/>
          </p:cNvCxnSpPr>
          <p:nvPr/>
        </p:nvCxnSpPr>
        <p:spPr>
          <a:xfrm>
            <a:off x="1066800" y="3657600"/>
            <a:ext cx="16002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9" idx="1"/>
          </p:cNvCxnSpPr>
          <p:nvPr/>
        </p:nvCxnSpPr>
        <p:spPr>
          <a:xfrm>
            <a:off x="1866900" y="3657600"/>
            <a:ext cx="8001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0" idx="1"/>
          </p:cNvCxnSpPr>
          <p:nvPr/>
        </p:nvCxnSpPr>
        <p:spPr>
          <a:xfrm>
            <a:off x="1447800" y="3543300"/>
            <a:ext cx="1219200" cy="24003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6" idx="3"/>
            <a:endCxn id="9" idx="3"/>
          </p:cNvCxnSpPr>
          <p:nvPr/>
        </p:nvCxnSpPr>
        <p:spPr>
          <a:xfrm>
            <a:off x="3124200" y="4114800"/>
            <a:ext cx="1588" cy="1371600"/>
          </a:xfrm>
          <a:prstGeom prst="curvedConnector3">
            <a:avLst>
              <a:gd name="adj1" fmla="val 14395466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9" idx="3"/>
            <a:endCxn id="7" idx="3"/>
          </p:cNvCxnSpPr>
          <p:nvPr/>
        </p:nvCxnSpPr>
        <p:spPr>
          <a:xfrm flipV="1">
            <a:off x="3124200" y="4572000"/>
            <a:ext cx="1588" cy="914400"/>
          </a:xfrm>
          <a:prstGeom prst="curvedConnector3">
            <a:avLst>
              <a:gd name="adj1" fmla="val 29351763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439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343400" y="1600200"/>
                <a:ext cx="4343400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We redefine the hash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to take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second argument </a:t>
                </a:r>
                <a:r>
                  <a:rPr lang="en-US" dirty="0"/>
                  <a:t>between 0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𝑚</m:t>
                    </m:r>
                    <m:r>
                      <a:rPr lang="en-US" i="1" dirty="0" smtClean="0">
                        <a:latin typeface="Cambria Math"/>
                      </a:rPr>
                      <m:t>−1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h</m:t>
                      </m:r>
                      <m:r>
                        <a:rPr lang="en-US" i="1" dirty="0" smtClean="0">
                          <a:latin typeface="Cambria Math"/>
                        </a:rPr>
                        <m:t> : </m:t>
                      </m:r>
                      <m:r>
                        <a:rPr lang="en-US" i="1" dirty="0" smtClean="0">
                          <a:latin typeface="Cambria Math"/>
                        </a:rPr>
                        <m:t>𝑈</m:t>
                      </m:r>
                      <m:r>
                        <a:rPr lang="en-US" i="1" dirty="0" smtClean="0">
                          <a:latin typeface="Cambria Math"/>
                        </a:rPr>
                        <m:t>×</m:t>
                      </m:r>
                      <m:r>
                        <a:rPr lang="en-US" i="1" dirty="0" smtClean="0">
                          <a:latin typeface="Cambria Math"/>
                        </a:rPr>
                        <m:t>𝑀</m:t>
                      </m:r>
                      <m:r>
                        <a:rPr lang="en-US" i="1" dirty="0" smtClean="0">
                          <a:latin typeface="Cambria Math"/>
                        </a:rPr>
                        <m:t> →</m:t>
                      </m:r>
                      <m:r>
                        <a:rPr lang="en-US" i="1" dirty="0" smtClean="0">
                          <a:latin typeface="Cambria Math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𝑀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0, 1, …</m:t>
                        </m:r>
                        <m:r>
                          <a:rPr lang="en-US" i="1" dirty="0">
                            <a:latin typeface="Cambria Math"/>
                          </a:rPr>
                          <m:t>𝑚</m:t>
                        </m:r>
                        <m:r>
                          <a:rPr lang="en-US" i="1" dirty="0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endParaRPr lang="en-US" i="1" dirty="0">
                  <a:latin typeface="Cambria Math"/>
                </a:endParaRPr>
              </a:p>
              <a:p>
                <a:endParaRPr lang="en-US" dirty="0"/>
              </a:p>
              <a:p>
                <a:r>
                  <a:rPr lang="en-US" dirty="0"/>
                  <a:t>The second argument specifies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which attempt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we’re on (first, second, etc.)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343400" y="1600200"/>
                <a:ext cx="4343400" cy="4525963"/>
              </a:xfrm>
              <a:blipFill>
                <a:blip r:embed="rId3"/>
                <a:stretch>
                  <a:fillRect l="-2247" t="-1213" r="-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26670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670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6670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6670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670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670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09600" y="12167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239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6" idx="1"/>
          </p:cNvCxnSpPr>
          <p:nvPr/>
        </p:nvCxnSpPr>
        <p:spPr>
          <a:xfrm>
            <a:off x="1866900" y="3088790"/>
            <a:ext cx="800100" cy="102601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6" idx="1"/>
          </p:cNvCxnSpPr>
          <p:nvPr/>
        </p:nvCxnSpPr>
        <p:spPr>
          <a:xfrm>
            <a:off x="12954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9" idx="1"/>
          </p:cNvCxnSpPr>
          <p:nvPr/>
        </p:nvCxnSpPr>
        <p:spPr>
          <a:xfrm>
            <a:off x="1066800" y="3657600"/>
            <a:ext cx="16002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9" idx="1"/>
          </p:cNvCxnSpPr>
          <p:nvPr/>
        </p:nvCxnSpPr>
        <p:spPr>
          <a:xfrm>
            <a:off x="1866900" y="3657600"/>
            <a:ext cx="8001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0" idx="1"/>
          </p:cNvCxnSpPr>
          <p:nvPr/>
        </p:nvCxnSpPr>
        <p:spPr>
          <a:xfrm>
            <a:off x="1447800" y="3543300"/>
            <a:ext cx="1219200" cy="24003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6" idx="3"/>
            <a:endCxn id="9" idx="3"/>
          </p:cNvCxnSpPr>
          <p:nvPr/>
        </p:nvCxnSpPr>
        <p:spPr>
          <a:xfrm>
            <a:off x="3124200" y="4114800"/>
            <a:ext cx="1588" cy="1371600"/>
          </a:xfrm>
          <a:prstGeom prst="curvedConnector3">
            <a:avLst>
              <a:gd name="adj1" fmla="val 14395466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9" idx="3"/>
            <a:endCxn id="7" idx="3"/>
          </p:cNvCxnSpPr>
          <p:nvPr/>
        </p:nvCxnSpPr>
        <p:spPr>
          <a:xfrm flipV="1">
            <a:off x="3124200" y="4572000"/>
            <a:ext cx="1588" cy="914400"/>
          </a:xfrm>
          <a:prstGeom prst="curvedConnector3">
            <a:avLst>
              <a:gd name="adj1" fmla="val 29351763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284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2400" y="1600200"/>
            <a:ext cx="5181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Store</a:t>
            </a:r>
            <a:r>
              <a:rPr lang="en-US" dirty="0"/>
              <a:t>(key, value) {</a:t>
            </a:r>
          </a:p>
          <a:p>
            <a:pPr marL="0" indent="0">
              <a:buNone/>
            </a:pPr>
            <a:r>
              <a:rPr lang="en-US" dirty="0"/>
              <a:t>   for (</a:t>
            </a:r>
            <a:r>
              <a:rPr lang="en-US" dirty="0" err="1"/>
              <a:t>int</a:t>
            </a:r>
            <a:r>
              <a:rPr lang="en-US" dirty="0"/>
              <a:t> i = 0; i&lt;m; i++) 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int</a:t>
            </a:r>
            <a:r>
              <a:rPr lang="en-US" dirty="0"/>
              <a:t> j = h(key, i);</a:t>
            </a:r>
          </a:p>
          <a:p>
            <a:pPr marL="0" indent="0">
              <a:buNone/>
            </a:pPr>
            <a:r>
              <a:rPr lang="en-US" dirty="0"/>
              <a:t>      if (array[j].key == key) {</a:t>
            </a:r>
          </a:p>
          <a:p>
            <a:pPr marL="0" indent="0">
              <a:buNone/>
            </a:pPr>
            <a:r>
              <a:rPr lang="en-US" dirty="0"/>
              <a:t>         array[j].value = value;</a:t>
            </a:r>
            <a:br>
              <a:rPr lang="en-US" dirty="0"/>
            </a:br>
            <a:r>
              <a:rPr lang="en-US" dirty="0"/>
              <a:t>         return; </a:t>
            </a:r>
          </a:p>
          <a:p>
            <a:pPr marL="0" indent="0">
              <a:buNone/>
            </a:pPr>
            <a:r>
              <a:rPr lang="en-US" dirty="0"/>
              <a:t>       } else if (array[j].key==null) {</a:t>
            </a:r>
          </a:p>
          <a:p>
            <a:pPr marL="0" indent="0">
              <a:buNone/>
            </a:pPr>
            <a:r>
              <a:rPr lang="en-US" dirty="0"/>
              <a:t>         array[j].key = key;</a:t>
            </a:r>
          </a:p>
          <a:p>
            <a:pPr marL="0" indent="0">
              <a:buNone/>
            </a:pPr>
            <a:r>
              <a:rPr lang="en-US" dirty="0"/>
              <a:t>         array[j].value = value;</a:t>
            </a:r>
          </a:p>
          <a:p>
            <a:pPr marL="0" indent="0">
              <a:buNone/>
            </a:pPr>
            <a:r>
              <a:rPr lang="en-US" dirty="0"/>
              <a:t>         return;</a:t>
            </a:r>
            <a:br>
              <a:rPr lang="en-US" dirty="0"/>
            </a:br>
            <a:r>
              <a:rPr lang="en-US" dirty="0"/>
              <a:t>      }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   throw new Exception(“table full”);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70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670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6670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6670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670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670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09600" y="12167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239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6" idx="1"/>
          </p:cNvCxnSpPr>
          <p:nvPr/>
        </p:nvCxnSpPr>
        <p:spPr>
          <a:xfrm>
            <a:off x="1866900" y="3088790"/>
            <a:ext cx="800100" cy="102601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6" idx="1"/>
          </p:cNvCxnSpPr>
          <p:nvPr/>
        </p:nvCxnSpPr>
        <p:spPr>
          <a:xfrm>
            <a:off x="12954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9" idx="1"/>
          </p:cNvCxnSpPr>
          <p:nvPr/>
        </p:nvCxnSpPr>
        <p:spPr>
          <a:xfrm>
            <a:off x="1066800" y="3657600"/>
            <a:ext cx="16002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9" idx="1"/>
          </p:cNvCxnSpPr>
          <p:nvPr/>
        </p:nvCxnSpPr>
        <p:spPr>
          <a:xfrm>
            <a:off x="1866900" y="3657600"/>
            <a:ext cx="8001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0" idx="1"/>
          </p:cNvCxnSpPr>
          <p:nvPr/>
        </p:nvCxnSpPr>
        <p:spPr>
          <a:xfrm>
            <a:off x="1447800" y="3543300"/>
            <a:ext cx="1219200" cy="24003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6" idx="3"/>
            <a:endCxn id="9" idx="3"/>
          </p:cNvCxnSpPr>
          <p:nvPr/>
        </p:nvCxnSpPr>
        <p:spPr>
          <a:xfrm>
            <a:off x="3124200" y="4114800"/>
            <a:ext cx="1588" cy="1371600"/>
          </a:xfrm>
          <a:prstGeom prst="curvedConnector3">
            <a:avLst>
              <a:gd name="adj1" fmla="val 14395466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9" idx="3"/>
            <a:endCxn id="7" idx="3"/>
          </p:cNvCxnSpPr>
          <p:nvPr/>
        </p:nvCxnSpPr>
        <p:spPr>
          <a:xfrm flipV="1">
            <a:off x="3124200" y="4572000"/>
            <a:ext cx="1588" cy="914400"/>
          </a:xfrm>
          <a:prstGeom prst="curvedConnector3">
            <a:avLst>
              <a:gd name="adj1" fmla="val 29351763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2324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2400" y="1600200"/>
            <a:ext cx="5181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Store</a:t>
            </a:r>
            <a:r>
              <a:rPr lang="en-US" dirty="0"/>
              <a:t>(key, value) {</a:t>
            </a:r>
          </a:p>
          <a:p>
            <a:pPr marL="0" indent="0">
              <a:buNone/>
            </a:pPr>
            <a:r>
              <a:rPr lang="en-US" dirty="0"/>
              <a:t>   for (</a:t>
            </a:r>
            <a:r>
              <a:rPr lang="en-US" dirty="0" err="1"/>
              <a:t>int</a:t>
            </a:r>
            <a:r>
              <a:rPr lang="en-US" dirty="0"/>
              <a:t> i = 0; i&lt;m; i++) 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int</a:t>
            </a:r>
            <a:r>
              <a:rPr lang="en-US" dirty="0"/>
              <a:t> j = h(key, i);</a:t>
            </a:r>
          </a:p>
          <a:p>
            <a:pPr marL="0" indent="0">
              <a:buNone/>
            </a:pPr>
            <a:r>
              <a:rPr lang="en-US" dirty="0"/>
              <a:t>      if (array[j].key == key) {</a:t>
            </a:r>
          </a:p>
          <a:p>
            <a:pPr marL="0" indent="0">
              <a:buNone/>
            </a:pPr>
            <a:r>
              <a:rPr lang="en-US" dirty="0"/>
              <a:t>         array[j].value = value; </a:t>
            </a:r>
            <a:br>
              <a:rPr lang="en-US" dirty="0"/>
            </a:br>
            <a:r>
              <a:rPr lang="en-US" dirty="0"/>
              <a:t>         return;</a:t>
            </a:r>
          </a:p>
          <a:p>
            <a:pPr marL="0" indent="0">
              <a:buNone/>
            </a:pPr>
            <a:r>
              <a:rPr lang="en-US" dirty="0"/>
              <a:t>      } else if (array[j].key==null) {</a:t>
            </a:r>
          </a:p>
          <a:p>
            <a:pPr marL="0" indent="0">
              <a:buNone/>
            </a:pPr>
            <a:r>
              <a:rPr lang="en-US" dirty="0"/>
              <a:t>         array[j].key = key;</a:t>
            </a:r>
          </a:p>
          <a:p>
            <a:pPr marL="0" indent="0">
              <a:buNone/>
            </a:pPr>
            <a:r>
              <a:rPr lang="en-US" dirty="0"/>
              <a:t>         array[j].value = value;</a:t>
            </a:r>
          </a:p>
          <a:p>
            <a:pPr marL="0" indent="0">
              <a:buNone/>
            </a:pPr>
            <a:r>
              <a:rPr lang="en-US" dirty="0"/>
              <a:t>         return;</a:t>
            </a:r>
            <a:br>
              <a:rPr lang="en-US" dirty="0"/>
            </a:br>
            <a:r>
              <a:rPr lang="en-US" dirty="0"/>
              <a:t>      }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   throw new Exception(“table full”);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70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670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6670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6670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670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670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09600" y="12167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239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6" idx="1"/>
          </p:cNvCxnSpPr>
          <p:nvPr/>
        </p:nvCxnSpPr>
        <p:spPr>
          <a:xfrm>
            <a:off x="1866900" y="3088790"/>
            <a:ext cx="800100" cy="102601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6" idx="1"/>
          </p:cNvCxnSpPr>
          <p:nvPr/>
        </p:nvCxnSpPr>
        <p:spPr>
          <a:xfrm>
            <a:off x="12954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9" idx="1"/>
          </p:cNvCxnSpPr>
          <p:nvPr/>
        </p:nvCxnSpPr>
        <p:spPr>
          <a:xfrm>
            <a:off x="1066800" y="3657600"/>
            <a:ext cx="16002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9" idx="1"/>
          </p:cNvCxnSpPr>
          <p:nvPr/>
        </p:nvCxnSpPr>
        <p:spPr>
          <a:xfrm>
            <a:off x="1866900" y="3657600"/>
            <a:ext cx="8001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0" idx="1"/>
          </p:cNvCxnSpPr>
          <p:nvPr/>
        </p:nvCxnSpPr>
        <p:spPr>
          <a:xfrm>
            <a:off x="1447800" y="3543300"/>
            <a:ext cx="1219200" cy="24003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6" idx="3"/>
            <a:endCxn id="9" idx="3"/>
          </p:cNvCxnSpPr>
          <p:nvPr/>
        </p:nvCxnSpPr>
        <p:spPr>
          <a:xfrm>
            <a:off x="3124200" y="4114800"/>
            <a:ext cx="1588" cy="1371600"/>
          </a:xfrm>
          <a:prstGeom prst="curvedConnector3">
            <a:avLst>
              <a:gd name="adj1" fmla="val 14395466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9" idx="3"/>
            <a:endCxn id="7" idx="3"/>
          </p:cNvCxnSpPr>
          <p:nvPr/>
        </p:nvCxnSpPr>
        <p:spPr>
          <a:xfrm flipV="1">
            <a:off x="3124200" y="4572000"/>
            <a:ext cx="1588" cy="914400"/>
          </a:xfrm>
          <a:prstGeom prst="curvedConnector3">
            <a:avLst>
              <a:gd name="adj1" fmla="val 29351763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820470" y="6248400"/>
            <a:ext cx="7266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Question: why do we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give up after m iterations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388284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2400" y="1600200"/>
            <a:ext cx="5181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Store</a:t>
            </a:r>
            <a:r>
              <a:rPr lang="en-US" dirty="0"/>
              <a:t>(key, value) {</a:t>
            </a:r>
          </a:p>
          <a:p>
            <a:pPr marL="0" indent="0">
              <a:buNone/>
            </a:pPr>
            <a:r>
              <a:rPr lang="en-US" dirty="0"/>
              <a:t>   for (</a:t>
            </a:r>
            <a:r>
              <a:rPr lang="en-US" dirty="0" err="1"/>
              <a:t>int</a:t>
            </a:r>
            <a:r>
              <a:rPr lang="en-US" dirty="0"/>
              <a:t> i = 0; i&lt;m; i++) 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int</a:t>
            </a:r>
            <a:r>
              <a:rPr lang="en-US" dirty="0"/>
              <a:t> j = h(key, i);</a:t>
            </a:r>
          </a:p>
          <a:p>
            <a:pPr marL="0" indent="0">
              <a:buNone/>
            </a:pPr>
            <a:r>
              <a:rPr lang="en-US" dirty="0"/>
              <a:t>      if (array[j].key == key) {</a:t>
            </a:r>
          </a:p>
          <a:p>
            <a:pPr marL="0" indent="0">
              <a:buNone/>
            </a:pPr>
            <a:r>
              <a:rPr lang="en-US" dirty="0"/>
              <a:t>         array[j].value = value;</a:t>
            </a:r>
            <a:br>
              <a:rPr lang="en-US" dirty="0"/>
            </a:br>
            <a:r>
              <a:rPr lang="en-US" dirty="0"/>
              <a:t>         return; </a:t>
            </a:r>
          </a:p>
          <a:p>
            <a:pPr marL="0" indent="0">
              <a:buNone/>
            </a:pPr>
            <a:r>
              <a:rPr lang="en-US" dirty="0"/>
              <a:t>      } else if (array[j].key==null) {</a:t>
            </a:r>
          </a:p>
          <a:p>
            <a:pPr marL="0" indent="0">
              <a:buNone/>
            </a:pPr>
            <a:r>
              <a:rPr lang="en-US" dirty="0"/>
              <a:t>         array[j].key = key;</a:t>
            </a:r>
          </a:p>
          <a:p>
            <a:pPr marL="0" indent="0">
              <a:buNone/>
            </a:pPr>
            <a:r>
              <a:rPr lang="en-US" dirty="0"/>
              <a:t>         array[j].value = value;</a:t>
            </a:r>
          </a:p>
          <a:p>
            <a:pPr marL="0" indent="0">
              <a:buNone/>
            </a:pPr>
            <a:r>
              <a:rPr lang="en-US" dirty="0"/>
              <a:t>         return;</a:t>
            </a:r>
            <a:br>
              <a:rPr lang="en-US" dirty="0"/>
            </a:br>
            <a:r>
              <a:rPr lang="en-US" dirty="0"/>
              <a:t>      }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   throw new Exception(“table full”);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70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670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6670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6670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670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670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09600" y="12167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239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6" idx="1"/>
          </p:cNvCxnSpPr>
          <p:nvPr/>
        </p:nvCxnSpPr>
        <p:spPr>
          <a:xfrm>
            <a:off x="1866900" y="3088790"/>
            <a:ext cx="800100" cy="102601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6" idx="1"/>
          </p:cNvCxnSpPr>
          <p:nvPr/>
        </p:nvCxnSpPr>
        <p:spPr>
          <a:xfrm>
            <a:off x="12954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9" idx="1"/>
          </p:cNvCxnSpPr>
          <p:nvPr/>
        </p:nvCxnSpPr>
        <p:spPr>
          <a:xfrm>
            <a:off x="1066800" y="3657600"/>
            <a:ext cx="16002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9" idx="1"/>
          </p:cNvCxnSpPr>
          <p:nvPr/>
        </p:nvCxnSpPr>
        <p:spPr>
          <a:xfrm>
            <a:off x="1866900" y="3657600"/>
            <a:ext cx="8001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0" idx="1"/>
          </p:cNvCxnSpPr>
          <p:nvPr/>
        </p:nvCxnSpPr>
        <p:spPr>
          <a:xfrm>
            <a:off x="1447800" y="3543300"/>
            <a:ext cx="1219200" cy="24003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6" idx="3"/>
            <a:endCxn id="9" idx="3"/>
          </p:cNvCxnSpPr>
          <p:nvPr/>
        </p:nvCxnSpPr>
        <p:spPr>
          <a:xfrm>
            <a:off x="3124200" y="4114800"/>
            <a:ext cx="1588" cy="1371600"/>
          </a:xfrm>
          <a:prstGeom prst="curvedConnector3">
            <a:avLst>
              <a:gd name="adj1" fmla="val 14395466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9" idx="3"/>
            <a:endCxn id="7" idx="3"/>
          </p:cNvCxnSpPr>
          <p:nvPr/>
        </p:nvCxnSpPr>
        <p:spPr>
          <a:xfrm flipV="1">
            <a:off x="3124200" y="4572000"/>
            <a:ext cx="1588" cy="914400"/>
          </a:xfrm>
          <a:prstGeom prst="curvedConnector3">
            <a:avLst>
              <a:gd name="adj1" fmla="val 29351763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048000" y="6248400"/>
            <a:ext cx="5866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Because the array only has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m elements</a:t>
            </a:r>
          </a:p>
        </p:txBody>
      </p:sp>
    </p:spTree>
    <p:extLst>
      <p:ext uri="{BB962C8B-B14F-4D97-AF65-F5344CB8AC3E}">
        <p14:creationId xmlns:p14="http://schemas.microsoft.com/office/powerpoint/2010/main" val="33736698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2400" y="1600200"/>
            <a:ext cx="5181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Store</a:t>
            </a:r>
            <a:r>
              <a:rPr lang="en-US" dirty="0"/>
              <a:t>(key, value) {</a:t>
            </a:r>
          </a:p>
          <a:p>
            <a:pPr marL="0" indent="0">
              <a:buNone/>
            </a:pPr>
            <a:r>
              <a:rPr lang="en-US" dirty="0"/>
              <a:t>   for (</a:t>
            </a:r>
            <a:r>
              <a:rPr lang="en-US" dirty="0" err="1"/>
              <a:t>int</a:t>
            </a:r>
            <a:r>
              <a:rPr lang="en-US" dirty="0"/>
              <a:t> i = 0; i&lt;m; i++) 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int</a:t>
            </a:r>
            <a:r>
              <a:rPr lang="en-US" dirty="0"/>
              <a:t> j = h(key, i);</a:t>
            </a:r>
          </a:p>
          <a:p>
            <a:pPr marL="0" indent="0">
              <a:buNone/>
            </a:pPr>
            <a:r>
              <a:rPr lang="en-US" dirty="0"/>
              <a:t>      if (array[j].key == key) }</a:t>
            </a:r>
          </a:p>
          <a:p>
            <a:pPr marL="0" indent="0">
              <a:buNone/>
            </a:pPr>
            <a:r>
              <a:rPr lang="en-US" dirty="0"/>
              <a:t>         array[j].value = value;</a:t>
            </a:r>
            <a:br>
              <a:rPr lang="en-US" dirty="0"/>
            </a:br>
            <a:r>
              <a:rPr lang="en-US" dirty="0"/>
              <a:t>         return; </a:t>
            </a:r>
          </a:p>
          <a:p>
            <a:pPr marL="0" indent="0">
              <a:buNone/>
            </a:pPr>
            <a:r>
              <a:rPr lang="en-US" dirty="0"/>
              <a:t>      } else if (array[j].key==null) {</a:t>
            </a:r>
          </a:p>
          <a:p>
            <a:pPr marL="0" indent="0">
              <a:buNone/>
            </a:pPr>
            <a:r>
              <a:rPr lang="en-US" dirty="0"/>
              <a:t>         array[j].key = key;</a:t>
            </a:r>
          </a:p>
          <a:p>
            <a:pPr marL="0" indent="0">
              <a:buNone/>
            </a:pPr>
            <a:r>
              <a:rPr lang="en-US" dirty="0"/>
              <a:t>         array[j].value = value;</a:t>
            </a:r>
          </a:p>
          <a:p>
            <a:pPr marL="0" indent="0">
              <a:buNone/>
            </a:pPr>
            <a:r>
              <a:rPr lang="en-US" dirty="0"/>
              <a:t>         return;</a:t>
            </a:r>
            <a:br>
              <a:rPr lang="en-US" dirty="0"/>
            </a:br>
            <a:r>
              <a:rPr lang="en-US" dirty="0"/>
              <a:t>      }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   throw new Exception(“table full”);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70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670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6670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6670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670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670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09600" y="12167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239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6" idx="1"/>
          </p:cNvCxnSpPr>
          <p:nvPr/>
        </p:nvCxnSpPr>
        <p:spPr>
          <a:xfrm>
            <a:off x="1866900" y="3088790"/>
            <a:ext cx="800100" cy="102601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6" idx="1"/>
          </p:cNvCxnSpPr>
          <p:nvPr/>
        </p:nvCxnSpPr>
        <p:spPr>
          <a:xfrm>
            <a:off x="12954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9" idx="1"/>
          </p:cNvCxnSpPr>
          <p:nvPr/>
        </p:nvCxnSpPr>
        <p:spPr>
          <a:xfrm>
            <a:off x="1066800" y="3657600"/>
            <a:ext cx="16002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9" idx="1"/>
          </p:cNvCxnSpPr>
          <p:nvPr/>
        </p:nvCxnSpPr>
        <p:spPr>
          <a:xfrm>
            <a:off x="1866900" y="3657600"/>
            <a:ext cx="8001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0" idx="1"/>
          </p:cNvCxnSpPr>
          <p:nvPr/>
        </p:nvCxnSpPr>
        <p:spPr>
          <a:xfrm>
            <a:off x="1447800" y="3543300"/>
            <a:ext cx="1219200" cy="24003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6" idx="3"/>
            <a:endCxn id="9" idx="3"/>
          </p:cNvCxnSpPr>
          <p:nvPr/>
        </p:nvCxnSpPr>
        <p:spPr>
          <a:xfrm>
            <a:off x="3124200" y="4114800"/>
            <a:ext cx="1588" cy="1371600"/>
          </a:xfrm>
          <a:prstGeom prst="curvedConnector3">
            <a:avLst>
              <a:gd name="adj1" fmla="val 14395466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9" idx="3"/>
            <a:endCxn id="7" idx="3"/>
          </p:cNvCxnSpPr>
          <p:nvPr/>
        </p:nvCxnSpPr>
        <p:spPr>
          <a:xfrm flipV="1">
            <a:off x="3124200" y="4572000"/>
            <a:ext cx="1588" cy="914400"/>
          </a:xfrm>
          <a:prstGeom prst="curvedConnector3">
            <a:avLst>
              <a:gd name="adj1" fmla="val 29351763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327763" y="6248400"/>
            <a:ext cx="3578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 we’ve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tried them all</a:t>
            </a:r>
          </a:p>
        </p:txBody>
      </p:sp>
    </p:spTree>
    <p:extLst>
      <p:ext uri="{BB962C8B-B14F-4D97-AF65-F5344CB8AC3E}">
        <p14:creationId xmlns:p14="http://schemas.microsoft.com/office/powerpoint/2010/main" val="31789654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2400" y="1600200"/>
            <a:ext cx="5181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Lookup</a:t>
            </a:r>
            <a:r>
              <a:rPr lang="en-US" dirty="0"/>
              <a:t>(key) {</a:t>
            </a:r>
          </a:p>
          <a:p>
            <a:pPr marL="0" indent="0">
              <a:buNone/>
            </a:pPr>
            <a:r>
              <a:rPr lang="en-US" dirty="0"/>
              <a:t>   for (</a:t>
            </a:r>
            <a:r>
              <a:rPr lang="en-US" dirty="0" err="1"/>
              <a:t>int</a:t>
            </a:r>
            <a:r>
              <a:rPr lang="en-US" dirty="0"/>
              <a:t> i = 0; i&lt;m; i++)</a:t>
            </a:r>
            <a:br>
              <a:rPr lang="en-US" dirty="0"/>
            </a:b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int</a:t>
            </a:r>
            <a:r>
              <a:rPr lang="en-US" dirty="0"/>
              <a:t> j = h(key, i);</a:t>
            </a:r>
          </a:p>
          <a:p>
            <a:pPr marL="0" indent="0">
              <a:buNone/>
            </a:pPr>
            <a:r>
              <a:rPr lang="en-US" dirty="0"/>
              <a:t>      if (array[j].key == </a:t>
            </a:r>
            <a:r>
              <a:rPr lang="en-US"/>
              <a:t>key)</a:t>
            </a:r>
            <a:br>
              <a:rPr lang="en-US"/>
            </a:br>
            <a:r>
              <a:rPr lang="en-US"/>
              <a:t>         </a:t>
            </a:r>
            <a:r>
              <a:rPr lang="en-US" dirty="0"/>
              <a:t>return array[j].value;</a:t>
            </a:r>
          </a:p>
          <a:p>
            <a:pPr marL="0" indent="0">
              <a:buNone/>
            </a:pPr>
            <a:r>
              <a:rPr lang="en-US" dirty="0"/>
              <a:t>      if (array[j].key == null;</a:t>
            </a:r>
            <a:br>
              <a:rPr lang="en-US" dirty="0"/>
            </a:br>
            <a:r>
              <a:rPr lang="en-US" dirty="0"/>
              <a:t>         return null;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   return null;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2667000" y="3429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67000" y="3886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667000" y="4343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667000" y="48006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667000" y="52578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67000" y="5715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09600" y="12167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23900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6" idx="1"/>
          </p:cNvCxnSpPr>
          <p:nvPr/>
        </p:nvCxnSpPr>
        <p:spPr>
          <a:xfrm>
            <a:off x="1866900" y="3088790"/>
            <a:ext cx="800100" cy="102601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6" idx="1"/>
          </p:cNvCxnSpPr>
          <p:nvPr/>
        </p:nvCxnSpPr>
        <p:spPr>
          <a:xfrm>
            <a:off x="1295400" y="32004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9" idx="1"/>
          </p:cNvCxnSpPr>
          <p:nvPr/>
        </p:nvCxnSpPr>
        <p:spPr>
          <a:xfrm>
            <a:off x="1066800" y="3657600"/>
            <a:ext cx="16002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9" idx="1"/>
          </p:cNvCxnSpPr>
          <p:nvPr/>
        </p:nvCxnSpPr>
        <p:spPr>
          <a:xfrm>
            <a:off x="1866900" y="3657600"/>
            <a:ext cx="800100" cy="18288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0" idx="1"/>
          </p:cNvCxnSpPr>
          <p:nvPr/>
        </p:nvCxnSpPr>
        <p:spPr>
          <a:xfrm>
            <a:off x="1447800" y="3543300"/>
            <a:ext cx="1219200" cy="24003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6" idx="3"/>
            <a:endCxn id="9" idx="3"/>
          </p:cNvCxnSpPr>
          <p:nvPr/>
        </p:nvCxnSpPr>
        <p:spPr>
          <a:xfrm>
            <a:off x="3124200" y="4114800"/>
            <a:ext cx="1588" cy="1371600"/>
          </a:xfrm>
          <a:prstGeom prst="curvedConnector3">
            <a:avLst>
              <a:gd name="adj1" fmla="val 14395466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9" idx="3"/>
            <a:endCxn id="7" idx="3"/>
          </p:cNvCxnSpPr>
          <p:nvPr/>
        </p:nvCxnSpPr>
        <p:spPr>
          <a:xfrm flipV="1">
            <a:off x="3124200" y="4572000"/>
            <a:ext cx="1588" cy="914400"/>
          </a:xfrm>
          <a:prstGeom prst="curvedConnector3">
            <a:avLst>
              <a:gd name="adj1" fmla="val 29351763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5927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Probe sequences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two-argument hash function defines a whole sequence of locations to check</a:t>
            </a:r>
          </a:p>
          <a:p>
            <a:endParaRPr lang="en-US" dirty="0"/>
          </a:p>
          <a:p>
            <a:r>
              <a:rPr lang="en-US" dirty="0"/>
              <a:t>Called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probe sequence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practice, the two-argument hash function is built from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one-argument hash </a:t>
            </a:r>
            <a:r>
              <a:rPr lang="en-US" dirty="0"/>
              <a:t>function</a:t>
            </a:r>
          </a:p>
          <a:p>
            <a:pPr lvl="1"/>
            <a:r>
              <a:rPr lang="en-US" dirty="0"/>
              <a:t>And some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extra magic</a:t>
            </a:r>
          </a:p>
        </p:txBody>
      </p:sp>
    </p:spTree>
    <p:extLst>
      <p:ext uri="{BB962C8B-B14F-4D97-AF65-F5344CB8AC3E}">
        <p14:creationId xmlns:p14="http://schemas.microsoft.com/office/powerpoint/2010/main" val="34816454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>
                          <a:latin typeface="Cambria Math"/>
                        </a:rPr>
                        <m:t>h</m:t>
                      </m:r>
                      <m:d>
                        <m:dPr>
                          <m:ctrlPr>
                            <a:rPr lang="en-US" sz="4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 dirty="0">
                              <a:latin typeface="Cambria Math"/>
                            </a:rPr>
                            <m:t>𝑘</m:t>
                          </m:r>
                          <m:r>
                            <a:rPr lang="en-US" sz="4000" i="1" dirty="0">
                              <a:latin typeface="Cambria Math"/>
                            </a:rPr>
                            <m:t>,</m:t>
                          </m:r>
                          <m:r>
                            <a:rPr lang="en-US" sz="4000" i="1" dirty="0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sz="4000" i="1" dirty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4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 dirty="0">
                              <a:latin typeface="Cambria Math"/>
                            </a:rPr>
                            <m:t>(</m:t>
                          </m:r>
                          <m:r>
                            <a:rPr lang="en-US" sz="4000" i="1" dirty="0"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US" sz="4000" i="1" dirty="0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4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 dirty="0">
                              <a:latin typeface="Cambria Math"/>
                            </a:rPr>
                            <m:t>𝑘</m:t>
                          </m:r>
                        </m:e>
                      </m:d>
                      <m:r>
                        <a:rPr lang="en-US" sz="4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+</m:t>
                      </m:r>
                      <m:r>
                        <a:rPr lang="en-US" sz="4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sz="4000" i="1" dirty="0">
                          <a:latin typeface="Cambria Math"/>
                        </a:rPr>
                        <m:t>) </m:t>
                      </m:r>
                      <m:r>
                        <m:rPr>
                          <m:nor/>
                        </m:rPr>
                        <a:rPr lang="en-US" sz="4000" dirty="0">
                          <a:latin typeface="Cambria Math"/>
                        </a:rPr>
                        <m:t>mod</m:t>
                      </m:r>
                      <m:r>
                        <a:rPr lang="en-US" sz="4000" i="1" dirty="0">
                          <a:latin typeface="Cambria Math"/>
                        </a:rPr>
                        <m:t> </m:t>
                      </m:r>
                      <m:r>
                        <a:rPr lang="en-US" sz="4000" i="1" dirty="0"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en-US" sz="4000" dirty="0"/>
              </a:p>
              <a:p>
                <a:endParaRPr lang="en-US" dirty="0"/>
              </a:p>
              <a:p>
                <a:r>
                  <a:rPr lang="en-US" dirty="0"/>
                  <a:t>We start at the location defined by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normal hash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h</m:t>
                    </m:r>
                    <m:r>
                      <a:rPr lang="en-US" i="1" dirty="0" smtClean="0">
                        <a:latin typeface="Cambria Math"/>
                      </a:rPr>
                      <m:t>’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And then we</a:t>
                </a:r>
              </a:p>
              <a:p>
                <a:pPr lvl="1"/>
                <a:r>
                  <a:rPr lang="en-US" dirty="0"/>
                  <a:t>Search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consecutive cells </a:t>
                </a:r>
                <a:r>
                  <a:rPr lang="en-US" dirty="0"/>
                  <a:t>(adding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 does this)</a:t>
                </a:r>
              </a:p>
              <a:p>
                <a:pPr lvl="1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Wrapping around </a:t>
                </a:r>
                <a:r>
                  <a:rPr lang="en-US" dirty="0"/>
                  <a:t>the end to the beginning if we run off the end of the array (</a:t>
                </a:r>
                <a:r>
                  <a:rPr lang="en-US" dirty="0" err="1"/>
                  <a:t>mod’ing</a:t>
                </a:r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 does this)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481" r="-2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76638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Linear probing produces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long runs</a:t>
            </a:r>
            <a:r>
              <a:rPr lang="en-US" dirty="0"/>
              <a:t> of occupied cells</a:t>
            </a:r>
          </a:p>
          <a:p>
            <a:endParaRPr lang="en-US" dirty="0"/>
          </a:p>
          <a:p>
            <a:r>
              <a:rPr lang="en-US" dirty="0"/>
              <a:t>Any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new key that hashes to one of those runs </a:t>
            </a:r>
            <a:r>
              <a:rPr lang="en-US" dirty="0"/>
              <a:t>has to go all the way at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end of it</a:t>
            </a:r>
          </a:p>
          <a:p>
            <a:endParaRPr lang="en-US" dirty="0"/>
          </a:p>
          <a:p>
            <a:r>
              <a:rPr lang="en-US" dirty="0"/>
              <a:t>So performance isn’t very good</a:t>
            </a:r>
          </a:p>
        </p:txBody>
      </p:sp>
      <p:sp>
        <p:nvSpPr>
          <p:cNvPr id="8" name="Rectangle 7"/>
          <p:cNvSpPr/>
          <p:nvPr/>
        </p:nvSpPr>
        <p:spPr>
          <a:xfrm>
            <a:off x="7543800" y="35814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543800" y="40386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3800" y="44958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543800" y="4953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43800" y="54102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543800" y="5867400"/>
            <a:ext cx="457200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256212" y="1216725"/>
            <a:ext cx="1981200" cy="358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370512" y="2819400"/>
            <a:ext cx="1676400" cy="137160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endCxn id="9" idx="1"/>
          </p:cNvCxnSpPr>
          <p:nvPr/>
        </p:nvCxnSpPr>
        <p:spPr>
          <a:xfrm>
            <a:off x="6743700" y="3241190"/>
            <a:ext cx="800100" cy="102601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9" idx="1"/>
          </p:cNvCxnSpPr>
          <p:nvPr/>
        </p:nvCxnSpPr>
        <p:spPr>
          <a:xfrm>
            <a:off x="6172200" y="3352800"/>
            <a:ext cx="1371600" cy="9144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2" idx="1"/>
          </p:cNvCxnSpPr>
          <p:nvPr/>
        </p:nvCxnSpPr>
        <p:spPr>
          <a:xfrm>
            <a:off x="5943600" y="3810000"/>
            <a:ext cx="16002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1"/>
          </p:cNvCxnSpPr>
          <p:nvPr/>
        </p:nvCxnSpPr>
        <p:spPr>
          <a:xfrm>
            <a:off x="6743700" y="3810000"/>
            <a:ext cx="800100" cy="1828800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543800" y="31242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543800" y="2667000"/>
            <a:ext cx="457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1193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/>
                        </a:rPr>
                        <m:t>h</m:t>
                      </m:r>
                      <m:d>
                        <m:dPr>
                          <m:ctrlPr>
                            <a:rPr lang="en-US" sz="4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 dirty="0">
                              <a:latin typeface="Cambria Math"/>
                            </a:rPr>
                            <m:t>𝑘</m:t>
                          </m:r>
                          <m:r>
                            <a:rPr lang="en-US" sz="4000" i="1" dirty="0">
                              <a:latin typeface="Cambria Math"/>
                            </a:rPr>
                            <m:t>,</m:t>
                          </m:r>
                          <m:r>
                            <a:rPr lang="en-US" sz="4000" i="1" dirty="0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sz="4000" i="1" dirty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4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 dirty="0">
                              <a:latin typeface="Cambria Math"/>
                            </a:rPr>
                            <m:t>(</m:t>
                          </m:r>
                          <m:r>
                            <a:rPr lang="en-US" sz="4000" i="1" dirty="0">
                              <a:latin typeface="Cambria Math"/>
                            </a:rPr>
                            <m:t>h</m:t>
                          </m:r>
                        </m:e>
                        <m:sup>
                          <m:r>
                            <a:rPr lang="en-US" sz="4000" i="1" dirty="0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4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 dirty="0">
                              <a:latin typeface="Cambria Math"/>
                            </a:rPr>
                            <m:t>𝑘</m:t>
                          </m:r>
                        </m:e>
                      </m:d>
                      <m:r>
                        <a:rPr lang="en-US" sz="4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4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𝒄</m:t>
                          </m:r>
                        </m:e>
                        <m:sub>
                          <m:r>
                            <a:rPr lang="en-US" sz="4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sz="4000" b="1" i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r>
                        <a:rPr lang="en-US" sz="4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4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𝒄</m:t>
                          </m:r>
                        </m:e>
                        <m:sub>
                          <m:r>
                            <a:rPr lang="en-US" sz="4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en-US" sz="4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𝒊</m:t>
                          </m:r>
                        </m:e>
                        <m:sup>
                          <m:r>
                            <a:rPr lang="en-US" sz="4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4000" i="1" dirty="0">
                          <a:latin typeface="Cambria Math"/>
                        </a:rPr>
                        <m:t>) </m:t>
                      </m:r>
                      <m:r>
                        <m:rPr>
                          <m:nor/>
                        </m:rPr>
                        <a:rPr lang="en-US" sz="4000" dirty="0">
                          <a:latin typeface="Cambria Math"/>
                        </a:rPr>
                        <m:t>mod</m:t>
                      </m:r>
                      <m:r>
                        <a:rPr lang="en-US" sz="4000" i="1" dirty="0">
                          <a:latin typeface="Cambria Math"/>
                        </a:rPr>
                        <m:t> </m:t>
                      </m:r>
                      <m:r>
                        <a:rPr lang="en-US" sz="4000" i="1" dirty="0"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en-US" sz="4000" dirty="0"/>
              </a:p>
              <a:p>
                <a:endParaRPr lang="en-US" dirty="0"/>
              </a:p>
              <a:p>
                <a:r>
                  <a:rPr lang="en-US" dirty="0"/>
                  <a:t>We can hair it up by adding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quadratic polynomial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 rather than just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r>
                  <a:rPr lang="en-US" dirty="0"/>
                  <a:t>Makes probe sequences more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complicated</a:t>
                </a:r>
              </a:p>
              <a:p>
                <a:pPr lvl="1"/>
                <a:r>
                  <a:rPr lang="en-US" dirty="0"/>
                  <a:t>And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less prone to clustering</a:t>
                </a:r>
              </a:p>
              <a:p>
                <a:r>
                  <a:rPr lang="en-US" dirty="0"/>
                  <a:t>But still, two keys that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hash to the same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𝒉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’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value</a:t>
                </a:r>
                <a:r>
                  <a:rPr lang="en-US" dirty="0"/>
                  <a:t> will probe the same sequence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42120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dirty="0" smtClean="0">
                          <a:latin typeface="Cambria Math"/>
                        </a:rPr>
                        <m:t>h</m:t>
                      </m:r>
                      <m:d>
                        <m:dPr>
                          <m:ctrlPr>
                            <a:rPr lang="en-US" sz="4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 dirty="0">
                              <a:latin typeface="Cambria Math"/>
                            </a:rPr>
                            <m:t>𝑘</m:t>
                          </m:r>
                          <m:r>
                            <a:rPr lang="en-US" sz="4000" i="1" dirty="0">
                              <a:latin typeface="Cambria Math"/>
                            </a:rPr>
                            <m:t>,</m:t>
                          </m:r>
                          <m:r>
                            <a:rPr lang="en-US" sz="4000" i="1" dirty="0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sz="4000" i="1" dirty="0">
                          <a:latin typeface="Cambria Math"/>
                        </a:rPr>
                        <m:t>=</m:t>
                      </m:r>
                      <m:r>
                        <a:rPr lang="en-US" sz="4000" i="1" dirty="0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 dirty="0" smtClean="0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400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4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 dirty="0">
                              <a:latin typeface="Cambria Math"/>
                            </a:rPr>
                            <m:t>𝑘</m:t>
                          </m:r>
                        </m:e>
                      </m:d>
                      <m:r>
                        <a:rPr lang="en-US" sz="4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+</m:t>
                      </m:r>
                      <m:r>
                        <a:rPr lang="en-US" sz="4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𝒊</m:t>
                      </m:r>
                      <m:sSub>
                        <m:sSubPr>
                          <m:ctrlPr>
                            <a:rPr lang="en-US" sz="4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𝒉</m:t>
                          </m:r>
                        </m:e>
                        <m:sub>
                          <m:r>
                            <a:rPr lang="en-US" sz="4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en-US" sz="4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sz="4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𝒌</m:t>
                      </m:r>
                      <m:r>
                        <a:rPr lang="en-US" sz="4000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)</m:t>
                      </m:r>
                      <m:r>
                        <a:rPr lang="en-US" sz="4000" i="1" dirty="0" smtClean="0">
                          <a:latin typeface="Cambria Math"/>
                        </a:rPr>
                        <m:t>) </m:t>
                      </m:r>
                      <m:r>
                        <m:rPr>
                          <m:nor/>
                        </m:rPr>
                        <a:rPr lang="en-US" sz="4000" dirty="0">
                          <a:latin typeface="Cambria Math"/>
                        </a:rPr>
                        <m:t>mod</m:t>
                      </m:r>
                      <m:r>
                        <a:rPr lang="en-US" sz="4000" i="1" dirty="0">
                          <a:latin typeface="Cambria Math"/>
                        </a:rPr>
                        <m:t> </m:t>
                      </m:r>
                      <m:r>
                        <a:rPr lang="en-US" sz="4000" i="1" dirty="0"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en-US" sz="4000" dirty="0"/>
              </a:p>
              <a:p>
                <a:endParaRPr lang="en-US" dirty="0"/>
              </a:p>
              <a:p>
                <a:r>
                  <a:rPr lang="en-US" dirty="0"/>
                  <a:t>We can solve a lot of the problems of linear and quadratic hashing by taking a combination of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two different hash functions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Now two keys that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hash to the 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𝒉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value will still have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different probe sequences</a:t>
                </a:r>
              </a:p>
              <a:p>
                <a:pPr lvl="1"/>
                <a:r>
                  <a:rPr lang="en-US" dirty="0"/>
                  <a:t>So long as their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values are different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Important: </a:t>
                </a:r>
                <a:r>
                  <a:rPr lang="en-US" dirty="0"/>
                  <a:t>this requires: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prime number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never a multiple of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That will guarantee that the probe sequence always includes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whole array </a:t>
                </a:r>
                <a:r>
                  <a:rPr lang="en-US" dirty="0"/>
                  <a:t>(just in different orders)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8515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prime numbers matter?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your hash table has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10 elements</a:t>
                </a:r>
              </a:p>
              <a:p>
                <a:endParaRPr lang="en-US" dirty="0"/>
              </a:p>
              <a:p>
                <a:r>
                  <a:rPr lang="en-US" dirty="0"/>
                  <a:t>And your hash function is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Suppose for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some key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that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dirty="0"/>
                  <a:t>, and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380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prime numbers matter?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Then we’re okay; here’s our probe sequence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10=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5+0×3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10=5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1×3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10=8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,4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,6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,7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,8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29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,9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Every array slot gets probed exactly once!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0464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prime numbers matter?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But now suppose that for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some key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that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dirty="0"/>
                  <a:t>, and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54041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prime numbers matter?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Here’s our probe sequence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+0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10=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5+0×5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10=5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1×5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10=0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,3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,4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,6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,7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,8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,9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keep searching the same slots</a:t>
                </a:r>
                <a:r>
                  <a:rPr lang="en-US" dirty="0"/>
                  <a:t>!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761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prime numbers matter?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Number theory says we’re going to have a problem whenever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share a common factor</a:t>
                </a:r>
              </a:p>
              <a:p>
                <a:pPr lvl="1"/>
                <a:r>
                  <a:rPr lang="en-US" dirty="0"/>
                  <a:t>I.e. they’re both multiples of the same number</a:t>
                </a:r>
              </a:p>
              <a:p>
                <a:r>
                  <a:rPr lang="en-US" dirty="0" smtClean="0"/>
                  <a:t>The </a:t>
                </a:r>
                <a:r>
                  <a:rPr lang="en-US" dirty="0"/>
                  <a:t>easiest way to prevent that is to make sure that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is prime</a:t>
                </a:r>
                <a:endParaRPr lang="en-US" b="1" dirty="0"/>
              </a:p>
              <a:p>
                <a:pPr lvl="1"/>
                <a:r>
                  <a:rPr lang="en-US" dirty="0" smtClean="0"/>
                  <a:t>Then there are no factors to share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2821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Performance of open addressing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Theorem: </a:t>
                </a:r>
                <a:r>
                  <a:rPr lang="en-US" dirty="0"/>
                  <a:t>assuming uniform hashing (no clustering),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average number of probes </a:t>
                </a:r>
                <a:r>
                  <a:rPr lang="en-US" dirty="0"/>
                  <a:t>in 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unsuccessful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search is at most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/>
                            </a:rPr>
                            <m:t>1−</m:t>
                          </m:r>
                          <m:r>
                            <a:rPr lang="en-US" i="1" smtClean="0">
                              <a:latin typeface="Cambria Math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Theorem: </a:t>
                </a:r>
                <a:r>
                  <a:rPr lang="en-US" dirty="0"/>
                  <a:t>assuming uniform hashing,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average number of probes </a:t>
                </a:r>
                <a:r>
                  <a:rPr lang="en-US" dirty="0"/>
                  <a:t>in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successful </a:t>
                </a:r>
                <a:r>
                  <a:rPr lang="en-US" dirty="0"/>
                  <a:t>search is at most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/>
                            </a:rPr>
                            <m:t>𝛼</m:t>
                          </m:r>
                        </m:den>
                      </m:f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i="1" smtClean="0">
                                  <a:latin typeface="Cambria Math"/>
                                </a:rPr>
                                <m:t>𝛼</m:t>
                              </m:r>
                            </m:den>
                          </m:f>
                          <m:r>
                            <a:rPr lang="en-US" i="1" smtClean="0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/>
                                </a:rPr>
                                <m:t>𝛼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Proofs:</a:t>
                </a:r>
                <a:br>
                  <a:rPr lang="en-US" b="1" dirty="0"/>
                </a:br>
                <a:r>
                  <a:rPr lang="en-US" dirty="0"/>
                  <a:t>Outside the scope of this class, but in the CLR book.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76800"/>
              </a:xfrm>
              <a:blipFill rotWithShape="0">
                <a:blip r:embed="rId3"/>
                <a:stretch>
                  <a:fillRect l="-1185"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5536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Variations on the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we think of a hash table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as just holding objects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 key/value pairs</a:t>
            </a:r>
          </a:p>
          <a:p>
            <a:r>
              <a:rPr lang="en-US" dirty="0"/>
              <a:t>Then the hash table just stores objects based on some hash we can compute from the object</a:t>
            </a:r>
          </a:p>
          <a:p>
            <a:pPr lvl="1"/>
            <a:r>
              <a:rPr lang="en-US" dirty="0"/>
              <a:t>C# calls these “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HashSets</a:t>
            </a:r>
            <a:r>
              <a:rPr lang="en-US" dirty="0"/>
              <a:t>”</a:t>
            </a:r>
          </a:p>
          <a:p>
            <a:r>
              <a:rPr lang="en-US" dirty="0"/>
              <a:t>The CLR book assumes this interface</a:t>
            </a:r>
          </a:p>
        </p:txBody>
      </p:sp>
    </p:spTree>
    <p:extLst>
      <p:ext uri="{BB962C8B-B14F-4D97-AF65-F5344CB8AC3E}">
        <p14:creationId xmlns:p14="http://schemas.microsoft.com/office/powerpoint/2010/main" val="12792051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canonicalizing</a:t>
            </a:r>
            <a:r>
              <a:rPr lang="en-US" dirty="0"/>
              <a:t> strings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038600" cy="49530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String comparisons </a:t>
                </a:r>
                <a:r>
                  <a:rPr lang="en-US" dirty="0"/>
                  <a:t>are expensive</a:t>
                </a:r>
              </a:p>
              <a:p>
                <a:pPr lvl="1"/>
                <a:r>
                  <a:rPr lang="en-US" dirty="0"/>
                  <a:t>Have to compare them character by character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𝑂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𝑛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  <a:p>
                <a:r>
                  <a:rPr lang="en-US" dirty="0"/>
                  <a:t>What if we only had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one copy </a:t>
                </a:r>
                <a:r>
                  <a:rPr lang="en-US" dirty="0"/>
                  <a:t>of </a:t>
                </a:r>
                <a:r>
                  <a:rPr lang="en-US" dirty="0" smtClean="0"/>
                  <a:t>a given string?</a:t>
                </a:r>
                <a:endParaRPr lang="en-US" dirty="0"/>
              </a:p>
              <a:p>
                <a:pPr lvl="1"/>
                <a:r>
                  <a:rPr lang="en-US" dirty="0"/>
                  <a:t>Then we could just ask if two string variables pointed to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same object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  <a:p>
                <a:r>
                  <a:rPr lang="en-US" dirty="0"/>
                  <a:t>This technique is used in a number of systems</a:t>
                </a:r>
              </a:p>
              <a:p>
                <a:pPr lvl="1"/>
                <a:r>
                  <a:rPr lang="en-US" dirty="0"/>
                  <a:t>Including .NET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038600" cy="4953000"/>
              </a:xfrm>
              <a:blipFill>
                <a:blip r:embed="rId3"/>
                <a:stretch>
                  <a:fillRect l="-2262" t="-2586" r="-42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string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MakeString</a:t>
            </a:r>
            <a:r>
              <a:rPr lang="en-US" sz="2000" dirty="0"/>
              <a:t>(char[] chars) {</a:t>
            </a:r>
          </a:p>
          <a:p>
            <a:pPr marL="0" indent="0">
              <a:buNone/>
            </a:pPr>
            <a:r>
              <a:rPr lang="en-US" sz="2000" dirty="0"/>
              <a:t>     string probe =</a:t>
            </a:r>
            <a:br>
              <a:rPr lang="en-US" sz="2000" dirty="0"/>
            </a:br>
            <a:r>
              <a:rPr lang="en-US" sz="2000" dirty="0"/>
              <a:t>        </a:t>
            </a:r>
            <a:r>
              <a:rPr lang="en-US" sz="2000" dirty="0" err="1"/>
              <a:t>StringTable.Lookup</a:t>
            </a:r>
            <a:r>
              <a:rPr lang="en-US" sz="2000" dirty="0"/>
              <a:t>(chars);</a:t>
            </a:r>
          </a:p>
          <a:p>
            <a:pPr marL="0" indent="0">
              <a:buNone/>
            </a:pPr>
            <a:r>
              <a:rPr lang="en-US" sz="2000" dirty="0"/>
              <a:t>     if (probe != null)</a:t>
            </a:r>
          </a:p>
          <a:p>
            <a:pPr marL="0" indent="0">
              <a:buNone/>
            </a:pPr>
            <a:r>
              <a:rPr lang="en-US" sz="2000" dirty="0"/>
              <a:t>        return probe;</a:t>
            </a:r>
          </a:p>
          <a:p>
            <a:pPr marL="0" indent="0">
              <a:buNone/>
            </a:pPr>
            <a:r>
              <a:rPr lang="en-US" sz="2000" dirty="0"/>
              <a:t>     else {</a:t>
            </a:r>
          </a:p>
          <a:p>
            <a:pPr marL="0" indent="0">
              <a:buNone/>
            </a:pPr>
            <a:r>
              <a:rPr lang="en-US" sz="2000" dirty="0"/>
              <a:t>        string </a:t>
            </a:r>
            <a:r>
              <a:rPr lang="en-US" sz="2000" dirty="0" err="1"/>
              <a:t>newString</a:t>
            </a:r>
            <a:r>
              <a:rPr lang="en-US" sz="2000" dirty="0"/>
              <a:t> =</a:t>
            </a:r>
            <a:br>
              <a:rPr lang="en-US" sz="2000" dirty="0"/>
            </a:br>
            <a:r>
              <a:rPr lang="en-US" sz="2000" dirty="0"/>
              <a:t>           new string(chars);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StringTable.Add</a:t>
            </a:r>
            <a:r>
              <a:rPr lang="en-US" sz="2000" dirty="0"/>
              <a:t>(</a:t>
            </a:r>
            <a:r>
              <a:rPr lang="en-US" sz="2000" dirty="0" err="1"/>
              <a:t>newString</a:t>
            </a:r>
            <a:r>
              <a:rPr lang="en-US" sz="2000" dirty="0"/>
              <a:t>);</a:t>
            </a:r>
          </a:p>
          <a:p>
            <a:pPr marL="0" indent="0">
              <a:buNone/>
            </a:pPr>
            <a:r>
              <a:rPr lang="en-US" sz="2000" dirty="0"/>
              <a:t>        return </a:t>
            </a:r>
            <a:r>
              <a:rPr lang="en-US" sz="2000" dirty="0" err="1"/>
              <a:t>newString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     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878562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Remember a hash function</a:t>
                </a:r>
              </a:p>
              <a:p>
                <a:pPr marL="857250" lvl="1" indent="-457200"/>
                <a:r>
                  <a:rPr lang="en-US" dirty="0"/>
                  <a:t>Maps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key</a:t>
                </a:r>
              </a:p>
              <a:p>
                <a:pPr marL="857250" lvl="1" indent="-457200"/>
                <a:r>
                  <a:rPr lang="en-US" dirty="0"/>
                  <a:t>To 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integer between 0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𝒎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b="1" i="1" dirty="0">
                  <a:latin typeface="Cambria Math"/>
                </a:endParaRPr>
              </a:p>
              <a:p>
                <a:pPr marL="857250" lvl="1" indent="-457200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i="1" dirty="0" smtClean="0">
                          <a:latin typeface="Cambria Math"/>
                        </a:rPr>
                        <m:t>h</m:t>
                      </m:r>
                      <m:r>
                        <a:rPr lang="en-US" sz="3000" i="1" dirty="0" smtClean="0">
                          <a:latin typeface="Cambria Math"/>
                        </a:rPr>
                        <m:t> :</m:t>
                      </m:r>
                      <m:r>
                        <a:rPr lang="en-US" sz="3000" i="1" dirty="0" smtClean="0">
                          <a:latin typeface="Cambria Math"/>
                        </a:rPr>
                        <m:t>𝑈</m:t>
                      </m:r>
                      <m:r>
                        <a:rPr lang="en-US" sz="3000" i="1" dirty="0" smtClean="0">
                          <a:latin typeface="Cambria Math"/>
                        </a:rPr>
                        <m:t>→{0, 1,…, </m:t>
                      </m:r>
                      <m:r>
                        <a:rPr lang="en-US" sz="3000" i="1" dirty="0" smtClean="0">
                          <a:latin typeface="Cambria Math"/>
                        </a:rPr>
                        <m:t>𝑚</m:t>
                      </m:r>
                      <m:r>
                        <a:rPr lang="en-US" sz="3000" i="1" dirty="0" smtClean="0">
                          <a:latin typeface="Cambria Math"/>
                        </a:rPr>
                        <m:t>−1}</m:t>
                      </m:r>
                    </m:oMath>
                  </m:oMathPara>
                </a14:m>
                <a:endParaRPr lang="en-US" sz="30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3"/>
                <a:stretch>
                  <a:fillRect l="-3017" t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want a hash function that:</a:t>
            </a:r>
          </a:p>
          <a:p>
            <a:r>
              <a:rPr lang="en-US" dirty="0"/>
              <a:t>Is easy (read: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fast</a:t>
            </a:r>
            <a:r>
              <a:rPr lang="en-US" dirty="0"/>
              <a:t>) to compute</a:t>
            </a:r>
          </a:p>
          <a:p>
            <a:r>
              <a:rPr lang="en-US" dirty="0"/>
              <a:t>Has the statistical property that</a:t>
            </a:r>
          </a:p>
          <a:p>
            <a:pPr lvl="1"/>
            <a:r>
              <a:rPr lang="en-US" dirty="0"/>
              <a:t>For a randomly chosen key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Each possible hash </a:t>
            </a:r>
            <a:r>
              <a:rPr lang="en-US" dirty="0"/>
              <a:t>value is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equally likely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7157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hash functions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Break problem up into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two parts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Map the key to an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integer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(often a large one)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E.g. add all the characters of a string together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This gives us an integer, but usually with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wrong range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wrong statistical properties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Remap the integer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to a hash value in the right range with the right statistical properties</a:t>
            </a:r>
          </a:p>
        </p:txBody>
      </p:sp>
    </p:spTree>
    <p:extLst>
      <p:ext uri="{BB962C8B-B14F-4D97-AF65-F5344CB8AC3E}">
        <p14:creationId xmlns:p14="http://schemas.microsoft.com/office/powerpoint/2010/main" val="13969839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Mapping to a large integer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51054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Easy for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primitive objects</a:t>
            </a:r>
          </a:p>
          <a:p>
            <a:pPr lvl="1"/>
            <a:r>
              <a:rPr lang="en-US" dirty="0"/>
              <a:t>Integers, characters, Booleans, pointers, etc.</a:t>
            </a:r>
          </a:p>
          <a:p>
            <a:pPr lvl="1"/>
            <a:r>
              <a:rPr lang="en-US" dirty="0"/>
              <a:t>Just take the bits of the representation and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cast them to an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int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lvl="2"/>
            <a:r>
              <a:rPr lang="en-US" dirty="0" err="1"/>
              <a:t>int</a:t>
            </a:r>
            <a:r>
              <a:rPr lang="en-US" dirty="0"/>
              <a:t> i = (</a:t>
            </a:r>
            <a:r>
              <a:rPr lang="en-US" dirty="0" err="1"/>
              <a:t>int</a:t>
            </a:r>
            <a:r>
              <a:rPr lang="en-US" dirty="0"/>
              <a:t>)whatever;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compound </a:t>
            </a:r>
            <a:r>
              <a:rPr lang="en-US" dirty="0"/>
              <a:t>objects (hashing on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object identity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Use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address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of object in memory (C, C++)</a:t>
            </a:r>
          </a:p>
          <a:p>
            <a:pPr lvl="1"/>
            <a:r>
              <a:rPr lang="en-US" dirty="0"/>
              <a:t>Assign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serial number </a:t>
            </a:r>
            <a:r>
              <a:rPr lang="en-US" dirty="0"/>
              <a:t>in some hidden field of the object (Java, C</a:t>
            </a:r>
            <a:r>
              <a:rPr lang="en-US" dirty="0" smtClean="0"/>
              <a:t>#)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For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compound </a:t>
            </a:r>
            <a:r>
              <a:rPr lang="en-US" dirty="0"/>
              <a:t>objects (hashing on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object contents</a:t>
            </a:r>
            <a:r>
              <a:rPr lang="en-US" dirty="0"/>
              <a:t>)</a:t>
            </a:r>
          </a:p>
          <a:p>
            <a:pPr lvl="1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Convert individual fields </a:t>
            </a:r>
            <a:r>
              <a:rPr lang="en-US" dirty="0"/>
              <a:t>to integers</a:t>
            </a:r>
          </a:p>
          <a:p>
            <a:pPr lvl="1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Combine integers </a:t>
            </a:r>
            <a:r>
              <a:rPr lang="en-US" dirty="0"/>
              <a:t>into a bigger, or at least different </a:t>
            </a:r>
            <a:r>
              <a:rPr lang="en-US" dirty="0" smtClean="0"/>
              <a:t>integer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Great!  But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how do we combine the hashes </a:t>
            </a:r>
            <a:r>
              <a:rPr lang="en-US" dirty="0" smtClean="0"/>
              <a:t>of the different fields?</a:t>
            </a:r>
          </a:p>
          <a:p>
            <a:pPr lvl="1">
              <a:spcBef>
                <a:spcPts val="500"/>
              </a:spcBef>
            </a:pPr>
            <a:r>
              <a:rPr lang="en-US" dirty="0" smtClean="0"/>
              <a:t>We’ll look at a couple of ways of doing this</a:t>
            </a:r>
          </a:p>
          <a:p>
            <a:pPr lvl="1">
              <a:spcBef>
                <a:spcPts val="500"/>
              </a:spcBef>
            </a:pPr>
            <a:r>
              <a:rPr lang="en-US" dirty="0" smtClean="0"/>
              <a:t>We’ll assume the objects are arrays, but record structures, linked lists, etc. all work the same general way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795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Radix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191000" cy="48006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Basic </a:t>
                </a:r>
                <a:r>
                  <a:rPr lang="en-US" b="1" dirty="0"/>
                  <a:t>idea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Suppose we have 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array of numbers</a:t>
                </a:r>
                <a:r>
                  <a:rPr lang="en-US" dirty="0"/>
                  <a:t> from 0 to 9</a:t>
                </a:r>
              </a:p>
              <a:p>
                <a:pPr lvl="1"/>
                <a:r>
                  <a:rPr lang="en-US" dirty="0"/>
                  <a:t>E.g. { 1, 7, 3, 2, 8 }</a:t>
                </a:r>
              </a:p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Write them all down </a:t>
                </a:r>
                <a:r>
                  <a:rPr lang="en-US" dirty="0"/>
                  <a:t>as if they were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one number</a:t>
                </a:r>
              </a:p>
              <a:p>
                <a:pPr lvl="1"/>
                <a:r>
                  <a:rPr lang="en-US" dirty="0"/>
                  <a:t>E.g. 17328</a:t>
                </a:r>
              </a:p>
              <a:p>
                <a:pPr lvl="1"/>
                <a:r>
                  <a:rPr lang="en-US" dirty="0"/>
                  <a:t>Or: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1×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+7×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+3×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+2×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en-US" i="1" dirty="0" smtClean="0">
                        <a:latin typeface="Cambria Math"/>
                      </a:rPr>
                      <m:t>+8×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i="1" dirty="0" smtClean="0"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191000" cy="4800600"/>
              </a:xfrm>
              <a:blipFill rotWithShape="1">
                <a:blip r:embed="rId3"/>
                <a:stretch>
                  <a:fillRect l="-2907" t="-2033" r="-2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More </a:t>
                </a:r>
                <a:r>
                  <a:rPr lang="en-US" b="1" dirty="0"/>
                  <a:t>formally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Given an array a of integers, each in the range 0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latin typeface="Cambria Math"/>
                      </a:rPr>
                      <m:t>−1 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r>
                  <a:rPr lang="en-US" dirty="0"/>
                  <a:t>We map a to the integer: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 smtClean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i="1" smtClean="0">
                              <a:latin typeface="Cambria Math"/>
                            </a:rPr>
                            <m:t>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i="1" smtClean="0">
                                  <a:latin typeface="Cambria Math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4"/>
                <a:stretch>
                  <a:fillRect l="-3172" t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4937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Radix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191000" cy="48006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string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is essentially an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array of characters</a:t>
                </a:r>
              </a:p>
              <a:p>
                <a:r>
                  <a:rPr lang="en-US" dirty="0"/>
                  <a:t>ASCII characters are essentially integers in the range 0-127</a:t>
                </a:r>
              </a:p>
              <a:p>
                <a:endParaRPr lang="en-US" dirty="0"/>
              </a:p>
              <a:p>
                <a:r>
                  <a:rPr lang="en-US" dirty="0"/>
                  <a:t>So we can map any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string s to the integer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i="1" smtClean="0">
                              <a:latin typeface="Cambria Math"/>
                            </a:rPr>
                            <m:t>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/>
                                </a:rPr>
                                <m:t>128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191000" cy="4800600"/>
              </a:xfrm>
              <a:blipFill rotWithShape="1">
                <a:blip r:embed="rId3"/>
                <a:stretch>
                  <a:fillRect l="-2180" t="-1906" r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That makes for a very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large integer</a:t>
            </a:r>
          </a:p>
          <a:p>
            <a:pPr lvl="1"/>
            <a:r>
              <a:rPr lang="en-US" dirty="0"/>
              <a:t>Overflows 32 bits after 4 characters</a:t>
            </a:r>
          </a:p>
          <a:p>
            <a:r>
              <a:rPr lang="en-US" dirty="0"/>
              <a:t>But sometimes it’s practical</a:t>
            </a:r>
          </a:p>
          <a:p>
            <a:endParaRPr lang="en-US" dirty="0"/>
          </a:p>
          <a:p>
            <a:r>
              <a:rPr lang="en-US" dirty="0"/>
              <a:t>We’re mostly just mentioning radix notation because it’s the method the CLR book mentions</a:t>
            </a:r>
          </a:p>
        </p:txBody>
      </p:sp>
    </p:spTree>
    <p:extLst>
      <p:ext uri="{BB962C8B-B14F-4D97-AF65-F5344CB8AC3E}">
        <p14:creationId xmlns:p14="http://schemas.microsoft.com/office/powerpoint/2010/main" val="35162129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1910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Radix notation </a:t>
            </a:r>
            <a:r>
              <a:rPr lang="en-US" dirty="0"/>
              <a:t>has the possibly useful property of being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1:1</a:t>
            </a:r>
          </a:p>
          <a:p>
            <a:pPr lvl="1"/>
            <a:r>
              <a:rPr lang="en-US" dirty="0"/>
              <a:t>There’s a unique integer for every string (or array, or whatever)</a:t>
            </a:r>
          </a:p>
          <a:p>
            <a:pPr lvl="1"/>
            <a:r>
              <a:rPr lang="en-US" dirty="0"/>
              <a:t>And vice-versa</a:t>
            </a:r>
          </a:p>
          <a:p>
            <a:endParaRPr lang="en-US" dirty="0"/>
          </a:p>
          <a:p>
            <a:r>
              <a:rPr lang="en-US" dirty="0"/>
              <a:t>But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who cares </a:t>
            </a:r>
            <a:r>
              <a:rPr lang="en-US" dirty="0"/>
              <a:t>if we’re hashing?</a:t>
            </a:r>
          </a:p>
          <a:p>
            <a:pPr lvl="1"/>
            <a:r>
              <a:rPr lang="en-US" dirty="0"/>
              <a:t>We’re just going to run it through the hash function, which isn’t 1:1 anyway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If we don’t care about </a:t>
                </a:r>
                <a:r>
                  <a:rPr lang="en-US" dirty="0" smtClean="0"/>
                  <a:t>reversibility, </a:t>
                </a:r>
                <a:r>
                  <a:rPr lang="en-US" dirty="0"/>
                  <a:t>we can just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add all the elements together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Which gives us a much more manageable sized integer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17" t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8920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Exclusive-</a:t>
            </a:r>
            <a:r>
              <a:rPr lang="en-US" dirty="0" err="1"/>
              <a:t>or’ing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191000" cy="480060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Another common option is to use bitwise exclusive or (often written </a:t>
                </a:r>
                <a:r>
                  <a:rPr lang="en-US" b="1" dirty="0" err="1">
                    <a:solidFill>
                      <a:schemeClr val="accent6">
                        <a:lumMod val="75000"/>
                      </a:schemeClr>
                    </a:solidFill>
                  </a:rPr>
                  <a:t>xor</a:t>
                </a:r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⊕</m:t>
                    </m:r>
                  </m:oMath>
                </a14:m>
                <a:r>
                  <a:rPr lang="en-US" dirty="0"/>
                  <a:t>) instead of addition</a:t>
                </a:r>
              </a:p>
              <a:p>
                <a:pPr lvl="1"/>
                <a:r>
                  <a:rPr lang="en-US" dirty="0"/>
                  <a:t>In C/C++/C#, it’s the “^” operator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⨁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i="1" dirty="0">
                              <a:latin typeface="Cambria Math"/>
                            </a:rPr>
                            <m:t>𝑠</m:t>
                          </m:r>
                          <m:r>
                            <a:rPr lang="en-US" i="1" dirty="0">
                              <a:latin typeface="Cambria Math"/>
                            </a:rPr>
                            <m:t>[</m:t>
                          </m:r>
                          <m:r>
                            <a:rPr lang="en-US" i="1" dirty="0">
                              <a:latin typeface="Cambria Math"/>
                            </a:rPr>
                            <m:t>𝑖</m:t>
                          </m:r>
                          <m:r>
                            <a:rPr lang="en-US" i="1" dirty="0">
                              <a:latin typeface="Cambria Math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191000" cy="4800600"/>
              </a:xfrm>
              <a:blipFill rotWithShape="1">
                <a:blip r:embed="rId3"/>
                <a:stretch>
                  <a:fillRect l="-1890" t="-2414" r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b="1" dirty="0" err="1"/>
              <a:t>XorString</a:t>
            </a:r>
            <a:r>
              <a:rPr lang="en-US" dirty="0"/>
              <a:t>(string s)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result = 0;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foreach</a:t>
            </a:r>
            <a:r>
              <a:rPr lang="en-US" dirty="0"/>
              <a:t> (char c in s)</a:t>
            </a:r>
            <a:br>
              <a:rPr lang="en-US" dirty="0"/>
            </a:br>
            <a:r>
              <a:rPr lang="en-US" dirty="0"/>
              <a:t>      result = result ^ c;</a:t>
            </a:r>
            <a:br>
              <a:rPr lang="en-US" dirty="0"/>
            </a:br>
            <a:r>
              <a:rPr lang="en-US" dirty="0"/>
              <a:t>   return result;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Bitwise </a:t>
            </a:r>
            <a:r>
              <a:rPr lang="en-US" dirty="0" err="1"/>
              <a:t>xor</a:t>
            </a:r>
            <a:r>
              <a:rPr lang="en-US" dirty="0"/>
              <a:t> has a lot of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nice properties of addition</a:t>
            </a:r>
            <a:r>
              <a:rPr lang="en-US" dirty="0"/>
              <a:t>, but guarantees the result is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same number of bits </a:t>
            </a:r>
            <a:r>
              <a:rPr lang="en-US" dirty="0"/>
              <a:t>as the input</a:t>
            </a:r>
          </a:p>
          <a:p>
            <a:pPr lvl="1"/>
            <a:r>
              <a:rPr lang="en-US" dirty="0"/>
              <a:t>Which is sometimes useful</a:t>
            </a:r>
          </a:p>
        </p:txBody>
      </p:sp>
    </p:spTree>
    <p:extLst>
      <p:ext uri="{BB962C8B-B14F-4D97-AF65-F5344CB8AC3E}">
        <p14:creationId xmlns:p14="http://schemas.microsoft.com/office/powerpoint/2010/main" val="23678071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 (1-bit case)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XOR of two bits is:</a:t>
            </a:r>
          </a:p>
          <a:p>
            <a:pPr lvl="1"/>
            <a:r>
              <a:rPr lang="en-US" dirty="0"/>
              <a:t>1, if one or the other of the inputs is 1</a:t>
            </a:r>
          </a:p>
          <a:p>
            <a:pPr lvl="2"/>
            <a:r>
              <a:rPr lang="en-US" dirty="0"/>
              <a:t>But not both</a:t>
            </a:r>
          </a:p>
          <a:p>
            <a:pPr lvl="1"/>
            <a:r>
              <a:rPr lang="en-US" dirty="0"/>
              <a:t>0, otherwise</a:t>
            </a:r>
          </a:p>
          <a:p>
            <a:pPr lvl="1"/>
            <a:endParaRPr lang="en-US" dirty="0"/>
          </a:p>
          <a:p>
            <a:r>
              <a:rPr lang="en-US" dirty="0"/>
              <a:t>Ways of thinking about XOR</a:t>
            </a:r>
          </a:p>
          <a:p>
            <a:pPr lvl="1"/>
            <a:r>
              <a:rPr lang="en-US" dirty="0"/>
              <a:t>1 if the inputs are different, 0 otherwise</a:t>
            </a:r>
          </a:p>
          <a:p>
            <a:pPr lvl="1"/>
            <a:r>
              <a:rPr lang="en-US" dirty="0"/>
              <a:t>Add the two bits (in base 2) and throw away the carry</a:t>
            </a:r>
          </a:p>
          <a:p>
            <a:pPr lvl="1"/>
            <a:r>
              <a:rPr lang="en-US" dirty="0"/>
              <a:t>Flip the first bit if the second is 1</a:t>
            </a:r>
          </a:p>
          <a:p>
            <a:pPr lvl="1"/>
            <a:r>
              <a:rPr lang="en-US" dirty="0"/>
              <a:t>Flip the second bit if the first is 1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43339380"/>
              </p:ext>
            </p:extLst>
          </p:nvPr>
        </p:nvGraphicFramePr>
        <p:xfrm>
          <a:off x="5410200" y="1600200"/>
          <a:ext cx="3276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r>
                        <a:rPr lang="en-US" sz="3200" dirty="0"/>
                        <a:t>input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61996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XOR (n-bit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Break inputs up into bits</a:t>
                </a:r>
              </a:p>
              <a:p>
                <a:endParaRPr lang="en-US" dirty="0"/>
              </a:p>
              <a:p>
                <a:r>
                  <a:rPr lang="en-US" dirty="0"/>
                  <a:t>Result is the “bitwise” XOR of the two groups of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bit of output is the XOR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bits of the respective inputs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3"/>
                <a:stretch>
                  <a:fillRect l="-2564" t="-1348" r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38935058"/>
              </p:ext>
            </p:extLst>
          </p:nvPr>
        </p:nvGraphicFramePr>
        <p:xfrm>
          <a:off x="4648200" y="1600200"/>
          <a:ext cx="4038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Inputs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00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75060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Summing and </a:t>
            </a:r>
            <a:r>
              <a:rPr lang="en-US" dirty="0" err="1"/>
              <a:t>xoring</a:t>
            </a:r>
            <a:r>
              <a:rPr lang="en-US" dirty="0"/>
              <a:t> have two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potential problems</a:t>
            </a:r>
          </a:p>
          <a:p>
            <a:pPr lvl="1"/>
            <a:r>
              <a:rPr lang="en-US" dirty="0"/>
              <a:t>The integer might be </a:t>
            </a:r>
            <a:r>
              <a:rPr lang="en-US" b="1" i="1" dirty="0">
                <a:solidFill>
                  <a:schemeClr val="accent6">
                    <a:lumMod val="75000"/>
                  </a:schemeClr>
                </a:solidFill>
              </a:rPr>
              <a:t>too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small</a:t>
            </a:r>
          </a:p>
          <a:p>
            <a:pPr lvl="1"/>
            <a:r>
              <a:rPr lang="en-US" dirty="0"/>
              <a:t>If you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swap two characters </a:t>
            </a:r>
            <a:r>
              <a:rPr lang="en-US" dirty="0"/>
              <a:t>(or array elements, or whatever), you get the same integer back</a:t>
            </a:r>
          </a:p>
          <a:p>
            <a:pPr lvl="2"/>
            <a:r>
              <a:rPr lang="en-US" dirty="0"/>
              <a:t>Potentially more hash collisions</a:t>
            </a:r>
          </a:p>
          <a:p>
            <a:pPr>
              <a:spcBef>
                <a:spcPts val="1800"/>
              </a:spcBef>
            </a:pPr>
            <a:r>
              <a:rPr lang="en-US" dirty="0"/>
              <a:t>Basically a variant on radix </a:t>
            </a:r>
            <a:r>
              <a:rPr lang="en-US" dirty="0" smtClean="0"/>
              <a:t>notation</a:t>
            </a:r>
          </a:p>
          <a:p>
            <a:pPr>
              <a:spcBef>
                <a:spcPts val="1800"/>
              </a:spcBef>
            </a:pPr>
            <a:r>
              <a:rPr lang="en-US" dirty="0"/>
              <a:t>We can fix that by doing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left shift </a:t>
            </a:r>
            <a:r>
              <a:rPr lang="en-US" dirty="0"/>
              <a:t>(equivalent of multiplying by 2) each time we add in another </a:t>
            </a:r>
            <a:r>
              <a:rPr lang="en-US" dirty="0" smtClean="0"/>
              <a:t>element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953000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1800"/>
              </a:spcBef>
            </a:pPr>
            <a:r>
              <a:rPr lang="en-US" dirty="0"/>
              <a:t>Ideally, this </a:t>
            </a:r>
            <a:r>
              <a:rPr lang="en-US" dirty="0" smtClean="0"/>
              <a:t>should be </a:t>
            </a:r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circular shift </a:t>
            </a:r>
            <a:r>
              <a:rPr lang="en-US" dirty="0"/>
              <a:t>(where bits that overflow from the left side of the word wrap the right side)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Shift left 1 bit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Shift right 31 bits (assuming 31 bit </a:t>
            </a:r>
            <a:r>
              <a:rPr lang="en-US" dirty="0" err="1" smtClean="0"/>
              <a:t>int</a:t>
            </a:r>
            <a:r>
              <a:rPr lang="en-US" dirty="0" smtClean="0"/>
              <a:t>)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Or them together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b="1" dirty="0" err="1"/>
              <a:t>StringToInt</a:t>
            </a:r>
            <a:r>
              <a:rPr lang="en-US" dirty="0"/>
              <a:t>(string s)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 smtClean="0"/>
              <a:t>uint</a:t>
            </a:r>
            <a:r>
              <a:rPr lang="en-US" dirty="0" smtClean="0"/>
              <a:t> </a:t>
            </a:r>
            <a:r>
              <a:rPr lang="en-US" dirty="0"/>
              <a:t>result = 0;</a:t>
            </a:r>
            <a:br>
              <a:rPr lang="en-US" dirty="0"/>
            </a:br>
            <a:r>
              <a:rPr lang="en-US" dirty="0"/>
              <a:t>   </a:t>
            </a:r>
            <a:r>
              <a:rPr lang="en-US" dirty="0" err="1"/>
              <a:t>foreach</a:t>
            </a:r>
            <a:r>
              <a:rPr lang="en-US" dirty="0"/>
              <a:t> (char c </a:t>
            </a:r>
            <a:r>
              <a:rPr lang="en-US" dirty="0" smtClean="0"/>
              <a:t>in </a:t>
            </a:r>
            <a:r>
              <a:rPr lang="en-US" dirty="0"/>
              <a:t>s</a:t>
            </a:r>
            <a:r>
              <a:rPr lang="en-US" dirty="0" smtClean="0"/>
              <a:t>) {</a:t>
            </a:r>
            <a:br>
              <a:rPr lang="en-US" dirty="0" smtClean="0"/>
            </a:br>
            <a:r>
              <a:rPr lang="en-US" dirty="0" smtClean="0"/>
              <a:t>      </a:t>
            </a:r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cshift</a:t>
            </a:r>
            <a:r>
              <a:rPr lang="en-US" dirty="0" smtClean="0"/>
              <a:t> = result &lt;&lt;1 | result&gt;&gt;31;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result = </a:t>
            </a:r>
            <a:r>
              <a:rPr lang="en-US" dirty="0" err="1" smtClean="0"/>
              <a:t>cshift</a:t>
            </a:r>
            <a:r>
              <a:rPr lang="en-US" dirty="0" smtClean="0"/>
              <a:t> </a:t>
            </a:r>
            <a:r>
              <a:rPr lang="en-US" dirty="0"/>
              <a:t>^ c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   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return result;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7462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 to a small integer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we want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hash the big integer</a:t>
            </a:r>
            <a:r>
              <a:rPr lang="en-US" dirty="0"/>
              <a:t> down to</a:t>
            </a:r>
          </a:p>
          <a:p>
            <a:pPr lvl="1"/>
            <a:r>
              <a:rPr lang="en-US" dirty="0"/>
              <a:t>A small integer in the range: 0 … m</a:t>
            </a:r>
          </a:p>
          <a:p>
            <a:pPr lvl="1"/>
            <a:r>
              <a:rPr lang="en-US" dirty="0"/>
              <a:t>Such that each output is equally common</a:t>
            </a:r>
          </a:p>
          <a:p>
            <a:pPr lvl="2"/>
            <a:r>
              <a:rPr lang="en-US" dirty="0"/>
              <a:t>So that keys are equally distributed in buckets</a:t>
            </a:r>
          </a:p>
        </p:txBody>
      </p:sp>
    </p:spTree>
    <p:extLst>
      <p:ext uri="{BB962C8B-B14F-4D97-AF65-F5344CB8AC3E}">
        <p14:creationId xmlns:p14="http://schemas.microsoft.com/office/powerpoint/2010/main" val="19067342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Division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 simplest method is to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divide by m </a:t>
                </a:r>
                <a:r>
                  <a:rPr lang="en-US" dirty="0"/>
                  <a:t>and take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remainder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h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𝑖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 dirty="0" smtClean="0">
                          <a:latin typeface="Cambria Math"/>
                        </a:rPr>
                        <m:t>mod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Causes problems if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multiples of m are common </a:t>
                </a:r>
                <a:r>
                  <a:rPr lang="en-US" dirty="0"/>
                  <a:t>in the keys</a:t>
                </a:r>
              </a:p>
              <a:p>
                <a:pPr lvl="1"/>
                <a:r>
                  <a:rPr lang="en-US" dirty="0"/>
                  <a:t>For example if keys are prices (so that numbers like $3.99, $4.99 are disproportionately common)</a:t>
                </a:r>
              </a:p>
              <a:p>
                <a:pPr lvl="1"/>
                <a:r>
                  <a:rPr lang="en-US" dirty="0"/>
                  <a:t>then having m be a multiple of 10 might be bad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3"/>
                <a:stretch>
                  <a:fillRect l="-1659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Powers of 2 can also be problematic</a:t>
            </a:r>
          </a:p>
          <a:p>
            <a:pPr lvl="1"/>
            <a:r>
              <a:rPr lang="en-US" dirty="0"/>
              <a:t>All numbers with the same low-order bits map to the same hash</a:t>
            </a:r>
          </a:p>
          <a:p>
            <a:endParaRPr lang="en-US" dirty="0"/>
          </a:p>
          <a:p>
            <a:r>
              <a:rPr lang="en-US" dirty="0"/>
              <a:t>Conventional wisdom is to choose m to be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prime number</a:t>
            </a:r>
          </a:p>
        </p:txBody>
      </p:sp>
    </p:spTree>
    <p:extLst>
      <p:ext uri="{BB962C8B-B14F-4D97-AF65-F5344CB8AC3E}">
        <p14:creationId xmlns:p14="http://schemas.microsoft.com/office/powerpoint/2010/main" val="42484271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Multiplication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Multiply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key by some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 between 0 and 1</a:t>
                </a:r>
              </a:p>
              <a:p>
                <a:pPr lvl="1"/>
                <a:r>
                  <a:rPr lang="en-US" dirty="0"/>
                  <a:t>Knuth suggests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US" i="1" smtClean="0">
                        <a:latin typeface="Cambria Math"/>
                      </a:rPr>
                      <m:t> −1)/2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Throw away the integer portion and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take just the fraction</a:t>
                </a:r>
              </a:p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Multiply by m</a:t>
                </a:r>
              </a:p>
              <a:p>
                <a:r>
                  <a:rPr lang="en-US" dirty="0"/>
                  <a:t>Take the “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floor</a:t>
                </a:r>
                <a:r>
                  <a:rPr lang="en-US" dirty="0"/>
                  <a:t>” of the result</a:t>
                </a:r>
              </a:p>
              <a:p>
                <a:pPr lvl="1"/>
                <a:r>
                  <a:rPr lang="en-US" dirty="0"/>
                  <a:t>Fancy way of saying “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round down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dirty="0"/>
                  <a:t>to the nearest integer”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3"/>
                <a:stretch>
                  <a:fillRect l="-1961" t="-2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Formally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h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𝑘</m:t>
                          </m:r>
                        </m:e>
                      </m:d>
                      <m:r>
                        <a:rPr lang="en-US" i="1" dirty="0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𝑚</m:t>
                          </m:r>
                          <m:r>
                            <a:rPr lang="en-US" i="1" dirty="0" smtClean="0">
                              <a:latin typeface="Cambria Math"/>
                            </a:rPr>
                            <m:t>(</m:t>
                          </m:r>
                          <m:r>
                            <a:rPr lang="en-US" i="1" dirty="0" smtClean="0">
                              <a:latin typeface="Cambria Math"/>
                            </a:rPr>
                            <m:t>𝑘𝐴</m:t>
                          </m:r>
                          <m:r>
                            <a:rPr lang="en-US" i="1" dirty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/>
                            </a:rPr>
                            <m:t>mod</m:t>
                          </m:r>
                          <m:r>
                            <a:rPr lang="en-US" i="1" dirty="0" smtClean="0">
                              <a:latin typeface="Cambria Math"/>
                            </a:rPr>
                            <m:t> 1)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There’s a clever way of computing this using integer arithmetic and bit masking operations</a:t>
                </a:r>
              </a:p>
              <a:p>
                <a:endParaRPr lang="en-US" dirty="0"/>
              </a:p>
              <a:p>
                <a:r>
                  <a:rPr lang="en-US" dirty="0"/>
                  <a:t>But we’re running short on time</a:t>
                </a:r>
              </a:p>
              <a:p>
                <a:pPr lvl="1"/>
                <a:r>
                  <a:rPr lang="en-US" dirty="0"/>
                  <a:t>And you can look it up in the CLR book if you ever need to implement it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0">
                <a:blip r:embed="rId4"/>
                <a:stretch>
                  <a:fillRect l="-2417" t="-2561" r="-3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9569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Universal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All </a:t>
            </a:r>
            <a:r>
              <a:rPr lang="en-US" dirty="0"/>
              <a:t>hash functions have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collisions</a:t>
            </a:r>
          </a:p>
          <a:p>
            <a:r>
              <a:rPr lang="en-US" dirty="0"/>
              <a:t>So no matter what hash function you choose, there’s some set of keys that will make it perform badly</a:t>
            </a:r>
          </a:p>
          <a:p>
            <a:endParaRPr lang="en-US" dirty="0"/>
          </a:p>
          <a:p>
            <a:r>
              <a:rPr lang="en-US" dirty="0"/>
              <a:t>You can mitigate this by choosing your hash function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randomly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when you make the hash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267200" cy="452596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Universal hashing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dirty="0"/>
                  <a:t>is hashing with a random function</a:t>
                </a:r>
              </a:p>
              <a:p>
                <a:endParaRPr lang="en-US" dirty="0"/>
              </a:p>
              <a:p>
                <a:r>
                  <a:rPr lang="en-US" dirty="0"/>
                  <a:t>Take your key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𝑘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lvl="1"/>
                <a:r>
                  <a:rPr lang="en-US" dirty="0"/>
                  <a:t>Assume it’s a 32 bit (4 byte integer)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be the individual bytes of k (as smaller integers)</a:t>
                </a:r>
              </a:p>
              <a:p>
                <a:r>
                  <a:rPr lang="en-US" dirty="0"/>
                  <a:t>Pick 4 random integers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between 0 and m-1</a:t>
                </a:r>
              </a:p>
              <a:p>
                <a:endParaRPr lang="en-US" dirty="0"/>
              </a:p>
              <a:p>
                <a:r>
                  <a:rPr lang="en-US" dirty="0"/>
                  <a:t>Now define: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h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𝑘</m:t>
                          </m:r>
                        </m:e>
                      </m:d>
                      <m:r>
                        <a:rPr lang="en-US" i="1" dirty="0" smtClean="0">
                          <a:latin typeface="Cambria Math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 smtClean="0">
                              <a:latin typeface="Cambria Math"/>
                            </a:rPr>
                            <m:t>𝑖</m:t>
                          </m:r>
                          <m:r>
                            <a:rPr lang="en-US" i="1" dirty="0" smtClean="0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en-US" i="1" smtClean="0">
                              <a:latin typeface="Cambria Math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/>
                            </a:rPr>
                            <m:t>mod</m:t>
                          </m:r>
                          <m:r>
                            <a:rPr lang="en-US" i="1" smtClean="0">
                              <a:latin typeface="Cambria Math"/>
                            </a:rPr>
                            <m:t> </m:t>
                          </m:r>
                          <m:r>
                            <a:rPr lang="en-US" i="1" smtClean="0">
                              <a:latin typeface="Cambria Math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267200" cy="4525963"/>
              </a:xfrm>
              <a:blipFill rotWithShape="0">
                <a:blip r:embed="rId3"/>
                <a:stretch>
                  <a:fillRect l="-1286" t="-2022" r="-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7884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Sometimes, there’s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small, fixed, set </a:t>
            </a:r>
            <a:r>
              <a:rPr lang="en-US" dirty="0"/>
              <a:t>of objects you want to hash</a:t>
            </a:r>
          </a:p>
          <a:p>
            <a:pPr lvl="1"/>
            <a:r>
              <a:rPr lang="en-US" dirty="0"/>
              <a:t>E.g. a compiler keeping track of keywords of its language (like if, else, switch)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Perfect hashing </a:t>
            </a:r>
            <a:r>
              <a:rPr lang="en-US" dirty="0"/>
              <a:t>is when you choose a hash function in advance that you know will be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collision-free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for your keys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How do we find a perfect hash function?</a:t>
            </a:r>
          </a:p>
          <a:p>
            <a:endParaRPr lang="en-US" dirty="0"/>
          </a:p>
          <a:p>
            <a:r>
              <a:rPr lang="en-US" dirty="0"/>
              <a:t>See the discussion in the book, but in the end, it will amount to</a:t>
            </a:r>
          </a:p>
          <a:p>
            <a:pPr lvl="1"/>
            <a:r>
              <a:rPr lang="en-US" dirty="0"/>
              <a:t>Writing an algorithm</a:t>
            </a:r>
          </a:p>
          <a:p>
            <a:pPr lvl="1"/>
            <a:r>
              <a:rPr lang="en-US" dirty="0"/>
              <a:t>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try different hash functions</a:t>
            </a:r>
          </a:p>
          <a:p>
            <a:pPr lvl="1"/>
            <a:r>
              <a:rPr lang="en-US" dirty="0"/>
              <a:t>Until it finds one that’s perfect</a:t>
            </a:r>
          </a:p>
        </p:txBody>
      </p:sp>
    </p:spTree>
    <p:extLst>
      <p:ext uri="{BB962C8B-B14F-4D97-AF65-F5344CB8AC3E}">
        <p14:creationId xmlns:p14="http://schemas.microsoft.com/office/powerpoint/2010/main" val="30744099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 in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standard C# libraries </a:t>
            </a:r>
            <a:r>
              <a:rPr lang="en-US" dirty="0"/>
              <a:t>provide built-in hash table implementations</a:t>
            </a:r>
          </a:p>
          <a:p>
            <a:pPr lvl="1"/>
            <a:r>
              <a:rPr lang="en-US" dirty="0" err="1"/>
              <a:t>System.Collections</a:t>
            </a:r>
            <a:r>
              <a:rPr lang="en-US" dirty="0"/>
              <a:t>:</a:t>
            </a:r>
          </a:p>
          <a:p>
            <a:pPr lvl="2"/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HashTable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 err="1"/>
              <a:t>System.Collections.Generic</a:t>
            </a:r>
            <a:r>
              <a:rPr lang="en-US" dirty="0"/>
              <a:t>:</a:t>
            </a:r>
          </a:p>
          <a:p>
            <a:pPr lvl="2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Dictionary&lt;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KeyT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, VT&gt;</a:t>
            </a:r>
          </a:p>
          <a:p>
            <a:endParaRPr lang="en-US" dirty="0"/>
          </a:p>
          <a:p>
            <a:r>
              <a:rPr lang="en-US" dirty="0"/>
              <a:t>These both use the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GetHashCode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() </a:t>
            </a:r>
            <a:r>
              <a:rPr lang="en-US" dirty="0"/>
              <a:t>method virtual function, which is defined in the Object class</a:t>
            </a:r>
          </a:p>
          <a:p>
            <a:pPr lvl="1"/>
            <a:r>
              <a:rPr lang="en-US" dirty="0"/>
              <a:t>Should return a 32 bit hash</a:t>
            </a:r>
          </a:p>
          <a:p>
            <a:pPr lvl="1"/>
            <a:r>
              <a:rPr lang="en-US" dirty="0"/>
              <a:t>Hash tables themselves will compress it down to a small integer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dirty="0"/>
              <a:t>So if you want to use the built-in hash tables you need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override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GetHashCode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n-US" dirty="0"/>
              <a:t> method for you classes</a:t>
            </a:r>
          </a:p>
          <a:p>
            <a:endParaRPr lang="en-US" dirty="0"/>
          </a:p>
          <a:p>
            <a:r>
              <a:rPr lang="en-US" dirty="0"/>
              <a:t>A common thing to do is to just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call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GetHashCode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n-US" dirty="0"/>
              <a:t> on all the fields of your object, 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XOR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all the results together</a:t>
            </a:r>
          </a:p>
        </p:txBody>
      </p:sp>
    </p:spTree>
    <p:extLst>
      <p:ext uri="{BB962C8B-B14F-4D97-AF65-F5344CB8AC3E}">
        <p14:creationId xmlns:p14="http://schemas.microsoft.com/office/powerpoint/2010/main" val="14705903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applications of hash functions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922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example: cache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CPU is processing an instruction every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nanosecond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or so</a:t>
            </a:r>
          </a:p>
          <a:p>
            <a:r>
              <a:rPr lang="en-US" dirty="0"/>
              <a:t>However your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RAM takes 50+ ns</a:t>
            </a:r>
            <a:r>
              <a:rPr lang="en-US" dirty="0"/>
              <a:t> to do a read or write operation</a:t>
            </a:r>
          </a:p>
          <a:p>
            <a:endParaRPr lang="en-US" dirty="0"/>
          </a:p>
          <a:p>
            <a:r>
              <a:rPr lang="en-US" dirty="0"/>
              <a:t>What to 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1981200"/>
            <a:ext cx="1371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343400"/>
            <a:ext cx="3505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0" y="3200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Cache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781800" y="2819400"/>
            <a:ext cx="0" cy="3810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781800" y="3886200"/>
            <a:ext cx="0" cy="4572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6038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example: cache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Caching!</a:t>
            </a:r>
          </a:p>
          <a:p>
            <a:pPr lvl="1"/>
            <a:r>
              <a:rPr lang="en-US" dirty="0"/>
              <a:t>Buy a small amount of very fast RAM</a:t>
            </a:r>
          </a:p>
          <a:p>
            <a:pPr lvl="1"/>
            <a:r>
              <a:rPr lang="en-US" dirty="0"/>
              <a:t>Use it to build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hardware hash table</a:t>
            </a:r>
          </a:p>
          <a:p>
            <a:pPr lvl="2"/>
            <a:r>
              <a:rPr lang="en-US" dirty="0"/>
              <a:t>Using low-order bits of memory address as the hash code</a:t>
            </a:r>
          </a:p>
          <a:p>
            <a:pPr lvl="1"/>
            <a:r>
              <a:rPr lang="en-US" dirty="0"/>
              <a:t>Remember recently access locations in RAM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Throw away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old data when we have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collision</a:t>
            </a:r>
          </a:p>
          <a:p>
            <a:pPr lvl="1"/>
            <a:endParaRPr lang="en-US" dirty="0"/>
          </a:p>
          <a:p>
            <a:r>
              <a:rPr lang="en-US" dirty="0"/>
              <a:t>First memory reference is very expensive</a:t>
            </a:r>
          </a:p>
          <a:p>
            <a:pPr lvl="1"/>
            <a:r>
              <a:rPr lang="en-US" dirty="0"/>
              <a:t>Subsequent references to the same location run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1981200"/>
            <a:ext cx="1371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343400"/>
            <a:ext cx="3505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0" y="3200400"/>
            <a:ext cx="990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Cache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781800" y="2819400"/>
            <a:ext cx="0" cy="3810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781800" y="3886200"/>
            <a:ext cx="0" cy="4572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30902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applications</a:t>
            </a:r>
            <a:br>
              <a:rPr lang="en-US" dirty="0"/>
            </a:br>
            <a:r>
              <a:rPr lang="en-US" dirty="0"/>
              <a:t>of “hash-like”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Error detecting </a:t>
            </a:r>
            <a:r>
              <a:rPr lang="en-US" dirty="0"/>
              <a:t>codes</a:t>
            </a:r>
          </a:p>
          <a:p>
            <a:pPr lvl="1"/>
            <a:r>
              <a:rPr lang="en-US" dirty="0"/>
              <a:t>Used to detect (or even correct) recording or transmission errors 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Cryptographic hash </a:t>
            </a:r>
            <a:r>
              <a:rPr lang="en-US" dirty="0"/>
              <a:t>functions</a:t>
            </a:r>
          </a:p>
          <a:p>
            <a:pPr lvl="1"/>
            <a:r>
              <a:rPr lang="en-US" dirty="0"/>
              <a:t>A compact 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signature</a:t>
            </a:r>
            <a:r>
              <a:rPr lang="en-US" dirty="0"/>
              <a:t>” for a piece of data</a:t>
            </a:r>
          </a:p>
          <a:p>
            <a:pPr lvl="2"/>
            <a:r>
              <a:rPr lang="en-US" dirty="0"/>
              <a:t>Much smaller than original document</a:t>
            </a:r>
          </a:p>
          <a:p>
            <a:pPr lvl="2"/>
            <a:r>
              <a:rPr lang="en-US" dirty="0"/>
              <a:t>Very unlikely to have the same signature as another document</a:t>
            </a:r>
          </a:p>
        </p:txBody>
      </p:sp>
    </p:spTree>
    <p:extLst>
      <p:ext uri="{BB962C8B-B14F-4D97-AF65-F5344CB8AC3E}">
        <p14:creationId xmlns:p14="http://schemas.microsoft.com/office/powerpoint/2010/main" val="37832724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detecting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Checksums</a:t>
            </a:r>
          </a:p>
          <a:p>
            <a:pPr lvl="1"/>
            <a:r>
              <a:rPr lang="en-US" dirty="0"/>
              <a:t>Add all the bytes of data together</a:t>
            </a:r>
          </a:p>
          <a:p>
            <a:pPr lvl="1"/>
            <a:r>
              <a:rPr lang="en-US" dirty="0"/>
              <a:t>Store the sum along with the data</a:t>
            </a:r>
          </a:p>
          <a:p>
            <a:endParaRPr lang="en-US" dirty="0"/>
          </a:p>
          <a:p>
            <a:r>
              <a:rPr lang="en-US" dirty="0"/>
              <a:t>When reading data back from disk</a:t>
            </a:r>
          </a:p>
          <a:p>
            <a:pPr lvl="1"/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Recompute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the checksum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Compare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it to the stored checksum</a:t>
            </a:r>
          </a:p>
          <a:p>
            <a:pPr lvl="1"/>
            <a:r>
              <a:rPr lang="en-US" dirty="0"/>
              <a:t>If they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don’t match</a:t>
            </a:r>
            <a:r>
              <a:rPr lang="en-US" dirty="0"/>
              <a:t>, there was a recording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error</a:t>
            </a:r>
          </a:p>
        </p:txBody>
      </p:sp>
      <p:pic>
        <p:nvPicPr>
          <p:cNvPr id="2050" name="Picture 2" descr="http://www.letsgodigital.org/images/artikelen/525/dvd-burner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621121"/>
            <a:ext cx="4038600" cy="248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00039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detecting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many sophisticated error detection codes in use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Cyclic Redundancy Check </a:t>
            </a:r>
            <a:r>
              <a:rPr lang="en-US" dirty="0"/>
              <a:t>(CRC)</a:t>
            </a:r>
          </a:p>
          <a:p>
            <a:pPr lvl="2"/>
            <a:r>
              <a:rPr lang="en-US" dirty="0"/>
              <a:t>Used in many disk drives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Reed-Solomon </a:t>
            </a:r>
            <a:r>
              <a:rPr lang="en-US" dirty="0"/>
              <a:t>codes</a:t>
            </a:r>
          </a:p>
          <a:p>
            <a:pPr lvl="2"/>
            <a:r>
              <a:rPr lang="en-US" dirty="0"/>
              <a:t>Used in CD-ROMs</a:t>
            </a:r>
          </a:p>
        </p:txBody>
      </p:sp>
      <p:pic>
        <p:nvPicPr>
          <p:cNvPr id="2050" name="Picture 2" descr="http://www.letsgodigital.org/images/artikelen/525/dvd-burner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621121"/>
            <a:ext cx="4038600" cy="248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3461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953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Parity is a simpler, faster algorithm, used for checking data in RAM</a:t>
            </a:r>
          </a:p>
          <a:p>
            <a:endParaRPr lang="en-US" dirty="0"/>
          </a:p>
          <a:p>
            <a:r>
              <a:rPr lang="en-US" dirty="0"/>
              <a:t>One additional bit is stored: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XOR of all </a:t>
            </a:r>
            <a:r>
              <a:rPr lang="en-US" dirty="0"/>
              <a:t>the other bits</a:t>
            </a:r>
          </a:p>
          <a:p>
            <a:pPr lvl="1"/>
            <a:r>
              <a:rPr lang="en-US" dirty="0"/>
              <a:t>1 if there are an odd number of 1 bits in the byte</a:t>
            </a:r>
          </a:p>
          <a:p>
            <a:pPr lvl="1"/>
            <a:r>
              <a:rPr lang="en-US" dirty="0"/>
              <a:t>0 if there are an even number of 1-bits in the byte</a:t>
            </a:r>
          </a:p>
          <a:p>
            <a:pPr lvl="1"/>
            <a:r>
              <a:rPr lang="en-US" dirty="0"/>
              <a:t>Can be thought of as a 1-bit checksum</a:t>
            </a:r>
          </a:p>
          <a:p>
            <a:endParaRPr lang="en-US" dirty="0"/>
          </a:p>
          <a:p>
            <a:r>
              <a:rPr lang="en-US" dirty="0"/>
              <a:t>Lets you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detect any single-bit error</a:t>
            </a:r>
          </a:p>
          <a:p>
            <a:endParaRPr lang="en-US" dirty="0"/>
          </a:p>
        </p:txBody>
      </p:sp>
      <p:pic>
        <p:nvPicPr>
          <p:cNvPr id="9218" name="Picture 2" descr="http://www.computermemoryoutlet.com/Repository/ProductImages/0/memory-module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088" y="2057400"/>
            <a:ext cx="4006912" cy="204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1031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Error-Correcting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High-end computers such as serves store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multiple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parity bits </a:t>
            </a:r>
            <a:r>
              <a:rPr lang="en-US" dirty="0"/>
              <a:t>with each byte</a:t>
            </a:r>
          </a:p>
          <a:p>
            <a:pPr lvl="1"/>
            <a:r>
              <a:rPr lang="en-US" dirty="0"/>
              <a:t>The parity of all bits in the byte</a:t>
            </a:r>
          </a:p>
          <a:p>
            <a:pPr lvl="1"/>
            <a:r>
              <a:rPr lang="en-US" dirty="0"/>
              <a:t>The parity of just the first 4 bits</a:t>
            </a:r>
          </a:p>
          <a:p>
            <a:pPr lvl="1"/>
            <a:r>
              <a:rPr lang="en-US" dirty="0"/>
              <a:t>The parity of bits 1 and 2, and 5 and 6</a:t>
            </a:r>
          </a:p>
          <a:p>
            <a:endParaRPr lang="en-US" dirty="0"/>
          </a:p>
          <a:p>
            <a:r>
              <a:rPr lang="en-US" dirty="0" err="1"/>
              <a:t>Examing</a:t>
            </a:r>
            <a:r>
              <a:rPr lang="en-US" dirty="0"/>
              <a:t> which of these parity checks fails lets you</a:t>
            </a:r>
          </a:p>
          <a:p>
            <a:pPr lvl="1"/>
            <a:r>
              <a:rPr lang="en-US" dirty="0"/>
              <a:t>Detect double-bit errors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Correct</a:t>
            </a:r>
            <a:r>
              <a:rPr lang="en-US" b="1" dirty="0"/>
              <a:t> </a:t>
            </a:r>
            <a:r>
              <a:rPr lang="en-US" dirty="0"/>
              <a:t>single-bit errors</a:t>
            </a:r>
          </a:p>
        </p:txBody>
      </p:sp>
      <p:pic>
        <p:nvPicPr>
          <p:cNvPr id="9218" name="Picture 2" descr="http://www.computermemoryoutlet.com/Repository/ProductImages/0/memory-module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088" y="2057400"/>
            <a:ext cx="4006912" cy="204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74865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Cryptographic hashes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Cryptographic hashes are designed to make it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very hard </a:t>
            </a:r>
            <a:r>
              <a:rPr lang="en-US" dirty="0"/>
              <a:t>to deliberately make a data object that has the same hash code as another object</a:t>
            </a:r>
          </a:p>
          <a:p>
            <a:endParaRPr lang="en-US" dirty="0"/>
          </a:p>
          <a:p>
            <a:r>
              <a:rPr lang="en-US" dirty="0"/>
              <a:t>Used as compact “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fingerprints</a:t>
            </a:r>
            <a:r>
              <a:rPr lang="en-US" dirty="0"/>
              <a:t>” for larger documents</a:t>
            </a:r>
          </a:p>
          <a:p>
            <a:endParaRPr lang="en-US" dirty="0"/>
          </a:p>
          <a:p>
            <a:r>
              <a:rPr lang="en-US" dirty="0"/>
              <a:t>Popular algorithms</a:t>
            </a:r>
          </a:p>
          <a:p>
            <a:pPr lvl="1"/>
            <a:r>
              <a:rPr lang="en-US" dirty="0"/>
              <a:t>MD4/MD5</a:t>
            </a:r>
          </a:p>
          <a:p>
            <a:pPr lvl="1"/>
            <a:r>
              <a:rPr lang="en-US" dirty="0"/>
              <a:t>SHA-1, SHA-256, SHA-512</a:t>
            </a:r>
          </a:p>
        </p:txBody>
      </p:sp>
      <p:pic>
        <p:nvPicPr>
          <p:cNvPr id="11266" name="Picture 2" descr="http://www.lanl.gov/news/albums/chemistry/fingerprint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948" y="1600200"/>
            <a:ext cx="3667103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7478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292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Tamper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detection</a:t>
            </a:r>
          </a:p>
          <a:p>
            <a:pPr lvl="1"/>
            <a:r>
              <a:rPr lang="en-US" dirty="0"/>
              <a:t>Used for digitally signing messages</a:t>
            </a:r>
          </a:p>
          <a:p>
            <a:pPr lvl="1"/>
            <a:r>
              <a:rPr lang="en-US" dirty="0"/>
              <a:t>Used e.g. in </a:t>
            </a:r>
            <a:r>
              <a:rPr lang="en-US" dirty="0" err="1"/>
              <a:t>bittorrent</a:t>
            </a:r>
            <a:r>
              <a:rPr lang="en-US" dirty="0"/>
              <a:t> to ensure data received matches the torrent</a:t>
            </a:r>
          </a:p>
          <a:p>
            <a:endParaRPr lang="en-US" dirty="0"/>
          </a:p>
          <a:p>
            <a:r>
              <a:rPr lang="en-US" dirty="0"/>
              <a:t>Identifiers for documents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Saving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transmission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bandwidth</a:t>
            </a:r>
          </a:p>
          <a:p>
            <a:pPr lvl="1"/>
            <a:r>
              <a:rPr lang="en-US" dirty="0"/>
              <a:t>Send server the hash of a file before sending the file</a:t>
            </a:r>
          </a:p>
          <a:p>
            <a:pPr lvl="1"/>
            <a:r>
              <a:rPr lang="en-US" dirty="0"/>
              <a:t>Server tells you if it already has the file</a:t>
            </a:r>
          </a:p>
          <a:p>
            <a:pPr lvl="2"/>
            <a:endParaRPr lang="en-US" dirty="0"/>
          </a:p>
        </p:txBody>
      </p:sp>
      <p:pic>
        <p:nvPicPr>
          <p:cNvPr id="11266" name="Picture 2" descr="http://www.lanl.gov/news/albums/chemistry/fingerprint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948" y="1600200"/>
            <a:ext cx="3667103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92458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Single-instance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Companies are rolling out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cloud services </a:t>
            </a:r>
            <a:r>
              <a:rPr lang="en-US" dirty="0"/>
              <a:t>for music</a:t>
            </a:r>
          </a:p>
          <a:p>
            <a:pPr lvl="1"/>
            <a:r>
              <a:rPr lang="en-US" dirty="0"/>
              <a:t>Store you music “in the cloud” (i.e. on servers)</a:t>
            </a:r>
          </a:p>
          <a:p>
            <a:pPr lvl="1"/>
            <a:r>
              <a:rPr lang="en-US" dirty="0"/>
              <a:t>Stream it from any machine you like</a:t>
            </a:r>
          </a:p>
          <a:p>
            <a:r>
              <a:rPr lang="en-US" dirty="0"/>
              <a:t>Amazon, </a:t>
            </a:r>
            <a:r>
              <a:rPr lang="en-US" dirty="0" err="1"/>
              <a:t>google</a:t>
            </a:r>
            <a:r>
              <a:rPr lang="en-US" dirty="0"/>
              <a:t>, Apple, etc.</a:t>
            </a:r>
          </a:p>
          <a:p>
            <a:endParaRPr lang="en-US" dirty="0"/>
          </a:p>
          <a:p>
            <a:r>
              <a:rPr lang="en-US" dirty="0"/>
              <a:t>That’s a lot of data!</a:t>
            </a:r>
          </a:p>
          <a:p>
            <a:pPr lvl="1"/>
            <a:r>
              <a:rPr lang="en-US" dirty="0"/>
              <a:t>How do they make that work?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Key idea: many people, few songs</a:t>
            </a:r>
          </a:p>
          <a:p>
            <a:pPr lvl="1"/>
            <a:r>
              <a:rPr lang="en-US" dirty="0"/>
              <a:t>Two people who bought the same song from the same provider have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exactly the same file</a:t>
            </a:r>
          </a:p>
          <a:p>
            <a:pPr lvl="1"/>
            <a:r>
              <a:rPr lang="en-US" dirty="0"/>
              <a:t>Before storing in the cloud,</a:t>
            </a:r>
          </a:p>
          <a:p>
            <a:pPr lvl="1"/>
            <a:r>
              <a:rPr lang="en-US" dirty="0"/>
              <a:t>Check to see if the server already has a copy of the same file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Only one copy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/>
              <a:t>of each song is stored in the cloud</a:t>
            </a:r>
          </a:p>
          <a:p>
            <a:endParaRPr lang="en-US" dirty="0"/>
          </a:p>
          <a:p>
            <a:r>
              <a:rPr lang="en-US" dirty="0"/>
              <a:t>Saves both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memory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bandwidth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1772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To add a file: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Client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sends hash of file </a:t>
            </a:r>
            <a:r>
              <a:rPr lang="en-US" dirty="0"/>
              <a:t>to server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Server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checks hash table </a:t>
            </a:r>
          </a:p>
          <a:p>
            <a:pPr lvl="1"/>
            <a:r>
              <a:rPr lang="en-US" dirty="0"/>
              <a:t>Hash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already present</a:t>
            </a:r>
            <a:r>
              <a:rPr lang="en-US" dirty="0"/>
              <a:t>?</a:t>
            </a:r>
          </a:p>
          <a:p>
            <a:pPr lvl="2"/>
            <a:r>
              <a:rPr lang="en-US" dirty="0"/>
              <a:t>Server adds pointer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existing file</a:t>
            </a:r>
            <a:r>
              <a:rPr lang="en-US" dirty="0"/>
              <a:t> to user’s directory</a:t>
            </a:r>
          </a:p>
          <a:p>
            <a:pPr lvl="2"/>
            <a:r>
              <a:rPr lang="en-US" dirty="0"/>
              <a:t>No data </a:t>
            </a:r>
            <a:r>
              <a:rPr lang="en-US" dirty="0" err="1"/>
              <a:t>stransmitted</a:t>
            </a:r>
            <a:endParaRPr lang="en-US" dirty="0"/>
          </a:p>
          <a:p>
            <a:pPr lvl="1"/>
            <a:r>
              <a:rPr lang="en-US" altLang="ja-JP" b="1" dirty="0">
                <a:solidFill>
                  <a:schemeClr val="accent6">
                    <a:lumMod val="75000"/>
                  </a:schemeClr>
                </a:solidFill>
              </a:rPr>
              <a:t>Not present</a:t>
            </a:r>
            <a:r>
              <a:rPr lang="en-US" dirty="0"/>
              <a:t>?</a:t>
            </a:r>
          </a:p>
          <a:p>
            <a:pPr lvl="2"/>
            <a:r>
              <a:rPr lang="en-US" altLang="ja-JP" b="1" dirty="0">
                <a:solidFill>
                  <a:schemeClr val="accent6">
                    <a:lumMod val="75000"/>
                  </a:schemeClr>
                </a:solidFill>
              </a:rPr>
              <a:t>New</a:t>
            </a:r>
            <a:r>
              <a:rPr lang="en-US" altLang="ja-JP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ja-JP" dirty="0"/>
              <a:t>file</a:t>
            </a:r>
            <a:endParaRPr lang="en-US" dirty="0"/>
          </a:p>
          <a:p>
            <a:pPr lvl="2"/>
            <a:r>
              <a:rPr lang="en-US" dirty="0"/>
              <a:t>Client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transmits full file</a:t>
            </a:r>
          </a:p>
          <a:p>
            <a:pPr lvl="2"/>
            <a:r>
              <a:rPr lang="en-US" dirty="0"/>
              <a:t>Server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file to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hash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But what about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collisions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Let’s say we use the SHA-1 secure hash function</a:t>
                </a:r>
              </a:p>
              <a:p>
                <a:pPr lvl="1"/>
                <a:r>
                  <a:rPr lang="en-US" dirty="0"/>
                  <a:t>Produces a 160 bit hash from a file</a:t>
                </a:r>
              </a:p>
              <a:p>
                <a:pPr lvl="1"/>
                <a:r>
                  <a:rPr lang="en-US" dirty="0"/>
                  <a:t>So 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160</m:t>
                        </m:r>
                      </m:sup>
                    </m:sSup>
                  </m:oMath>
                </a14:m>
                <a:r>
                  <a:rPr lang="en-US" dirty="0"/>
                  <a:t> possible hashes</a:t>
                </a:r>
              </a:p>
              <a:p>
                <a:pPr lvl="1"/>
                <a:r>
                  <a:rPr lang="en-US" dirty="0"/>
                  <a:t>So the chance of two songs having the same hash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1 in 1461501637330902918203684832716283019655932542976</a:t>
                </a:r>
              </a:p>
              <a:p>
                <a:pPr lvl="1"/>
                <a:r>
                  <a:rPr lang="en-US" dirty="0"/>
                  <a:t>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&gt;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49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More than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square of Avogadro’s number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 l="-2115" t="-2561" r="-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97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Dropbox’s </a:t>
            </a:r>
            <a:r>
              <a:rPr lang="en-US"/>
              <a:t>privacy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complaint against Dropbox for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deceptive trade practices </a:t>
            </a:r>
            <a:r>
              <a:rPr lang="en-US" dirty="0"/>
              <a:t>was filed with the FTC in 2011</a:t>
            </a:r>
          </a:p>
          <a:p>
            <a:endParaRPr lang="en-US" dirty="0"/>
          </a:p>
          <a:p>
            <a:r>
              <a:rPr lang="en-US" dirty="0"/>
              <a:t>It’s was filed by a Ph.D. student who </a:t>
            </a:r>
          </a:p>
          <a:p>
            <a:endParaRPr lang="en-US" dirty="0"/>
          </a:p>
          <a:p>
            <a:r>
              <a:rPr lang="en-US" dirty="0"/>
              <a:t>He claimed</a:t>
            </a:r>
          </a:p>
          <a:p>
            <a:pPr lvl="1"/>
            <a:r>
              <a:rPr lang="en-US" dirty="0"/>
              <a:t>Dropbox’s claims that its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employees couldn’t read your files</a:t>
            </a:r>
            <a:r>
              <a:rPr lang="en-US" dirty="0"/>
              <a:t> were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false</a:t>
            </a:r>
          </a:p>
          <a:p>
            <a:pPr lvl="1"/>
            <a:r>
              <a:rPr lang="en-US" dirty="0"/>
              <a:t>Because they were using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single-instance store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But </a:t>
            </a:r>
            <a:r>
              <a:rPr lang="en-US" dirty="0" err="1"/>
              <a:t>dropbox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didn’t tell people</a:t>
            </a:r>
            <a:r>
              <a:rPr lang="en-US" dirty="0"/>
              <a:t> that they were using a single-instance store</a:t>
            </a:r>
          </a:p>
          <a:p>
            <a:pPr lvl="1"/>
            <a:r>
              <a:rPr lang="en-US" dirty="0"/>
              <a:t>So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how did he know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Any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why would it matter </a:t>
            </a:r>
            <a:r>
              <a:rPr lang="en-US" dirty="0"/>
              <a:t>to a user?</a:t>
            </a:r>
          </a:p>
        </p:txBody>
      </p:sp>
    </p:spTree>
    <p:extLst>
      <p:ext uri="{BB962C8B-B14F-4D97-AF65-F5344CB8AC3E}">
        <p14:creationId xmlns:p14="http://schemas.microsoft.com/office/powerpoint/2010/main" val="70311599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CLR chapter on Hash Tables</a:t>
            </a:r>
          </a:p>
        </p:txBody>
      </p:sp>
    </p:spTree>
    <p:extLst>
      <p:ext uri="{BB962C8B-B14F-4D97-AF65-F5344CB8AC3E}">
        <p14:creationId xmlns:p14="http://schemas.microsoft.com/office/powerpoint/2010/main" val="3666614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9334</TotalTime>
  <Words>3760</Words>
  <Application>Microsoft Office PowerPoint</Application>
  <PresentationFormat>On-screen Show (4:3)</PresentationFormat>
  <Paragraphs>877</Paragraphs>
  <Slides>83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9" baseType="lpstr">
      <vt:lpstr>ＭＳ Ｐゴシック</vt:lpstr>
      <vt:lpstr>Arial</vt:lpstr>
      <vt:lpstr>Calibri</vt:lpstr>
      <vt:lpstr>Cambria Math</vt:lpstr>
      <vt:lpstr>Verdana</vt:lpstr>
      <vt:lpstr>Office Theme</vt:lpstr>
      <vt:lpstr>Lecture 9 Hash tables</vt:lpstr>
      <vt:lpstr>Dictionaries</vt:lpstr>
      <vt:lpstr>Implementing dictionaries with association lists</vt:lpstr>
      <vt:lpstr>Implementing dictionaries with association lists</vt:lpstr>
      <vt:lpstr>Arrays as dictionaries</vt:lpstr>
      <vt:lpstr>why can’t everything be like arrays?</vt:lpstr>
      <vt:lpstr>Direct addressing</vt:lpstr>
      <vt:lpstr>Direct addressing</vt:lpstr>
      <vt:lpstr>Direct addressing</vt:lpstr>
      <vt:lpstr>Direct addressing</vt:lpstr>
      <vt:lpstr>Shrinking the array</vt:lpstr>
      <vt:lpstr>Hash tables</vt:lpstr>
      <vt:lpstr>Hash tables</vt:lpstr>
      <vt:lpstr>Example hash function</vt:lpstr>
      <vt:lpstr>Example hash function</vt:lpstr>
      <vt:lpstr>Collisions</vt:lpstr>
      <vt:lpstr>Chaining</vt:lpstr>
      <vt:lpstr>Is this O(1)?</vt:lpstr>
      <vt:lpstr>Is this O(1)?</vt:lpstr>
      <vt:lpstr>Is this O(1)?</vt:lpstr>
      <vt:lpstr>Average-case performance</vt:lpstr>
      <vt:lpstr>Average-case performance</vt:lpstr>
      <vt:lpstr>Average-case performance</vt:lpstr>
      <vt:lpstr>Average-case performance</vt:lpstr>
      <vt:lpstr>Remember that Θ(n) is like O(n), except it’s both an upper and lower bound</vt:lpstr>
      <vt:lpstr>… and if something is Θ(1+α), it’s also O(α+1) and so also O(α)</vt:lpstr>
      <vt:lpstr>Average-case performance</vt:lpstr>
      <vt:lpstr>Average-case performance</vt:lpstr>
      <vt:lpstr>Average-case performance</vt:lpstr>
      <vt:lpstr>Average-case performance</vt:lpstr>
      <vt:lpstr>Average-case performance</vt:lpstr>
      <vt:lpstr>But wait…</vt:lpstr>
      <vt:lpstr>But wait…</vt:lpstr>
      <vt:lpstr>Open addressing</vt:lpstr>
      <vt:lpstr>Open addressing</vt:lpstr>
      <vt:lpstr>Open addressing</vt:lpstr>
      <vt:lpstr>Open addressing</vt:lpstr>
      <vt:lpstr>Open addressing</vt:lpstr>
      <vt:lpstr>Open addressing</vt:lpstr>
      <vt:lpstr>Open addressing</vt:lpstr>
      <vt:lpstr>Probe sequences</vt:lpstr>
      <vt:lpstr>Linear probing</vt:lpstr>
      <vt:lpstr>Clustering</vt:lpstr>
      <vt:lpstr>Quadratic probing</vt:lpstr>
      <vt:lpstr>Double hashing</vt:lpstr>
      <vt:lpstr>Why do prime numbers matter?</vt:lpstr>
      <vt:lpstr>Why do prime numbers matter?</vt:lpstr>
      <vt:lpstr>Why do prime numbers matter?</vt:lpstr>
      <vt:lpstr>Why do prime numbers matter?</vt:lpstr>
      <vt:lpstr>Why do prime numbers matter?</vt:lpstr>
      <vt:lpstr>Performance of open addressing</vt:lpstr>
      <vt:lpstr>Variations on the interface</vt:lpstr>
      <vt:lpstr>Example: canonicalizing strings</vt:lpstr>
      <vt:lpstr>Designing hash functions</vt:lpstr>
      <vt:lpstr>Designing hash functions</vt:lpstr>
      <vt:lpstr>Mapping to a large integer</vt:lpstr>
      <vt:lpstr>Radix notation</vt:lpstr>
      <vt:lpstr>Radix notation</vt:lpstr>
      <vt:lpstr>Summing</vt:lpstr>
      <vt:lpstr>Exclusive-or’ing</vt:lpstr>
      <vt:lpstr>XOR (1-bit case)</vt:lpstr>
      <vt:lpstr>XOR (n-bit case)</vt:lpstr>
      <vt:lpstr>Shifting</vt:lpstr>
      <vt:lpstr>Hashing to a small integer</vt:lpstr>
      <vt:lpstr>Division method</vt:lpstr>
      <vt:lpstr>Multiplication method</vt:lpstr>
      <vt:lpstr>Universal hashing</vt:lpstr>
      <vt:lpstr>Perfect hashing</vt:lpstr>
      <vt:lpstr>Hashing in C#</vt:lpstr>
      <vt:lpstr>Other applications of hash functions</vt:lpstr>
      <vt:lpstr>Simple example: cache memory</vt:lpstr>
      <vt:lpstr>Simple example: cache memory</vt:lpstr>
      <vt:lpstr>Other applications of “hash-like” functions</vt:lpstr>
      <vt:lpstr>Error detecting codes</vt:lpstr>
      <vt:lpstr>Error detecting codes</vt:lpstr>
      <vt:lpstr>Parity</vt:lpstr>
      <vt:lpstr>Error-Correcting Codes</vt:lpstr>
      <vt:lpstr>Cryptographic hashes</vt:lpstr>
      <vt:lpstr>Uses</vt:lpstr>
      <vt:lpstr>Single-instance stores</vt:lpstr>
      <vt:lpstr>Basic algorithm</vt:lpstr>
      <vt:lpstr>Dropbox’s privacy policy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 and Algorithms</dc:title>
  <dc:creator>Ian Horswill</dc:creator>
  <cp:lastModifiedBy>Ian Horswill</cp:lastModifiedBy>
  <cp:revision>614</cp:revision>
  <cp:lastPrinted>2011-05-09T02:16:07Z</cp:lastPrinted>
  <dcterms:created xsi:type="dcterms:W3CDTF">2010-03-27T22:31:10Z</dcterms:created>
  <dcterms:modified xsi:type="dcterms:W3CDTF">2019-05-03T17:39:26Z</dcterms:modified>
</cp:coreProperties>
</file>