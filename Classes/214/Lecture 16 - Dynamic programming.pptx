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402" r:id="rId3"/>
    <p:sldId id="403" r:id="rId4"/>
    <p:sldId id="404" r:id="rId5"/>
    <p:sldId id="406" r:id="rId6"/>
    <p:sldId id="405" r:id="rId7"/>
    <p:sldId id="410" r:id="rId8"/>
    <p:sldId id="411" r:id="rId9"/>
    <p:sldId id="413" r:id="rId10"/>
    <p:sldId id="414" r:id="rId11"/>
    <p:sldId id="412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4" r:id="rId21"/>
    <p:sldId id="427" r:id="rId22"/>
    <p:sldId id="423" r:id="rId23"/>
    <p:sldId id="425" r:id="rId24"/>
    <p:sldId id="426" r:id="rId2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37" d="100"/>
          <a:sy n="37" d="100"/>
        </p:scale>
        <p:origin x="1005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78F7F9AA-A437-4C1D-B7A7-132C663DC277}" type="datetimeFigureOut">
              <a:rPr lang="en-US" smtClean="0"/>
              <a:pPr/>
              <a:t>5/23/2019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otenay" pitchFamily="2" charset="0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otenay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Kootenay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Lecture 16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Path finding using dynamic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points shortest-path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 is cool, but what if you need to do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 lot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route finding in the same graph?</a:t>
            </a:r>
          </a:p>
        </p:txBody>
      </p:sp>
    </p:spTree>
    <p:extLst>
      <p:ext uri="{BB962C8B-B14F-4D97-AF65-F5344CB8AC3E}">
        <p14:creationId xmlns:p14="http://schemas.microsoft.com/office/powerpoint/2010/main" val="13585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Memoizing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+mn-lt"/>
              </a:rPr>
              <a:t>One thing you could do is to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save </a:t>
            </a:r>
            <a:r>
              <a:rPr lang="en-US" dirty="0">
                <a:latin typeface="+mn-lt"/>
              </a:rPr>
              <a:t>the shortest paths as you compute them</a:t>
            </a:r>
          </a:p>
          <a:p>
            <a:pPr lvl="1"/>
            <a:r>
              <a:rPr lang="en-US" dirty="0">
                <a:latin typeface="+mn-lt"/>
              </a:rPr>
              <a:t>E.g. in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hash table</a:t>
            </a:r>
          </a:p>
          <a:p>
            <a:r>
              <a:rPr lang="en-US" dirty="0">
                <a:latin typeface="+mn-lt"/>
              </a:rPr>
              <a:t>Then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reuse </a:t>
            </a:r>
            <a:r>
              <a:rPr lang="en-US" dirty="0">
                <a:latin typeface="+mn-lt"/>
              </a:rPr>
              <a:t>the saved path if you have to solve the same problem again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This is called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memoizing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Or sometimes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caching </a:t>
            </a:r>
            <a:r>
              <a:rPr lang="en-US" dirty="0">
                <a:latin typeface="+mn-lt"/>
              </a:rPr>
              <a:t>(although that usually means something a little different)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>
                <a:latin typeface="+mn-lt"/>
              </a:rPr>
              <a:t>ShortestPath</a:t>
            </a:r>
            <a:r>
              <a:rPr lang="en-US" dirty="0">
                <a:latin typeface="+mn-lt"/>
              </a:rPr>
              <a:t>(a, b)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  if (a/b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already in table</a:t>
            </a:r>
            <a:r>
              <a:rPr lang="en-US" dirty="0">
                <a:latin typeface="+mn-lt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return table[a, b]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  else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     path = </a:t>
            </a:r>
            <a:r>
              <a:rPr lang="en-US" dirty="0" err="1">
                <a:latin typeface="+mn-lt"/>
              </a:rPr>
              <a:t>dijkstra</a:t>
            </a:r>
            <a:r>
              <a:rPr lang="en-US" dirty="0">
                <a:latin typeface="+mn-lt"/>
              </a:rPr>
              <a:t>(a, b)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table[a, b] = path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     return path</a:t>
            </a:r>
          </a:p>
        </p:txBody>
      </p:sp>
    </p:spTree>
    <p:extLst>
      <p:ext uri="{BB962C8B-B14F-4D97-AF65-F5344CB8AC3E}">
        <p14:creationId xmlns:p14="http://schemas.microsoft.com/office/powerpoint/2010/main" val="84787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do better?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This saves us </a:t>
                </a:r>
                <a:r>
                  <a:rPr lang="en-US" dirty="0" err="1"/>
                  <a:t>recomputing</a:t>
                </a:r>
                <a:r>
                  <a:rPr lang="en-US" dirty="0"/>
                  <a:t> the same path twice</a:t>
                </a:r>
              </a:p>
              <a:p>
                <a:r>
                  <a:rPr lang="en-US" dirty="0"/>
                  <a:t>But we still have to run </a:t>
                </a:r>
                <a:r>
                  <a:rPr lang="en-US" dirty="0" err="1"/>
                  <a:t>Dijkstra’s</a:t>
                </a:r>
                <a:r>
                  <a:rPr lang="en-US" dirty="0"/>
                  <a:t> algorithm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times </a:t>
                </a:r>
                <a:r>
                  <a:rPr lang="en-US" dirty="0"/>
                  <a:t>to compute all paths</a:t>
                </a:r>
              </a:p>
              <a:p>
                <a:r>
                  <a:rPr lang="en-US" dirty="0"/>
                  <a:t>That’s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𝑽</m:t>
                                </m:r>
                              </m:e>
                              <m:sup>
                                <m:r>
                                  <a:rPr lang="en-US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𝑬𝑽</m:t>
                            </m:r>
                          </m:e>
                        </m:d>
                        <m:func>
                          <m:func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𝑽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time*, which is a lot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b="0" dirty="0"/>
                  <a:t> is large</a:t>
                </a:r>
              </a:p>
              <a:p>
                <a:pPr lvl="1"/>
                <a:r>
                  <a:rPr lang="en-US" dirty="0"/>
                  <a:t>And it’s really bad if the graph is dense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; t</a:t>
                </a:r>
                <a:r>
                  <a:rPr lang="en-US" dirty="0"/>
                  <a:t>hen the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3226" y="6400800"/>
                <a:ext cx="7049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* 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𝑉𝐸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26" y="6400800"/>
                <a:ext cx="704917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77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62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Shortest paths</a:t>
            </a:r>
            <a:br>
              <a:rPr lang="en-US" sz="3600" dirty="0"/>
            </a:br>
            <a:r>
              <a:rPr lang="en-US" sz="3600" dirty="0"/>
              <a:t>contain other shortest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shortest path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from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 to B</a:t>
            </a:r>
          </a:p>
          <a:p>
            <a:pPr lvl="1"/>
            <a:r>
              <a:rPr lang="en-US" dirty="0"/>
              <a:t>Has to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start with A</a:t>
            </a:r>
          </a:p>
          <a:p>
            <a:pPr lvl="1"/>
            <a:r>
              <a:rPr lang="en-US" dirty="0"/>
              <a:t>Go through some (possibly empty) set of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intermediate nodes</a:t>
            </a:r>
          </a:p>
          <a:p>
            <a:pPr lvl="1"/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end with B</a:t>
            </a:r>
          </a:p>
          <a:p>
            <a:pPr lvl="1"/>
            <a:endParaRPr lang="en-US" dirty="0"/>
          </a:p>
          <a:p>
            <a:r>
              <a:rPr lang="en-US" dirty="0"/>
              <a:t>If some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intermediate node C</a:t>
            </a:r>
            <a:r>
              <a:rPr lang="en-US" dirty="0"/>
              <a:t> on the shortest path, then the path is just: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from A to C</a:t>
            </a:r>
          </a:p>
          <a:p>
            <a:pPr lvl="1"/>
            <a:r>
              <a:rPr lang="en-US" dirty="0"/>
              <a:t>Followed by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from C to B</a:t>
            </a:r>
          </a:p>
        </p:txBody>
      </p:sp>
    </p:spTree>
    <p:extLst>
      <p:ext uri="{BB962C8B-B14F-4D97-AF65-F5344CB8AC3E}">
        <p14:creationId xmlns:p14="http://schemas.microsoft.com/office/powerpoint/2010/main" val="173938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Paths within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in finding the shortest path from A to B,</a:t>
            </a:r>
          </a:p>
          <a:p>
            <a:pPr lvl="1"/>
            <a:r>
              <a:rPr lang="en-US" dirty="0"/>
              <a:t>We’re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implicitly finding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the shortest paths from A to C and C to B</a:t>
            </a:r>
          </a:p>
          <a:p>
            <a:pPr lvl="1"/>
            <a:r>
              <a:rPr lang="en-US" dirty="0"/>
              <a:t>We’re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re-solving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the same problems repeatedly</a:t>
            </a:r>
          </a:p>
          <a:p>
            <a:endParaRPr lang="en-US" dirty="0"/>
          </a:p>
          <a:p>
            <a:r>
              <a:rPr lang="en-US" dirty="0"/>
              <a:t>We’d like some way of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memoizing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this work so we don’t have to resolve the same problems</a:t>
            </a:r>
          </a:p>
        </p:txBody>
      </p:sp>
    </p:spTree>
    <p:extLst>
      <p:ext uri="{BB962C8B-B14F-4D97-AF65-F5344CB8AC3E}">
        <p14:creationId xmlns:p14="http://schemas.microsoft.com/office/powerpoint/2010/main" val="22604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Restating what we already said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any nodes </a:t>
            </a:r>
            <a:r>
              <a:rPr lang="en-US" dirty="0"/>
              <a:t>A, B, and C</a:t>
            </a:r>
          </a:p>
          <a:p>
            <a:r>
              <a:rPr lang="en-US" dirty="0"/>
              <a:t>Either the shortest path from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 to B</a:t>
            </a:r>
            <a:r>
              <a:rPr lang="en-US" dirty="0"/>
              <a:t> is: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from A to C</a:t>
            </a:r>
            <a:r>
              <a:rPr lang="en-US" dirty="0"/>
              <a:t> followed by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shortest path from C to B</a:t>
            </a:r>
          </a:p>
          <a:p>
            <a:pPr lvl="1"/>
            <a:r>
              <a:rPr lang="en-US" dirty="0"/>
              <a:t>Or the shortest path from A to B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doesn’t go through C</a:t>
            </a:r>
          </a:p>
        </p:txBody>
      </p:sp>
    </p:spTree>
    <p:extLst>
      <p:ext uri="{BB962C8B-B14F-4D97-AF65-F5344CB8AC3E}">
        <p14:creationId xmlns:p14="http://schemas.microsoft.com/office/powerpoint/2010/main" val="149174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restating it again..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ShortestPath</a:t>
            </a:r>
            <a:r>
              <a:rPr lang="en-US" dirty="0"/>
              <a:t>(A,B) =</a:t>
            </a:r>
          </a:p>
          <a:p>
            <a:r>
              <a:rPr lang="en-US" dirty="0" err="1"/>
              <a:t>ShortestPathNotUsingC</a:t>
            </a:r>
            <a:r>
              <a:rPr lang="en-US" dirty="0"/>
              <a:t>(A,C) followed by </a:t>
            </a:r>
            <a:r>
              <a:rPr lang="en-US" dirty="0" err="1"/>
              <a:t>ShortestPathNotUsingC</a:t>
            </a:r>
            <a:r>
              <a:rPr lang="en-US" dirty="0"/>
              <a:t>(C,B)</a:t>
            </a:r>
          </a:p>
          <a:p>
            <a:r>
              <a:rPr lang="en-US" dirty="0"/>
              <a:t>Or </a:t>
            </a:r>
            <a:r>
              <a:rPr lang="en-US" dirty="0" err="1"/>
              <a:t>ShortestPathNotUsingC</a:t>
            </a:r>
            <a:r>
              <a:rPr lang="en-US" dirty="0"/>
              <a:t>(A,B)</a:t>
            </a:r>
          </a:p>
          <a:p>
            <a:r>
              <a:rPr lang="en-US" dirty="0"/>
              <a:t>Whichever is shorter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(where “not using C” means “not using C as an intermediate node”)</a:t>
            </a:r>
          </a:p>
        </p:txBody>
      </p:sp>
    </p:spTree>
    <p:extLst>
      <p:ext uri="{BB962C8B-B14F-4D97-AF65-F5344CB8AC3E}">
        <p14:creationId xmlns:p14="http://schemas.microsoft.com/office/powerpoint/2010/main" val="598996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just described</a:t>
            </a:r>
          </a:p>
          <a:p>
            <a:pPr lvl="1"/>
            <a:r>
              <a:rPr lang="en-US" dirty="0"/>
              <a:t>The shortest path between two points</a:t>
            </a:r>
          </a:p>
          <a:p>
            <a:pPr lvl="1"/>
            <a:r>
              <a:rPr lang="en-US" dirty="0"/>
              <a:t>In terms of shortest paths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using </a:t>
            </a:r>
            <a:r>
              <a:rPr lang="en-US" dirty="0"/>
              <a:t>some other node (C)</a:t>
            </a:r>
          </a:p>
          <a:p>
            <a:endParaRPr lang="en-US" dirty="0"/>
          </a:p>
          <a:p>
            <a:r>
              <a:rPr lang="en-US" dirty="0"/>
              <a:t>We can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recurse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Describe shortest paths not using C</a:t>
            </a:r>
          </a:p>
          <a:p>
            <a:pPr lvl="1"/>
            <a:r>
              <a:rPr lang="en-US" dirty="0"/>
              <a:t>In terms of shortest paths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using C or 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(for some D)</a:t>
            </a:r>
          </a:p>
        </p:txBody>
      </p:sp>
    </p:spTree>
    <p:extLst>
      <p:ext uri="{BB962C8B-B14F-4D97-AF65-F5344CB8AC3E}">
        <p14:creationId xmlns:p14="http://schemas.microsoft.com/office/powerpoint/2010/main" val="28456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recurse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Describe shortest paths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not using C</a:t>
            </a:r>
          </a:p>
          <a:p>
            <a:pPr lvl="1"/>
            <a:r>
              <a:rPr lang="en-US" dirty="0"/>
              <a:t>In terms of shortest paths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not using C or D </a:t>
            </a:r>
            <a:r>
              <a:rPr lang="en-US" dirty="0"/>
              <a:t>(for some D)</a:t>
            </a:r>
          </a:p>
          <a:p>
            <a:r>
              <a:rPr lang="en-US" dirty="0"/>
              <a:t>And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keep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recursing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/>
              <a:t>Until we describe paths in terms of shortest paths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not using </a:t>
            </a: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any </a:t>
            </a:r>
            <a:r>
              <a:rPr lang="en-US" dirty="0"/>
              <a:t>intermediate nodes</a:t>
            </a:r>
          </a:p>
          <a:p>
            <a:pPr lvl="1"/>
            <a:r>
              <a:rPr lang="en-US" dirty="0"/>
              <a:t>i.e. they’re just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edges</a:t>
            </a:r>
            <a:r>
              <a:rPr lang="en-US" dirty="0"/>
              <a:t> (easy to compute)</a:t>
            </a:r>
          </a:p>
        </p:txBody>
      </p:sp>
    </p:spTree>
    <p:extLst>
      <p:ext uri="{BB962C8B-B14F-4D97-AF65-F5344CB8AC3E}">
        <p14:creationId xmlns:p14="http://schemas.microsoft.com/office/powerpoint/2010/main" val="27288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Assume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vertices are numbered</a:t>
                </a:r>
                <a:r>
                  <a:rPr lang="en-US" b="1">
                    <a:solidFill>
                      <a:schemeClr val="accent6">
                        <a:lumMod val="75000"/>
                      </a:schemeClr>
                    </a:solidFill>
                  </a:rPr>
                  <a:t>, 1…V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Define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𝑫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𝒋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𝒌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(i.e. “distance”) to be 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length </a:t>
                </a:r>
                <a:r>
                  <a:rPr lang="en-US" dirty="0"/>
                  <a:t>of the shortest path</a:t>
                </a:r>
              </a:p>
              <a:p>
                <a:pPr lvl="2"/>
                <a:r>
                  <a:rPr lang="en-US" dirty="0"/>
                  <a:t>From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to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𝑗</m:t>
                    </m:r>
                  </m:oMath>
                </a14:m>
                <a:endParaRPr lang="en-US" dirty="0"/>
              </a:p>
              <a:p>
                <a:pPr lvl="2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Using only nodes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through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just compute the length </a:t>
                </a:r>
                <a:r>
                  <a:rPr lang="en-US" dirty="0"/>
                  <a:t>here</a:t>
                </a:r>
              </a:p>
              <a:p>
                <a:pPr lvl="1"/>
                <a:r>
                  <a:rPr lang="en-US" dirty="0"/>
                  <a:t>It’s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easy to extend </a:t>
                </a:r>
                <a:r>
                  <a:rPr lang="en-US" dirty="0"/>
                  <a:t>the algorithm to recover the actual path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 r="-1333" b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105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058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Then</a:t>
                </a:r>
                <a:endParaRPr lang="en-US" b="0" i="0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𝐷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  <m:brk m:alnAt="7"/>
                                </m:rPr>
                                <a:rPr lang="en-US" sz="2400">
                                  <a:latin typeface="Cambria Math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en-US" sz="2400">
                                  <a:latin typeface="Cambria Math"/>
                                </a:rPr>
                                <m:t>dgecost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                                                   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=0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𝐷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𝐷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𝐷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smtClean="0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 b="0" i="0" smtClean="0">
                                      <a:latin typeface="Cambria Math"/>
                                    </a:rPr>
                                    <m:t>otherwise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sz="2400" b="0" i="1" dirty="0">
                  <a:latin typeface="Cambria Math"/>
                </a:endParaRPr>
              </a:p>
              <a:p>
                <a:endParaRPr lang="en-US" dirty="0"/>
              </a:p>
              <a:p>
                <a:r>
                  <a:rPr lang="en-US" dirty="0"/>
                  <a:t>This might not look like an algorithm, but it’s easy to turn into one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05800" cy="4525963"/>
              </a:xfrm>
              <a:blipFill rotWithShape="1">
                <a:blip r:embed="rId2"/>
                <a:stretch>
                  <a:fillRect l="-1834" t="-1752" r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82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  <a:br>
              <a:rPr lang="en-US" dirty="0"/>
            </a:br>
            <a:r>
              <a:rPr lang="en-US" sz="3600" dirty="0"/>
              <a:t>(bad version)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Distance(i, j)</a:t>
                </a:r>
              </a:p>
              <a:p>
                <a:pPr marL="0" indent="0">
                  <a:buNone/>
                </a:pPr>
                <a:r>
                  <a:rPr lang="en-US" dirty="0"/>
                  <a:t>   return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D(i, j, V)</a:t>
                </a:r>
                <a:r>
                  <a:rPr lang="en-US" dirty="0"/>
                  <a:t>    // V = number of nodes in graph = highest node number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D(i, j, k)</a:t>
                </a:r>
                <a:r>
                  <a:rPr lang="en-US" dirty="0"/>
                  <a:t> {</a:t>
                </a:r>
              </a:p>
              <a:p>
                <a:pPr marL="0" indent="0">
                  <a:buNone/>
                </a:pPr>
                <a:r>
                  <a:rPr lang="en-US" dirty="0"/>
                  <a:t>   if (k=0) {</a:t>
                </a:r>
              </a:p>
              <a:p>
                <a:pPr marL="0" indent="0">
                  <a:buNone/>
                </a:pPr>
                <a:r>
                  <a:rPr lang="en-US" dirty="0"/>
                  <a:t>      if there’s an edge between i and j</a:t>
                </a:r>
              </a:p>
              <a:p>
                <a:pPr marL="0" indent="0">
                  <a:buNone/>
                </a:pPr>
                <a:r>
                  <a:rPr lang="en-US" dirty="0"/>
                  <a:t>         return </a:t>
                </a:r>
                <a:r>
                  <a:rPr lang="en-US" dirty="0" err="1"/>
                  <a:t>edgeCost</a:t>
                </a:r>
                <a:r>
                  <a:rPr lang="en-US" dirty="0"/>
                  <a:t>[i, j]</a:t>
                </a:r>
                <a:br>
                  <a:rPr lang="en-US" dirty="0"/>
                </a:br>
                <a:r>
                  <a:rPr lang="en-US" dirty="0"/>
                  <a:t>      else</a:t>
                </a:r>
              </a:p>
              <a:p>
                <a:pPr marL="0" indent="0">
                  <a:buNone/>
                </a:pPr>
                <a:r>
                  <a:rPr lang="en-US" dirty="0"/>
                  <a:t>         return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} else {</a:t>
                </a:r>
              </a:p>
              <a:p>
                <a:pPr marL="0" indent="0">
                  <a:buNone/>
                </a:pPr>
                <a:r>
                  <a:rPr lang="en-US" dirty="0"/>
                  <a:t>      direct =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D(i, j, k-1)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      indirect =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D(i, k, k-1)</a:t>
                </a:r>
                <a:r>
                  <a:rPr lang="en-US" dirty="0"/>
                  <a:t>+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D(k, j, k-1)</a:t>
                </a:r>
              </a:p>
              <a:p>
                <a:pPr marL="0" indent="0">
                  <a:buNone/>
                </a:pPr>
                <a:r>
                  <a:rPr lang="en-US" dirty="0"/>
                  <a:t>      return min(direct, indirect)</a:t>
                </a:r>
                <a:br>
                  <a:rPr lang="en-US" dirty="0"/>
                </a:br>
                <a:r>
                  <a:rPr lang="en-US" dirty="0"/>
                  <a:t>   }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41" t="-2022" b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93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+mn-lt"/>
              </a:rPr>
              <a:t>weren’t we supposed to trying to </a:t>
            </a:r>
            <a:r>
              <a:rPr lang="en-US" cap="none" dirty="0" err="1">
                <a:latin typeface="+mn-lt"/>
              </a:rPr>
              <a:t>memoize</a:t>
            </a:r>
            <a:r>
              <a:rPr lang="en-US" cap="none" dirty="0">
                <a:latin typeface="+mn-lt"/>
              </a:rPr>
              <a:t> this computation?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uhhh</a:t>
            </a:r>
            <a:r>
              <a:rPr lang="en-US" dirty="0">
                <a:latin typeface="+mn-lt"/>
              </a:rPr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3533490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  <a:br>
              <a:rPr lang="en-US" dirty="0"/>
            </a:br>
            <a:r>
              <a:rPr lang="en-US" sz="3600" dirty="0"/>
              <a:t>(space-hungry version)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float[] distances = new float[V, V, V];      // 3D array indexed by vertex number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D(i, j, k) {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if distances[i, j, k] has an entry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   return distances[i, j, k]</a:t>
                </a:r>
              </a:p>
              <a:p>
                <a:pPr marL="0" indent="0">
                  <a:buNone/>
                </a:pPr>
                <a:r>
                  <a:rPr lang="en-US" dirty="0"/>
                  <a:t>   if (k=0) {</a:t>
                </a:r>
              </a:p>
              <a:p>
                <a:pPr marL="0" indent="0">
                  <a:buNone/>
                </a:pPr>
                <a:r>
                  <a:rPr lang="en-US" dirty="0"/>
                  <a:t>      if there’s an edge between i and j</a:t>
                </a:r>
              </a:p>
              <a:p>
                <a:pPr marL="0" indent="0">
                  <a:buNone/>
                </a:pPr>
                <a:r>
                  <a:rPr lang="en-US" dirty="0"/>
                  <a:t>        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answer = </a:t>
                </a:r>
                <a:r>
                  <a:rPr lang="en-US" dirty="0" err="1"/>
                  <a:t>edgeCost</a:t>
                </a:r>
                <a:r>
                  <a:rPr lang="en-US" dirty="0"/>
                  <a:t>[i, j]</a:t>
                </a:r>
                <a:br>
                  <a:rPr lang="en-US" dirty="0"/>
                </a:br>
                <a:r>
                  <a:rPr lang="en-US" dirty="0"/>
                  <a:t>      else</a:t>
                </a:r>
              </a:p>
              <a:p>
                <a:pPr marL="0" indent="0">
                  <a:buNone/>
                </a:pPr>
                <a:r>
                  <a:rPr lang="en-US" dirty="0"/>
                  <a:t>        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answer 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} else {</a:t>
                </a:r>
              </a:p>
              <a:p>
                <a:pPr marL="0" indent="0">
                  <a:buNone/>
                </a:pPr>
                <a:r>
                  <a:rPr lang="en-US" dirty="0"/>
                  <a:t>      direct = D(i, j, k-1)</a:t>
                </a:r>
                <a:br>
                  <a:rPr lang="en-US" dirty="0"/>
                </a:br>
                <a:r>
                  <a:rPr lang="en-US" dirty="0"/>
                  <a:t>      indirect = D(i, k, k-1)+D(k, j, k-1)</a:t>
                </a:r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answer = </a:t>
                </a:r>
                <a:r>
                  <a:rPr lang="en-US" dirty="0"/>
                  <a:t>min(direct, indirect)</a:t>
                </a:r>
                <a:br>
                  <a:rPr lang="en-US" dirty="0"/>
                </a:br>
                <a:r>
                  <a:rPr lang="en-US" dirty="0"/>
                  <a:t>   }</a:t>
                </a:r>
                <a:br>
                  <a:rPr lang="en-US" dirty="0"/>
                </a:b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distances[i, j, k] = answer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  return answer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0">
                <a:blip r:embed="rId2"/>
                <a:stretch>
                  <a:fillRect l="-593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752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+mn-lt"/>
              </a:rPr>
              <a:t>weren’t we supposed to trying to compute all distances at once?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uhhh</a:t>
            </a:r>
            <a:r>
              <a:rPr lang="en-US" dirty="0">
                <a:latin typeface="+mn-lt"/>
              </a:rPr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1217925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now the cleverness…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compute all </a:t>
            </a:r>
            <a:r>
              <a:rPr lang="en-US" dirty="0"/>
              <a:t>the different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D(i, j, k) </a:t>
            </a:r>
            <a:r>
              <a:rPr lang="en-US" dirty="0"/>
              <a:t>values</a:t>
            </a:r>
          </a:p>
          <a:p>
            <a:r>
              <a:rPr lang="en-US" dirty="0"/>
              <a:t>But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only care </a:t>
            </a:r>
            <a:r>
              <a:rPr lang="en-US" dirty="0"/>
              <a:t>about the ones where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k=V</a:t>
            </a:r>
          </a:p>
          <a:p>
            <a:pPr lvl="1"/>
            <a:r>
              <a:rPr lang="en-US" dirty="0"/>
              <a:t>i.e. where k is the number of vertices</a:t>
            </a:r>
          </a:p>
          <a:p>
            <a:pPr lvl="1"/>
            <a:r>
              <a:rPr lang="en-US" dirty="0"/>
              <a:t>i.e. where we’re allowed to use all the vertices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Once we compute all the values for k</a:t>
            </a:r>
            <a:r>
              <a:rPr lang="en-US" dirty="0"/>
              <a:t>,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don’t care </a:t>
            </a:r>
            <a:r>
              <a:rPr lang="en-US" dirty="0"/>
              <a:t>about the k-1 values</a:t>
            </a:r>
          </a:p>
        </p:txBody>
      </p:sp>
    </p:spTree>
    <p:extLst>
      <p:ext uri="{BB962C8B-B14F-4D97-AF65-F5344CB8AC3E}">
        <p14:creationId xmlns:p14="http://schemas.microsoft.com/office/powerpoint/2010/main" val="888638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real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D(i, j, 0) </a:t>
            </a:r>
            <a:r>
              <a:rPr lang="en-US" dirty="0"/>
              <a:t>for all i, j</a:t>
            </a:r>
          </a:p>
          <a:p>
            <a:r>
              <a:rPr lang="en-US" dirty="0"/>
              <a:t>Compute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D(i, j, 1) </a:t>
            </a:r>
            <a:r>
              <a:rPr lang="en-US" dirty="0"/>
              <a:t>for all i, j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Throw away </a:t>
            </a:r>
            <a:r>
              <a:rPr lang="en-US" dirty="0"/>
              <a:t>the D(i, j, 0) values</a:t>
            </a:r>
          </a:p>
          <a:p>
            <a:r>
              <a:rPr lang="en-US" dirty="0"/>
              <a:t>Compute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D(i, j, 2) </a:t>
            </a:r>
            <a:r>
              <a:rPr lang="en-US" dirty="0"/>
              <a:t>for all i, j</a:t>
            </a:r>
          </a:p>
          <a:p>
            <a:pPr lvl="1"/>
            <a:r>
              <a:rPr lang="en-US" b="1" dirty="0"/>
              <a:t>Throw away </a:t>
            </a:r>
            <a:r>
              <a:rPr lang="en-US" dirty="0"/>
              <a:t>the D(i, j, 1) values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r>
              <a:rPr lang="en-US" dirty="0"/>
              <a:t>Compute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D(i, j, V) </a:t>
            </a:r>
            <a:r>
              <a:rPr lang="en-US" dirty="0"/>
              <a:t>for all i, j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Throw everything else away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57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real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ComputeAllDistances</a:t>
                </a:r>
                <a:r>
                  <a:rPr lang="en-US" dirty="0"/>
                  <a:t>() {</a:t>
                </a:r>
              </a:p>
              <a:p>
                <a:pPr marL="0" indent="0">
                  <a:buNone/>
                </a:pPr>
                <a:r>
                  <a:rPr lang="en-US" dirty="0"/>
                  <a:t>   D = new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array initialized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∞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each vertex v, D[v, v] = 0</a:t>
                </a:r>
              </a:p>
              <a:p>
                <a:pPr marL="0" indent="0">
                  <a:buNone/>
                </a:pPr>
                <a:r>
                  <a:rPr lang="en-US" dirty="0"/>
                  <a:t>   for each edge e=(</a:t>
                </a:r>
                <a:r>
                  <a:rPr lang="en-US" dirty="0" err="1"/>
                  <a:t>u,v</a:t>
                </a:r>
                <a:r>
                  <a:rPr lang="en-US" dirty="0"/>
                  <a:t>),  D[</a:t>
                </a:r>
                <a:r>
                  <a:rPr lang="en-US" dirty="0" err="1"/>
                  <a:t>u,v</a:t>
                </a:r>
                <a:r>
                  <a:rPr lang="en-US" dirty="0"/>
                  <a:t>] = weight(e)</a:t>
                </a:r>
              </a:p>
              <a:p>
                <a:pPr marL="0" indent="0">
                  <a:buNone/>
                </a:pPr>
                <a:r>
                  <a:rPr lang="en-US" dirty="0"/>
                  <a:t>   for each vertex k</a:t>
                </a:r>
                <a:br>
                  <a:rPr lang="en-US" dirty="0"/>
                </a:br>
                <a:r>
                  <a:rPr lang="en-US" dirty="0"/>
                  <a:t>      for each vertex j</a:t>
                </a:r>
                <a:br>
                  <a:rPr lang="en-US" dirty="0"/>
                </a:br>
                <a:r>
                  <a:rPr lang="en-US" dirty="0"/>
                  <a:t>          for each vertex i</a:t>
                </a:r>
                <a:br>
                  <a:rPr lang="en-US" dirty="0"/>
                </a:br>
                <a:r>
                  <a:rPr lang="en-US" dirty="0"/>
                  <a:t>              D[i, j] = min(D[</a:t>
                </a:r>
                <a:r>
                  <a:rPr lang="en-US" dirty="0" err="1"/>
                  <a:t>i,j</a:t>
                </a:r>
                <a:r>
                  <a:rPr lang="en-US" dirty="0"/>
                  <a:t>], D[</a:t>
                </a:r>
                <a:r>
                  <a:rPr lang="en-US" dirty="0" err="1"/>
                  <a:t>i,k</a:t>
                </a:r>
                <a:r>
                  <a:rPr lang="en-US" dirty="0"/>
                  <a:t>]+D[</a:t>
                </a:r>
                <a:r>
                  <a:rPr lang="en-US" dirty="0" err="1"/>
                  <a:t>k,j</a:t>
                </a:r>
                <a:r>
                  <a:rPr lang="en-US" dirty="0"/>
                  <a:t>])</a:t>
                </a:r>
                <a:br>
                  <a:rPr lang="en-US" dirty="0"/>
                </a:br>
                <a:r>
                  <a:rPr lang="en-US" dirty="0"/>
                  <a:t>   return D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07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888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real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ComputeAllDistances() {</a:t>
                </a:r>
              </a:p>
              <a:p>
                <a:pPr marL="0" indent="0">
                  <a:buNone/>
                </a:pPr>
                <a:r>
                  <a:rPr lang="en-US" dirty="0"/>
                  <a:t>   D = new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array initialized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  for each vertex v, D[v, v] = 0</a:t>
                </a:r>
              </a:p>
              <a:p>
                <a:pPr marL="0" indent="0">
                  <a:buNone/>
                </a:pPr>
                <a:r>
                  <a:rPr lang="en-US" dirty="0"/>
                  <a:t>   for each edge e=(</a:t>
                </a:r>
                <a:r>
                  <a:rPr lang="en-US" dirty="0" err="1"/>
                  <a:t>u,v</a:t>
                </a:r>
                <a:r>
                  <a:rPr lang="en-US" dirty="0"/>
                  <a:t>),  D[</a:t>
                </a:r>
                <a:r>
                  <a:rPr lang="en-US" dirty="0" err="1"/>
                  <a:t>u,v</a:t>
                </a:r>
                <a:r>
                  <a:rPr lang="en-US" dirty="0"/>
                  <a:t>] = weight(e)</a:t>
                </a:r>
              </a:p>
              <a:p>
                <a:pPr marL="0" indent="0">
                  <a:buNone/>
                </a:pPr>
                <a:r>
                  <a:rPr lang="en-US" dirty="0"/>
                  <a:t>   for each vertex k</a:t>
                </a:r>
                <a:br>
                  <a:rPr lang="en-US" dirty="0"/>
                </a:br>
                <a:r>
                  <a:rPr lang="en-US" dirty="0"/>
                  <a:t>      for each vertex j</a:t>
                </a:r>
                <a:br>
                  <a:rPr lang="en-US" dirty="0"/>
                </a:br>
                <a:r>
                  <a:rPr lang="en-US" dirty="0"/>
                  <a:t>          for each vertex i</a:t>
                </a:r>
                <a:br>
                  <a:rPr lang="en-US" dirty="0"/>
                </a:br>
                <a:r>
                  <a:rPr lang="en-US" dirty="0"/>
                  <a:t>              D[i, j] = min(D[</a:t>
                </a:r>
                <a:r>
                  <a:rPr lang="en-US" dirty="0" err="1"/>
                  <a:t>i,j</a:t>
                </a:r>
                <a:r>
                  <a:rPr lang="en-US" dirty="0"/>
                  <a:t>], D[</a:t>
                </a:r>
                <a:r>
                  <a:rPr lang="en-US" dirty="0" err="1"/>
                  <a:t>i,k</a:t>
                </a:r>
                <a:r>
                  <a:rPr lang="en-US" dirty="0"/>
                  <a:t>]+D[</a:t>
                </a:r>
                <a:r>
                  <a:rPr lang="en-US" dirty="0" err="1"/>
                  <a:t>k,j</a:t>
                </a:r>
                <a:r>
                  <a:rPr lang="en-US" dirty="0"/>
                  <a:t>])</a:t>
                </a:r>
                <a:br>
                  <a:rPr lang="en-US" dirty="0"/>
                </a:br>
                <a:r>
                  <a:rPr lang="en-US" dirty="0"/>
                  <a:t>   return D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3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52800" y="5105400"/>
                <a:ext cx="347088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400" dirty="0">
                    <a:solidFill>
                      <a:schemeClr val="accent3">
                        <a:lumMod val="50000"/>
                      </a:schemeClr>
                    </a:solidFill>
                  </a:rPr>
                  <a:t>Just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sz="54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5400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sz="5400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54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</a:rPr>
                      <m:t>!</m:t>
                    </m:r>
                  </m:oMath>
                </a14:m>
                <a:endParaRPr lang="en-US" sz="54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105400"/>
                <a:ext cx="3470887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9315" t="-17881" b="-39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670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Wait, why isn’t 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963" b="-9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mtClean="0"/>
                  <a:t>It is…</a:t>
                </a:r>
                <a:endParaRPr lang="en-US" dirty="0" smtClean="0"/>
              </a:p>
              <a:p>
                <a:r>
                  <a:rPr lang="en-US" dirty="0" smtClean="0"/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You can’t have more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edges in a graph!</a:t>
                </a:r>
              </a:p>
              <a:p>
                <a:r>
                  <a:rPr lang="en-US" dirty="0" smtClean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080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Dynamic programming is the technique of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Optimizing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algorithms</a:t>
            </a:r>
          </a:p>
          <a:p>
            <a:pPr lvl="1"/>
            <a:r>
              <a:rPr lang="en-US" dirty="0"/>
              <a:t>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avoiding re-solving </a:t>
            </a:r>
            <a:r>
              <a:rPr lang="en-US" dirty="0" err="1"/>
              <a:t>subproblems</a:t>
            </a:r>
            <a:endParaRPr lang="en-US" dirty="0"/>
          </a:p>
          <a:p>
            <a:pPr lvl="1"/>
            <a:r>
              <a:rPr lang="en-US" dirty="0"/>
              <a:t>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storing and reusing</a:t>
            </a:r>
            <a:r>
              <a:rPr lang="en-US" dirty="0"/>
              <a:t> the results of </a:t>
            </a:r>
            <a:r>
              <a:rPr lang="en-US" dirty="0" err="1"/>
              <a:t>subproblems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Can be as simple as just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memozing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a recursion</a:t>
            </a:r>
          </a:p>
          <a:p>
            <a:pPr lvl="1"/>
            <a:r>
              <a:rPr lang="en-US" dirty="0"/>
              <a:t>Sometimes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top-down </a:t>
            </a:r>
            <a:r>
              <a:rPr lang="en-US" dirty="0"/>
              <a:t>dynamic programming</a:t>
            </a:r>
          </a:p>
          <a:p>
            <a:pPr lvl="1"/>
            <a:r>
              <a:rPr lang="en-US" dirty="0"/>
              <a:t>Main problem </a:t>
            </a:r>
            <a:r>
              <a:rPr lang="en-US" dirty="0">
                <a:latin typeface="Arial"/>
                <a:cs typeface="Arial"/>
              </a:rPr>
              <a:t>→ </a:t>
            </a:r>
            <a:r>
              <a:rPr lang="en-US" dirty="0" err="1"/>
              <a:t>subproblems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But it can also involve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cleverly rearranging </a:t>
            </a:r>
            <a:r>
              <a:rPr lang="en-US" dirty="0"/>
              <a:t>the </a:t>
            </a:r>
            <a:r>
              <a:rPr lang="en-US" dirty="0" err="1"/>
              <a:t>subproblems</a:t>
            </a:r>
            <a:r>
              <a:rPr lang="en-US" dirty="0"/>
              <a:t> so it doesn’t even look like a recursion anymore</a:t>
            </a:r>
          </a:p>
          <a:p>
            <a:pPr lvl="1"/>
            <a:r>
              <a:rPr lang="en-US" dirty="0" err="1"/>
              <a:t>Subproblems</a:t>
            </a:r>
            <a:r>
              <a:rPr lang="en-US" dirty="0"/>
              <a:t> </a:t>
            </a:r>
            <a:r>
              <a:rPr lang="en-US" dirty="0">
                <a:latin typeface="Arial"/>
                <a:cs typeface="Arial"/>
              </a:rPr>
              <a:t>→ </a:t>
            </a:r>
            <a:r>
              <a:rPr lang="en-US" dirty="0"/>
              <a:t>main problem(s)</a:t>
            </a:r>
          </a:p>
          <a:p>
            <a:pPr lvl="2"/>
            <a:r>
              <a:rPr lang="en-US" dirty="0"/>
              <a:t>Like Floyd-</a:t>
            </a:r>
            <a:r>
              <a:rPr lang="en-US" dirty="0" err="1"/>
              <a:t>Warshall</a:t>
            </a:r>
            <a:endParaRPr lang="en-US" dirty="0"/>
          </a:p>
          <a:p>
            <a:pPr lvl="1"/>
            <a:r>
              <a:rPr lang="en-US" dirty="0"/>
              <a:t>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bottom-up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930745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Classic algorithm design techniques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81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Divide and conquer</a:t>
            </a:r>
          </a:p>
          <a:p>
            <a:pPr lvl="1"/>
            <a:r>
              <a:rPr lang="en-US" dirty="0">
                <a:latin typeface="+mn-lt"/>
              </a:rPr>
              <a:t>Solve problem using </a:t>
            </a:r>
            <a:r>
              <a:rPr lang="en-US" dirty="0" err="1">
                <a:latin typeface="+mn-lt"/>
              </a:rPr>
              <a:t>subproblems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Example: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binary search</a:t>
            </a:r>
          </a:p>
          <a:p>
            <a:endParaRPr lang="en-US" dirty="0">
              <a:latin typeface="+mn-lt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Dynamic programming</a:t>
            </a:r>
          </a:p>
          <a:p>
            <a:pPr lvl="1"/>
            <a:r>
              <a:rPr lang="en-US" dirty="0">
                <a:latin typeface="+mn-lt"/>
              </a:rPr>
              <a:t>Store and reuse solutions to </a:t>
            </a:r>
            <a:r>
              <a:rPr lang="en-US" dirty="0" err="1">
                <a:latin typeface="+mn-lt"/>
              </a:rPr>
              <a:t>subproblems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Example: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Floyd-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+mn-lt"/>
              </a:rPr>
              <a:t>Warshall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lvl="1"/>
            <a:endParaRPr lang="en-US" dirty="0">
              <a:latin typeface="+mn-lt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Randomization</a:t>
            </a:r>
          </a:p>
          <a:p>
            <a:pPr lvl="1"/>
            <a:r>
              <a:rPr lang="en-US" dirty="0">
                <a:latin typeface="+mn-lt"/>
              </a:rPr>
              <a:t>Avoid unlikely worst-case behavior</a:t>
            </a:r>
          </a:p>
          <a:p>
            <a:pPr lvl="1"/>
            <a:r>
              <a:rPr lang="en-US" dirty="0">
                <a:latin typeface="+mn-lt"/>
              </a:rPr>
              <a:t>Example: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randomized quicksort</a:t>
            </a:r>
          </a:p>
          <a:p>
            <a:pPr lvl="1"/>
            <a:endParaRPr lang="en-US" dirty="0">
              <a:latin typeface="+mn-lt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Amortized analysis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(next)</a:t>
            </a:r>
          </a:p>
          <a:p>
            <a:pPr lvl="1"/>
            <a:r>
              <a:rPr lang="en-US" dirty="0">
                <a:latin typeface="+mn-lt"/>
              </a:rPr>
              <a:t>Provide good bounds on efficiency of sequences of calls</a:t>
            </a:r>
          </a:p>
          <a:p>
            <a:pPr lvl="1"/>
            <a:r>
              <a:rPr lang="en-US" dirty="0">
                <a:latin typeface="+mn-lt"/>
              </a:rPr>
              <a:t>Even if individual calls might be slow</a:t>
            </a:r>
          </a:p>
          <a:p>
            <a:pPr lvl="1"/>
            <a:endParaRPr lang="en-US" dirty="0">
              <a:latin typeface="+mn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768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Probabilistic methods</a:t>
            </a:r>
          </a:p>
          <a:p>
            <a:pPr lvl="1"/>
            <a:r>
              <a:rPr lang="en-US" dirty="0">
                <a:latin typeface="+mn-lt"/>
              </a:rPr>
              <a:t>Very likely produce the right answer</a:t>
            </a:r>
          </a:p>
          <a:p>
            <a:pPr lvl="1"/>
            <a:endParaRPr lang="en-US" dirty="0">
              <a:latin typeface="+mn-lt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Greedy optimization</a:t>
            </a:r>
          </a:p>
          <a:p>
            <a:pPr lvl="1"/>
            <a:r>
              <a:rPr lang="en-US" dirty="0">
                <a:latin typeface="+mn-lt"/>
              </a:rPr>
              <a:t>Globally optimal set of choices from locally optimal individual choices</a:t>
            </a:r>
          </a:p>
          <a:p>
            <a:pPr lvl="1"/>
            <a:endParaRPr lang="en-US" dirty="0">
              <a:latin typeface="+mn-lt"/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Approximation</a:t>
            </a:r>
          </a:p>
          <a:p>
            <a:pPr lvl="1"/>
            <a:r>
              <a:rPr lang="en-US" dirty="0">
                <a:latin typeface="+mn-lt"/>
              </a:rPr>
              <a:t>Answers that are provably close to optimal</a:t>
            </a:r>
          </a:p>
          <a:p>
            <a:pPr lvl="1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8268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CLR chapter 25.1-25.2</a:t>
            </a:r>
          </a:p>
        </p:txBody>
      </p:sp>
    </p:spTree>
    <p:extLst>
      <p:ext uri="{BB962C8B-B14F-4D97-AF65-F5344CB8AC3E}">
        <p14:creationId xmlns:p14="http://schemas.microsoft.com/office/powerpoint/2010/main" val="90286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7189</TotalTime>
  <Words>1096</Words>
  <Application>Microsoft Office PowerPoint</Application>
  <PresentationFormat>On-screen Show (4:3)</PresentationFormat>
  <Paragraphs>190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 Math</vt:lpstr>
      <vt:lpstr>Kootenay</vt:lpstr>
      <vt:lpstr>Verdana</vt:lpstr>
      <vt:lpstr>Office Theme</vt:lpstr>
      <vt:lpstr>Lecture 16 Path finding using dynamic programming</vt:lpstr>
      <vt:lpstr>All points shortest-path</vt:lpstr>
      <vt:lpstr>Memoizing</vt:lpstr>
      <vt:lpstr>Can we do better?</vt:lpstr>
      <vt:lpstr>Shortest paths contain other shortest paths</vt:lpstr>
      <vt:lpstr>Paths within paths</vt:lpstr>
      <vt:lpstr>Restating what we already said</vt:lpstr>
      <vt:lpstr>And restating it again..</vt:lpstr>
      <vt:lpstr>Why do we care?</vt:lpstr>
      <vt:lpstr>Why do we care?</vt:lpstr>
      <vt:lpstr>The Floyd-Warshall Algorithm</vt:lpstr>
      <vt:lpstr>The Floyd-Warshall Algorithm</vt:lpstr>
      <vt:lpstr>The Floyd-Warshall Algorithm (bad version)</vt:lpstr>
      <vt:lpstr>weren’t we supposed to trying to memoize this computation?</vt:lpstr>
      <vt:lpstr>The Floyd-Warshall Algorithm (space-hungry version)</vt:lpstr>
      <vt:lpstr>weren’t we supposed to trying to compute all distances at once?</vt:lpstr>
      <vt:lpstr>And now the cleverness…</vt:lpstr>
      <vt:lpstr>The real Floyd-Warshall algorithm</vt:lpstr>
      <vt:lpstr>The real Floyd-Warshall algorithm</vt:lpstr>
      <vt:lpstr>The real Floyd-Warshall algorithm</vt:lpstr>
      <vt:lpstr>Wait, why isn’t it O(V^3+E)?</vt:lpstr>
      <vt:lpstr>Dynamic programming</vt:lpstr>
      <vt:lpstr>Classic algorithm design techniques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273</cp:revision>
  <cp:lastPrinted>2011-06-01T06:01:26Z</cp:lastPrinted>
  <dcterms:created xsi:type="dcterms:W3CDTF">2010-03-27T22:31:10Z</dcterms:created>
  <dcterms:modified xsi:type="dcterms:W3CDTF">2019-05-24T17:36:31Z</dcterms:modified>
</cp:coreProperties>
</file>