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69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8" d="100"/>
          <a:sy n="98" d="100"/>
        </p:scale>
        <p:origin x="921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Lecture 13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Priority queues and heaps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Simplified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sequence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data structure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Insertions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only at the </a:t>
            </a:r>
            <a:r>
              <a:rPr lang="en-US" dirty="0">
                <a:solidFill>
                  <a:schemeClr val="tx1"/>
                </a:solidFill>
              </a:rPr>
              <a:t>end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tail</a:t>
            </a:r>
            <a:r>
              <a:rPr lang="en-US" dirty="0"/>
              <a:t>”)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Deletions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only from the beginning (“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head</a:t>
            </a:r>
            <a:r>
              <a:rPr lang="en-US" dirty="0"/>
              <a:t>”)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First-in, first out</a:t>
            </a:r>
          </a:p>
          <a:p>
            <a:pPr lvl="1"/>
            <a:r>
              <a:rPr lang="en-US" dirty="0"/>
              <a:t>Objects are </a:t>
            </a:r>
            <a:r>
              <a:rPr lang="en-US" dirty="0" err="1"/>
              <a:t>dequeued</a:t>
            </a:r>
            <a:r>
              <a:rPr lang="en-US" dirty="0"/>
              <a:t> in the order they were </a:t>
            </a:r>
            <a:r>
              <a:rPr lang="en-US" dirty="0" err="1"/>
              <a:t>enqueued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Simple API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Enqueue</a:t>
            </a:r>
            <a:r>
              <a:rPr lang="en-US" dirty="0"/>
              <a:t>: add item to the end of the queue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Dequeue</a:t>
            </a:r>
            <a:r>
              <a:rPr lang="en-US" dirty="0"/>
              <a:t>: remove item from the front</a:t>
            </a:r>
          </a:p>
          <a:p>
            <a:endParaRPr lang="en-US" dirty="0"/>
          </a:p>
        </p:txBody>
      </p:sp>
      <p:pic>
        <p:nvPicPr>
          <p:cNvPr id="1026" name="Picture 2" descr="http://devcentral.f5.com/weblogs/images/devcentral_f5_com/weblogs/Joe/WindowsLiveWriter/PowerShellABCsQisforQueues_919A/queue_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33600"/>
            <a:ext cx="4038600" cy="269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75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wait in line </a:t>
            </a:r>
            <a:r>
              <a:rPr lang="en-US" dirty="0"/>
              <a:t>to be processed</a:t>
            </a:r>
          </a:p>
          <a:p>
            <a:pPr>
              <a:spcBef>
                <a:spcPts val="1800"/>
              </a:spcBef>
            </a:pPr>
            <a:r>
              <a:rPr lang="en-US" dirty="0"/>
              <a:t>However, items have an associated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pPr>
              <a:spcBef>
                <a:spcPts val="1800"/>
              </a:spcBef>
            </a:pPr>
            <a:r>
              <a:rPr lang="en-US" dirty="0"/>
              <a:t>Slightly different API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ExtractMax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Returns highest priority object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4038600" cy="163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77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wait in line to be processed</a:t>
            </a:r>
          </a:p>
          <a:p>
            <a:pPr>
              <a:spcBef>
                <a:spcPts val="1800"/>
              </a:spcBef>
            </a:pPr>
            <a:r>
              <a:rPr lang="en-US" dirty="0"/>
              <a:t>However, items have an associated 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pPr>
              <a:spcBef>
                <a:spcPts val="1800"/>
              </a:spcBef>
            </a:pPr>
            <a:r>
              <a:rPr lang="en-US" dirty="0"/>
              <a:t>Slightly different API</a:t>
            </a:r>
          </a:p>
          <a:p>
            <a:pPr lvl="1"/>
            <a:r>
              <a:rPr lang="en-US" dirty="0"/>
              <a:t>Insert(object,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ExtractMin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Returns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lowest </a:t>
            </a:r>
            <a:r>
              <a:rPr lang="en-US" dirty="0"/>
              <a:t>priority object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714963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68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Implementing priority queues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can use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balanced tree</a:t>
                </a:r>
                <a:r>
                  <a:rPr lang="en-US" dirty="0"/>
                  <a:t> (e.g. a red/black tree) as a priority queue</a:t>
                </a:r>
              </a:p>
              <a:p>
                <a:pPr lvl="1"/>
                <a:r>
                  <a:rPr lang="en-US" dirty="0"/>
                  <a:t>Insert using the normal RBT insert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Extract max is</a:t>
                </a:r>
              </a:p>
              <a:p>
                <a:pPr lvl="2"/>
                <a:r>
                  <a:rPr lang="en-US" dirty="0"/>
                  <a:t>Get the maximum</a:t>
                </a:r>
                <a:br>
                  <a:rPr lang="en-US" dirty="0"/>
                </a:br>
                <a:r>
                  <a:rPr lang="en-US" dirty="0"/>
                  <a:t>element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i="1" dirty="0">
                  <a:latin typeface="Cambria Math"/>
                </a:endParaRPr>
              </a:p>
              <a:p>
                <a:pPr lvl="2"/>
                <a:r>
                  <a:rPr lang="en-US" dirty="0"/>
                  <a:t>Delete it</a:t>
                </a:r>
              </a:p>
              <a:p>
                <a:pPr lvl="3"/>
                <a:r>
                  <a:rPr lang="en-US" dirty="0"/>
                  <a:t>Also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𝐎</m:t>
                        </m:r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𝐥𝐨𝐠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262" t="-2695" b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Group 79"/>
          <p:cNvGrpSpPr/>
          <p:nvPr/>
        </p:nvGrpSpPr>
        <p:grpSpPr>
          <a:xfrm>
            <a:off x="4114800" y="1905000"/>
            <a:ext cx="4724400" cy="3852753"/>
            <a:chOff x="1676400" y="2209800"/>
            <a:chExt cx="4724400" cy="3852753"/>
          </a:xfrm>
        </p:grpSpPr>
        <p:sp>
          <p:nvSpPr>
            <p:cNvPr id="43" name="Oval 42"/>
            <p:cNvSpPr/>
            <p:nvPr/>
          </p:nvSpPr>
          <p:spPr>
            <a:xfrm>
              <a:off x="5867400" y="3108845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2667000" y="3090753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cxnSp>
          <p:nvCxnSpPr>
            <p:cNvPr id="49" name="Straight Arrow Connector 48"/>
            <p:cNvCxnSpPr>
              <a:stCxn id="43" idx="3"/>
              <a:endCxn id="63" idx="7"/>
            </p:cNvCxnSpPr>
            <p:nvPr/>
          </p:nvCxnSpPr>
          <p:spPr>
            <a:xfrm flipH="1">
              <a:off x="5336583" y="3564130"/>
              <a:ext cx="608932" cy="67153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/>
            <p:cNvSpPr/>
            <p:nvPr/>
          </p:nvSpPr>
          <p:spPr>
            <a:xfrm>
              <a:off x="1828800" y="4162501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279194" y="2209800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676400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209800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8" name="Straight Arrow Connector 57"/>
            <p:cNvCxnSpPr>
              <a:stCxn id="54" idx="3"/>
              <a:endCxn id="56" idx="0"/>
            </p:cNvCxnSpPr>
            <p:nvPr/>
          </p:nvCxnSpPr>
          <p:spPr>
            <a:xfrm flipH="1">
              <a:off x="1828800" y="46177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5"/>
              <a:endCxn id="57" idx="0"/>
            </p:cNvCxnSpPr>
            <p:nvPr/>
          </p:nvCxnSpPr>
          <p:spPr>
            <a:xfrm>
              <a:off x="2284085" y="46177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5" idx="3"/>
              <a:endCxn id="44" idx="7"/>
            </p:cNvCxnSpPr>
            <p:nvPr/>
          </p:nvCxnSpPr>
          <p:spPr>
            <a:xfrm flipH="1">
              <a:off x="3122285" y="2665085"/>
              <a:ext cx="1235024" cy="5037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55" idx="5"/>
              <a:endCxn id="43" idx="1"/>
            </p:cNvCxnSpPr>
            <p:nvPr/>
          </p:nvCxnSpPr>
          <p:spPr>
            <a:xfrm>
              <a:off x="4734479" y="2665085"/>
              <a:ext cx="1211036" cy="52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3505200" y="4157553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63" name="Oval 62"/>
            <p:cNvSpPr/>
            <p:nvPr/>
          </p:nvSpPr>
          <p:spPr>
            <a:xfrm>
              <a:off x="4881298" y="4157553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886200" y="4838405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28898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262298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67" name="Straight Arrow Connector 66"/>
            <p:cNvCxnSpPr>
              <a:stCxn id="62" idx="3"/>
              <a:endCxn id="75" idx="0"/>
            </p:cNvCxnSpPr>
            <p:nvPr/>
          </p:nvCxnSpPr>
          <p:spPr>
            <a:xfrm flipH="1">
              <a:off x="3238500" y="4612838"/>
              <a:ext cx="344815" cy="61646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62" idx="5"/>
              <a:endCxn id="64" idx="0"/>
            </p:cNvCxnSpPr>
            <p:nvPr/>
          </p:nvCxnSpPr>
          <p:spPr>
            <a:xfrm>
              <a:off x="3960485" y="4612838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3" idx="3"/>
              <a:endCxn id="65" idx="0"/>
            </p:cNvCxnSpPr>
            <p:nvPr/>
          </p:nvCxnSpPr>
          <p:spPr>
            <a:xfrm flipH="1">
              <a:off x="4881298" y="4612838"/>
              <a:ext cx="78115" cy="2305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3" idx="5"/>
              <a:endCxn id="66" idx="0"/>
            </p:cNvCxnSpPr>
            <p:nvPr/>
          </p:nvCxnSpPr>
          <p:spPr>
            <a:xfrm>
              <a:off x="5336583" y="4612838"/>
              <a:ext cx="78115" cy="2305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44" idx="3"/>
              <a:endCxn id="54" idx="7"/>
            </p:cNvCxnSpPr>
            <p:nvPr/>
          </p:nvCxnSpPr>
          <p:spPr>
            <a:xfrm flipH="1">
              <a:off x="2284085" y="3546038"/>
              <a:ext cx="461030" cy="69457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44" idx="5"/>
              <a:endCxn id="62" idx="1"/>
            </p:cNvCxnSpPr>
            <p:nvPr/>
          </p:nvCxnSpPr>
          <p:spPr>
            <a:xfrm>
              <a:off x="3122285" y="3546038"/>
              <a:ext cx="461030" cy="68963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2971800" y="5229301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819400" y="59101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352800" y="59101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8" name="Straight Arrow Connector 77"/>
            <p:cNvCxnSpPr>
              <a:stCxn id="75" idx="3"/>
              <a:endCxn id="76" idx="0"/>
            </p:cNvCxnSpPr>
            <p:nvPr/>
          </p:nvCxnSpPr>
          <p:spPr>
            <a:xfrm flipH="1">
              <a:off x="2971800" y="56845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5" idx="5"/>
              <a:endCxn id="77" idx="0"/>
            </p:cNvCxnSpPr>
            <p:nvPr/>
          </p:nvCxnSpPr>
          <p:spPr>
            <a:xfrm>
              <a:off x="3427085" y="56845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237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Implementing 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Unfortunately, red/black trees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pretty complicated</a:t>
            </a:r>
          </a:p>
          <a:p>
            <a:pPr lvl="1"/>
            <a:r>
              <a:rPr lang="en-US" dirty="0"/>
              <a:t>They go to a lot of work to keep all the items perfectly sorted</a:t>
            </a:r>
          </a:p>
          <a:p>
            <a:pPr lvl="1"/>
            <a:endParaRPr lang="en-US" dirty="0"/>
          </a:p>
          <a:p>
            <a:r>
              <a:rPr lang="en-US" dirty="0"/>
              <a:t>Is there something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simpler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we could do?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4114800" y="1905000"/>
            <a:ext cx="4724400" cy="3852753"/>
            <a:chOff x="1676400" y="2209800"/>
            <a:chExt cx="4724400" cy="3852753"/>
          </a:xfrm>
        </p:grpSpPr>
        <p:sp>
          <p:nvSpPr>
            <p:cNvPr id="43" name="Oval 42"/>
            <p:cNvSpPr/>
            <p:nvPr/>
          </p:nvSpPr>
          <p:spPr>
            <a:xfrm>
              <a:off x="5867400" y="3108845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2667000" y="3090753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cxnSp>
          <p:nvCxnSpPr>
            <p:cNvPr id="49" name="Straight Arrow Connector 48"/>
            <p:cNvCxnSpPr>
              <a:stCxn id="43" idx="3"/>
              <a:endCxn id="63" idx="7"/>
            </p:cNvCxnSpPr>
            <p:nvPr/>
          </p:nvCxnSpPr>
          <p:spPr>
            <a:xfrm flipH="1">
              <a:off x="5336583" y="3564130"/>
              <a:ext cx="608932" cy="67153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/>
            <p:cNvSpPr/>
            <p:nvPr/>
          </p:nvSpPr>
          <p:spPr>
            <a:xfrm>
              <a:off x="1828800" y="4162501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279194" y="2209800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676400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209800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8" name="Straight Arrow Connector 57"/>
            <p:cNvCxnSpPr>
              <a:stCxn id="54" idx="3"/>
              <a:endCxn id="56" idx="0"/>
            </p:cNvCxnSpPr>
            <p:nvPr/>
          </p:nvCxnSpPr>
          <p:spPr>
            <a:xfrm flipH="1">
              <a:off x="1828800" y="46177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5"/>
              <a:endCxn id="57" idx="0"/>
            </p:cNvCxnSpPr>
            <p:nvPr/>
          </p:nvCxnSpPr>
          <p:spPr>
            <a:xfrm>
              <a:off x="2284085" y="46177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5" idx="3"/>
              <a:endCxn id="44" idx="7"/>
            </p:cNvCxnSpPr>
            <p:nvPr/>
          </p:nvCxnSpPr>
          <p:spPr>
            <a:xfrm flipH="1">
              <a:off x="3122285" y="2665085"/>
              <a:ext cx="1235024" cy="5037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55" idx="5"/>
              <a:endCxn id="43" idx="1"/>
            </p:cNvCxnSpPr>
            <p:nvPr/>
          </p:nvCxnSpPr>
          <p:spPr>
            <a:xfrm>
              <a:off x="4734479" y="2665085"/>
              <a:ext cx="1211036" cy="5218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3505200" y="4157553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5</a:t>
              </a:r>
            </a:p>
          </p:txBody>
        </p:sp>
        <p:sp>
          <p:nvSpPr>
            <p:cNvPr id="63" name="Oval 62"/>
            <p:cNvSpPr/>
            <p:nvPr/>
          </p:nvSpPr>
          <p:spPr>
            <a:xfrm>
              <a:off x="4881298" y="4157553"/>
              <a:ext cx="533400" cy="533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886200" y="4838405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28898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262298" y="48433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67" name="Straight Arrow Connector 66"/>
            <p:cNvCxnSpPr>
              <a:stCxn id="62" idx="3"/>
              <a:endCxn id="75" idx="0"/>
            </p:cNvCxnSpPr>
            <p:nvPr/>
          </p:nvCxnSpPr>
          <p:spPr>
            <a:xfrm flipH="1">
              <a:off x="3238500" y="4612838"/>
              <a:ext cx="344815" cy="61646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62" idx="5"/>
              <a:endCxn id="64" idx="0"/>
            </p:cNvCxnSpPr>
            <p:nvPr/>
          </p:nvCxnSpPr>
          <p:spPr>
            <a:xfrm>
              <a:off x="3960485" y="4612838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3" idx="3"/>
              <a:endCxn id="65" idx="0"/>
            </p:cNvCxnSpPr>
            <p:nvPr/>
          </p:nvCxnSpPr>
          <p:spPr>
            <a:xfrm flipH="1">
              <a:off x="4881298" y="4612838"/>
              <a:ext cx="78115" cy="2305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3" idx="5"/>
              <a:endCxn id="66" idx="0"/>
            </p:cNvCxnSpPr>
            <p:nvPr/>
          </p:nvCxnSpPr>
          <p:spPr>
            <a:xfrm>
              <a:off x="5336583" y="4612838"/>
              <a:ext cx="78115" cy="23051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44" idx="3"/>
              <a:endCxn id="54" idx="7"/>
            </p:cNvCxnSpPr>
            <p:nvPr/>
          </p:nvCxnSpPr>
          <p:spPr>
            <a:xfrm flipH="1">
              <a:off x="2284085" y="3546038"/>
              <a:ext cx="461030" cy="69457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44" idx="5"/>
              <a:endCxn id="62" idx="1"/>
            </p:cNvCxnSpPr>
            <p:nvPr/>
          </p:nvCxnSpPr>
          <p:spPr>
            <a:xfrm>
              <a:off x="3122285" y="3546038"/>
              <a:ext cx="461030" cy="68963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2971800" y="5229301"/>
              <a:ext cx="533400" cy="5334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819400" y="59101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352800" y="5910153"/>
              <a:ext cx="304800" cy="152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8" name="Straight Arrow Connector 77"/>
            <p:cNvCxnSpPr>
              <a:stCxn id="75" idx="3"/>
              <a:endCxn id="76" idx="0"/>
            </p:cNvCxnSpPr>
            <p:nvPr/>
          </p:nvCxnSpPr>
          <p:spPr>
            <a:xfrm flipH="1">
              <a:off x="2971800" y="56845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5" idx="5"/>
              <a:endCxn id="77" idx="0"/>
            </p:cNvCxnSpPr>
            <p:nvPr/>
          </p:nvCxnSpPr>
          <p:spPr>
            <a:xfrm>
              <a:off x="3427085" y="5684586"/>
              <a:ext cx="78115" cy="2255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048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Heaps are a simple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tree structure </a:t>
            </a:r>
            <a:r>
              <a:rPr lang="en-US" dirty="0"/>
              <a:t>for implementing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priority queues</a:t>
            </a:r>
          </a:p>
          <a:p>
            <a:endParaRPr lang="en-US" dirty="0"/>
          </a:p>
          <a:p>
            <a:r>
              <a:rPr lang="en-US" dirty="0"/>
              <a:t>Rather than requiring their in-order traversal to be sorted</a:t>
            </a:r>
          </a:p>
          <a:p>
            <a:pPr lvl="1"/>
            <a:r>
              <a:rPr lang="en-US" dirty="0"/>
              <a:t>We just require that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parent nodes be larger than </a:t>
            </a:r>
            <a:r>
              <a:rPr lang="en-US" dirty="0"/>
              <a:t>their child nodes</a:t>
            </a:r>
          </a:p>
          <a:p>
            <a:pPr lvl="1"/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smaller</a:t>
            </a:r>
            <a:r>
              <a:rPr lang="en-US" dirty="0"/>
              <a:t>, if it’s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 heap</a:t>
            </a:r>
          </a:p>
          <a:p>
            <a:pPr lvl="1"/>
            <a:endParaRPr lang="en-US" dirty="0"/>
          </a:p>
          <a:p>
            <a:r>
              <a:rPr lang="en-US" dirty="0"/>
              <a:t>There are lots of exotic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types of heaps</a:t>
            </a:r>
          </a:p>
          <a:p>
            <a:pPr lvl="1"/>
            <a:r>
              <a:rPr lang="en-US" dirty="0"/>
              <a:t>We’ll focus on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binary heaps</a:t>
            </a:r>
          </a:p>
          <a:p>
            <a:pPr lvl="1"/>
            <a:r>
              <a:rPr lang="en-US" dirty="0"/>
              <a:t>Which are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complete binary trees </a:t>
            </a:r>
            <a:r>
              <a:rPr lang="en-US" dirty="0"/>
              <a:t>with the heap property</a:t>
            </a:r>
          </a:p>
          <a:p>
            <a:pPr lvl="1"/>
            <a:r>
              <a:rPr lang="en-US" dirty="0"/>
              <a:t>We’ll get to the completeness thing in a minute…</a:t>
            </a:r>
          </a:p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7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Proposition: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 element </a:t>
            </a:r>
            <a:r>
              <a:rPr lang="en-US" dirty="0"/>
              <a:t>of a heap is always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</a:p>
          <a:p>
            <a:pPr marL="0" indent="0">
              <a:buNone/>
            </a:pPr>
            <a:r>
              <a:rPr lang="en-US" b="1" dirty="0"/>
              <a:t>Proof: </a:t>
            </a:r>
          </a:p>
          <a:p>
            <a:r>
              <a:rPr lang="en-US" dirty="0"/>
              <a:t>Suppose some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other element </a:t>
            </a:r>
            <a:r>
              <a:rPr lang="en-US" dirty="0"/>
              <a:t>is the largest element</a:t>
            </a:r>
          </a:p>
          <a:p>
            <a:r>
              <a:rPr lang="en-US" dirty="0"/>
              <a:t>Since it isn’t the root,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must have a parent</a:t>
            </a:r>
          </a:p>
          <a:p>
            <a:r>
              <a:rPr lang="en-US" dirty="0"/>
              <a:t>Since it’s the largest element,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must be larger than its parent</a:t>
            </a:r>
          </a:p>
          <a:p>
            <a:r>
              <a:rPr lang="en-US" dirty="0"/>
              <a:t>But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contradicts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definition of a heap</a:t>
            </a:r>
          </a:p>
          <a:p>
            <a:r>
              <a:rPr lang="en-US" dirty="0"/>
              <a:t>So the largest element must be the root</a:t>
            </a:r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90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ExtractMax</a:t>
            </a:r>
            <a:r>
              <a:rPr lang="en-US" dirty="0"/>
              <a:t> (version 1)</a:t>
            </a:r>
          </a:p>
          <a:p>
            <a:r>
              <a:rPr lang="en-US" dirty="0"/>
              <a:t>We know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maximal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element</a:t>
            </a:r>
          </a:p>
          <a:p>
            <a:r>
              <a:rPr lang="en-US" dirty="0"/>
              <a:t>So we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 it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it</a:t>
            </a:r>
          </a:p>
          <a:p>
            <a:r>
              <a:rPr lang="en-US" dirty="0"/>
              <a:t>But we need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replace it </a:t>
            </a:r>
            <a:r>
              <a:rPr lang="en-US" dirty="0"/>
              <a:t>with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 child</a:t>
            </a:r>
          </a:p>
          <a:p>
            <a:pPr lvl="1"/>
            <a:r>
              <a:rPr lang="en-US" dirty="0"/>
              <a:t>So we find the largest child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recursively delete it </a:t>
            </a:r>
            <a:r>
              <a:rPr lang="en-US" dirty="0"/>
              <a:t>from its subtree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1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r>
              <a:rPr lang="en-US" dirty="0"/>
              <a:t> (version 1)</a:t>
            </a:r>
          </a:p>
          <a:p>
            <a:r>
              <a:rPr lang="en-US" dirty="0"/>
              <a:t>We know the root is the maximal element</a:t>
            </a:r>
          </a:p>
          <a:p>
            <a:r>
              <a:rPr lang="en-US" dirty="0"/>
              <a:t>So we want to delete it and return it</a:t>
            </a:r>
          </a:p>
          <a:p>
            <a:r>
              <a:rPr lang="en-US" dirty="0"/>
              <a:t>But we need to replace it with its largest child</a:t>
            </a:r>
          </a:p>
          <a:p>
            <a:pPr lvl="1"/>
            <a:r>
              <a:rPr lang="en-US" dirty="0"/>
              <a:t>So we find the largest child</a:t>
            </a:r>
          </a:p>
          <a:p>
            <a:pPr lvl="1"/>
            <a:r>
              <a:rPr lang="en-US" dirty="0"/>
              <a:t>And recursively delete it from its subtree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3400" y="6400800"/>
            <a:ext cx="8359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However, this is going to turn out to not to be the most convenient algorithm</a:t>
            </a:r>
          </a:p>
        </p:txBody>
      </p:sp>
    </p:spTree>
    <p:extLst>
      <p:ext uri="{BB962C8B-B14F-4D97-AF65-F5344CB8AC3E}">
        <p14:creationId xmlns:p14="http://schemas.microsoft.com/office/powerpoint/2010/main" val="318177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r>
              <a:rPr lang="en-US" dirty="0"/>
              <a:t> (</a:t>
            </a:r>
            <a:r>
              <a:rPr lang="en-US" dirty="0" err="1"/>
              <a:t>verison</a:t>
            </a:r>
            <a:r>
              <a:rPr lang="en-US" dirty="0"/>
              <a:t> 2)</a:t>
            </a:r>
          </a:p>
          <a:p>
            <a:r>
              <a:rPr lang="en-US" dirty="0"/>
              <a:t>Replace the root with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leaf node</a:t>
            </a:r>
          </a:p>
          <a:p>
            <a:pPr lvl="1"/>
            <a:r>
              <a:rPr lang="en-US" dirty="0"/>
              <a:t>Getting to a leaf will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turn out to be easy</a:t>
            </a:r>
          </a:p>
          <a:p>
            <a:r>
              <a:rPr lang="en-US" dirty="0"/>
              <a:t>The leaf node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probably too small</a:t>
            </a:r>
          </a:p>
          <a:p>
            <a:r>
              <a:rPr lang="en-US" dirty="0"/>
              <a:t>So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move it downward </a:t>
            </a:r>
            <a:r>
              <a:rPr lang="en-US" dirty="0"/>
              <a:t>in the tree to make it be a proper heap again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80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ExtractMax</a:t>
            </a:r>
            <a:r>
              <a:rPr lang="en-US" b="1" dirty="0"/>
              <a:t>(heap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result = root of heap</a:t>
            </a:r>
          </a:p>
          <a:p>
            <a:pPr marL="0" indent="0">
              <a:buNone/>
            </a:pPr>
            <a:r>
              <a:rPr lang="en-US" dirty="0"/>
              <a:t>    replace root with leaf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Heapify</a:t>
            </a:r>
            <a:r>
              <a:rPr lang="en-US" dirty="0"/>
              <a:t>(heap)</a:t>
            </a:r>
          </a:p>
          <a:p>
            <a:pPr marL="0" indent="0">
              <a:buNone/>
            </a:pPr>
            <a:r>
              <a:rPr lang="en-US" dirty="0"/>
              <a:t>    return result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2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(root)</a:t>
            </a:r>
          </a:p>
          <a:p>
            <a:pPr marL="0" indent="0">
              <a:buNone/>
            </a:pPr>
            <a:r>
              <a:rPr lang="en-US" dirty="0"/>
              <a:t>    if root &gt; children</a:t>
            </a:r>
          </a:p>
          <a:p>
            <a:pPr marL="0" indent="0">
              <a:buNone/>
            </a:pPr>
            <a:r>
              <a:rPr lang="en-US" dirty="0"/>
              <a:t>       done</a:t>
            </a:r>
          </a:p>
          <a:p>
            <a:pPr marL="0" indent="0">
              <a:buNone/>
            </a:pPr>
            <a:r>
              <a:rPr lang="en-US" dirty="0"/>
              <a:t>    else if left child &gt; root and </a:t>
            </a:r>
          </a:p>
          <a:p>
            <a:pPr marL="0" indent="0">
              <a:buNone/>
            </a:pPr>
            <a:r>
              <a:rPr lang="en-US" dirty="0"/>
              <a:t>              left child &gt; right child</a:t>
            </a:r>
          </a:p>
          <a:p>
            <a:pPr marL="0" indent="0">
              <a:buNone/>
            </a:pPr>
            <a:r>
              <a:rPr lang="en-US" dirty="0"/>
              <a:t>       swap root and left child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Heapify</a:t>
            </a:r>
            <a:r>
              <a:rPr lang="en-US" dirty="0"/>
              <a:t>(left child)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swap root and right child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Heapify</a:t>
            </a:r>
            <a:r>
              <a:rPr lang="en-US" dirty="0"/>
              <a:t>(right child)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76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Starting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702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Replace root </a:t>
            </a:r>
            <a:r>
              <a:rPr lang="en-US" dirty="0"/>
              <a:t>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leaf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Violates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heap property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35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Replace root with leaf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child</a:t>
            </a:r>
          </a:p>
          <a:p>
            <a:pPr lvl="1"/>
            <a:r>
              <a:rPr lang="en-US" dirty="0"/>
              <a:t>Still violates heap property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121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Replace root with leaf</a:t>
            </a:r>
          </a:p>
          <a:p>
            <a:r>
              <a:rPr lang="en-US" dirty="0"/>
              <a:t>Swap with largest child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child again</a:t>
            </a:r>
          </a:p>
          <a:p>
            <a:pPr lvl="1"/>
            <a:r>
              <a:rPr lang="en-US" dirty="0"/>
              <a:t>Still violates heap property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14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Replace root with leaf</a:t>
            </a:r>
          </a:p>
          <a:p>
            <a:r>
              <a:rPr lang="en-US" dirty="0"/>
              <a:t>Swap with largest child</a:t>
            </a:r>
          </a:p>
          <a:p>
            <a:r>
              <a:rPr lang="en-US" dirty="0"/>
              <a:t>Swap with largest child again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child again</a:t>
            </a:r>
          </a:p>
          <a:p>
            <a:pPr lvl="1"/>
            <a:r>
              <a:rPr lang="en-US" dirty="0"/>
              <a:t>Now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 heap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00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heap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Insert</a:t>
            </a:r>
            <a:r>
              <a:rPr lang="en-US" dirty="0"/>
              <a:t>(item)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item as a leaf</a:t>
            </a:r>
          </a:p>
          <a:p>
            <a:pPr lvl="1"/>
            <a:r>
              <a:rPr lang="en-US" dirty="0"/>
              <a:t>Again, trust us, this will turn out to be easy</a:t>
            </a:r>
          </a:p>
          <a:p>
            <a:r>
              <a:rPr lang="en-US" dirty="0"/>
              <a:t>While item &gt; its parent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 with parent</a:t>
            </a:r>
          </a:p>
          <a:p>
            <a:pPr lvl="1"/>
            <a:r>
              <a:rPr lang="en-US" dirty="0"/>
              <a:t>Compare it to the next level up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187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Both algorithms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Move nodes up/down </a:t>
                </a:r>
                <a:r>
                  <a:rPr lang="en-US" dirty="0"/>
                  <a:t>tree</a:t>
                </a:r>
              </a:p>
              <a:p>
                <a:pPr lvl="1"/>
                <a:r>
                  <a:rPr lang="en-US" dirty="0"/>
                  <a:t>Perform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constant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amount of work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at each level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 their execution time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 is the tree’s height</a:t>
                </a:r>
              </a:p>
              <a:p>
                <a:r>
                  <a:rPr lang="en-US" dirty="0"/>
                  <a:t>Again, this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good, if the tree is balanced</a:t>
                </a:r>
                <a:r>
                  <a:rPr lang="en-US" dirty="0"/>
                  <a:t>, bad otherwise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  <a:blipFill rotWithShape="1">
                <a:blip r:embed="rId2"/>
                <a:stretch>
                  <a:fillRect l="-2033" t="-1164" r="-3523" b="-3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34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14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724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14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647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64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complete</a:t>
            </a:r>
            <a:r>
              <a:rPr lang="en-US" b="1" dirty="0"/>
              <a:t> </a:t>
            </a:r>
            <a:r>
              <a:rPr lang="en-US" dirty="0"/>
              <a:t>binary tree is a binary tree in which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Every level </a:t>
            </a:r>
            <a:r>
              <a:rPr lang="en-US" dirty="0"/>
              <a:t>of the tree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full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except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possibly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</a:t>
            </a:r>
          </a:p>
          <a:p>
            <a:pPr lvl="2"/>
            <a:r>
              <a:rPr lang="en-US" dirty="0"/>
              <a:t>Can’t add anymore nodes</a:t>
            </a:r>
          </a:p>
          <a:p>
            <a:pPr lvl="1"/>
            <a:r>
              <a:rPr lang="en-US" dirty="0"/>
              <a:t>Every node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shifted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as far to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as possible</a:t>
            </a:r>
          </a:p>
          <a:p>
            <a:pPr lvl="1"/>
            <a:endParaRPr lang="en-US" dirty="0"/>
          </a:p>
          <a:p>
            <a:r>
              <a:rPr lang="en-US" dirty="0"/>
              <a:t>Complete trees are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optimally balanced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02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heap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is a</a:t>
            </a:r>
          </a:p>
          <a:p>
            <a:pPr lvl="1"/>
            <a:r>
              <a:rPr lang="en-US" dirty="0"/>
              <a:t>Complete binary tree</a:t>
            </a:r>
          </a:p>
          <a:p>
            <a:pPr lvl="1"/>
            <a:r>
              <a:rPr lang="en-US" dirty="0"/>
              <a:t>That satisfies the heap property</a:t>
            </a:r>
          </a:p>
          <a:p>
            <a:pPr lvl="1"/>
            <a:endParaRPr lang="en-US" dirty="0"/>
          </a:p>
          <a:p>
            <a:r>
              <a:rPr lang="en-US" dirty="0"/>
              <a:t>Great!</a:t>
            </a:r>
          </a:p>
          <a:p>
            <a:r>
              <a:rPr lang="en-US" dirty="0"/>
              <a:t>How do we ensure that the heap is a complete binary tree?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22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turns out that any complete binary tree can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embedded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 array in a particularly cleaver way</a:t>
            </a:r>
          </a:p>
          <a:p>
            <a:endParaRPr lang="en-US" dirty="0"/>
          </a:p>
          <a:p>
            <a:r>
              <a:rPr lang="en-US" dirty="0"/>
              <a:t>We can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compute</a:t>
            </a:r>
          </a:p>
          <a:p>
            <a:pPr lvl="1"/>
            <a:r>
              <a:rPr lang="en-US" dirty="0"/>
              <a:t>The position of its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in the array,</a:t>
            </a:r>
          </a:p>
          <a:p>
            <a:pPr lvl="1"/>
            <a:r>
              <a:rPr lang="en-US" dirty="0"/>
              <a:t>and the positions of its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children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directly from its own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position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8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Store the nodes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breadth-first order</a:t>
                </a:r>
              </a:p>
              <a:p>
                <a:r>
                  <a:rPr lang="en-US" dirty="0"/>
                  <a:t>Store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root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in the first element (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element 0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For any node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be its position in the array (for the root,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left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right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parent can be found at position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  <m:r>
                          <a:rPr lang="en-US" i="1" dirty="0" smtClean="0">
                            <a:latin typeface="Cambria Math"/>
                          </a:rPr>
                          <m:t>−1)/2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Trust me that this works :-)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  <a:blipFill rotWithShape="0">
                <a:blip r:embed="rId2"/>
                <a:stretch>
                  <a:fillRect l="-1762" t="-2475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3679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this a good representation?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</a:t>
            </a:r>
          </a:p>
          <a:p>
            <a:pPr lvl="1"/>
            <a:r>
              <a:rPr lang="en-US" dirty="0"/>
              <a:t>Can just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allocate a big array </a:t>
            </a:r>
            <a:r>
              <a:rPr lang="en-US" dirty="0"/>
              <a:t>and then never have to call new again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First element </a:t>
            </a:r>
            <a:r>
              <a:rPr lang="en-US" dirty="0"/>
              <a:t>is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element </a:t>
            </a:r>
            <a:r>
              <a:rPr lang="en-US" dirty="0"/>
              <a:t>is always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leaf</a:t>
            </a:r>
          </a:p>
          <a:p>
            <a:pPr lvl="1"/>
            <a:r>
              <a:rPr lang="en-US" dirty="0"/>
              <a:t>Remember our algorithms needed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add/remove leaves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95951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Representing a heap using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95800" cy="51815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Assume we have an extra field for the array to keep track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size </a:t>
            </a:r>
            <a:r>
              <a:rPr lang="en-US" dirty="0"/>
              <a:t>of the </a:t>
            </a:r>
            <a:r>
              <a:rPr lang="en-US" dirty="0" smtClean="0"/>
              <a:t>heap</a:t>
            </a:r>
          </a:p>
          <a:p>
            <a:pPr lvl="1"/>
            <a:r>
              <a:rPr lang="en-US" dirty="0" smtClean="0"/>
              <a:t>i.e. the number of elements of the array that are really in use at the moment</a:t>
            </a:r>
          </a:p>
          <a:p>
            <a:pPr lvl="1"/>
            <a:r>
              <a:rPr lang="en-US" dirty="0" smtClean="0"/>
              <a:t>The array may have more capacity than we’re using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utility procedures: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i)</a:t>
            </a:r>
          </a:p>
          <a:p>
            <a:pPr marL="400050" lvl="1" indent="0">
              <a:buNone/>
            </a:pPr>
            <a:r>
              <a:rPr lang="en-US" dirty="0"/>
              <a:t>   return (i-1)/2</a:t>
            </a:r>
          </a:p>
          <a:p>
            <a:pPr marL="400050" lvl="1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i)</a:t>
            </a:r>
          </a:p>
          <a:p>
            <a:pPr marL="400050" lvl="1" indent="0">
              <a:buNone/>
            </a:pPr>
            <a:r>
              <a:rPr lang="en-US" dirty="0"/>
              <a:t>   return 2*i+1</a:t>
            </a:r>
          </a:p>
          <a:p>
            <a:pPr marL="400050" lvl="1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i)</a:t>
            </a:r>
          </a:p>
          <a:p>
            <a:pPr marL="400050" lvl="1" indent="0">
              <a:buNone/>
            </a:pPr>
            <a:r>
              <a:rPr lang="en-US" dirty="0"/>
              <a:t>   return 2*i+2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29211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insertion using the array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9884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Inserting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A.size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A.size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+ 1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91873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parent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6251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i=5</a:t>
            </a:r>
          </a:p>
        </p:txBody>
      </p:sp>
      <p:cxnSp>
        <p:nvCxnSpPr>
          <p:cNvPr id="12" name="Straight Arrow Connector 11"/>
          <p:cNvCxnSpPr>
            <a:stCxn id="10" idx="0"/>
            <a:endCxn id="22" idx="2"/>
          </p:cNvCxnSpPr>
          <p:nvPr/>
        </p:nvCxnSpPr>
        <p:spPr>
          <a:xfrm flipV="1">
            <a:off x="861060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29798" y="6029980"/>
            <a:ext cx="3323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(5-1)/2 = 2</a:t>
            </a:r>
          </a:p>
        </p:txBody>
      </p:sp>
      <p:cxnSp>
        <p:nvCxnSpPr>
          <p:cNvPr id="30" name="Straight Arrow Connector 29"/>
          <p:cNvCxnSpPr>
            <a:stCxn id="29" idx="0"/>
            <a:endCxn id="26" idx="2"/>
          </p:cNvCxnSpPr>
          <p:nvPr/>
        </p:nvCxnSpPr>
        <p:spPr>
          <a:xfrm flipV="1">
            <a:off x="6491599" y="5334000"/>
            <a:ext cx="29020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61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 &lt; 10, so A[Parent(i)] &lt;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6251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i=5</a:t>
            </a:r>
          </a:p>
        </p:txBody>
      </p:sp>
      <p:cxnSp>
        <p:nvCxnSpPr>
          <p:cNvPr id="12" name="Straight Arrow Connector 11"/>
          <p:cNvCxnSpPr>
            <a:stCxn id="10" idx="0"/>
            <a:endCxn id="22" idx="2"/>
          </p:cNvCxnSpPr>
          <p:nvPr/>
        </p:nvCxnSpPr>
        <p:spPr>
          <a:xfrm flipV="1">
            <a:off x="861060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29798" y="6029980"/>
            <a:ext cx="3323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(5-1)/2 = 2</a:t>
            </a:r>
          </a:p>
        </p:txBody>
      </p:sp>
      <p:cxnSp>
        <p:nvCxnSpPr>
          <p:cNvPr id="30" name="Straight Arrow Connector 29"/>
          <p:cNvCxnSpPr>
            <a:stCxn id="29" idx="0"/>
            <a:endCxn id="26" idx="2"/>
          </p:cNvCxnSpPr>
          <p:nvPr/>
        </p:nvCxnSpPr>
        <p:spPr>
          <a:xfrm flipV="1">
            <a:off x="6491599" y="5334000"/>
            <a:ext cx="29020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886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Copy parent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6251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i=5</a:t>
            </a:r>
          </a:p>
        </p:txBody>
      </p:sp>
      <p:cxnSp>
        <p:nvCxnSpPr>
          <p:cNvPr id="12" name="Straight Arrow Connector 11"/>
          <p:cNvCxnSpPr>
            <a:stCxn id="10" idx="0"/>
            <a:endCxn id="22" idx="2"/>
          </p:cNvCxnSpPr>
          <p:nvPr/>
        </p:nvCxnSpPr>
        <p:spPr>
          <a:xfrm flipV="1">
            <a:off x="861060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29798" y="6029980"/>
            <a:ext cx="3323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(5-1)/2 = 2</a:t>
            </a:r>
          </a:p>
        </p:txBody>
      </p:sp>
      <p:cxnSp>
        <p:nvCxnSpPr>
          <p:cNvPr id="30" name="Straight Arrow Connector 29"/>
          <p:cNvCxnSpPr>
            <a:stCxn id="29" idx="0"/>
            <a:endCxn id="26" idx="2"/>
          </p:cNvCxnSpPr>
          <p:nvPr/>
        </p:nvCxnSpPr>
        <p:spPr>
          <a:xfrm flipV="1">
            <a:off x="6491599" y="5334000"/>
            <a:ext cx="29020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944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move up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i=2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129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parent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i=2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3567" y="6030635"/>
            <a:ext cx="3510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(2-1)/2 = 0</a:t>
            </a:r>
            <a:br>
              <a:rPr lang="en-US" sz="2800" dirty="0"/>
            </a:br>
            <a:r>
              <a:rPr lang="en-US" sz="1600" dirty="0"/>
              <a:t>(remember </a:t>
            </a:r>
            <a:r>
              <a:rPr lang="en-US" sz="1600" dirty="0" err="1"/>
              <a:t>int</a:t>
            </a:r>
            <a:r>
              <a:rPr lang="en-US" sz="1600" dirty="0"/>
              <a:t> arithmetic rounds down)</a:t>
            </a:r>
          </a:p>
        </p:txBody>
      </p:sp>
      <p:cxnSp>
        <p:nvCxnSpPr>
          <p:cNvPr id="24" name="Straight Arrow Connector 23"/>
          <p:cNvCxnSpPr>
            <a:stCxn id="23" idx="0"/>
          </p:cNvCxnSpPr>
          <p:nvPr/>
        </p:nvCxnSpPr>
        <p:spPr>
          <a:xfrm flipV="1">
            <a:off x="5268887" y="5334655"/>
            <a:ext cx="29019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361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 &lt; 10, so A[Parent(i)] &lt;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i=2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3567" y="6030635"/>
            <a:ext cx="3510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(2-1)/2 = 0</a:t>
            </a:r>
            <a:br>
              <a:rPr lang="en-US" sz="2800" dirty="0"/>
            </a:br>
            <a:r>
              <a:rPr lang="en-US" sz="1600" dirty="0"/>
              <a:t>(remember </a:t>
            </a:r>
            <a:r>
              <a:rPr lang="en-US" sz="1600" dirty="0" err="1"/>
              <a:t>int</a:t>
            </a:r>
            <a:r>
              <a:rPr lang="en-US" sz="1600" dirty="0"/>
              <a:t> arithmetic rounds down)</a:t>
            </a:r>
          </a:p>
        </p:txBody>
      </p:sp>
      <p:cxnSp>
        <p:nvCxnSpPr>
          <p:cNvPr id="24" name="Straight Arrow Connector 23"/>
          <p:cNvCxnSpPr>
            <a:stCxn id="23" idx="0"/>
          </p:cNvCxnSpPr>
          <p:nvPr/>
        </p:nvCxnSpPr>
        <p:spPr>
          <a:xfrm flipV="1">
            <a:off x="5268887" y="5334655"/>
            <a:ext cx="29019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240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Copy parent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i=2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3567" y="6030635"/>
            <a:ext cx="3510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Parent(i) = (2-1)/2 = 0</a:t>
            </a:r>
            <a:br>
              <a:rPr lang="en-US" sz="2800" dirty="0"/>
            </a:br>
            <a:r>
              <a:rPr lang="en-US" sz="1600" dirty="0"/>
              <a:t>(remember </a:t>
            </a:r>
            <a:r>
              <a:rPr lang="en-US" sz="1600" dirty="0" err="1"/>
              <a:t>int</a:t>
            </a:r>
            <a:r>
              <a:rPr lang="en-US" sz="1600" dirty="0"/>
              <a:t> arithmetic rounds down)</a:t>
            </a:r>
          </a:p>
        </p:txBody>
      </p:sp>
      <p:cxnSp>
        <p:nvCxnSpPr>
          <p:cNvPr id="24" name="Straight Arrow Connector 23"/>
          <p:cNvCxnSpPr>
            <a:stCxn id="23" idx="0"/>
          </p:cNvCxnSpPr>
          <p:nvPr/>
        </p:nvCxnSpPr>
        <p:spPr>
          <a:xfrm flipV="1">
            <a:off x="5268887" y="5334655"/>
            <a:ext cx="290191" cy="6959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85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423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Can’t move farther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i&gt;0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i=0</a:t>
            </a:r>
            <a:endParaRPr lang="en-US" sz="2800" dirty="0"/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237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Store the new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i=0</a:t>
            </a:r>
            <a:endParaRPr lang="en-US" sz="2800" dirty="0"/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40014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Done!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A.size-1</a:t>
            </a:r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19800"/>
            <a:ext cx="6359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Notice that this is once again a valid heap</a:t>
            </a:r>
          </a:p>
        </p:txBody>
      </p:sp>
    </p:spTree>
    <p:extLst>
      <p:ext uri="{BB962C8B-B14F-4D97-AF65-F5344CB8AC3E}">
        <p14:creationId xmlns:p14="http://schemas.microsoft.com/office/powerpoint/2010/main" val="1949070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dirty="0"/>
              <a:t>   A[0] = A[A.size-1]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46782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95800" cy="5181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i="1" dirty="0">
                <a:solidFill>
                  <a:schemeClr val="accent3">
                    <a:lumMod val="50000"/>
                  </a:schemeClr>
                </a:solidFill>
              </a:rPr>
              <a:t>// Set largest to the index of the largest </a:t>
            </a:r>
            <a:r>
              <a:rPr lang="en-US" i="1" dirty="0" err="1">
                <a:solidFill>
                  <a:schemeClr val="accent3">
                    <a:lumMod val="50000"/>
                  </a:schemeClr>
                </a:solidFill>
              </a:rPr>
              <a:t>elt</a:t>
            </a:r>
            <a:endParaRPr lang="en-US" i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3">
                    <a:lumMod val="50000"/>
                  </a:schemeClr>
                </a:solidFill>
              </a:rPr>
              <a:t>   // among the elements at indices i, l, and r </a:t>
            </a:r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r>
              <a:rPr lang="en-US" dirty="0">
                <a:sym typeface="Symbol"/>
              </a:rPr>
              <a:t/>
            </a:r>
            <a:br>
              <a:rPr lang="en-US" dirty="0">
                <a:sym typeface="Symbol"/>
              </a:rPr>
            </a:br>
            <a:r>
              <a:rPr lang="en-US" i="1" dirty="0">
                <a:solidFill>
                  <a:schemeClr val="accent3">
                    <a:lumMod val="50000"/>
                  </a:schemeClr>
                </a:solidFill>
                <a:sym typeface="Symbol"/>
              </a:rPr>
              <a:t>      // something’s bigger than i, so swap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896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we go!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HeapExtractMax</a:t>
            </a:r>
            <a:r>
              <a:rPr lang="en-US" dirty="0"/>
              <a:t>(A)</a:t>
            </a:r>
            <a:br>
              <a:rPr lang="en-US" dirty="0"/>
            </a:b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dirty="0"/>
              <a:t>   A[0] = A[A.size-1]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83646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Remember the max (the root)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max = A[0]</a:t>
            </a:r>
          </a:p>
          <a:p>
            <a:pPr marL="0" indent="0">
              <a:buNone/>
            </a:pPr>
            <a:r>
              <a:rPr lang="en-US" dirty="0"/>
              <a:t>   A[0] = A[A.size-1]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00363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 the last leaf to the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A[0] = A[A.size-1]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A.size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4343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Re-</a:t>
            </a:r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dirty="0"/>
              <a:t>   A[0] = A[A.size-1]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43781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Re-</a:t>
            </a:r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i=0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92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the left- and right-children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l = Left(i)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558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A[l] not &gt; A[i]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302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largest =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92619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largest=0</a:t>
            </a:r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5553052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2707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A[r] &gt; A[largest]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92619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largest=0</a:t>
            </a:r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5553052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926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update largest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largest=2</a:t>
            </a:r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55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largest isn’t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largesti</a:t>
            </a:r>
            <a:endParaRPr lang="en-US" b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largest=2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3330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swap with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b="1" dirty="0">
                <a:sym typeface="Symbol"/>
              </a:rPr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2387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55530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6179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=1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6181749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55360" y="565611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r=2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791349" y="5334000"/>
            <a:ext cx="1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largest=2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0689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</a:t>
            </a:r>
            <a:r>
              <a:rPr lang="en-US" dirty="0" err="1"/>
              <a:t>recurse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Heapify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(A, largest)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i=2</a:t>
            </a:r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3703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l = Left(i)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828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 is off the end of the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463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largest is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b="1" dirty="0">
                <a:sym typeface="Symbol"/>
              </a:rPr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largest=2</a:t>
            </a:r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88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 is also off the end of the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largest=2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2178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largest=i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largesti</a:t>
            </a:r>
            <a:endParaRPr lang="en-US" b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largest=2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629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we’re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7902" y="5656118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i=2</a:t>
            </a:r>
            <a:endParaRPr lang="en-US" sz="2800" dirty="0"/>
          </a:p>
        </p:txBody>
      </p:sp>
      <p:cxnSp>
        <p:nvCxnSpPr>
          <p:cNvPr id="23" name="Straight Arrow Connector 22"/>
          <p:cNvCxnSpPr>
            <a:stCxn id="19" idx="0"/>
          </p:cNvCxnSpPr>
          <p:nvPr/>
        </p:nvCxnSpPr>
        <p:spPr>
          <a:xfrm flipV="1">
            <a:off x="6772251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040" y="565611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Kootenay" pitchFamily="2" charset="0"/>
              </a:rPr>
              <a:t>l</a:t>
            </a:r>
            <a:r>
              <a:rPr lang="en-US" sz="2800" dirty="0"/>
              <a:t>=5</a:t>
            </a:r>
          </a:p>
        </p:txBody>
      </p:sp>
      <p:cxnSp>
        <p:nvCxnSpPr>
          <p:cNvPr id="29" name="Straight Arrow Connector 28"/>
          <p:cNvCxnSpPr>
            <a:stCxn id="24" idx="0"/>
          </p:cNvCxnSpPr>
          <p:nvPr/>
        </p:nvCxnSpPr>
        <p:spPr>
          <a:xfrm flipV="1">
            <a:off x="8655610" y="5334000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2021" y="617933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r=6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V="1">
            <a:off x="8808011" y="5334000"/>
            <a:ext cx="259789" cy="8453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19800" y="6334780"/>
            <a:ext cx="152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largest=2</a:t>
            </a:r>
            <a:endParaRPr lang="en-US" sz="2800" dirty="0"/>
          </a:p>
        </p:txBody>
      </p:sp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6780233" y="6012662"/>
            <a:ext cx="0" cy="3221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196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next time: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applications of binary heaps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740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5242</TotalTime>
  <Words>3219</Words>
  <Application>Microsoft Office PowerPoint</Application>
  <PresentationFormat>On-screen Show (4:3)</PresentationFormat>
  <Paragraphs>1206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Cambria Math</vt:lpstr>
      <vt:lpstr>Kootenay</vt:lpstr>
      <vt:lpstr>Symbol</vt:lpstr>
      <vt:lpstr>Verdana</vt:lpstr>
      <vt:lpstr>Office Theme</vt:lpstr>
      <vt:lpstr>Lecture 13 Priority queues and heaps</vt:lpstr>
      <vt:lpstr>Queues</vt:lpstr>
      <vt:lpstr>Priority queues</vt:lpstr>
      <vt:lpstr>Priority queues</vt:lpstr>
      <vt:lpstr>Implementing priority queues</vt:lpstr>
      <vt:lpstr>Implementing priority queues</vt:lpstr>
      <vt:lpstr>Heaps</vt:lpstr>
      <vt:lpstr>Heaps</vt:lpstr>
      <vt:lpstr>Sketch of heap algorithms</vt:lpstr>
      <vt:lpstr>Sketch of heap algorithms</vt:lpstr>
      <vt:lpstr>Sketch of heap algorithms</vt:lpstr>
      <vt:lpstr>Sketch of heap algorithms</vt:lpstr>
      <vt:lpstr>Sketch of heap algorithms</vt:lpstr>
      <vt:lpstr>Example</vt:lpstr>
      <vt:lpstr>Example</vt:lpstr>
      <vt:lpstr>Example</vt:lpstr>
      <vt:lpstr>Example</vt:lpstr>
      <vt:lpstr>Example</vt:lpstr>
      <vt:lpstr>Sketch of heap algorithms</vt:lpstr>
      <vt:lpstr>Analysis</vt:lpstr>
      <vt:lpstr>Complete binary trees</vt:lpstr>
      <vt:lpstr>Binary heaps</vt:lpstr>
      <vt:lpstr>Embedding in an array</vt:lpstr>
      <vt:lpstr>Embedding in an array</vt:lpstr>
      <vt:lpstr>Why is this a good representation?</vt:lpstr>
      <vt:lpstr>Representing a heap using an array</vt:lpstr>
      <vt:lpstr>Heap insertion using the array representation</vt:lpstr>
      <vt:lpstr>Inserting 10</vt:lpstr>
      <vt:lpstr>Check parent</vt:lpstr>
      <vt:lpstr>8 &lt; 10, so A[Parent(i)] &lt; key</vt:lpstr>
      <vt:lpstr>Copy parent down</vt:lpstr>
      <vt:lpstr>And move up tree</vt:lpstr>
      <vt:lpstr>Check parent</vt:lpstr>
      <vt:lpstr>9 &lt; 10, so A[Parent(i)] &lt; key</vt:lpstr>
      <vt:lpstr>Copy parent down</vt:lpstr>
      <vt:lpstr>Move up</vt:lpstr>
      <vt:lpstr>Can’t move farther</vt:lpstr>
      <vt:lpstr>Store the new key</vt:lpstr>
      <vt:lpstr>Done!</vt:lpstr>
      <vt:lpstr>Extracting an element</vt:lpstr>
      <vt:lpstr>Extracting an element</vt:lpstr>
      <vt:lpstr>Here we go!</vt:lpstr>
      <vt:lpstr>Remember the max (the root)</vt:lpstr>
      <vt:lpstr>Move the last leaf to the root</vt:lpstr>
      <vt:lpstr>Re-heapify</vt:lpstr>
      <vt:lpstr>Re-heapify</vt:lpstr>
      <vt:lpstr>Find the left- and right-children</vt:lpstr>
      <vt:lpstr>A[l] not &gt; A[i]</vt:lpstr>
      <vt:lpstr>So largest = i</vt:lpstr>
      <vt:lpstr>A[r] &gt; A[largest]</vt:lpstr>
      <vt:lpstr>So update largest</vt:lpstr>
      <vt:lpstr>largest isn’t i</vt:lpstr>
      <vt:lpstr>So swap with i</vt:lpstr>
      <vt:lpstr>And recurse</vt:lpstr>
      <vt:lpstr>Find children</vt:lpstr>
      <vt:lpstr>l is off the end of the heap</vt:lpstr>
      <vt:lpstr>So largest is i</vt:lpstr>
      <vt:lpstr>r is also off the end of the heap</vt:lpstr>
      <vt:lpstr>largest=i</vt:lpstr>
      <vt:lpstr>So we’re done</vt:lpstr>
      <vt:lpstr>next time: applications of binary heaps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219</cp:revision>
  <cp:lastPrinted>2011-05-27T14:31:03Z</cp:lastPrinted>
  <dcterms:created xsi:type="dcterms:W3CDTF">2010-03-27T22:31:10Z</dcterms:created>
  <dcterms:modified xsi:type="dcterms:W3CDTF">2019-05-17T14:39:16Z</dcterms:modified>
</cp:coreProperties>
</file>