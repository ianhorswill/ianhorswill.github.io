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5" r:id="rId10"/>
    <p:sldId id="286" r:id="rId11"/>
    <p:sldId id="284" r:id="rId12"/>
    <p:sldId id="289" r:id="rId13"/>
    <p:sldId id="290" r:id="rId14"/>
    <p:sldId id="291" r:id="rId15"/>
    <p:sldId id="292" r:id="rId16"/>
    <p:sldId id="293" r:id="rId17"/>
    <p:sldId id="294" r:id="rId18"/>
    <p:sldId id="295" r:id="rId19"/>
    <p:sldId id="296" r:id="rId20"/>
    <p:sldId id="264" r:id="rId21"/>
    <p:sldId id="265" r:id="rId22"/>
    <p:sldId id="266" r:id="rId23"/>
    <p:sldId id="282" r:id="rId24"/>
    <p:sldId id="267" r:id="rId25"/>
    <p:sldId id="270" r:id="rId26"/>
    <p:sldId id="283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97" r:id="rId39"/>
    <p:sldId id="298" r:id="rId40"/>
    <p:sldId id="307" r:id="rId41"/>
    <p:sldId id="305" r:id="rId42"/>
    <p:sldId id="306" r:id="rId43"/>
    <p:sldId id="308" r:id="rId44"/>
    <p:sldId id="310" r:id="rId45"/>
    <p:sldId id="311" r:id="rId46"/>
    <p:sldId id="312" r:id="rId47"/>
    <p:sldId id="313" r:id="rId48"/>
    <p:sldId id="314" r:id="rId49"/>
    <p:sldId id="315" r:id="rId50"/>
    <p:sldId id="316" r:id="rId51"/>
    <p:sldId id="318" r:id="rId52"/>
    <p:sldId id="319" r:id="rId53"/>
    <p:sldId id="320" r:id="rId54"/>
    <p:sldId id="321" r:id="rId55"/>
    <p:sldId id="322" r:id="rId56"/>
    <p:sldId id="323" r:id="rId57"/>
    <p:sldId id="324" r:id="rId58"/>
    <p:sldId id="325" r:id="rId59"/>
    <p:sldId id="326" r:id="rId60"/>
    <p:sldId id="317" r:id="rId61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6" autoAdjust="0"/>
    <p:restoredTop sz="94687" autoAdjust="0"/>
  </p:normalViewPr>
  <p:slideViewPr>
    <p:cSldViewPr>
      <p:cViewPr varScale="1">
        <p:scale>
          <a:sx n="97" d="100"/>
          <a:sy n="97" d="100"/>
        </p:scale>
        <p:origin x="951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230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86200"/>
            <a:ext cx="7772400" cy="1470025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5334000"/>
            <a:ext cx="6400800" cy="762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6/4/2018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63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6/4/2018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400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6/4/2018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075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6/4/2018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83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6/4/2018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206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6/4/2018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800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6/4/2018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886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6/4/2018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203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6/4/2018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518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6/4/2018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980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6/4/2018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788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78F7F9AA-A437-4C1D-B7A7-132C663DC277}" type="datetimeFigureOut">
              <a:rPr lang="en-US" smtClean="0"/>
              <a:pPr/>
              <a:t>6/4/2018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54A6550D-5249-4695-AA6F-4029ECE97DB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711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>
                <a:latin typeface="+mn-lt"/>
                <a:ea typeface="Verdana" pitchFamily="34" charset="0"/>
                <a:cs typeface="Verdana" pitchFamily="34" charset="0"/>
              </a:rPr>
              <a:t>Lecture 11</a:t>
            </a:r>
            <a:br>
              <a:rPr lang="en-US" dirty="0">
                <a:latin typeface="+mn-lt"/>
                <a:ea typeface="Verdana" pitchFamily="34" charset="0"/>
                <a:cs typeface="Verdana" pitchFamily="34" charset="0"/>
              </a:rPr>
            </a:br>
            <a:r>
              <a:rPr lang="en-US" dirty="0">
                <a:latin typeface="+mn-lt"/>
                <a:ea typeface="Verdana" pitchFamily="34" charset="0"/>
                <a:cs typeface="Verdana" pitchFamily="34" charset="0"/>
              </a:rPr>
              <a:t>Sorting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EECS-214</a:t>
            </a:r>
          </a:p>
        </p:txBody>
      </p:sp>
    </p:spTree>
    <p:extLst>
      <p:ext uri="{BB962C8B-B14F-4D97-AF65-F5344CB8AC3E}">
        <p14:creationId xmlns:p14="http://schemas.microsoft.com/office/powerpoint/2010/main" val="1153322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</a:t>
            </a:r>
            <a:r>
              <a:rPr lang="en-US" baseline="0" dirty="0"/>
              <a:t> is sorting hard?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/>
                  <a:t>Have to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compare a lot </a:t>
                </a:r>
                <a:r>
                  <a:rPr lang="en-US" dirty="0"/>
                  <a:t>of elements</a:t>
                </a:r>
              </a:p>
              <a:p>
                <a:r>
                  <a:rPr lang="en-US" dirty="0"/>
                  <a:t>Naïve algorithms</a:t>
                </a:r>
                <a:r>
                  <a:rPr lang="en-US" baseline="0" dirty="0"/>
                  <a:t> involve </a:t>
                </a:r>
                <a:r>
                  <a:rPr lang="en-US" b="1" baseline="0" dirty="0">
                    <a:solidFill>
                      <a:schemeClr val="accent6">
                        <a:lumMod val="50000"/>
                      </a:schemeClr>
                    </a:solidFill>
                  </a:rPr>
                  <a:t>exhaustive comparisons</a:t>
                </a:r>
              </a:p>
              <a:p>
                <a:pPr lvl="1"/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Every</a:t>
                </a:r>
                <a:r>
                  <a:rPr lang="en-US" b="1" baseline="0" dirty="0">
                    <a:solidFill>
                      <a:schemeClr val="accent6">
                        <a:lumMod val="50000"/>
                      </a:schemeClr>
                    </a:solidFill>
                  </a:rPr>
                  <a:t> element </a:t>
                </a:r>
                <a:r>
                  <a:rPr lang="en-US" baseline="0" dirty="0"/>
                  <a:t>to every other element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 smtClean="0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 dirty="0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2"/>
                <a:stretch>
                  <a:fillRect l="-2564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Question</a:t>
                </a:r>
              </a:p>
              <a:p>
                <a:r>
                  <a:rPr lang="en-US" dirty="0"/>
                  <a:t>What can we do by comparing a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single element </a:t>
                </a:r>
                <a:r>
                  <a:rPr lang="en-US" dirty="0"/>
                  <a:t>to every other element?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𝑂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𝑛</m:t>
                    </m:r>
                    <m:r>
                      <a:rPr lang="en-US" i="1" dirty="0" smtClean="0">
                        <a:latin typeface="Cambria Math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3"/>
                <a:stretch>
                  <a:fillRect l="-317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2891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Comparing one element to all the others lets us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divide the array</a:t>
            </a:r>
            <a:r>
              <a:rPr lang="en-US" b="1" dirty="0"/>
              <a:t> </a:t>
            </a:r>
            <a:r>
              <a:rPr lang="en-US" dirty="0"/>
              <a:t>into the elements</a:t>
            </a:r>
          </a:p>
          <a:p>
            <a:pPr lvl="1"/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less than</a:t>
            </a:r>
            <a:r>
              <a:rPr lang="en-US" dirty="0"/>
              <a:t>,</a:t>
            </a:r>
          </a:p>
          <a:p>
            <a:pPr lvl="1"/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greater than</a:t>
            </a:r>
            <a:r>
              <a:rPr lang="en-US" dirty="0"/>
              <a:t>,</a:t>
            </a:r>
          </a:p>
          <a:p>
            <a:pPr lvl="1"/>
            <a:r>
              <a:rPr lang="en-US" dirty="0"/>
              <a:t>and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equal to </a:t>
            </a:r>
            <a:r>
              <a:rPr lang="en-US" dirty="0"/>
              <a:t>the original element</a:t>
            </a:r>
          </a:p>
          <a:p>
            <a:endParaRPr lang="en-US" dirty="0"/>
          </a:p>
          <a:p>
            <a:r>
              <a:rPr lang="en-US" dirty="0"/>
              <a:t>This is called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partitioning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the array</a:t>
            </a:r>
          </a:p>
          <a:p>
            <a:pPr lvl="1"/>
            <a:r>
              <a:rPr lang="en-US" dirty="0"/>
              <a:t>And the element being compared to is called the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pivot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element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0" y="22098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5791200" y="22098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8400" y="2209800"/>
            <a:ext cx="457200" cy="4572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6705600" y="22098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7162800" y="22098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6477000" y="1828800"/>
            <a:ext cx="0" cy="22860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72200" y="1447800"/>
            <a:ext cx="660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pivot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819400"/>
            <a:ext cx="1676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less than pivot</a:t>
            </a:r>
            <a:br>
              <a:rPr lang="en-US" dirty="0"/>
            </a:br>
            <a:r>
              <a:rPr lang="en-US" dirty="0"/>
              <a:t>(but not sorted)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7091" y="2819400"/>
            <a:ext cx="18773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greater than pivot</a:t>
            </a:r>
          </a:p>
          <a:p>
            <a:r>
              <a:rPr lang="en-US" dirty="0"/>
              <a:t>(but not sorted)</a:t>
            </a:r>
          </a:p>
        </p:txBody>
      </p:sp>
    </p:spTree>
    <p:extLst>
      <p:ext uri="{BB962C8B-B14F-4D97-AF65-F5344CB8AC3E}">
        <p14:creationId xmlns:p14="http://schemas.microsoft.com/office/powerpoint/2010/main" val="1928126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4.44444E-6 L -0.04045 0.04004 C -0.04895 0.04907 -0.06145 0.05393 -0.07448 0.05393 C -0.08958 0.05393 -0.10156 0.04907 -0.11024 0.04004 L -0.15 4.44444E-6 " pathEditMode="relative" rAng="0" ptsTypes="FffFF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500" y="2685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7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3.358E-6 L 0.04011 -0.08257 C 0.04861 -0.10107 0.06111 -0.11101 0.07431 -0.11101 C 0.08924 -0.11101 0.10122 -0.10107 0.10973 -0.08257 L 0.15 3.358E-6 " pathEditMode="relative" rAng="0" ptsTypes="FffFF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00" y="-55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4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Partitioning makes the array “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more sorted</a:t>
            </a:r>
            <a:r>
              <a:rPr lang="en-US" dirty="0"/>
              <a:t>”</a:t>
            </a:r>
          </a:p>
          <a:p>
            <a:endParaRPr lang="en-US" dirty="0"/>
          </a:p>
          <a:p>
            <a:r>
              <a:rPr lang="en-US" dirty="0"/>
              <a:t>But we’re not done yet</a:t>
            </a:r>
          </a:p>
          <a:p>
            <a:pPr lvl="1"/>
            <a:r>
              <a:rPr lang="en-US" dirty="0"/>
              <a:t>The left- and right- sides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aren’t sorted internally</a:t>
            </a:r>
          </a:p>
          <a:p>
            <a:pPr lvl="1"/>
            <a:endParaRPr lang="en-US" dirty="0"/>
          </a:p>
          <a:p>
            <a:r>
              <a:rPr lang="en-US" dirty="0"/>
              <a:t>What can we do to finish sorting?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0" y="22098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5791200" y="22098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8400" y="2209800"/>
            <a:ext cx="457200" cy="4572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6705600" y="22098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7162800" y="22098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6477000" y="1828800"/>
            <a:ext cx="0" cy="22860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72200" y="1447800"/>
            <a:ext cx="660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pivot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819400"/>
            <a:ext cx="1676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less than pivot</a:t>
            </a:r>
            <a:br>
              <a:rPr lang="en-US" dirty="0"/>
            </a:br>
            <a:r>
              <a:rPr lang="en-US" dirty="0"/>
              <a:t>(but not sorted)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7091" y="2819400"/>
            <a:ext cx="18773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greater than pivot</a:t>
            </a:r>
          </a:p>
          <a:p>
            <a:r>
              <a:rPr lang="en-US" dirty="0"/>
              <a:t>(but not sorted)</a:t>
            </a:r>
          </a:p>
        </p:txBody>
      </p:sp>
    </p:spTree>
    <p:extLst>
      <p:ext uri="{BB962C8B-B14F-4D97-AF65-F5344CB8AC3E}">
        <p14:creationId xmlns:p14="http://schemas.microsoft.com/office/powerpoint/2010/main" val="1980631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Recurse</a:t>
            </a:r>
            <a:r>
              <a:rPr lang="en-US" dirty="0"/>
              <a:t>!</a:t>
            </a:r>
          </a:p>
          <a:p>
            <a:r>
              <a:rPr lang="en-US" dirty="0"/>
              <a:t>Use partitioning to make the left and right sides more sorted too</a:t>
            </a:r>
          </a:p>
          <a:p>
            <a:r>
              <a:rPr lang="en-US" dirty="0"/>
              <a:t>Keep going until everything is fully sorted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0" y="22098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5791200" y="22098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8400" y="2209800"/>
            <a:ext cx="457200" cy="4572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6705600" y="22098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7162800" y="22098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6477000" y="1828800"/>
            <a:ext cx="0" cy="22860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72200" y="1447800"/>
            <a:ext cx="660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pivot</a:t>
            </a:r>
          </a:p>
        </p:txBody>
      </p:sp>
    </p:spTree>
    <p:extLst>
      <p:ext uri="{BB962C8B-B14F-4D97-AF65-F5344CB8AC3E}">
        <p14:creationId xmlns:p14="http://schemas.microsoft.com/office/powerpoint/2010/main" val="1431070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4.44444E-6 L -0.05 4.44444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0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7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4.44444E-6 L 0.01337 0.04004 C 0.01615 0.04907 0.02032 0.05393 0.02466 0.05393 C 0.02969 0.05393 0.03368 0.04907 0.03646 0.04004 L 0.05 4.44444E-6 " pathEditMode="relative" rAng="0" ptsTypes="FffFF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00" y="2685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4.44444E-6 L -0.05 4.44444E-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00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37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4.44444E-6 L 0.01337 0.04004 C 0.01615 0.04907 0.02032 0.05393 0.02466 0.05393 C 0.02969 0.05393 0.03368 0.04907 0.03646 0.04004 L 0.05 4.44444E-6 " pathEditMode="relative" rAng="0" ptsTypes="FffFF">
                                      <p:cBhvr>
                                        <p:cTn id="1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00" y="26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Quicksort </a:t>
            </a:r>
            <a:r>
              <a:rPr lang="en-US" sz="2400" dirty="0"/>
              <a:t>(Hoare, 1960)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One of the most famous algorithms in computer science</a:t>
            </a:r>
          </a:p>
          <a:p>
            <a:endParaRPr lang="en-US" dirty="0"/>
          </a:p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Approximately sorts </a:t>
            </a:r>
            <a:r>
              <a:rPr lang="en-US" dirty="0"/>
              <a:t>whole array</a:t>
            </a:r>
          </a:p>
          <a:p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Recurses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to complete sorting of each half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Quicksort(array)</a:t>
            </a:r>
          </a:p>
          <a:p>
            <a:pPr marL="0" indent="0">
              <a:buNone/>
            </a:pPr>
            <a:r>
              <a:rPr lang="en-US" dirty="0"/>
              <a:t>    select pivot element</a:t>
            </a:r>
          </a:p>
          <a:p>
            <a:pPr marL="0" indent="0">
              <a:buNone/>
            </a:pPr>
            <a:r>
              <a:rPr lang="en-US" dirty="0"/>
              <a:t>    partition about pivot</a:t>
            </a:r>
          </a:p>
          <a:p>
            <a:pPr marL="0" indent="0">
              <a:buNone/>
            </a:pPr>
            <a:r>
              <a:rPr lang="en-US" dirty="0"/>
              <a:t>    Quicksort(left side)</a:t>
            </a:r>
          </a:p>
          <a:p>
            <a:pPr marL="0" indent="0">
              <a:buNone/>
            </a:pPr>
            <a:r>
              <a:rPr lang="en-US" dirty="0"/>
              <a:t>    Quicksort(right side)</a:t>
            </a:r>
          </a:p>
        </p:txBody>
      </p:sp>
    </p:spTree>
    <p:extLst>
      <p:ext uri="{BB962C8B-B14F-4D97-AF65-F5344CB8AC3E}">
        <p14:creationId xmlns:p14="http://schemas.microsoft.com/office/powerpoint/2010/main" val="2796695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Quicksort </a:t>
            </a:r>
            <a:r>
              <a:rPr lang="en-US" sz="2400" dirty="0"/>
              <a:t>(Hoare, 1960)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This code is pretty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hand-wavy</a:t>
            </a:r>
          </a:p>
          <a:p>
            <a:pPr lvl="1"/>
            <a:r>
              <a:rPr lang="en-US" dirty="0"/>
              <a:t>For example what does it mean to call quicksort of the left side of the array?</a:t>
            </a:r>
          </a:p>
          <a:p>
            <a:pPr lvl="1"/>
            <a:r>
              <a:rPr lang="en-US" dirty="0"/>
              <a:t>Also, there’s nothing to stop the recursion</a:t>
            </a:r>
          </a:p>
          <a:p>
            <a:pPr lvl="1"/>
            <a:endParaRPr lang="en-US" dirty="0"/>
          </a:p>
          <a:p>
            <a:r>
              <a:rPr lang="en-US" dirty="0"/>
              <a:t>Making it more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rigorous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is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straightforward</a:t>
            </a:r>
          </a:p>
          <a:p>
            <a:pPr lvl="1"/>
            <a:r>
              <a:rPr lang="en-US" dirty="0"/>
              <a:t>But there are more confusing details</a:t>
            </a:r>
          </a:p>
          <a:p>
            <a:pPr lvl="1"/>
            <a:r>
              <a:rPr lang="en-US" dirty="0"/>
              <a:t>So it’s good to understand the basic idea first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Quicksort(array)</a:t>
            </a:r>
          </a:p>
          <a:p>
            <a:pPr marL="0" indent="0">
              <a:buNone/>
            </a:pPr>
            <a:r>
              <a:rPr lang="en-US" dirty="0"/>
              <a:t>    select pivot element</a:t>
            </a:r>
          </a:p>
          <a:p>
            <a:pPr marL="0" indent="0">
              <a:buNone/>
            </a:pPr>
            <a:r>
              <a:rPr lang="en-US" dirty="0"/>
              <a:t>    partition about pivot</a:t>
            </a:r>
          </a:p>
          <a:p>
            <a:pPr marL="0" indent="0">
              <a:buNone/>
            </a:pPr>
            <a:r>
              <a:rPr lang="en-US" dirty="0"/>
              <a:t>    Quicksort(left side)</a:t>
            </a:r>
          </a:p>
          <a:p>
            <a:pPr marL="0" indent="0">
              <a:buNone/>
            </a:pPr>
            <a:r>
              <a:rPr lang="en-US" dirty="0"/>
              <a:t>    Quicksort(right side)</a:t>
            </a:r>
          </a:p>
        </p:txBody>
      </p:sp>
    </p:spTree>
    <p:extLst>
      <p:ext uri="{BB962C8B-B14F-4D97-AF65-F5344CB8AC3E}">
        <p14:creationId xmlns:p14="http://schemas.microsoft.com/office/powerpoint/2010/main" val="3884044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partitioning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Basic idea</a:t>
            </a:r>
          </a:p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Move pivot </a:t>
            </a:r>
            <a:r>
              <a:rPr lang="en-US" dirty="0"/>
              <a:t>to the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right </a:t>
            </a:r>
            <a:r>
              <a:rPr lang="en-US" dirty="0"/>
              <a:t>(the end)</a:t>
            </a:r>
          </a:p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Sweep from left </a:t>
            </a:r>
            <a:r>
              <a:rPr lang="en-US" dirty="0"/>
              <a:t>to right</a:t>
            </a:r>
          </a:p>
          <a:p>
            <a:pPr lvl="1"/>
            <a:r>
              <a:rPr lang="en-US" dirty="0"/>
              <a:t>If you see an element that’s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less than </a:t>
            </a:r>
            <a:r>
              <a:rPr lang="en-US" dirty="0"/>
              <a:t>the pivot</a:t>
            </a:r>
          </a:p>
          <a:p>
            <a:pPr lvl="1"/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Swap </a:t>
            </a:r>
            <a:r>
              <a:rPr lang="en-US" dirty="0"/>
              <a:t>it with something on the left that’s bigger than the pivot</a:t>
            </a:r>
          </a:p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Move pivot between </a:t>
            </a:r>
            <a:r>
              <a:rPr lang="en-US" dirty="0"/>
              <a:t>the less-than and greater-than elements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Partition(a, </a:t>
            </a:r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</a:rPr>
              <a:t>pIndex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)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</a:t>
            </a:r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</a:rPr>
              <a:t>pValue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= a[</a:t>
            </a:r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</a:rPr>
              <a:t>pIndex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]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// Move pivot to end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swap a[</a:t>
            </a:r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</a:rPr>
              <a:t>pIndex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]</a:t>
            </a:r>
            <a:b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</a:b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         with last element of a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// Move small values left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</a:t>
            </a:r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</a:rPr>
              <a:t>nextLeft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= 0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for i = 0 to a.Length-1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     if a[i]&lt;=</a:t>
            </a:r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</a:rPr>
              <a:t>pValue</a:t>
            </a:r>
            <a:b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</a:b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        swap a[i]</a:t>
            </a:r>
            <a:b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</a:b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                 with a[</a:t>
            </a:r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</a:rPr>
              <a:t>nextLeft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]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        </a:t>
            </a:r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</a:rPr>
              <a:t>nextLeft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++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// Move the pivot into place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swap a[</a:t>
            </a:r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</a:rPr>
              <a:t>nextLeft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]</a:t>
            </a:r>
            <a:b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</a:b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         with last element of a</a:t>
            </a:r>
          </a:p>
        </p:txBody>
      </p:sp>
    </p:spTree>
    <p:extLst>
      <p:ext uri="{BB962C8B-B14F-4D97-AF65-F5344CB8AC3E}">
        <p14:creationId xmlns:p14="http://schemas.microsoft.com/office/powerpoint/2010/main" val="851264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partitioning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This algorithm is a little inscrutable</a:t>
            </a:r>
          </a:p>
          <a:p>
            <a:r>
              <a:rPr lang="en-US" dirty="0"/>
              <a:t>This is an algorithm that induces a kind of behavior in textbook writers that I hate: the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pseudoexplanation</a:t>
            </a:r>
            <a:endParaRPr lang="en-US" b="1" dirty="0">
              <a:solidFill>
                <a:schemeClr val="accent6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Partition(a, </a:t>
            </a:r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</a:rPr>
              <a:t>pIndex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)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</a:t>
            </a:r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</a:rPr>
              <a:t>pValue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= a[</a:t>
            </a:r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</a:rPr>
              <a:t>pIndex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]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// Move pivot to end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swap a[</a:t>
            </a:r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</a:rPr>
              <a:t>pIndex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]</a:t>
            </a:r>
            <a:b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</a:b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         with last element of a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// Move small values left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</a:t>
            </a:r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</a:rPr>
              <a:t>nextLeft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= 0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for i = 0 to a.Length-1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     if a[i]&lt;=</a:t>
            </a:r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</a:rPr>
              <a:t>pValue</a:t>
            </a:r>
            <a:b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</a:b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        swap a[i]</a:t>
            </a:r>
            <a:b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</a:b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                 with a[</a:t>
            </a:r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</a:rPr>
              <a:t>nextLeft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]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        </a:t>
            </a:r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</a:rPr>
              <a:t>nextLeft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++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// Move the pivot into place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swap a[</a:t>
            </a:r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</a:rPr>
              <a:t>nextLeft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]</a:t>
            </a:r>
            <a:b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</a:b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         with last element of a</a:t>
            </a:r>
          </a:p>
        </p:txBody>
      </p:sp>
    </p:spTree>
    <p:extLst>
      <p:ext uri="{BB962C8B-B14F-4D97-AF65-F5344CB8AC3E}">
        <p14:creationId xmlns:p14="http://schemas.microsoft.com/office/powerpoint/2010/main" val="3422825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partitioning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Wikipedia’s </a:t>
            </a:r>
            <a:r>
              <a:rPr lang="en-US" dirty="0" err="1"/>
              <a:t>pseudoexplanation</a:t>
            </a:r>
            <a:r>
              <a:rPr lang="en-US" dirty="0"/>
              <a:t>:</a:t>
            </a:r>
          </a:p>
          <a:p>
            <a:r>
              <a:rPr lang="en-US" dirty="0"/>
              <a:t>“This is the in-place partition algorithm. It partitions … the array  … by moving all elements less than or equal to [the pivot value] to the beginning of the </a:t>
            </a:r>
            <a:r>
              <a:rPr lang="en-US" dirty="0" err="1"/>
              <a:t>subarray</a:t>
            </a:r>
            <a:r>
              <a:rPr lang="en-US" dirty="0"/>
              <a:t>, leaving all the greater elements following them”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is simply a</a:t>
            </a:r>
            <a:r>
              <a:rPr lang="en-US" b="1" dirty="0"/>
              <a:t>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restatement</a:t>
            </a:r>
            <a:r>
              <a:rPr lang="en-US" b="1" dirty="0"/>
              <a:t> </a:t>
            </a:r>
            <a:r>
              <a:rPr lang="en-US" dirty="0"/>
              <a:t>of what the procedure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should do</a:t>
            </a:r>
          </a:p>
          <a:p>
            <a:r>
              <a:rPr lang="en-US" dirty="0"/>
              <a:t>It’s not an explanation of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why it works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Partition(a, </a:t>
            </a:r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</a:rPr>
              <a:t>pIndex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)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</a:t>
            </a:r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</a:rPr>
              <a:t>pValue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= a[</a:t>
            </a:r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</a:rPr>
              <a:t>pIndex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]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// Move pivot to end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swap a[</a:t>
            </a:r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</a:rPr>
              <a:t>pIndex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]</a:t>
            </a:r>
            <a:b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</a:b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         with last element of a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// Move small values left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</a:t>
            </a:r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</a:rPr>
              <a:t>nextLeft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= 0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for i = 0 to a.Length-1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     if a[i]&lt;=</a:t>
            </a:r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</a:rPr>
              <a:t>pValue</a:t>
            </a:r>
            <a:b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</a:b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        swap a[i]</a:t>
            </a:r>
            <a:b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</a:b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                 with a[</a:t>
            </a:r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</a:rPr>
              <a:t>nextLeft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]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        </a:t>
            </a:r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</a:rPr>
              <a:t>nextLeft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++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// Move the pivot into place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swap a[</a:t>
            </a:r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</a:rPr>
              <a:t>nextLeft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]</a:t>
            </a:r>
            <a:b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</a:b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         with last element of a</a:t>
            </a:r>
          </a:p>
        </p:txBody>
      </p:sp>
    </p:spTree>
    <p:extLst>
      <p:ext uri="{BB962C8B-B14F-4D97-AF65-F5344CB8AC3E}">
        <p14:creationId xmlns:p14="http://schemas.microsoft.com/office/powerpoint/2010/main" val="2967616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partitioning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Okay, why does it actually work?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Partition(a, </a:t>
            </a:r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</a:rPr>
              <a:t>pIndex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)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</a:t>
            </a:r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</a:rPr>
              <a:t>pValue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= a[</a:t>
            </a:r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</a:rPr>
              <a:t>pIndex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]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// Move pivot to end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swap a[</a:t>
            </a:r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</a:rPr>
              <a:t>pIndex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]</a:t>
            </a:r>
            <a:b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</a:b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         with last element of a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// Move small values left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</a:t>
            </a:r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</a:rPr>
              <a:t>nextLeft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= 0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for i = 0 to a.Length-1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     if a[i]&lt;=</a:t>
            </a:r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</a:rPr>
              <a:t>pValue</a:t>
            </a:r>
            <a:b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</a:b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        swap a[i]</a:t>
            </a:r>
            <a:b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</a:b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                 with a[</a:t>
            </a:r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</a:rPr>
              <a:t>nextLeft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]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        </a:t>
            </a:r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</a:rPr>
              <a:t>nextLeft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++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// Move the pivot into place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swap a[</a:t>
            </a:r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</a:rPr>
              <a:t>nextLeft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]</a:t>
            </a:r>
            <a:b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</a:b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         with last element of a</a:t>
            </a:r>
          </a:p>
        </p:txBody>
      </p:sp>
    </p:spTree>
    <p:extLst>
      <p:ext uri="{BB962C8B-B14F-4D97-AF65-F5344CB8AC3E}">
        <p14:creationId xmlns:p14="http://schemas.microsoft.com/office/powerpoint/2010/main" val="14324756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partitioning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50673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Claim: </a:t>
            </a:r>
            <a:r>
              <a:rPr lang="en-US" sz="2400" dirty="0"/>
              <a:t>the loop maintains the </a:t>
            </a:r>
            <a:r>
              <a:rPr lang="en-US" sz="2400" b="1" dirty="0"/>
              <a:t>invariants</a:t>
            </a:r>
            <a:r>
              <a:rPr lang="en-US" sz="2400" dirty="0"/>
              <a:t> that:</a:t>
            </a:r>
          </a:p>
          <a:p>
            <a:pPr>
              <a:spcBef>
                <a:spcPts val="1200"/>
              </a:spcBef>
            </a:pPr>
            <a:r>
              <a:rPr lang="en-US" sz="2400" dirty="0"/>
              <a:t>Elements </a:t>
            </a:r>
            <a:r>
              <a:rPr lang="en-US" sz="2400" b="1" dirty="0"/>
              <a:t>before </a:t>
            </a:r>
            <a:r>
              <a:rPr lang="en-US" sz="2400" b="1" dirty="0" err="1"/>
              <a:t>nextLeft</a:t>
            </a: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dirty="0"/>
              <a:t>are </a:t>
            </a:r>
            <a:r>
              <a:rPr lang="en-US" sz="2400" b="1" dirty="0">
                <a:sym typeface="Symbol"/>
              </a:rPr>
              <a:t></a:t>
            </a:r>
            <a:r>
              <a:rPr lang="en-US" sz="2400" b="1" dirty="0"/>
              <a:t> the pivot</a:t>
            </a:r>
          </a:p>
          <a:p>
            <a:pPr>
              <a:spcBef>
                <a:spcPts val="1200"/>
              </a:spcBef>
            </a:pPr>
            <a:r>
              <a:rPr lang="en-US" sz="2400" dirty="0"/>
              <a:t>Elements </a:t>
            </a:r>
            <a:r>
              <a:rPr lang="en-US" sz="2400" b="1" dirty="0"/>
              <a:t>between </a:t>
            </a:r>
            <a:r>
              <a:rPr lang="en-US" sz="2400" b="1" dirty="0" err="1"/>
              <a:t>nextLeft</a:t>
            </a:r>
            <a:r>
              <a:rPr lang="en-US" sz="2400" b="1" dirty="0"/>
              <a:t> and i</a:t>
            </a:r>
            <a:r>
              <a:rPr lang="en-US" sz="2400" dirty="0"/>
              <a:t>, but not including i, </a:t>
            </a:r>
            <a:r>
              <a:rPr lang="en-US" sz="2400" b="1" dirty="0"/>
              <a:t>are &gt; the pivot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1600" y="2057400"/>
            <a:ext cx="228600" cy="228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410200" y="2057400"/>
            <a:ext cx="228600" cy="228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638800" y="2057400"/>
            <a:ext cx="228600" cy="228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867400" y="2057400"/>
            <a:ext cx="228600" cy="2286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096000" y="2057400"/>
            <a:ext cx="228600" cy="2286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324600" y="2057400"/>
            <a:ext cx="228600" cy="2286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553200" y="2057400"/>
            <a:ext cx="228600" cy="2286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6781800" y="2057400"/>
            <a:ext cx="228600" cy="2286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010400" y="2057400"/>
            <a:ext cx="228600" cy="2286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7239000" y="2057400"/>
            <a:ext cx="228600" cy="2286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467600" y="2057400"/>
            <a:ext cx="228600" cy="2286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7696200" y="2057400"/>
            <a:ext cx="228600" cy="2286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924800" y="2057400"/>
            <a:ext cx="228600" cy="2286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8153400" y="2057400"/>
            <a:ext cx="228600" cy="2286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8382000" y="2057400"/>
            <a:ext cx="228600" cy="2286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8610600" y="2057400"/>
            <a:ext cx="228600" cy="22860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5980093" y="2590800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nextLeft</a:t>
            </a:r>
            <a:endParaRPr lang="en-US" dirty="0"/>
          </a:p>
        </p:txBody>
      </p:sp>
      <p:cxnSp>
        <p:nvCxnSpPr>
          <p:cNvPr id="24" name="Straight Arrow Connector 23"/>
          <p:cNvCxnSpPr/>
          <p:nvPr/>
        </p:nvCxnSpPr>
        <p:spPr>
          <a:xfrm flipV="1">
            <a:off x="5991225" y="2362200"/>
            <a:ext cx="0" cy="30480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086600" y="2590800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flipV="1">
            <a:off x="8743950" y="1638300"/>
            <a:ext cx="0" cy="30480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105400" y="1676400"/>
            <a:ext cx="786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Symbol"/>
              </a:rPr>
              <a:t></a:t>
            </a:r>
            <a:r>
              <a:rPr lang="en-US" dirty="0"/>
              <a:t>pivot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06138" y="1676400"/>
            <a:ext cx="775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&gt;pivot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1676400"/>
            <a:ext cx="1062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unknown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0" y="1295400"/>
            <a:ext cx="660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pivot</a:t>
            </a:r>
          </a:p>
        </p:txBody>
      </p:sp>
      <p:cxnSp>
        <p:nvCxnSpPr>
          <p:cNvPr id="39" name="Straight Arrow Connector 38"/>
          <p:cNvCxnSpPr/>
          <p:nvPr/>
        </p:nvCxnSpPr>
        <p:spPr>
          <a:xfrm flipV="1">
            <a:off x="7134225" y="2362200"/>
            <a:ext cx="0" cy="30480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99567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partitioning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Theorem: </a:t>
            </a:r>
            <a:r>
              <a:rPr lang="en-US" sz="2400" dirty="0"/>
              <a:t>on each iteration of the for loop:</a:t>
            </a:r>
          </a:p>
          <a:p>
            <a:pPr marL="457200" lvl="1" indent="0">
              <a:buNone/>
            </a:pPr>
            <a:r>
              <a:rPr lang="en-US" sz="2000" dirty="0"/>
              <a:t>For any j:</a:t>
            </a:r>
          </a:p>
          <a:p>
            <a:pPr lvl="1" indent="-342900"/>
            <a:r>
              <a:rPr lang="en-US" sz="2000" dirty="0"/>
              <a:t>a[j] </a:t>
            </a:r>
            <a:r>
              <a:rPr lang="en-US" sz="2000" dirty="0">
                <a:sym typeface="Symbol"/>
              </a:rPr>
              <a:t></a:t>
            </a:r>
            <a:r>
              <a:rPr lang="en-US" sz="2000" dirty="0"/>
              <a:t> pivot,   if j&lt;</a:t>
            </a:r>
            <a:r>
              <a:rPr lang="en-US" sz="2000" dirty="0" err="1"/>
              <a:t>nextLeft</a:t>
            </a:r>
            <a:endParaRPr lang="en-US" sz="2000" dirty="0"/>
          </a:p>
          <a:p>
            <a:pPr lvl="1" indent="-342900"/>
            <a:r>
              <a:rPr lang="en-US" sz="2000" dirty="0"/>
              <a:t>a[j] &gt; pivot,   if </a:t>
            </a:r>
            <a:r>
              <a:rPr lang="en-US" sz="2000" dirty="0" err="1"/>
              <a:t>nextLeft</a:t>
            </a:r>
            <a:r>
              <a:rPr lang="en-US" sz="2000" dirty="0" err="1">
                <a:sym typeface="Symbol"/>
              </a:rPr>
              <a:t>j</a:t>
            </a:r>
            <a:r>
              <a:rPr lang="en-US" sz="2000" dirty="0">
                <a:sym typeface="Symbol"/>
              </a:rPr>
              <a:t>&lt;i</a:t>
            </a:r>
          </a:p>
          <a:p>
            <a:pPr lvl="1" indent="-342900"/>
            <a:endParaRPr lang="en-US" sz="2000" dirty="0">
              <a:sym typeface="Symbol"/>
            </a:endParaRPr>
          </a:p>
          <a:p>
            <a:pPr marL="0" indent="0">
              <a:buNone/>
            </a:pPr>
            <a:r>
              <a:rPr lang="en-US" sz="2400" b="1" dirty="0">
                <a:sym typeface="Symbol"/>
              </a:rPr>
              <a:t>Proof:</a:t>
            </a:r>
          </a:p>
          <a:p>
            <a:r>
              <a:rPr lang="en-US" sz="2400" dirty="0">
                <a:sym typeface="Symbol"/>
              </a:rPr>
              <a:t>For the first iteration, i=</a:t>
            </a:r>
            <a:r>
              <a:rPr lang="en-US" sz="2400" dirty="0" err="1">
                <a:sym typeface="Symbol"/>
              </a:rPr>
              <a:t>nextLeft</a:t>
            </a:r>
            <a:r>
              <a:rPr lang="en-US" sz="2400" dirty="0">
                <a:sym typeface="Symbol"/>
              </a:rPr>
              <a:t>=0</a:t>
            </a:r>
          </a:p>
          <a:p>
            <a:r>
              <a:rPr lang="en-US" sz="2400" dirty="0">
                <a:sym typeface="Symbol"/>
              </a:rPr>
              <a:t>So there are no j&lt;</a:t>
            </a:r>
            <a:r>
              <a:rPr lang="en-US" sz="2400" dirty="0" err="1">
                <a:sym typeface="Symbol"/>
              </a:rPr>
              <a:t>nextLeft</a:t>
            </a:r>
            <a:r>
              <a:rPr lang="en-US" sz="2400" dirty="0">
                <a:sym typeface="Symbol"/>
              </a:rPr>
              <a:t> or j&lt;i</a:t>
            </a:r>
          </a:p>
          <a:p>
            <a:r>
              <a:rPr lang="en-US" sz="2400" dirty="0">
                <a:sym typeface="Symbol"/>
              </a:rPr>
              <a:t>So it’s trivially true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5181600" y="2057400"/>
            <a:ext cx="228600" cy="228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410200" y="2057400"/>
            <a:ext cx="228600" cy="228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638800" y="2057400"/>
            <a:ext cx="228600" cy="228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867400" y="2057400"/>
            <a:ext cx="228600" cy="2286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096000" y="2057400"/>
            <a:ext cx="228600" cy="2286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324600" y="2057400"/>
            <a:ext cx="228600" cy="2286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553200" y="2057400"/>
            <a:ext cx="228600" cy="2286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6781800" y="2057400"/>
            <a:ext cx="228600" cy="2286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010400" y="2057400"/>
            <a:ext cx="228600" cy="2286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7239000" y="2057400"/>
            <a:ext cx="228600" cy="2286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467600" y="2057400"/>
            <a:ext cx="228600" cy="2286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7696200" y="2057400"/>
            <a:ext cx="228600" cy="2286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924800" y="2057400"/>
            <a:ext cx="228600" cy="2286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8153400" y="2057400"/>
            <a:ext cx="228600" cy="2286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8382000" y="2057400"/>
            <a:ext cx="228600" cy="2286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8610600" y="2057400"/>
            <a:ext cx="228600" cy="22860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5980093" y="2590800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nextLeft</a:t>
            </a:r>
            <a:endParaRPr lang="en-US" dirty="0"/>
          </a:p>
        </p:txBody>
      </p:sp>
      <p:cxnSp>
        <p:nvCxnSpPr>
          <p:cNvPr id="24" name="Straight Arrow Connector 23"/>
          <p:cNvCxnSpPr/>
          <p:nvPr/>
        </p:nvCxnSpPr>
        <p:spPr>
          <a:xfrm flipV="1">
            <a:off x="5991225" y="2362200"/>
            <a:ext cx="0" cy="30480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086600" y="2590800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flipV="1">
            <a:off x="8743950" y="1638300"/>
            <a:ext cx="0" cy="30480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105400" y="1676400"/>
            <a:ext cx="775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&lt;pivot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06138" y="1676400"/>
            <a:ext cx="775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&gt;pivot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1676400"/>
            <a:ext cx="1062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unknown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0" y="1295400"/>
            <a:ext cx="660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pivot</a:t>
            </a:r>
          </a:p>
        </p:txBody>
      </p:sp>
      <p:cxnSp>
        <p:nvCxnSpPr>
          <p:cNvPr id="39" name="Straight Arrow Connector 38"/>
          <p:cNvCxnSpPr/>
          <p:nvPr/>
        </p:nvCxnSpPr>
        <p:spPr>
          <a:xfrm flipV="1">
            <a:off x="7134225" y="2362200"/>
            <a:ext cx="0" cy="30480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84335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partitioning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2672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Theorem: </a:t>
            </a:r>
            <a:r>
              <a:rPr lang="en-US" sz="2400" dirty="0"/>
              <a:t>on each iteration of the for loop:</a:t>
            </a:r>
          </a:p>
          <a:p>
            <a:pPr marL="457200" lvl="1" indent="0">
              <a:buNone/>
            </a:pPr>
            <a:r>
              <a:rPr lang="en-US" sz="2000" dirty="0"/>
              <a:t>For any j:</a:t>
            </a:r>
          </a:p>
          <a:p>
            <a:pPr lvl="1" indent="-342900"/>
            <a:r>
              <a:rPr lang="en-US" sz="2000" dirty="0"/>
              <a:t>a[j] </a:t>
            </a:r>
            <a:r>
              <a:rPr lang="en-US" sz="2000" dirty="0">
                <a:sym typeface="Symbol"/>
              </a:rPr>
              <a:t></a:t>
            </a:r>
            <a:r>
              <a:rPr lang="en-US" sz="2000" dirty="0"/>
              <a:t> pivot,   if j&lt;</a:t>
            </a:r>
            <a:r>
              <a:rPr lang="en-US" sz="2000" dirty="0" err="1"/>
              <a:t>nextLeft</a:t>
            </a:r>
            <a:endParaRPr lang="en-US" sz="2000" dirty="0"/>
          </a:p>
          <a:p>
            <a:pPr lvl="1" indent="-342900"/>
            <a:r>
              <a:rPr lang="en-US" sz="2000" dirty="0"/>
              <a:t>a[j] &gt; pivot,   if </a:t>
            </a:r>
            <a:r>
              <a:rPr lang="en-US" sz="2000" dirty="0" err="1"/>
              <a:t>nextLeft</a:t>
            </a:r>
            <a:r>
              <a:rPr lang="en-US" sz="2000" dirty="0" err="1">
                <a:sym typeface="Symbol"/>
              </a:rPr>
              <a:t>j</a:t>
            </a:r>
            <a:r>
              <a:rPr lang="en-US" sz="2000" dirty="0">
                <a:sym typeface="Symbol"/>
              </a:rPr>
              <a:t>&lt;i</a:t>
            </a:r>
          </a:p>
          <a:p>
            <a:pPr lvl="1" indent="-342900"/>
            <a:endParaRPr lang="en-US" sz="2000" dirty="0">
              <a:sym typeface="Symbol"/>
            </a:endParaRPr>
          </a:p>
          <a:p>
            <a:pPr marL="0" indent="0">
              <a:buNone/>
            </a:pPr>
            <a:r>
              <a:rPr lang="en-US" sz="2400" b="1" dirty="0">
                <a:sym typeface="Symbol"/>
              </a:rPr>
              <a:t>Proof:</a:t>
            </a:r>
          </a:p>
          <a:p>
            <a:r>
              <a:rPr lang="en-US" sz="2400" dirty="0">
                <a:sym typeface="Symbol"/>
              </a:rPr>
              <a:t>Now assume it’s true at the end of iteration i-1</a:t>
            </a:r>
          </a:p>
          <a:p>
            <a:r>
              <a:rPr lang="en-US" sz="2400" dirty="0">
                <a:sym typeface="Symbol"/>
              </a:rPr>
              <a:t>Let’s show it’s true at the end of iteration i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5181600" y="2057400"/>
            <a:ext cx="228600" cy="228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410200" y="2057400"/>
            <a:ext cx="228600" cy="228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638800" y="2057400"/>
            <a:ext cx="228600" cy="228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867400" y="2057400"/>
            <a:ext cx="228600" cy="2286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096000" y="2057400"/>
            <a:ext cx="228600" cy="2286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324600" y="2057400"/>
            <a:ext cx="228600" cy="2286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553200" y="2057400"/>
            <a:ext cx="228600" cy="2286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6781800" y="2057400"/>
            <a:ext cx="228600" cy="2286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010400" y="2057400"/>
            <a:ext cx="228600" cy="2286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7239000" y="2057400"/>
            <a:ext cx="228600" cy="2286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467600" y="2057400"/>
            <a:ext cx="228600" cy="2286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7696200" y="2057400"/>
            <a:ext cx="228600" cy="2286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924800" y="2057400"/>
            <a:ext cx="228600" cy="2286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8153400" y="2057400"/>
            <a:ext cx="228600" cy="2286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8382000" y="2057400"/>
            <a:ext cx="228600" cy="2286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8610600" y="2057400"/>
            <a:ext cx="228600" cy="22860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5980093" y="2590800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nextLeft</a:t>
            </a:r>
            <a:endParaRPr lang="en-US" dirty="0"/>
          </a:p>
        </p:txBody>
      </p:sp>
      <p:cxnSp>
        <p:nvCxnSpPr>
          <p:cNvPr id="24" name="Straight Arrow Connector 23"/>
          <p:cNvCxnSpPr/>
          <p:nvPr/>
        </p:nvCxnSpPr>
        <p:spPr>
          <a:xfrm flipV="1">
            <a:off x="5991225" y="2362200"/>
            <a:ext cx="0" cy="30480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086600" y="2590800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flipV="1">
            <a:off x="8743950" y="1638300"/>
            <a:ext cx="0" cy="30480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105400" y="1676400"/>
            <a:ext cx="775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&lt;pivot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06138" y="1676400"/>
            <a:ext cx="775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&gt;pivot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1676400"/>
            <a:ext cx="1062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unknown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0" y="1295400"/>
            <a:ext cx="660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pivot</a:t>
            </a:r>
          </a:p>
        </p:txBody>
      </p:sp>
      <p:cxnSp>
        <p:nvCxnSpPr>
          <p:cNvPr id="39" name="Straight Arrow Connector 38"/>
          <p:cNvCxnSpPr/>
          <p:nvPr/>
        </p:nvCxnSpPr>
        <p:spPr>
          <a:xfrm flipV="1">
            <a:off x="7134225" y="2362200"/>
            <a:ext cx="0" cy="30480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3184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partitioning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5105400" cy="50292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b="1" dirty="0"/>
              <a:t>Theorem: </a:t>
            </a:r>
            <a:r>
              <a:rPr lang="en-US" sz="2400" dirty="0"/>
              <a:t>on each iteration of the</a:t>
            </a:r>
            <a:br>
              <a:rPr lang="en-US" sz="2400" dirty="0"/>
            </a:br>
            <a:r>
              <a:rPr lang="en-US" sz="2400" dirty="0"/>
              <a:t>for loop:</a:t>
            </a:r>
          </a:p>
          <a:p>
            <a:pPr marL="457200" lvl="1" indent="0">
              <a:buNone/>
            </a:pPr>
            <a:r>
              <a:rPr lang="en-US" sz="2000" dirty="0"/>
              <a:t>For any j:</a:t>
            </a:r>
          </a:p>
          <a:p>
            <a:pPr lvl="1" indent="-342900"/>
            <a:r>
              <a:rPr lang="en-US" sz="2000" dirty="0"/>
              <a:t>a[j] </a:t>
            </a:r>
            <a:r>
              <a:rPr lang="en-US" sz="2000" dirty="0">
                <a:sym typeface="Symbol"/>
              </a:rPr>
              <a:t></a:t>
            </a:r>
            <a:r>
              <a:rPr lang="en-US" sz="2000" dirty="0"/>
              <a:t> pivot,   if j&lt;</a:t>
            </a:r>
            <a:r>
              <a:rPr lang="en-US" sz="2000" dirty="0" err="1"/>
              <a:t>nextLeft</a:t>
            </a:r>
            <a:endParaRPr lang="en-US" sz="2000" dirty="0"/>
          </a:p>
          <a:p>
            <a:pPr lvl="1" indent="-342900"/>
            <a:r>
              <a:rPr lang="en-US" sz="2000" dirty="0"/>
              <a:t>a[j] &gt; pivot,   if </a:t>
            </a:r>
            <a:r>
              <a:rPr lang="en-US" sz="2000" dirty="0" err="1"/>
              <a:t>nextLeft</a:t>
            </a:r>
            <a:r>
              <a:rPr lang="en-US" sz="2000" dirty="0" err="1">
                <a:sym typeface="Symbol"/>
              </a:rPr>
              <a:t>j</a:t>
            </a:r>
            <a:r>
              <a:rPr lang="en-US" sz="2000" dirty="0">
                <a:sym typeface="Symbol"/>
              </a:rPr>
              <a:t>&lt;i</a:t>
            </a:r>
          </a:p>
          <a:p>
            <a:pPr lvl="1" indent="-342900"/>
            <a:endParaRPr lang="en-US" sz="2000" dirty="0">
              <a:sym typeface="Symbol"/>
            </a:endParaRPr>
          </a:p>
          <a:p>
            <a:pPr marL="0" indent="0">
              <a:buNone/>
            </a:pPr>
            <a:r>
              <a:rPr lang="en-US" sz="2400" b="1" dirty="0">
                <a:sym typeface="Symbol"/>
              </a:rPr>
              <a:t>Proof:</a:t>
            </a:r>
          </a:p>
          <a:p>
            <a:r>
              <a:rPr lang="en-US" sz="2400" dirty="0">
                <a:sym typeface="Symbol"/>
              </a:rPr>
              <a:t>So we know</a:t>
            </a:r>
          </a:p>
          <a:p>
            <a:pPr lvl="1"/>
            <a:r>
              <a:rPr lang="en-US" sz="2000" dirty="0">
                <a:sym typeface="Symbol"/>
              </a:rPr>
              <a:t>a[j]  pivot, for j&lt;</a:t>
            </a:r>
            <a:r>
              <a:rPr lang="en-US" sz="2000" dirty="0" err="1">
                <a:sym typeface="Symbol"/>
              </a:rPr>
              <a:t>nextLeft</a:t>
            </a:r>
            <a:endParaRPr lang="en-US" sz="2000" dirty="0">
              <a:sym typeface="Symbol"/>
            </a:endParaRPr>
          </a:p>
          <a:p>
            <a:pPr lvl="1"/>
            <a:r>
              <a:rPr lang="en-US" sz="2000" dirty="0">
                <a:sym typeface="Symbol"/>
              </a:rPr>
              <a:t>a[j] &gt; pivot, for </a:t>
            </a:r>
            <a:r>
              <a:rPr lang="en-US" sz="2000" dirty="0" err="1">
                <a:sym typeface="Symbol"/>
              </a:rPr>
              <a:t>nextLeftj</a:t>
            </a:r>
            <a:r>
              <a:rPr lang="en-US" sz="2000" dirty="0">
                <a:sym typeface="Symbol"/>
              </a:rPr>
              <a:t>&lt;i-1</a:t>
            </a:r>
          </a:p>
          <a:p>
            <a:r>
              <a:rPr lang="en-US" sz="2400" dirty="0">
                <a:sym typeface="Symbol"/>
              </a:rPr>
              <a:t>Case 1: a[i] &gt; pivot</a:t>
            </a:r>
          </a:p>
          <a:p>
            <a:pPr lvl="1"/>
            <a:r>
              <a:rPr lang="en-US" sz="2000" dirty="0">
                <a:sym typeface="Symbol"/>
              </a:rPr>
              <a:t>Don’t do anything</a:t>
            </a:r>
          </a:p>
          <a:p>
            <a:pPr lvl="1"/>
            <a:r>
              <a:rPr lang="en-US" sz="2000" dirty="0">
                <a:sym typeface="Symbol"/>
              </a:rPr>
              <a:t>So a[j] still  pivot, for j&lt;</a:t>
            </a:r>
            <a:r>
              <a:rPr lang="en-US" sz="2000" dirty="0" err="1">
                <a:sym typeface="Symbol"/>
              </a:rPr>
              <a:t>nextLeft</a:t>
            </a:r>
            <a:endParaRPr lang="en-US" sz="2000" dirty="0">
              <a:sym typeface="Symbol"/>
            </a:endParaRPr>
          </a:p>
          <a:p>
            <a:pPr lvl="1"/>
            <a:r>
              <a:rPr lang="en-US" sz="2000" dirty="0">
                <a:sym typeface="Symbol"/>
              </a:rPr>
              <a:t>a[j] still &gt; pivot, for </a:t>
            </a:r>
            <a:r>
              <a:rPr lang="en-US" sz="2000" dirty="0" err="1">
                <a:sym typeface="Symbol"/>
              </a:rPr>
              <a:t>nextLeftj</a:t>
            </a:r>
            <a:r>
              <a:rPr lang="en-US" sz="2000" dirty="0">
                <a:sym typeface="Symbol"/>
              </a:rPr>
              <a:t>&lt;i-1</a:t>
            </a:r>
          </a:p>
          <a:p>
            <a:pPr lvl="1"/>
            <a:r>
              <a:rPr lang="en-US" sz="2000" dirty="0">
                <a:sym typeface="Symbol"/>
              </a:rPr>
              <a:t>but a[i] also &gt; pivot, so</a:t>
            </a:r>
          </a:p>
          <a:p>
            <a:pPr lvl="1"/>
            <a:r>
              <a:rPr lang="en-US" sz="2000" dirty="0">
                <a:sym typeface="Symbol"/>
              </a:rPr>
              <a:t>a[j] &gt; pivot, for </a:t>
            </a:r>
            <a:r>
              <a:rPr lang="en-US" sz="2000" dirty="0" err="1">
                <a:sym typeface="Symbol"/>
              </a:rPr>
              <a:t>nextLeftj</a:t>
            </a:r>
            <a:r>
              <a:rPr lang="en-US" sz="2000" dirty="0">
                <a:sym typeface="Symbol"/>
              </a:rPr>
              <a:t>&lt;i</a:t>
            </a:r>
          </a:p>
          <a:p>
            <a:pPr lvl="1"/>
            <a:endParaRPr lang="en-US" sz="2000" dirty="0">
              <a:sym typeface="Symbol"/>
            </a:endParaRPr>
          </a:p>
          <a:p>
            <a:pPr lvl="1"/>
            <a:endParaRPr lang="en-US" sz="2000" dirty="0">
              <a:sym typeface="Symbol"/>
            </a:endParaRPr>
          </a:p>
          <a:p>
            <a:pPr lvl="1"/>
            <a:endParaRPr lang="en-US" sz="2000" dirty="0">
              <a:sym typeface="Symbol"/>
            </a:endParaRPr>
          </a:p>
          <a:p>
            <a:pPr lvl="1"/>
            <a:endParaRPr lang="en-US" sz="2000" dirty="0"/>
          </a:p>
        </p:txBody>
      </p:sp>
      <p:sp>
        <p:nvSpPr>
          <p:cNvPr id="6" name="Rectangle 5"/>
          <p:cNvSpPr/>
          <p:nvPr/>
        </p:nvSpPr>
        <p:spPr>
          <a:xfrm>
            <a:off x="5181600" y="2057400"/>
            <a:ext cx="228600" cy="228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410200" y="2057400"/>
            <a:ext cx="228600" cy="228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638800" y="2057400"/>
            <a:ext cx="228600" cy="228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867400" y="2057400"/>
            <a:ext cx="228600" cy="2286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096000" y="2057400"/>
            <a:ext cx="228600" cy="2286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324600" y="2057400"/>
            <a:ext cx="228600" cy="2286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553200" y="2057400"/>
            <a:ext cx="228600" cy="2286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6781800" y="2057400"/>
            <a:ext cx="228600" cy="2286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010400" y="2057400"/>
            <a:ext cx="228600" cy="2286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7239000" y="2057400"/>
            <a:ext cx="228600" cy="2286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467600" y="2057400"/>
            <a:ext cx="228600" cy="2286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7696200" y="2057400"/>
            <a:ext cx="228600" cy="2286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924800" y="2057400"/>
            <a:ext cx="228600" cy="2286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8153400" y="2057400"/>
            <a:ext cx="228600" cy="2286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8382000" y="2057400"/>
            <a:ext cx="228600" cy="2286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8610600" y="2057400"/>
            <a:ext cx="228600" cy="22860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5980093" y="2590800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nextLeft</a:t>
            </a:r>
            <a:endParaRPr lang="en-US" dirty="0"/>
          </a:p>
        </p:txBody>
      </p:sp>
      <p:cxnSp>
        <p:nvCxnSpPr>
          <p:cNvPr id="24" name="Straight Arrow Connector 23"/>
          <p:cNvCxnSpPr/>
          <p:nvPr/>
        </p:nvCxnSpPr>
        <p:spPr>
          <a:xfrm flipV="1">
            <a:off x="5991225" y="2362200"/>
            <a:ext cx="0" cy="30480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086600" y="2590800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flipV="1">
            <a:off x="8743950" y="1638300"/>
            <a:ext cx="0" cy="30480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105400" y="1676400"/>
            <a:ext cx="775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&lt;pivot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06138" y="1676400"/>
            <a:ext cx="775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&gt;pivot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1676400"/>
            <a:ext cx="1062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unknown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0" y="1295400"/>
            <a:ext cx="660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pivot</a:t>
            </a:r>
          </a:p>
        </p:txBody>
      </p:sp>
      <p:cxnSp>
        <p:nvCxnSpPr>
          <p:cNvPr id="39" name="Straight Arrow Connector 38"/>
          <p:cNvCxnSpPr/>
          <p:nvPr/>
        </p:nvCxnSpPr>
        <p:spPr>
          <a:xfrm flipV="1">
            <a:off x="7134225" y="2362200"/>
            <a:ext cx="0" cy="30480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5054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partitioning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5105400" cy="4953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/>
              <a:t>Theorem: </a:t>
            </a:r>
            <a:r>
              <a:rPr lang="en-US" sz="2400" dirty="0"/>
              <a:t>on each iteration of the</a:t>
            </a:r>
            <a:br>
              <a:rPr lang="en-US" sz="2400" dirty="0"/>
            </a:br>
            <a:r>
              <a:rPr lang="en-US" sz="2400" dirty="0"/>
              <a:t>for loop:</a:t>
            </a:r>
          </a:p>
          <a:p>
            <a:pPr marL="457200" lvl="1" indent="0">
              <a:buNone/>
            </a:pPr>
            <a:r>
              <a:rPr lang="en-US" sz="2000" dirty="0"/>
              <a:t>For any j:</a:t>
            </a:r>
          </a:p>
          <a:p>
            <a:pPr lvl="1" indent="-342900"/>
            <a:r>
              <a:rPr lang="en-US" sz="2000" dirty="0"/>
              <a:t>a[j] </a:t>
            </a:r>
            <a:r>
              <a:rPr lang="en-US" sz="2000" dirty="0">
                <a:sym typeface="Symbol"/>
              </a:rPr>
              <a:t></a:t>
            </a:r>
            <a:r>
              <a:rPr lang="en-US" sz="2000" dirty="0"/>
              <a:t> pivot,   if j&lt;</a:t>
            </a:r>
            <a:r>
              <a:rPr lang="en-US" sz="2000" dirty="0" err="1"/>
              <a:t>nextLeft</a:t>
            </a:r>
            <a:endParaRPr lang="en-US" sz="2000" dirty="0"/>
          </a:p>
          <a:p>
            <a:pPr lvl="1" indent="-342900"/>
            <a:r>
              <a:rPr lang="en-US" sz="2000" dirty="0"/>
              <a:t>a[j] &gt; pivot,   if </a:t>
            </a:r>
            <a:r>
              <a:rPr lang="en-US" sz="2000" dirty="0" err="1"/>
              <a:t>nextLeft</a:t>
            </a:r>
            <a:r>
              <a:rPr lang="en-US" sz="2000" dirty="0" err="1">
                <a:sym typeface="Symbol"/>
              </a:rPr>
              <a:t>j</a:t>
            </a:r>
            <a:r>
              <a:rPr lang="en-US" sz="2000" dirty="0">
                <a:sym typeface="Symbol"/>
              </a:rPr>
              <a:t>&lt;i</a:t>
            </a:r>
          </a:p>
          <a:p>
            <a:pPr lvl="1" indent="-342900"/>
            <a:endParaRPr lang="en-US" sz="2000" dirty="0">
              <a:sym typeface="Symbol"/>
            </a:endParaRPr>
          </a:p>
          <a:p>
            <a:pPr marL="0" indent="0">
              <a:buNone/>
            </a:pPr>
            <a:r>
              <a:rPr lang="en-US" sz="2400" b="1" dirty="0">
                <a:sym typeface="Symbol"/>
              </a:rPr>
              <a:t>Proof:</a:t>
            </a:r>
          </a:p>
          <a:p>
            <a:r>
              <a:rPr lang="en-US" sz="2400" dirty="0">
                <a:sym typeface="Symbol"/>
              </a:rPr>
              <a:t>So we know</a:t>
            </a:r>
          </a:p>
          <a:p>
            <a:pPr lvl="1"/>
            <a:r>
              <a:rPr lang="en-US" sz="2000" dirty="0">
                <a:sym typeface="Symbol"/>
              </a:rPr>
              <a:t>a[j]  pivot, for j&lt;</a:t>
            </a:r>
            <a:r>
              <a:rPr lang="en-US" sz="2000" dirty="0" err="1">
                <a:sym typeface="Symbol"/>
              </a:rPr>
              <a:t>nextLeft</a:t>
            </a:r>
            <a:endParaRPr lang="en-US" sz="2000" dirty="0">
              <a:sym typeface="Symbol"/>
            </a:endParaRPr>
          </a:p>
          <a:p>
            <a:pPr lvl="1"/>
            <a:r>
              <a:rPr lang="en-US" sz="2000" dirty="0">
                <a:sym typeface="Symbol"/>
              </a:rPr>
              <a:t>a[j] &gt; pivot, for </a:t>
            </a:r>
            <a:r>
              <a:rPr lang="en-US" sz="2000" dirty="0" err="1">
                <a:sym typeface="Symbol"/>
              </a:rPr>
              <a:t>nextLeftj</a:t>
            </a:r>
            <a:r>
              <a:rPr lang="en-US" sz="2000" dirty="0">
                <a:sym typeface="Symbol"/>
              </a:rPr>
              <a:t>&lt;i-1</a:t>
            </a:r>
          </a:p>
          <a:p>
            <a:r>
              <a:rPr lang="en-US" sz="2400" dirty="0">
                <a:sym typeface="Symbol"/>
              </a:rPr>
              <a:t>Case 2: a[i]  pivot</a:t>
            </a:r>
          </a:p>
          <a:p>
            <a:pPr lvl="1"/>
            <a:r>
              <a:rPr lang="en-US" sz="2000" dirty="0">
                <a:sym typeface="Symbol"/>
              </a:rPr>
              <a:t>We swap a[i] and a[</a:t>
            </a:r>
            <a:r>
              <a:rPr lang="en-US" sz="2000" dirty="0" err="1">
                <a:sym typeface="Symbol"/>
              </a:rPr>
              <a:t>nextLeft</a:t>
            </a:r>
            <a:r>
              <a:rPr lang="en-US" sz="2000" dirty="0">
                <a:sym typeface="Symbol"/>
              </a:rPr>
              <a:t>]</a:t>
            </a:r>
          </a:p>
          <a:p>
            <a:pPr lvl="2"/>
            <a:r>
              <a:rPr lang="en-US" sz="1600" dirty="0">
                <a:sym typeface="Symbol"/>
              </a:rPr>
              <a:t>a[</a:t>
            </a:r>
            <a:r>
              <a:rPr lang="en-US" sz="1600" dirty="0" err="1">
                <a:sym typeface="Symbol"/>
              </a:rPr>
              <a:t>nextLeft</a:t>
            </a:r>
            <a:r>
              <a:rPr lang="en-US" sz="1600" dirty="0">
                <a:sym typeface="Symbol"/>
              </a:rPr>
              <a:t>] is now  pivot</a:t>
            </a:r>
          </a:p>
          <a:p>
            <a:pPr lvl="1"/>
            <a:r>
              <a:rPr lang="en-US" sz="2000" dirty="0">
                <a:sym typeface="Symbol"/>
              </a:rPr>
              <a:t>And we increment </a:t>
            </a:r>
            <a:r>
              <a:rPr lang="en-US" sz="2000" dirty="0" err="1">
                <a:sym typeface="Symbol"/>
              </a:rPr>
              <a:t>nextLeft</a:t>
            </a:r>
            <a:endParaRPr lang="en-US" sz="2000" dirty="0">
              <a:sym typeface="Symbol"/>
            </a:endParaRPr>
          </a:p>
          <a:p>
            <a:pPr lvl="1"/>
            <a:r>
              <a:rPr lang="en-US" sz="2000" dirty="0">
                <a:sym typeface="Symbol"/>
              </a:rPr>
              <a:t>So once again, a[j]  pivot, for j&lt;</a:t>
            </a:r>
            <a:r>
              <a:rPr lang="en-US" sz="2000" dirty="0" err="1">
                <a:sym typeface="Symbol"/>
              </a:rPr>
              <a:t>nextLeft</a:t>
            </a:r>
            <a:endParaRPr lang="en-US" sz="2000" dirty="0">
              <a:sym typeface="Symbol"/>
            </a:endParaRPr>
          </a:p>
          <a:p>
            <a:pPr lvl="1"/>
            <a:endParaRPr lang="en-US" sz="2000" dirty="0">
              <a:sym typeface="Symbol"/>
            </a:endParaRPr>
          </a:p>
          <a:p>
            <a:pPr lvl="1"/>
            <a:endParaRPr lang="en-US" sz="2000" dirty="0">
              <a:sym typeface="Symbol"/>
            </a:endParaRPr>
          </a:p>
          <a:p>
            <a:pPr lvl="1"/>
            <a:endParaRPr lang="en-US" sz="2000" dirty="0">
              <a:sym typeface="Symbol"/>
            </a:endParaRPr>
          </a:p>
          <a:p>
            <a:pPr lvl="1"/>
            <a:endParaRPr lang="en-US" sz="2000" dirty="0"/>
          </a:p>
        </p:txBody>
      </p:sp>
      <p:sp>
        <p:nvSpPr>
          <p:cNvPr id="6" name="Rectangle 5"/>
          <p:cNvSpPr/>
          <p:nvPr/>
        </p:nvSpPr>
        <p:spPr>
          <a:xfrm>
            <a:off x="5181600" y="2057400"/>
            <a:ext cx="228600" cy="228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410200" y="2057400"/>
            <a:ext cx="228600" cy="228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638800" y="2057400"/>
            <a:ext cx="228600" cy="228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867400" y="2057400"/>
            <a:ext cx="228600" cy="2286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096000" y="2057400"/>
            <a:ext cx="228600" cy="2286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324600" y="2057400"/>
            <a:ext cx="228600" cy="2286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553200" y="2057400"/>
            <a:ext cx="228600" cy="2286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6781800" y="2057400"/>
            <a:ext cx="228600" cy="2286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010400" y="2057400"/>
            <a:ext cx="228600" cy="2286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7239000" y="2057400"/>
            <a:ext cx="228600" cy="2286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467600" y="2057400"/>
            <a:ext cx="228600" cy="2286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7696200" y="2057400"/>
            <a:ext cx="228600" cy="2286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924800" y="2057400"/>
            <a:ext cx="228600" cy="2286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8153400" y="2057400"/>
            <a:ext cx="228600" cy="2286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8382000" y="2057400"/>
            <a:ext cx="228600" cy="2286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8610600" y="2057400"/>
            <a:ext cx="228600" cy="22860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5980093" y="2590800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nextLeft</a:t>
            </a:r>
            <a:endParaRPr lang="en-US" dirty="0"/>
          </a:p>
        </p:txBody>
      </p:sp>
      <p:cxnSp>
        <p:nvCxnSpPr>
          <p:cNvPr id="24" name="Straight Arrow Connector 23"/>
          <p:cNvCxnSpPr/>
          <p:nvPr/>
        </p:nvCxnSpPr>
        <p:spPr>
          <a:xfrm flipV="1">
            <a:off x="5991225" y="2362200"/>
            <a:ext cx="0" cy="30480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086600" y="2590800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flipV="1">
            <a:off x="8743950" y="1638300"/>
            <a:ext cx="0" cy="30480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105400" y="1676400"/>
            <a:ext cx="775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&lt;pivot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06138" y="1676400"/>
            <a:ext cx="775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&gt;pivot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1676400"/>
            <a:ext cx="1062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unknown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0" y="1295400"/>
            <a:ext cx="660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pivot</a:t>
            </a:r>
          </a:p>
        </p:txBody>
      </p:sp>
      <p:cxnSp>
        <p:nvCxnSpPr>
          <p:cNvPr id="39" name="Straight Arrow Connector 38"/>
          <p:cNvCxnSpPr/>
          <p:nvPr/>
        </p:nvCxnSpPr>
        <p:spPr>
          <a:xfrm flipV="1">
            <a:off x="7134225" y="2362200"/>
            <a:ext cx="0" cy="30480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93420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partitioning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5105400" cy="51816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b="1" dirty="0"/>
              <a:t>Theorem: </a:t>
            </a:r>
            <a:r>
              <a:rPr lang="en-US" sz="2400" dirty="0"/>
              <a:t>on each iteration of the</a:t>
            </a:r>
            <a:br>
              <a:rPr lang="en-US" sz="2400" dirty="0"/>
            </a:br>
            <a:r>
              <a:rPr lang="en-US" sz="2400" dirty="0"/>
              <a:t>for loop:</a:t>
            </a:r>
          </a:p>
          <a:p>
            <a:pPr marL="457200" lvl="1" indent="0">
              <a:buNone/>
            </a:pPr>
            <a:r>
              <a:rPr lang="en-US" sz="2000" dirty="0"/>
              <a:t>For any j:</a:t>
            </a:r>
          </a:p>
          <a:p>
            <a:pPr lvl="1" indent="-342900"/>
            <a:r>
              <a:rPr lang="en-US" sz="2000" dirty="0"/>
              <a:t>a[j] </a:t>
            </a:r>
            <a:r>
              <a:rPr lang="en-US" sz="2000" dirty="0">
                <a:sym typeface="Symbol"/>
              </a:rPr>
              <a:t></a:t>
            </a:r>
            <a:r>
              <a:rPr lang="en-US" sz="2000" dirty="0"/>
              <a:t> pivot,   if j&lt;</a:t>
            </a:r>
            <a:r>
              <a:rPr lang="en-US" sz="2000" dirty="0" err="1"/>
              <a:t>nextLeft</a:t>
            </a:r>
            <a:endParaRPr lang="en-US" sz="2000" dirty="0"/>
          </a:p>
          <a:p>
            <a:pPr lvl="1" indent="-342900"/>
            <a:r>
              <a:rPr lang="en-US" sz="2000" dirty="0"/>
              <a:t>a[j] &gt; pivot,   if </a:t>
            </a:r>
            <a:r>
              <a:rPr lang="en-US" sz="2000" dirty="0" err="1"/>
              <a:t>nextLeft</a:t>
            </a:r>
            <a:r>
              <a:rPr lang="en-US" sz="2000" dirty="0" err="1">
                <a:sym typeface="Symbol"/>
              </a:rPr>
              <a:t>j</a:t>
            </a:r>
            <a:r>
              <a:rPr lang="en-US" sz="2000" dirty="0">
                <a:sym typeface="Symbol"/>
              </a:rPr>
              <a:t>&lt;i</a:t>
            </a:r>
          </a:p>
          <a:p>
            <a:pPr lvl="1" indent="-342900"/>
            <a:endParaRPr lang="en-US" sz="2000" dirty="0">
              <a:sym typeface="Symbol"/>
            </a:endParaRPr>
          </a:p>
          <a:p>
            <a:pPr marL="0" indent="0">
              <a:buNone/>
            </a:pPr>
            <a:r>
              <a:rPr lang="en-US" sz="2400" b="1" dirty="0">
                <a:sym typeface="Symbol"/>
              </a:rPr>
              <a:t>Proof:</a:t>
            </a:r>
          </a:p>
          <a:p>
            <a:r>
              <a:rPr lang="en-US" sz="2400" dirty="0">
                <a:sym typeface="Symbol"/>
              </a:rPr>
              <a:t>So we know</a:t>
            </a:r>
          </a:p>
          <a:p>
            <a:pPr lvl="1"/>
            <a:r>
              <a:rPr lang="en-US" sz="2000" dirty="0">
                <a:sym typeface="Symbol"/>
              </a:rPr>
              <a:t>a[j]  pivot, for j&lt;</a:t>
            </a:r>
            <a:r>
              <a:rPr lang="en-US" sz="2000" dirty="0" err="1">
                <a:sym typeface="Symbol"/>
              </a:rPr>
              <a:t>nextLeft</a:t>
            </a:r>
            <a:endParaRPr lang="en-US" sz="2000" dirty="0">
              <a:sym typeface="Symbol"/>
            </a:endParaRPr>
          </a:p>
          <a:p>
            <a:pPr lvl="1"/>
            <a:r>
              <a:rPr lang="en-US" sz="2000" dirty="0">
                <a:sym typeface="Symbol"/>
              </a:rPr>
              <a:t>a[j] &gt; pivot, for </a:t>
            </a:r>
            <a:r>
              <a:rPr lang="en-US" sz="2000" dirty="0" err="1">
                <a:sym typeface="Symbol"/>
              </a:rPr>
              <a:t>nextLeftj</a:t>
            </a:r>
            <a:r>
              <a:rPr lang="en-US" sz="2000" dirty="0">
                <a:sym typeface="Symbol"/>
              </a:rPr>
              <a:t>&lt;i-1</a:t>
            </a:r>
          </a:p>
          <a:p>
            <a:r>
              <a:rPr lang="en-US" sz="2400" dirty="0">
                <a:sym typeface="Symbol"/>
              </a:rPr>
              <a:t>Case 2: a[i]  pivot</a:t>
            </a:r>
          </a:p>
          <a:p>
            <a:pPr lvl="1"/>
            <a:r>
              <a:rPr lang="en-US" sz="2000" dirty="0">
                <a:sym typeface="Symbol"/>
              </a:rPr>
              <a:t>We swap a[i] and a[</a:t>
            </a:r>
            <a:r>
              <a:rPr lang="en-US" sz="2000" dirty="0" err="1">
                <a:sym typeface="Symbol"/>
              </a:rPr>
              <a:t>nextLeft</a:t>
            </a:r>
            <a:r>
              <a:rPr lang="en-US" sz="2000" dirty="0">
                <a:sym typeface="Symbol"/>
              </a:rPr>
              <a:t>]</a:t>
            </a:r>
          </a:p>
          <a:p>
            <a:pPr lvl="2"/>
            <a:r>
              <a:rPr lang="en-US" sz="1600" dirty="0">
                <a:sym typeface="Symbol"/>
              </a:rPr>
              <a:t>This also means a[i] is now &gt; pivot</a:t>
            </a:r>
          </a:p>
          <a:p>
            <a:pPr lvl="1"/>
            <a:r>
              <a:rPr lang="en-US" sz="2000" dirty="0">
                <a:sym typeface="Symbol"/>
              </a:rPr>
              <a:t>a[j] still &gt; pivot, for </a:t>
            </a:r>
            <a:r>
              <a:rPr lang="en-US" sz="2000" dirty="0" err="1">
                <a:sym typeface="Symbol"/>
              </a:rPr>
              <a:t>nextLeftj</a:t>
            </a:r>
            <a:r>
              <a:rPr lang="en-US" sz="2000" dirty="0">
                <a:sym typeface="Symbol"/>
              </a:rPr>
              <a:t>&lt;i-1</a:t>
            </a:r>
          </a:p>
          <a:p>
            <a:pPr lvl="1"/>
            <a:r>
              <a:rPr lang="en-US" sz="2000" dirty="0">
                <a:sym typeface="Symbol"/>
              </a:rPr>
              <a:t>but a[i] also &gt; pivot, so</a:t>
            </a:r>
          </a:p>
          <a:p>
            <a:pPr lvl="1"/>
            <a:r>
              <a:rPr lang="en-US" sz="2000" dirty="0">
                <a:sym typeface="Symbol"/>
              </a:rPr>
              <a:t>a[j] &gt; pivot, for </a:t>
            </a:r>
            <a:r>
              <a:rPr lang="en-US" sz="2000" dirty="0" err="1">
                <a:sym typeface="Symbol"/>
              </a:rPr>
              <a:t>nextLeftj</a:t>
            </a:r>
            <a:r>
              <a:rPr lang="en-US" sz="2000" dirty="0">
                <a:sym typeface="Symbol"/>
              </a:rPr>
              <a:t>&lt;i</a:t>
            </a:r>
          </a:p>
          <a:p>
            <a:pPr lvl="1"/>
            <a:endParaRPr lang="en-US" sz="2000" dirty="0">
              <a:sym typeface="Symbol"/>
            </a:endParaRPr>
          </a:p>
          <a:p>
            <a:pPr lvl="1"/>
            <a:endParaRPr lang="en-US" sz="2000" dirty="0">
              <a:sym typeface="Symbol"/>
            </a:endParaRPr>
          </a:p>
          <a:p>
            <a:pPr lvl="1"/>
            <a:endParaRPr lang="en-US" sz="2000" dirty="0">
              <a:sym typeface="Symbol"/>
            </a:endParaRPr>
          </a:p>
          <a:p>
            <a:pPr lvl="1"/>
            <a:endParaRPr lang="en-US" sz="2000" dirty="0"/>
          </a:p>
        </p:txBody>
      </p:sp>
      <p:sp>
        <p:nvSpPr>
          <p:cNvPr id="6" name="Rectangle 5"/>
          <p:cNvSpPr/>
          <p:nvPr/>
        </p:nvSpPr>
        <p:spPr>
          <a:xfrm>
            <a:off x="5181600" y="2057400"/>
            <a:ext cx="228600" cy="228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410200" y="2057400"/>
            <a:ext cx="228600" cy="228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638800" y="2057400"/>
            <a:ext cx="228600" cy="228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867400" y="2057400"/>
            <a:ext cx="228600" cy="2286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096000" y="2057400"/>
            <a:ext cx="228600" cy="2286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324600" y="2057400"/>
            <a:ext cx="228600" cy="2286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553200" y="2057400"/>
            <a:ext cx="228600" cy="2286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6781800" y="2057400"/>
            <a:ext cx="228600" cy="2286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010400" y="2057400"/>
            <a:ext cx="228600" cy="2286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7239000" y="2057400"/>
            <a:ext cx="228600" cy="2286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467600" y="2057400"/>
            <a:ext cx="228600" cy="2286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7696200" y="2057400"/>
            <a:ext cx="228600" cy="2286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924800" y="2057400"/>
            <a:ext cx="228600" cy="2286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8153400" y="2057400"/>
            <a:ext cx="228600" cy="2286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8382000" y="2057400"/>
            <a:ext cx="228600" cy="2286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8610600" y="2057400"/>
            <a:ext cx="228600" cy="22860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5980093" y="2590800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nextLeft</a:t>
            </a:r>
            <a:endParaRPr lang="en-US" dirty="0"/>
          </a:p>
        </p:txBody>
      </p:sp>
      <p:cxnSp>
        <p:nvCxnSpPr>
          <p:cNvPr id="24" name="Straight Arrow Connector 23"/>
          <p:cNvCxnSpPr/>
          <p:nvPr/>
        </p:nvCxnSpPr>
        <p:spPr>
          <a:xfrm flipV="1">
            <a:off x="5991225" y="2362200"/>
            <a:ext cx="0" cy="30480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086600" y="2590800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flipV="1">
            <a:off x="8743950" y="1638300"/>
            <a:ext cx="0" cy="30480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105400" y="1676400"/>
            <a:ext cx="775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&lt;pivot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06138" y="1676400"/>
            <a:ext cx="775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&gt;pivot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1676400"/>
            <a:ext cx="1062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unknown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0" y="1295400"/>
            <a:ext cx="660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pivot</a:t>
            </a:r>
          </a:p>
        </p:txBody>
      </p:sp>
      <p:cxnSp>
        <p:nvCxnSpPr>
          <p:cNvPr id="39" name="Straight Arrow Connector 38"/>
          <p:cNvCxnSpPr/>
          <p:nvPr/>
        </p:nvCxnSpPr>
        <p:spPr>
          <a:xfrm flipV="1">
            <a:off x="7134225" y="2362200"/>
            <a:ext cx="0" cy="30480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55575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partitioning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5105400" cy="31242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/>
              <a:t>Theorem: </a:t>
            </a:r>
            <a:r>
              <a:rPr lang="en-US" sz="2400" dirty="0"/>
              <a:t>on each iteration of the</a:t>
            </a:r>
            <a:br>
              <a:rPr lang="en-US" sz="2400" dirty="0"/>
            </a:br>
            <a:r>
              <a:rPr lang="en-US" sz="2400" dirty="0"/>
              <a:t>for loop:</a:t>
            </a:r>
          </a:p>
          <a:p>
            <a:pPr marL="457200" lvl="1" indent="0">
              <a:buNone/>
            </a:pPr>
            <a:r>
              <a:rPr lang="en-US" sz="2000" dirty="0"/>
              <a:t>For any j:</a:t>
            </a:r>
          </a:p>
          <a:p>
            <a:pPr lvl="1" indent="-342900"/>
            <a:r>
              <a:rPr lang="en-US" sz="2000" dirty="0"/>
              <a:t>a[j] </a:t>
            </a:r>
            <a:r>
              <a:rPr lang="en-US" sz="2000" dirty="0">
                <a:sym typeface="Symbol"/>
              </a:rPr>
              <a:t></a:t>
            </a:r>
            <a:r>
              <a:rPr lang="en-US" sz="2000" dirty="0"/>
              <a:t> pivot,   if j&lt;</a:t>
            </a:r>
            <a:r>
              <a:rPr lang="en-US" sz="2000" dirty="0" err="1"/>
              <a:t>nextLeft</a:t>
            </a:r>
            <a:endParaRPr lang="en-US" sz="2000" dirty="0"/>
          </a:p>
          <a:p>
            <a:pPr lvl="1" indent="-342900"/>
            <a:r>
              <a:rPr lang="en-US" sz="2000" dirty="0"/>
              <a:t>a[j] &gt; pivot,   if </a:t>
            </a:r>
            <a:r>
              <a:rPr lang="en-US" sz="2000" dirty="0" err="1"/>
              <a:t>nextLeft</a:t>
            </a:r>
            <a:r>
              <a:rPr lang="en-US" sz="2000" dirty="0" err="1">
                <a:sym typeface="Symbol"/>
              </a:rPr>
              <a:t>j</a:t>
            </a:r>
            <a:r>
              <a:rPr lang="en-US" sz="2000" dirty="0">
                <a:sym typeface="Symbol"/>
              </a:rPr>
              <a:t>&lt;i</a:t>
            </a:r>
          </a:p>
          <a:p>
            <a:pPr lvl="1" indent="-342900"/>
            <a:endParaRPr lang="en-US" sz="2000" dirty="0">
              <a:sym typeface="Symbol"/>
            </a:endParaRPr>
          </a:p>
          <a:p>
            <a:pPr marL="0" indent="0">
              <a:buNone/>
            </a:pPr>
            <a:r>
              <a:rPr lang="en-US" sz="2400" b="1" dirty="0">
                <a:sym typeface="Symbol"/>
              </a:rPr>
              <a:t>Proof:</a:t>
            </a:r>
          </a:p>
          <a:p>
            <a:r>
              <a:rPr lang="en-US" sz="2400" dirty="0">
                <a:sym typeface="Symbol"/>
              </a:rPr>
              <a:t>So by induction, the theorem holds for each iteration</a:t>
            </a:r>
            <a:endParaRPr lang="en-US" sz="2000" dirty="0">
              <a:sym typeface="Symbo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81600" y="2057400"/>
            <a:ext cx="228600" cy="228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410200" y="2057400"/>
            <a:ext cx="228600" cy="228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638800" y="2057400"/>
            <a:ext cx="228600" cy="228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867400" y="2057400"/>
            <a:ext cx="228600" cy="2286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096000" y="2057400"/>
            <a:ext cx="228600" cy="2286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324600" y="2057400"/>
            <a:ext cx="228600" cy="2286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553200" y="2057400"/>
            <a:ext cx="228600" cy="2286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6781800" y="2057400"/>
            <a:ext cx="228600" cy="2286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010400" y="2057400"/>
            <a:ext cx="228600" cy="2286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7239000" y="2057400"/>
            <a:ext cx="228600" cy="2286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467600" y="2057400"/>
            <a:ext cx="228600" cy="2286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7696200" y="2057400"/>
            <a:ext cx="228600" cy="2286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924800" y="2057400"/>
            <a:ext cx="228600" cy="2286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8153400" y="2057400"/>
            <a:ext cx="228600" cy="2286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8382000" y="2057400"/>
            <a:ext cx="228600" cy="2286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8610600" y="2057400"/>
            <a:ext cx="228600" cy="22860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5980093" y="2590800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nextLeft</a:t>
            </a:r>
            <a:endParaRPr lang="en-US" dirty="0"/>
          </a:p>
        </p:txBody>
      </p:sp>
      <p:cxnSp>
        <p:nvCxnSpPr>
          <p:cNvPr id="24" name="Straight Arrow Connector 23"/>
          <p:cNvCxnSpPr/>
          <p:nvPr/>
        </p:nvCxnSpPr>
        <p:spPr>
          <a:xfrm flipV="1">
            <a:off x="5991225" y="2362200"/>
            <a:ext cx="0" cy="30480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086600" y="2590800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flipV="1">
            <a:off x="8743950" y="1638300"/>
            <a:ext cx="0" cy="30480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105400" y="1676400"/>
            <a:ext cx="775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&lt;pivot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06138" y="1676400"/>
            <a:ext cx="775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&gt;pivot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1676400"/>
            <a:ext cx="1062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unknown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0" y="1295400"/>
            <a:ext cx="660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pivot</a:t>
            </a:r>
          </a:p>
        </p:txBody>
      </p:sp>
      <p:cxnSp>
        <p:nvCxnSpPr>
          <p:cNvPr id="39" name="Straight Arrow Connector 38"/>
          <p:cNvCxnSpPr/>
          <p:nvPr/>
        </p:nvCxnSpPr>
        <p:spPr>
          <a:xfrm flipV="1">
            <a:off x="7134225" y="2362200"/>
            <a:ext cx="0" cy="30480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31752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partitioning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5105400" cy="48006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400" b="1" dirty="0"/>
              <a:t>Theorem: </a:t>
            </a:r>
            <a:r>
              <a:rPr lang="en-US" sz="2400" dirty="0"/>
              <a:t>on each iteration of the</a:t>
            </a:r>
            <a:br>
              <a:rPr lang="en-US" sz="2400" dirty="0"/>
            </a:br>
            <a:r>
              <a:rPr lang="en-US" sz="2400" dirty="0"/>
              <a:t>for loop:</a:t>
            </a:r>
          </a:p>
          <a:p>
            <a:pPr marL="457200" lvl="1" indent="0">
              <a:buNone/>
            </a:pPr>
            <a:r>
              <a:rPr lang="en-US" sz="2000" dirty="0"/>
              <a:t>For any j:</a:t>
            </a:r>
          </a:p>
          <a:p>
            <a:pPr lvl="1" indent="-342900"/>
            <a:r>
              <a:rPr lang="en-US" sz="2000" dirty="0"/>
              <a:t>a[j] </a:t>
            </a:r>
            <a:r>
              <a:rPr lang="en-US" sz="2000" dirty="0">
                <a:sym typeface="Symbol"/>
              </a:rPr>
              <a:t></a:t>
            </a:r>
            <a:r>
              <a:rPr lang="en-US" sz="2000" dirty="0"/>
              <a:t> pivot,   if j&lt;</a:t>
            </a:r>
            <a:r>
              <a:rPr lang="en-US" sz="2000" dirty="0" err="1"/>
              <a:t>nextLeft</a:t>
            </a:r>
            <a:endParaRPr lang="en-US" sz="2000" dirty="0"/>
          </a:p>
          <a:p>
            <a:pPr lvl="1" indent="-342900"/>
            <a:r>
              <a:rPr lang="en-US" sz="2000" dirty="0"/>
              <a:t>a[j] &gt; pivot,   if </a:t>
            </a:r>
            <a:r>
              <a:rPr lang="en-US" sz="2000" dirty="0" err="1"/>
              <a:t>nextLeft</a:t>
            </a:r>
            <a:r>
              <a:rPr lang="en-US" sz="2000" dirty="0" err="1">
                <a:sym typeface="Symbol"/>
              </a:rPr>
              <a:t>j</a:t>
            </a:r>
            <a:r>
              <a:rPr lang="en-US" sz="2000" dirty="0">
                <a:sym typeface="Symbol"/>
              </a:rPr>
              <a:t>&lt;i</a:t>
            </a:r>
          </a:p>
          <a:p>
            <a:pPr lvl="1" indent="-342900"/>
            <a:endParaRPr lang="en-US" sz="2000" dirty="0">
              <a:sym typeface="Symbol"/>
            </a:endParaRPr>
          </a:p>
          <a:p>
            <a:pPr marL="0" indent="0">
              <a:buNone/>
            </a:pPr>
            <a:r>
              <a:rPr lang="en-US" sz="2400" b="1" dirty="0">
                <a:sym typeface="Symbol"/>
              </a:rPr>
              <a:t>Corollary: </a:t>
            </a:r>
            <a:r>
              <a:rPr lang="en-US" sz="2400" dirty="0">
                <a:sym typeface="Symbol"/>
              </a:rPr>
              <a:t>the algorithm works</a:t>
            </a:r>
          </a:p>
          <a:p>
            <a:r>
              <a:rPr lang="en-US" sz="2300" dirty="0">
                <a:sym typeface="Symbol"/>
              </a:rPr>
              <a:t>We run until i gets up to the end (where the pivot element is)</a:t>
            </a:r>
          </a:p>
          <a:p>
            <a:r>
              <a:rPr lang="en-US" sz="2300" dirty="0">
                <a:sym typeface="Symbol"/>
              </a:rPr>
              <a:t>Everything before </a:t>
            </a:r>
            <a:r>
              <a:rPr lang="en-US" sz="2300" dirty="0" err="1">
                <a:sym typeface="Symbol"/>
              </a:rPr>
              <a:t>nextLeft</a:t>
            </a:r>
            <a:r>
              <a:rPr lang="en-US" sz="2300" dirty="0">
                <a:sym typeface="Symbol"/>
              </a:rPr>
              <a:t> is  pivot</a:t>
            </a:r>
          </a:p>
          <a:p>
            <a:r>
              <a:rPr lang="en-US" sz="2300" dirty="0">
                <a:sym typeface="Symbol"/>
              </a:rPr>
              <a:t>Everything from </a:t>
            </a:r>
            <a:r>
              <a:rPr lang="en-US" sz="2300" dirty="0" err="1">
                <a:sym typeface="Symbol"/>
              </a:rPr>
              <a:t>nextLeft</a:t>
            </a:r>
            <a:r>
              <a:rPr lang="en-US" sz="2300" dirty="0">
                <a:sym typeface="Symbol"/>
              </a:rPr>
              <a:t> to pivot is &gt; pivot</a:t>
            </a:r>
          </a:p>
          <a:p>
            <a:r>
              <a:rPr lang="en-US" sz="2300" dirty="0">
                <a:sym typeface="Symbol"/>
              </a:rPr>
              <a:t>Then we swap </a:t>
            </a:r>
            <a:r>
              <a:rPr lang="en-US" sz="2300" dirty="0" err="1">
                <a:sym typeface="Symbol"/>
              </a:rPr>
              <a:t>nextLeft</a:t>
            </a:r>
            <a:r>
              <a:rPr lang="en-US" sz="2300" dirty="0">
                <a:sym typeface="Symbol"/>
              </a:rPr>
              <a:t> (which is &gt; pivot) with the pivot</a:t>
            </a:r>
          </a:p>
          <a:p>
            <a:r>
              <a:rPr lang="en-US" sz="2300" dirty="0">
                <a:sym typeface="Symbol"/>
              </a:rPr>
              <a:t>So we end up with:</a:t>
            </a:r>
          </a:p>
          <a:p>
            <a:pPr lvl="1"/>
            <a:r>
              <a:rPr lang="en-US" sz="2100" dirty="0">
                <a:sym typeface="Symbol"/>
              </a:rPr>
              <a:t>Before </a:t>
            </a:r>
            <a:r>
              <a:rPr lang="en-US" sz="2100" dirty="0" err="1">
                <a:sym typeface="Symbol"/>
              </a:rPr>
              <a:t>nextLeft</a:t>
            </a:r>
            <a:r>
              <a:rPr lang="en-US" sz="2100" dirty="0">
                <a:sym typeface="Symbol"/>
              </a:rPr>
              <a:t> is  pivot</a:t>
            </a:r>
          </a:p>
          <a:p>
            <a:pPr lvl="1"/>
            <a:r>
              <a:rPr lang="en-US" sz="2100" dirty="0" err="1">
                <a:sym typeface="Symbol"/>
              </a:rPr>
              <a:t>nextLeft</a:t>
            </a:r>
            <a:r>
              <a:rPr lang="en-US" sz="2100" dirty="0">
                <a:sym typeface="Symbol"/>
              </a:rPr>
              <a:t> is the pivot</a:t>
            </a:r>
          </a:p>
          <a:p>
            <a:pPr lvl="1"/>
            <a:r>
              <a:rPr lang="en-US" sz="2100" dirty="0">
                <a:sym typeface="Symbol"/>
              </a:rPr>
              <a:t>After </a:t>
            </a:r>
            <a:r>
              <a:rPr lang="en-US" sz="2100" dirty="0" err="1">
                <a:sym typeface="Symbol"/>
              </a:rPr>
              <a:t>nextLeft</a:t>
            </a:r>
            <a:r>
              <a:rPr lang="en-US" sz="2100" dirty="0">
                <a:sym typeface="Symbol"/>
              </a:rPr>
              <a:t> is &gt; the pivot</a:t>
            </a:r>
          </a:p>
          <a:p>
            <a:r>
              <a:rPr lang="en-US" sz="2300" dirty="0">
                <a:sym typeface="Symbol"/>
              </a:rPr>
              <a:t>Yay!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1600" y="2057400"/>
            <a:ext cx="228600" cy="228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410200" y="2057400"/>
            <a:ext cx="228600" cy="228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638800" y="2057400"/>
            <a:ext cx="228600" cy="228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867400" y="2057400"/>
            <a:ext cx="228600" cy="2286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096000" y="2057400"/>
            <a:ext cx="228600" cy="2286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324600" y="2057400"/>
            <a:ext cx="228600" cy="2286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553200" y="2057400"/>
            <a:ext cx="228600" cy="2286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6781800" y="2057400"/>
            <a:ext cx="228600" cy="2286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010400" y="2057400"/>
            <a:ext cx="228600" cy="2286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7239000" y="2057400"/>
            <a:ext cx="228600" cy="2286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467600" y="2057400"/>
            <a:ext cx="228600" cy="2286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7696200" y="2057400"/>
            <a:ext cx="228600" cy="2286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924800" y="2057400"/>
            <a:ext cx="228600" cy="2286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8153400" y="2057400"/>
            <a:ext cx="228600" cy="2286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8382000" y="2057400"/>
            <a:ext cx="228600" cy="2286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8610600" y="2057400"/>
            <a:ext cx="228600" cy="22860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5980093" y="2590800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nextLeft</a:t>
            </a:r>
            <a:endParaRPr lang="en-US" dirty="0"/>
          </a:p>
        </p:txBody>
      </p:sp>
      <p:cxnSp>
        <p:nvCxnSpPr>
          <p:cNvPr id="24" name="Straight Arrow Connector 23"/>
          <p:cNvCxnSpPr/>
          <p:nvPr/>
        </p:nvCxnSpPr>
        <p:spPr>
          <a:xfrm flipV="1">
            <a:off x="5991225" y="2362200"/>
            <a:ext cx="0" cy="30480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086600" y="2590800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flipV="1">
            <a:off x="8743950" y="1638300"/>
            <a:ext cx="0" cy="30480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105400" y="1676400"/>
            <a:ext cx="775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&lt;pivot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06138" y="1676400"/>
            <a:ext cx="775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&gt;pivot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1676400"/>
            <a:ext cx="1062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unknown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0" y="1295400"/>
            <a:ext cx="660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pivot</a:t>
            </a:r>
          </a:p>
        </p:txBody>
      </p:sp>
      <p:cxnSp>
        <p:nvCxnSpPr>
          <p:cNvPr id="39" name="Straight Arrow Connector 38"/>
          <p:cNvCxnSpPr/>
          <p:nvPr/>
        </p:nvCxnSpPr>
        <p:spPr>
          <a:xfrm flipV="1">
            <a:off x="7134225" y="2362200"/>
            <a:ext cx="0" cy="30480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17278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In-place partitioning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half" idx="1"/>
          </p:nvPr>
        </p:nvSpPr>
        <p:spPr>
          <a:xfrm>
            <a:off x="457200" y="3276600"/>
            <a:ext cx="4038600" cy="3352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Pivot around 7</a:t>
            </a:r>
          </a:p>
          <a:p>
            <a:r>
              <a:rPr lang="en-US" dirty="0" err="1"/>
              <a:t>pIndex</a:t>
            </a:r>
            <a:r>
              <a:rPr lang="en-US" dirty="0"/>
              <a:t> = 2</a:t>
            </a:r>
          </a:p>
          <a:p>
            <a:r>
              <a:rPr lang="en-US" dirty="0" err="1"/>
              <a:t>pValue</a:t>
            </a:r>
            <a:r>
              <a:rPr lang="en-US" dirty="0"/>
              <a:t> = 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34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098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480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62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784611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In-place partitioning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half" idx="1"/>
          </p:nvPr>
        </p:nvSpPr>
        <p:spPr>
          <a:xfrm>
            <a:off x="457200" y="3276600"/>
            <a:ext cx="4038600" cy="3352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Pivot around 7</a:t>
            </a:r>
          </a:p>
          <a:p>
            <a:r>
              <a:rPr lang="en-US" dirty="0" err="1"/>
              <a:t>pIndex</a:t>
            </a:r>
            <a:r>
              <a:rPr lang="en-US" dirty="0"/>
              <a:t> = 2</a:t>
            </a:r>
          </a:p>
          <a:p>
            <a:r>
              <a:rPr lang="en-US" dirty="0" err="1"/>
              <a:t>pValue</a:t>
            </a:r>
            <a:r>
              <a:rPr lang="en-US" dirty="0"/>
              <a:t> = 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34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09800" y="1905000"/>
            <a:ext cx="838200" cy="8382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480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62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62600" y="2057400"/>
            <a:ext cx="31856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Swap pivot to end</a:t>
            </a:r>
          </a:p>
        </p:txBody>
      </p:sp>
    </p:spTree>
    <p:extLst>
      <p:ext uri="{BB962C8B-B14F-4D97-AF65-F5344CB8AC3E}">
        <p14:creationId xmlns:p14="http://schemas.microsoft.com/office/powerpoint/2010/main" val="3488581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17 -2.06849E-6 L 0.05209 0.04003 C 0.06216 0.04905 0.07726 0.05391 0.09289 0.05391 C 0.11077 0.05391 0.125 0.04905 0.13507 0.04003 L 0.18334 -2.06849E-6 " pathEditMode="relative" rAng="0" ptsTypes="FffFF">
                                      <p:cBhvr>
                                        <p:cTn id="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958" y="2684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7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1.11111E-6 L -0.04826 -0.07847 C -0.05833 -0.09607 -0.07343 -0.10556 -0.08906 -0.10556 C -0.10694 -0.10556 -0.12135 -0.09607 -0.13142 -0.07847 L -0.17916 1.11111E-6 " pathEditMode="relative" rAng="0" ptsTypes="FffFF">
                                      <p:cBhvr>
                                        <p:cTn id="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958" y="-5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In-place partitioning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half" idx="1"/>
          </p:nvPr>
        </p:nvSpPr>
        <p:spPr>
          <a:xfrm>
            <a:off x="457200" y="4648200"/>
            <a:ext cx="4038600" cy="1981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Pivot around 7</a:t>
            </a:r>
          </a:p>
          <a:p>
            <a:r>
              <a:rPr lang="en-US" dirty="0" err="1"/>
              <a:t>pValue</a:t>
            </a:r>
            <a:r>
              <a:rPr lang="en-US" dirty="0"/>
              <a:t> = 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34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098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480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6200" y="1905000"/>
            <a:ext cx="838200" cy="8382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62600" y="2057400"/>
            <a:ext cx="290598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start i, </a:t>
            </a:r>
            <a:r>
              <a:rPr lang="en-US" sz="3200" dirty="0" err="1"/>
              <a:t>nextLeft</a:t>
            </a:r>
            <a:br>
              <a:rPr lang="en-US" sz="3200" dirty="0"/>
            </a:br>
            <a:r>
              <a:rPr lang="en-US" sz="3200" dirty="0"/>
              <a:t>at the beginning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800100" y="2895601"/>
            <a:ext cx="1409700" cy="1361419"/>
            <a:chOff x="952500" y="2895601"/>
            <a:chExt cx="1409700" cy="1361419"/>
          </a:xfrm>
        </p:grpSpPr>
        <p:cxnSp>
          <p:nvCxnSpPr>
            <p:cNvPr id="4" name="Straight Arrow Connector 3"/>
            <p:cNvCxnSpPr/>
            <p:nvPr/>
          </p:nvCxnSpPr>
          <p:spPr>
            <a:xfrm flipV="1">
              <a:off x="952500" y="2895601"/>
              <a:ext cx="0" cy="12191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4"/>
            <p:cNvSpPr txBox="1"/>
            <p:nvPr/>
          </p:nvSpPr>
          <p:spPr>
            <a:xfrm>
              <a:off x="984451" y="3733800"/>
              <a:ext cx="137774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err="1"/>
                <a:t>nextLeft</a:t>
              </a:r>
              <a:endParaRPr lang="en-US" sz="2800" dirty="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1143000" y="2895600"/>
            <a:ext cx="380720" cy="675620"/>
            <a:chOff x="952500" y="2895600"/>
            <a:chExt cx="380720" cy="675620"/>
          </a:xfrm>
        </p:grpSpPr>
        <p:cxnSp>
          <p:nvCxnSpPr>
            <p:cNvPr id="18" name="Straight Arrow Connector 17"/>
            <p:cNvCxnSpPr/>
            <p:nvPr/>
          </p:nvCxnSpPr>
          <p:spPr>
            <a:xfrm flipV="1">
              <a:off x="952500" y="2895600"/>
              <a:ext cx="0" cy="53340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1066800" y="3048000"/>
              <a:ext cx="26642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899796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In-place partitioning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half" idx="1"/>
          </p:nvPr>
        </p:nvSpPr>
        <p:spPr>
          <a:xfrm>
            <a:off x="457200" y="4648200"/>
            <a:ext cx="4038600" cy="1981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Pivot around 7</a:t>
            </a:r>
          </a:p>
          <a:p>
            <a:r>
              <a:rPr lang="en-US" dirty="0" err="1"/>
              <a:t>pValue</a:t>
            </a:r>
            <a:r>
              <a:rPr lang="en-US" dirty="0"/>
              <a:t> = 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34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098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480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6200" y="1905000"/>
            <a:ext cx="838200" cy="8382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62600" y="2057400"/>
            <a:ext cx="24685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a[i]&lt;=</a:t>
            </a:r>
            <a:r>
              <a:rPr lang="en-US" sz="3200" dirty="0" err="1"/>
              <a:t>pValue</a:t>
            </a:r>
            <a:r>
              <a:rPr lang="en-US" sz="3200" dirty="0"/>
              <a:t>?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800100" y="2895601"/>
            <a:ext cx="1409700" cy="1361419"/>
            <a:chOff x="952500" y="2895601"/>
            <a:chExt cx="1409700" cy="1361419"/>
          </a:xfrm>
        </p:grpSpPr>
        <p:cxnSp>
          <p:nvCxnSpPr>
            <p:cNvPr id="4" name="Straight Arrow Connector 3"/>
            <p:cNvCxnSpPr/>
            <p:nvPr/>
          </p:nvCxnSpPr>
          <p:spPr>
            <a:xfrm flipV="1">
              <a:off x="952500" y="2895601"/>
              <a:ext cx="0" cy="12191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4"/>
            <p:cNvSpPr txBox="1"/>
            <p:nvPr/>
          </p:nvSpPr>
          <p:spPr>
            <a:xfrm>
              <a:off x="984451" y="3733800"/>
              <a:ext cx="137774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err="1"/>
                <a:t>nextLeft</a:t>
              </a:r>
              <a:endParaRPr lang="en-US" sz="2800" dirty="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1143000" y="2895600"/>
            <a:ext cx="380720" cy="675620"/>
            <a:chOff x="952500" y="2895600"/>
            <a:chExt cx="380720" cy="675620"/>
          </a:xfrm>
        </p:grpSpPr>
        <p:cxnSp>
          <p:nvCxnSpPr>
            <p:cNvPr id="18" name="Straight Arrow Connector 17"/>
            <p:cNvCxnSpPr/>
            <p:nvPr/>
          </p:nvCxnSpPr>
          <p:spPr>
            <a:xfrm flipV="1">
              <a:off x="952500" y="2895600"/>
              <a:ext cx="0" cy="53340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1066800" y="3048000"/>
              <a:ext cx="26642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552589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In-place partitioning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half" idx="1"/>
          </p:nvPr>
        </p:nvSpPr>
        <p:spPr>
          <a:xfrm>
            <a:off x="457200" y="4648200"/>
            <a:ext cx="4038600" cy="1981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Pivot around 7</a:t>
            </a:r>
          </a:p>
          <a:p>
            <a:r>
              <a:rPr lang="en-US" dirty="0" err="1"/>
              <a:t>pValue</a:t>
            </a:r>
            <a:r>
              <a:rPr lang="en-US" dirty="0"/>
              <a:t> = 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34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098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480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6200" y="1905000"/>
            <a:ext cx="838200" cy="8382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62600" y="2057400"/>
            <a:ext cx="24631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no – move on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800100" y="2895601"/>
            <a:ext cx="1409700" cy="1361419"/>
            <a:chOff x="952500" y="2895601"/>
            <a:chExt cx="1409700" cy="1361419"/>
          </a:xfrm>
        </p:grpSpPr>
        <p:cxnSp>
          <p:nvCxnSpPr>
            <p:cNvPr id="4" name="Straight Arrow Connector 3"/>
            <p:cNvCxnSpPr/>
            <p:nvPr/>
          </p:nvCxnSpPr>
          <p:spPr>
            <a:xfrm flipV="1">
              <a:off x="952500" y="2895601"/>
              <a:ext cx="0" cy="12191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4"/>
            <p:cNvSpPr txBox="1"/>
            <p:nvPr/>
          </p:nvSpPr>
          <p:spPr>
            <a:xfrm>
              <a:off x="984451" y="3733800"/>
              <a:ext cx="137774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err="1"/>
                <a:t>nextLeft</a:t>
              </a:r>
              <a:endParaRPr lang="en-US" sz="2800" dirty="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1143000" y="2895600"/>
            <a:ext cx="380720" cy="675620"/>
            <a:chOff x="952500" y="2895600"/>
            <a:chExt cx="380720" cy="675620"/>
          </a:xfrm>
        </p:grpSpPr>
        <p:cxnSp>
          <p:nvCxnSpPr>
            <p:cNvPr id="18" name="Straight Arrow Connector 17"/>
            <p:cNvCxnSpPr/>
            <p:nvPr/>
          </p:nvCxnSpPr>
          <p:spPr>
            <a:xfrm flipV="1">
              <a:off x="952500" y="2895600"/>
              <a:ext cx="0" cy="53340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1066800" y="3048000"/>
              <a:ext cx="26642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28977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16 0.00625 L 0.05417 0.0062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1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In-place partitioning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half" idx="1"/>
          </p:nvPr>
        </p:nvSpPr>
        <p:spPr>
          <a:xfrm>
            <a:off x="457200" y="4648200"/>
            <a:ext cx="4038600" cy="1981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Pivot around 7</a:t>
            </a:r>
          </a:p>
          <a:p>
            <a:r>
              <a:rPr lang="en-US" dirty="0" err="1"/>
              <a:t>pValue</a:t>
            </a:r>
            <a:r>
              <a:rPr lang="en-US" dirty="0"/>
              <a:t> = 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34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098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480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6200" y="1905000"/>
            <a:ext cx="838200" cy="8382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62600" y="2057400"/>
            <a:ext cx="24685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a[i]&lt;=</a:t>
            </a:r>
            <a:r>
              <a:rPr lang="en-US" sz="3200" dirty="0" err="1"/>
              <a:t>pValue</a:t>
            </a:r>
            <a:r>
              <a:rPr lang="en-US" sz="3200" dirty="0"/>
              <a:t>?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800100" y="2895601"/>
            <a:ext cx="1409700" cy="1361419"/>
            <a:chOff x="952500" y="2895601"/>
            <a:chExt cx="1409700" cy="1361419"/>
          </a:xfrm>
        </p:grpSpPr>
        <p:cxnSp>
          <p:nvCxnSpPr>
            <p:cNvPr id="4" name="Straight Arrow Connector 3"/>
            <p:cNvCxnSpPr/>
            <p:nvPr/>
          </p:nvCxnSpPr>
          <p:spPr>
            <a:xfrm flipV="1">
              <a:off x="952500" y="2895601"/>
              <a:ext cx="0" cy="12191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4"/>
            <p:cNvSpPr txBox="1"/>
            <p:nvPr/>
          </p:nvSpPr>
          <p:spPr>
            <a:xfrm>
              <a:off x="984451" y="3733800"/>
              <a:ext cx="137774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err="1"/>
                <a:t>nextLeft</a:t>
              </a:r>
              <a:endParaRPr lang="en-US" sz="2800" dirty="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1752600" y="2895600"/>
            <a:ext cx="380720" cy="675620"/>
            <a:chOff x="952500" y="2895600"/>
            <a:chExt cx="380720" cy="675620"/>
          </a:xfrm>
        </p:grpSpPr>
        <p:cxnSp>
          <p:nvCxnSpPr>
            <p:cNvPr id="18" name="Straight Arrow Connector 17"/>
            <p:cNvCxnSpPr/>
            <p:nvPr/>
          </p:nvCxnSpPr>
          <p:spPr>
            <a:xfrm flipV="1">
              <a:off x="952500" y="2895600"/>
              <a:ext cx="0" cy="53340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1066800" y="3048000"/>
              <a:ext cx="26642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942218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In-place partitioning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half" idx="1"/>
          </p:nvPr>
        </p:nvSpPr>
        <p:spPr>
          <a:xfrm>
            <a:off x="457200" y="4648200"/>
            <a:ext cx="4038600" cy="1981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Pivot around 7</a:t>
            </a:r>
          </a:p>
          <a:p>
            <a:r>
              <a:rPr lang="en-US" dirty="0" err="1"/>
              <a:t>pValue</a:t>
            </a:r>
            <a:r>
              <a:rPr lang="en-US" dirty="0"/>
              <a:t> = 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34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098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480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6200" y="1905000"/>
            <a:ext cx="838200" cy="8382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62600" y="2057400"/>
            <a:ext cx="283866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yes – swap with</a:t>
            </a:r>
            <a:br>
              <a:rPr lang="en-US" sz="3200" dirty="0"/>
            </a:br>
            <a:r>
              <a:rPr lang="en-US" sz="3200" dirty="0"/>
              <a:t>         a[</a:t>
            </a:r>
            <a:r>
              <a:rPr lang="en-US" sz="3200" dirty="0" err="1"/>
              <a:t>nextLeft</a:t>
            </a:r>
            <a:r>
              <a:rPr lang="en-US" sz="3200" dirty="0"/>
              <a:t>]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800100" y="2895601"/>
            <a:ext cx="1409700" cy="1361419"/>
            <a:chOff x="952500" y="2895601"/>
            <a:chExt cx="1409700" cy="1361419"/>
          </a:xfrm>
        </p:grpSpPr>
        <p:cxnSp>
          <p:nvCxnSpPr>
            <p:cNvPr id="4" name="Straight Arrow Connector 3"/>
            <p:cNvCxnSpPr/>
            <p:nvPr/>
          </p:nvCxnSpPr>
          <p:spPr>
            <a:xfrm flipV="1">
              <a:off x="952500" y="2895601"/>
              <a:ext cx="0" cy="12191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4"/>
            <p:cNvSpPr txBox="1"/>
            <p:nvPr/>
          </p:nvSpPr>
          <p:spPr>
            <a:xfrm>
              <a:off x="984451" y="3733800"/>
              <a:ext cx="137774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err="1"/>
                <a:t>nextLeft</a:t>
              </a:r>
              <a:endParaRPr lang="en-US" sz="2800" dirty="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1752600" y="2895600"/>
            <a:ext cx="380720" cy="675620"/>
            <a:chOff x="952500" y="2895600"/>
            <a:chExt cx="380720" cy="675620"/>
          </a:xfrm>
        </p:grpSpPr>
        <p:cxnSp>
          <p:nvCxnSpPr>
            <p:cNvPr id="18" name="Straight Arrow Connector 17"/>
            <p:cNvCxnSpPr/>
            <p:nvPr/>
          </p:nvCxnSpPr>
          <p:spPr>
            <a:xfrm flipV="1">
              <a:off x="952500" y="2895600"/>
              <a:ext cx="0" cy="53340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1066800" y="3048000"/>
              <a:ext cx="26642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160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7127E-6 L -0.02361 0.04002 C -0.02847 0.04904 -0.03576 0.0539 -0.0434 0.0539 C -0.05225 0.0539 -0.0592 0.04904 -0.06406 0.04002 L -0.0875 -3.7127E-6 " pathEditMode="relative" rAng="0" ptsTypes="FffFF">
                                      <p:cBhvr>
                                        <p:cTn id="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75" y="268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7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2.06849E-6 L 0.02309 -0.04558 C 0.02813 -0.05576 0.03542 -0.06108 0.04306 -0.06108 C 0.05191 -0.06108 0.05886 -0.05576 0.06389 -0.04558 L 0.0875 -2.06849E-6 " pathEditMode="relative" rAng="0" ptsTypes="FffFF">
                                      <p:cBhvr>
                                        <p:cTn id="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75" y="-30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In-place partitioning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half" idx="1"/>
          </p:nvPr>
        </p:nvSpPr>
        <p:spPr>
          <a:xfrm>
            <a:off x="457200" y="4648200"/>
            <a:ext cx="4038600" cy="1981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Pivot around 7</a:t>
            </a:r>
          </a:p>
          <a:p>
            <a:r>
              <a:rPr lang="en-US" dirty="0" err="1"/>
              <a:t>pValue</a:t>
            </a:r>
            <a:r>
              <a:rPr lang="en-US" dirty="0"/>
              <a:t> = 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34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098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480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6200" y="1905000"/>
            <a:ext cx="838200" cy="8382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62600" y="2057400"/>
            <a:ext cx="33520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increment </a:t>
            </a:r>
            <a:r>
              <a:rPr lang="en-US" sz="3200" dirty="0" err="1"/>
              <a:t>nextLeft</a:t>
            </a:r>
            <a:endParaRPr lang="en-US" sz="3200" dirty="0"/>
          </a:p>
        </p:txBody>
      </p:sp>
      <p:grpSp>
        <p:nvGrpSpPr>
          <p:cNvPr id="6" name="Group 5"/>
          <p:cNvGrpSpPr/>
          <p:nvPr/>
        </p:nvGrpSpPr>
        <p:grpSpPr>
          <a:xfrm>
            <a:off x="1600200" y="2895601"/>
            <a:ext cx="1409700" cy="1361419"/>
            <a:chOff x="952500" y="2895601"/>
            <a:chExt cx="1409700" cy="1361419"/>
          </a:xfrm>
        </p:grpSpPr>
        <p:cxnSp>
          <p:nvCxnSpPr>
            <p:cNvPr id="4" name="Straight Arrow Connector 3"/>
            <p:cNvCxnSpPr/>
            <p:nvPr/>
          </p:nvCxnSpPr>
          <p:spPr>
            <a:xfrm flipV="1">
              <a:off x="952500" y="2895601"/>
              <a:ext cx="0" cy="12191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4"/>
            <p:cNvSpPr txBox="1"/>
            <p:nvPr/>
          </p:nvSpPr>
          <p:spPr>
            <a:xfrm>
              <a:off x="984451" y="3733800"/>
              <a:ext cx="137774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err="1"/>
                <a:t>nextLeft</a:t>
              </a:r>
              <a:endParaRPr lang="en-US" sz="2800" dirty="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1752600" y="2895600"/>
            <a:ext cx="380720" cy="675620"/>
            <a:chOff x="952500" y="2895600"/>
            <a:chExt cx="380720" cy="675620"/>
          </a:xfrm>
        </p:grpSpPr>
        <p:cxnSp>
          <p:nvCxnSpPr>
            <p:cNvPr id="18" name="Straight Arrow Connector 17"/>
            <p:cNvCxnSpPr/>
            <p:nvPr/>
          </p:nvCxnSpPr>
          <p:spPr>
            <a:xfrm flipV="1">
              <a:off x="952500" y="2895600"/>
              <a:ext cx="0" cy="53340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1066800" y="3048000"/>
              <a:ext cx="26642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942218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In-place partitioning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half" idx="1"/>
          </p:nvPr>
        </p:nvSpPr>
        <p:spPr>
          <a:xfrm>
            <a:off x="457200" y="4648200"/>
            <a:ext cx="4038600" cy="1981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Pivot around 7</a:t>
            </a:r>
          </a:p>
          <a:p>
            <a:r>
              <a:rPr lang="en-US" dirty="0" err="1"/>
              <a:t>pValue</a:t>
            </a:r>
            <a:r>
              <a:rPr lang="en-US" dirty="0"/>
              <a:t> = 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34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098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480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6200" y="1905000"/>
            <a:ext cx="838200" cy="8382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62600" y="2057400"/>
            <a:ext cx="11029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next i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600200" y="2895601"/>
            <a:ext cx="1409700" cy="1361419"/>
            <a:chOff x="952500" y="2895601"/>
            <a:chExt cx="1409700" cy="1361419"/>
          </a:xfrm>
        </p:grpSpPr>
        <p:cxnSp>
          <p:nvCxnSpPr>
            <p:cNvPr id="4" name="Straight Arrow Connector 3"/>
            <p:cNvCxnSpPr/>
            <p:nvPr/>
          </p:nvCxnSpPr>
          <p:spPr>
            <a:xfrm flipV="1">
              <a:off x="952500" y="2895601"/>
              <a:ext cx="0" cy="12191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4"/>
            <p:cNvSpPr txBox="1"/>
            <p:nvPr/>
          </p:nvSpPr>
          <p:spPr>
            <a:xfrm>
              <a:off x="984451" y="3733800"/>
              <a:ext cx="137774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err="1"/>
                <a:t>nextLeft</a:t>
              </a:r>
              <a:endParaRPr lang="en-US" sz="2800" dirty="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2667280" y="2895600"/>
            <a:ext cx="380720" cy="675620"/>
            <a:chOff x="952500" y="2895600"/>
            <a:chExt cx="380720" cy="675620"/>
          </a:xfrm>
        </p:grpSpPr>
        <p:cxnSp>
          <p:nvCxnSpPr>
            <p:cNvPr id="18" name="Straight Arrow Connector 17"/>
            <p:cNvCxnSpPr/>
            <p:nvPr/>
          </p:nvCxnSpPr>
          <p:spPr>
            <a:xfrm flipV="1">
              <a:off x="952500" y="2895600"/>
              <a:ext cx="0" cy="53340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1066800" y="3048000"/>
              <a:ext cx="26642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629912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In-place partitioning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half" idx="1"/>
          </p:nvPr>
        </p:nvSpPr>
        <p:spPr>
          <a:xfrm>
            <a:off x="457200" y="4648200"/>
            <a:ext cx="4038600" cy="1981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Pivot around 7</a:t>
            </a:r>
          </a:p>
          <a:p>
            <a:r>
              <a:rPr lang="en-US" dirty="0" err="1"/>
              <a:t>pValue</a:t>
            </a:r>
            <a:r>
              <a:rPr lang="en-US" dirty="0"/>
              <a:t> = 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34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098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480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6200" y="1905000"/>
            <a:ext cx="838200" cy="8382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62600" y="2057400"/>
            <a:ext cx="24493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a[i] &lt; </a:t>
            </a:r>
            <a:r>
              <a:rPr lang="en-US" sz="3200" dirty="0" err="1"/>
              <a:t>pValue</a:t>
            </a:r>
            <a:r>
              <a:rPr lang="en-US" sz="3200" dirty="0"/>
              <a:t>?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600200" y="2895601"/>
            <a:ext cx="1409700" cy="1361419"/>
            <a:chOff x="952500" y="2895601"/>
            <a:chExt cx="1409700" cy="1361419"/>
          </a:xfrm>
        </p:grpSpPr>
        <p:cxnSp>
          <p:nvCxnSpPr>
            <p:cNvPr id="4" name="Straight Arrow Connector 3"/>
            <p:cNvCxnSpPr/>
            <p:nvPr/>
          </p:nvCxnSpPr>
          <p:spPr>
            <a:xfrm flipV="1">
              <a:off x="952500" y="2895601"/>
              <a:ext cx="0" cy="12191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4"/>
            <p:cNvSpPr txBox="1"/>
            <p:nvPr/>
          </p:nvSpPr>
          <p:spPr>
            <a:xfrm>
              <a:off x="984451" y="3733800"/>
              <a:ext cx="137774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err="1"/>
                <a:t>nextLeft</a:t>
              </a:r>
              <a:endParaRPr lang="en-US" sz="2800" dirty="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2667280" y="2895600"/>
            <a:ext cx="380720" cy="675620"/>
            <a:chOff x="952500" y="2895600"/>
            <a:chExt cx="380720" cy="675620"/>
          </a:xfrm>
        </p:grpSpPr>
        <p:cxnSp>
          <p:nvCxnSpPr>
            <p:cNvPr id="18" name="Straight Arrow Connector 17"/>
            <p:cNvCxnSpPr/>
            <p:nvPr/>
          </p:nvCxnSpPr>
          <p:spPr>
            <a:xfrm flipV="1">
              <a:off x="952500" y="2895600"/>
              <a:ext cx="0" cy="53340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1066800" y="3048000"/>
              <a:ext cx="26642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26195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In-place partitioning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half" idx="1"/>
          </p:nvPr>
        </p:nvSpPr>
        <p:spPr>
          <a:xfrm>
            <a:off x="457200" y="4648200"/>
            <a:ext cx="4038600" cy="1981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Pivot around 7</a:t>
            </a:r>
          </a:p>
          <a:p>
            <a:r>
              <a:rPr lang="en-US" dirty="0" err="1"/>
              <a:t>pValue</a:t>
            </a:r>
            <a:r>
              <a:rPr lang="en-US" dirty="0"/>
              <a:t> = 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34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098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480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6200" y="1905000"/>
            <a:ext cx="838200" cy="8382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62600" y="2057400"/>
            <a:ext cx="24631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no – move on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600200" y="2895601"/>
            <a:ext cx="1409700" cy="1361419"/>
            <a:chOff x="952500" y="2895601"/>
            <a:chExt cx="1409700" cy="1361419"/>
          </a:xfrm>
        </p:grpSpPr>
        <p:cxnSp>
          <p:nvCxnSpPr>
            <p:cNvPr id="4" name="Straight Arrow Connector 3"/>
            <p:cNvCxnSpPr/>
            <p:nvPr/>
          </p:nvCxnSpPr>
          <p:spPr>
            <a:xfrm flipV="1">
              <a:off x="952500" y="2895601"/>
              <a:ext cx="0" cy="12191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4"/>
            <p:cNvSpPr txBox="1"/>
            <p:nvPr/>
          </p:nvSpPr>
          <p:spPr>
            <a:xfrm>
              <a:off x="984451" y="3733800"/>
              <a:ext cx="137774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err="1"/>
                <a:t>nextLeft</a:t>
              </a:r>
              <a:endParaRPr lang="en-US" sz="2800" dirty="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3429280" y="2895600"/>
            <a:ext cx="380720" cy="675620"/>
            <a:chOff x="952500" y="2895600"/>
            <a:chExt cx="380720" cy="675620"/>
          </a:xfrm>
        </p:grpSpPr>
        <p:cxnSp>
          <p:nvCxnSpPr>
            <p:cNvPr id="18" name="Straight Arrow Connector 17"/>
            <p:cNvCxnSpPr/>
            <p:nvPr/>
          </p:nvCxnSpPr>
          <p:spPr>
            <a:xfrm flipV="1">
              <a:off x="952500" y="2895600"/>
              <a:ext cx="0" cy="53340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1066800" y="3048000"/>
              <a:ext cx="26642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729885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In-place partitioning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half" idx="1"/>
          </p:nvPr>
        </p:nvSpPr>
        <p:spPr>
          <a:xfrm>
            <a:off x="457200" y="4648200"/>
            <a:ext cx="4038600" cy="1981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Pivot around 7</a:t>
            </a:r>
          </a:p>
          <a:p>
            <a:r>
              <a:rPr lang="en-US" dirty="0" err="1"/>
              <a:t>pValue</a:t>
            </a:r>
            <a:r>
              <a:rPr lang="en-US" dirty="0"/>
              <a:t> = 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34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098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480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6200" y="1905000"/>
            <a:ext cx="838200" cy="8382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62600" y="2057400"/>
            <a:ext cx="24685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a[i]&lt;=</a:t>
            </a:r>
            <a:r>
              <a:rPr lang="en-US" sz="3200" dirty="0" err="1"/>
              <a:t>pValue</a:t>
            </a:r>
            <a:r>
              <a:rPr lang="en-US" sz="3200" dirty="0"/>
              <a:t>?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600200" y="2895601"/>
            <a:ext cx="1409700" cy="1361419"/>
            <a:chOff x="952500" y="2895601"/>
            <a:chExt cx="1409700" cy="1361419"/>
          </a:xfrm>
        </p:grpSpPr>
        <p:cxnSp>
          <p:nvCxnSpPr>
            <p:cNvPr id="4" name="Straight Arrow Connector 3"/>
            <p:cNvCxnSpPr/>
            <p:nvPr/>
          </p:nvCxnSpPr>
          <p:spPr>
            <a:xfrm flipV="1">
              <a:off x="952500" y="2895601"/>
              <a:ext cx="0" cy="12191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4"/>
            <p:cNvSpPr txBox="1"/>
            <p:nvPr/>
          </p:nvSpPr>
          <p:spPr>
            <a:xfrm>
              <a:off x="984451" y="3733800"/>
              <a:ext cx="137774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err="1"/>
                <a:t>nextLeft</a:t>
              </a:r>
              <a:endParaRPr lang="en-US" sz="2800" dirty="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3429280" y="2895600"/>
            <a:ext cx="380720" cy="675620"/>
            <a:chOff x="952500" y="2895600"/>
            <a:chExt cx="380720" cy="675620"/>
          </a:xfrm>
        </p:grpSpPr>
        <p:cxnSp>
          <p:nvCxnSpPr>
            <p:cNvPr id="18" name="Straight Arrow Connector 17"/>
            <p:cNvCxnSpPr/>
            <p:nvPr/>
          </p:nvCxnSpPr>
          <p:spPr>
            <a:xfrm flipV="1">
              <a:off x="952500" y="2895600"/>
              <a:ext cx="0" cy="53340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1066800" y="3048000"/>
              <a:ext cx="26642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426881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In-place partitioning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half" idx="1"/>
          </p:nvPr>
        </p:nvSpPr>
        <p:spPr>
          <a:xfrm>
            <a:off x="457200" y="4648200"/>
            <a:ext cx="4038600" cy="1981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Pivot around 7</a:t>
            </a:r>
          </a:p>
          <a:p>
            <a:r>
              <a:rPr lang="en-US" dirty="0" err="1"/>
              <a:t>pValue</a:t>
            </a:r>
            <a:r>
              <a:rPr lang="en-US" dirty="0"/>
              <a:t> = 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34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098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480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6200" y="1905000"/>
            <a:ext cx="838200" cy="8382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62600" y="2057400"/>
            <a:ext cx="19010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yes - swap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600200" y="2895601"/>
            <a:ext cx="1409700" cy="1361419"/>
            <a:chOff x="952500" y="2895601"/>
            <a:chExt cx="1409700" cy="1361419"/>
          </a:xfrm>
        </p:grpSpPr>
        <p:cxnSp>
          <p:nvCxnSpPr>
            <p:cNvPr id="4" name="Straight Arrow Connector 3"/>
            <p:cNvCxnSpPr/>
            <p:nvPr/>
          </p:nvCxnSpPr>
          <p:spPr>
            <a:xfrm flipV="1">
              <a:off x="952500" y="2895601"/>
              <a:ext cx="0" cy="12191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4"/>
            <p:cNvSpPr txBox="1"/>
            <p:nvPr/>
          </p:nvSpPr>
          <p:spPr>
            <a:xfrm>
              <a:off x="984451" y="3733800"/>
              <a:ext cx="137774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err="1"/>
                <a:t>nextLeft</a:t>
              </a:r>
              <a:endParaRPr lang="en-US" sz="2800" dirty="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3429280" y="2895600"/>
            <a:ext cx="380720" cy="675620"/>
            <a:chOff x="952500" y="2895600"/>
            <a:chExt cx="380720" cy="675620"/>
          </a:xfrm>
        </p:grpSpPr>
        <p:cxnSp>
          <p:nvCxnSpPr>
            <p:cNvPr id="18" name="Straight Arrow Connector 17"/>
            <p:cNvCxnSpPr/>
            <p:nvPr/>
          </p:nvCxnSpPr>
          <p:spPr>
            <a:xfrm flipV="1">
              <a:off x="952500" y="2895600"/>
              <a:ext cx="0" cy="53340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1066800" y="3048000"/>
              <a:ext cx="26642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12882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2.06849E-6 L 0.04792 0.04003 C 0.05799 0.04905 0.07309 0.05391 0.08872 0.05391 C 0.1066 0.05391 0.12101 0.04905 0.13108 0.04003 L 0.17917 -2.06849E-6 " pathEditMode="relative" rAng="0" ptsTypes="FffFF">
                                      <p:cBhvr>
                                        <p:cTn id="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958" y="2684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7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2.06849E-6 L -0.05035 -0.05368 C -0.06094 -0.06571 -0.07656 -0.07219 -0.09306 -0.07219 C -0.11181 -0.07219 -0.12674 -0.06571 -0.13733 -0.05368 L -0.1875 -2.06849E-6 " pathEditMode="relative" rAng="0" ptsTypes="FffFF">
                                      <p:cBhvr>
                                        <p:cTn id="8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375" y="-36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In-place partitioning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half" idx="1"/>
          </p:nvPr>
        </p:nvSpPr>
        <p:spPr>
          <a:xfrm>
            <a:off x="457200" y="4648200"/>
            <a:ext cx="4038600" cy="1981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Pivot around 7</a:t>
            </a:r>
          </a:p>
          <a:p>
            <a:r>
              <a:rPr lang="en-US" dirty="0" err="1"/>
              <a:t>pValue</a:t>
            </a:r>
            <a:r>
              <a:rPr lang="en-US" dirty="0"/>
              <a:t> = 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34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098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480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6200" y="1905000"/>
            <a:ext cx="838200" cy="8382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62600" y="2057400"/>
            <a:ext cx="3361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increment </a:t>
            </a:r>
            <a:r>
              <a:rPr lang="en-US" sz="3200" dirty="0" err="1"/>
              <a:t>nextLeft</a:t>
            </a:r>
            <a:endParaRPr lang="en-US" sz="3200" dirty="0"/>
          </a:p>
        </p:txBody>
      </p:sp>
      <p:grpSp>
        <p:nvGrpSpPr>
          <p:cNvPr id="6" name="Group 5"/>
          <p:cNvGrpSpPr/>
          <p:nvPr/>
        </p:nvGrpSpPr>
        <p:grpSpPr>
          <a:xfrm>
            <a:off x="2628900" y="2895601"/>
            <a:ext cx="1409700" cy="1361419"/>
            <a:chOff x="952500" y="2895601"/>
            <a:chExt cx="1409700" cy="1361419"/>
          </a:xfrm>
        </p:grpSpPr>
        <p:cxnSp>
          <p:nvCxnSpPr>
            <p:cNvPr id="4" name="Straight Arrow Connector 3"/>
            <p:cNvCxnSpPr/>
            <p:nvPr/>
          </p:nvCxnSpPr>
          <p:spPr>
            <a:xfrm flipV="1">
              <a:off x="952500" y="2895601"/>
              <a:ext cx="0" cy="12191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4"/>
            <p:cNvSpPr txBox="1"/>
            <p:nvPr/>
          </p:nvSpPr>
          <p:spPr>
            <a:xfrm>
              <a:off x="984451" y="3733800"/>
              <a:ext cx="137774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err="1"/>
                <a:t>nextLeft</a:t>
              </a:r>
              <a:endParaRPr lang="en-US" sz="2800" dirty="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3429280" y="2895600"/>
            <a:ext cx="380720" cy="675620"/>
            <a:chOff x="952500" y="2895600"/>
            <a:chExt cx="380720" cy="675620"/>
          </a:xfrm>
        </p:grpSpPr>
        <p:cxnSp>
          <p:nvCxnSpPr>
            <p:cNvPr id="18" name="Straight Arrow Connector 17"/>
            <p:cNvCxnSpPr/>
            <p:nvPr/>
          </p:nvCxnSpPr>
          <p:spPr>
            <a:xfrm flipV="1">
              <a:off x="952500" y="2895600"/>
              <a:ext cx="0" cy="53340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1066800" y="3048000"/>
              <a:ext cx="26642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536501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In-place partitioning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half" idx="1"/>
          </p:nvPr>
        </p:nvSpPr>
        <p:spPr>
          <a:xfrm>
            <a:off x="457200" y="4648200"/>
            <a:ext cx="4038600" cy="1981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Pivot around 7</a:t>
            </a:r>
          </a:p>
          <a:p>
            <a:r>
              <a:rPr lang="en-US" dirty="0" err="1"/>
              <a:t>pValue</a:t>
            </a:r>
            <a:r>
              <a:rPr lang="en-US" dirty="0"/>
              <a:t> = 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34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098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480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6200" y="1905000"/>
            <a:ext cx="838200" cy="8382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62600" y="2057400"/>
            <a:ext cx="16391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move on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2628900" y="2895601"/>
            <a:ext cx="1409700" cy="1361419"/>
            <a:chOff x="952500" y="2895601"/>
            <a:chExt cx="1409700" cy="1361419"/>
          </a:xfrm>
        </p:grpSpPr>
        <p:cxnSp>
          <p:nvCxnSpPr>
            <p:cNvPr id="4" name="Straight Arrow Connector 3"/>
            <p:cNvCxnSpPr/>
            <p:nvPr/>
          </p:nvCxnSpPr>
          <p:spPr>
            <a:xfrm flipV="1">
              <a:off x="952500" y="2895601"/>
              <a:ext cx="0" cy="12191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4"/>
            <p:cNvSpPr txBox="1"/>
            <p:nvPr/>
          </p:nvSpPr>
          <p:spPr>
            <a:xfrm>
              <a:off x="984451" y="3733800"/>
              <a:ext cx="137774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err="1"/>
                <a:t>nextLeft</a:t>
              </a:r>
              <a:endParaRPr lang="en-US" sz="2800" dirty="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4267480" y="2895600"/>
            <a:ext cx="380720" cy="675620"/>
            <a:chOff x="952500" y="2895600"/>
            <a:chExt cx="380720" cy="675620"/>
          </a:xfrm>
        </p:grpSpPr>
        <p:cxnSp>
          <p:nvCxnSpPr>
            <p:cNvPr id="18" name="Straight Arrow Connector 17"/>
            <p:cNvCxnSpPr/>
            <p:nvPr/>
          </p:nvCxnSpPr>
          <p:spPr>
            <a:xfrm flipV="1">
              <a:off x="952500" y="2895600"/>
              <a:ext cx="0" cy="53340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1066800" y="3048000"/>
              <a:ext cx="26642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437524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In-place partitioning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half" idx="1"/>
          </p:nvPr>
        </p:nvSpPr>
        <p:spPr>
          <a:xfrm>
            <a:off x="457200" y="4648200"/>
            <a:ext cx="4038600" cy="1981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Pivot around 7</a:t>
            </a:r>
          </a:p>
          <a:p>
            <a:r>
              <a:rPr lang="en-US" dirty="0" err="1"/>
              <a:t>pValue</a:t>
            </a:r>
            <a:r>
              <a:rPr lang="en-US" dirty="0"/>
              <a:t> = 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34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098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480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6200" y="1905000"/>
            <a:ext cx="838200" cy="8382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62600" y="2057400"/>
            <a:ext cx="312784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oops –</a:t>
            </a:r>
            <a:br>
              <a:rPr lang="en-US" sz="3200" dirty="0"/>
            </a:br>
            <a:r>
              <a:rPr lang="en-US" sz="3200" dirty="0"/>
              <a:t>we’re at the pivot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2628900" y="2895601"/>
            <a:ext cx="1409700" cy="1361419"/>
            <a:chOff x="952500" y="2895601"/>
            <a:chExt cx="1409700" cy="1361419"/>
          </a:xfrm>
        </p:grpSpPr>
        <p:cxnSp>
          <p:nvCxnSpPr>
            <p:cNvPr id="4" name="Straight Arrow Connector 3"/>
            <p:cNvCxnSpPr/>
            <p:nvPr/>
          </p:nvCxnSpPr>
          <p:spPr>
            <a:xfrm flipV="1">
              <a:off x="952500" y="2895601"/>
              <a:ext cx="0" cy="12191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4"/>
            <p:cNvSpPr txBox="1"/>
            <p:nvPr/>
          </p:nvSpPr>
          <p:spPr>
            <a:xfrm>
              <a:off x="984451" y="3733800"/>
              <a:ext cx="137774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err="1"/>
                <a:t>nextLeft</a:t>
              </a:r>
              <a:endParaRPr lang="en-US" sz="2800" dirty="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4267480" y="2895600"/>
            <a:ext cx="380720" cy="675620"/>
            <a:chOff x="952500" y="2895600"/>
            <a:chExt cx="380720" cy="675620"/>
          </a:xfrm>
        </p:grpSpPr>
        <p:cxnSp>
          <p:nvCxnSpPr>
            <p:cNvPr id="18" name="Straight Arrow Connector 17"/>
            <p:cNvCxnSpPr/>
            <p:nvPr/>
          </p:nvCxnSpPr>
          <p:spPr>
            <a:xfrm flipV="1">
              <a:off x="952500" y="2895600"/>
              <a:ext cx="0" cy="53340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1066800" y="3048000"/>
              <a:ext cx="26642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831085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In-place partitioning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half" idx="1"/>
          </p:nvPr>
        </p:nvSpPr>
        <p:spPr>
          <a:xfrm>
            <a:off x="457200" y="4648200"/>
            <a:ext cx="4038600" cy="1981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Pivot around 7</a:t>
            </a:r>
          </a:p>
          <a:p>
            <a:r>
              <a:rPr lang="en-US" dirty="0" err="1"/>
              <a:t>pValue</a:t>
            </a:r>
            <a:r>
              <a:rPr lang="en-US" dirty="0"/>
              <a:t> = 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34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098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480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6200" y="1905000"/>
            <a:ext cx="838200" cy="8382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62600" y="2057400"/>
            <a:ext cx="35808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swap it into </a:t>
            </a:r>
            <a:r>
              <a:rPr lang="en-US" sz="3200" dirty="0" err="1"/>
              <a:t>nextLeft</a:t>
            </a:r>
            <a:endParaRPr lang="en-US" sz="3200" dirty="0"/>
          </a:p>
        </p:txBody>
      </p:sp>
      <p:grpSp>
        <p:nvGrpSpPr>
          <p:cNvPr id="6" name="Group 5"/>
          <p:cNvGrpSpPr/>
          <p:nvPr/>
        </p:nvGrpSpPr>
        <p:grpSpPr>
          <a:xfrm>
            <a:off x="2628900" y="2895601"/>
            <a:ext cx="1409700" cy="1361419"/>
            <a:chOff x="952500" y="2895601"/>
            <a:chExt cx="1409700" cy="1361419"/>
          </a:xfrm>
        </p:grpSpPr>
        <p:cxnSp>
          <p:nvCxnSpPr>
            <p:cNvPr id="4" name="Straight Arrow Connector 3"/>
            <p:cNvCxnSpPr/>
            <p:nvPr/>
          </p:nvCxnSpPr>
          <p:spPr>
            <a:xfrm flipV="1">
              <a:off x="952500" y="2895601"/>
              <a:ext cx="0" cy="12191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4"/>
            <p:cNvSpPr txBox="1"/>
            <p:nvPr/>
          </p:nvSpPr>
          <p:spPr>
            <a:xfrm>
              <a:off x="984451" y="3733800"/>
              <a:ext cx="137774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err="1"/>
                <a:t>nextLeft</a:t>
              </a:r>
              <a:endParaRPr lang="en-US" sz="2800" dirty="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4267480" y="2895600"/>
            <a:ext cx="380720" cy="675620"/>
            <a:chOff x="952500" y="2895600"/>
            <a:chExt cx="380720" cy="675620"/>
          </a:xfrm>
        </p:grpSpPr>
        <p:cxnSp>
          <p:nvCxnSpPr>
            <p:cNvPr id="18" name="Straight Arrow Connector 17"/>
            <p:cNvCxnSpPr/>
            <p:nvPr/>
          </p:nvCxnSpPr>
          <p:spPr>
            <a:xfrm flipV="1">
              <a:off x="952500" y="2895600"/>
              <a:ext cx="0" cy="53340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1066800" y="3048000"/>
              <a:ext cx="26642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03500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11111E-6 L 0.04792 0.04005 C 0.05799 0.04907 0.07309 0.05393 0.08872 0.05393 C 0.1066 0.05393 0.12101 0.04907 0.13108 0.04005 L 0.17917 1.11111E-6 " pathEditMode="relative" rAng="0" ptsTypes="FffFF">
                                      <p:cBhvr>
                                        <p:cTn id="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958" y="2685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7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11111E-6 L -0.04809 -0.06204 C -0.05816 -0.07593 -0.07327 -0.08333 -0.08889 -0.08333 C -0.10677 -0.08333 -0.12118 -0.07593 -0.13125 -0.06204 L -0.17917 1.11111E-6 " pathEditMode="relative" rAng="0" ptsTypes="FffFF">
                                      <p:cBhvr>
                                        <p:cTn id="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958" y="-41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In-place partitioning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half" idx="1"/>
          </p:nvPr>
        </p:nvSpPr>
        <p:spPr>
          <a:xfrm>
            <a:off x="457200" y="4648200"/>
            <a:ext cx="4038600" cy="1981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Pivot around 7</a:t>
            </a:r>
          </a:p>
          <a:p>
            <a:r>
              <a:rPr lang="en-US" dirty="0" err="1"/>
              <a:t>pValue</a:t>
            </a:r>
            <a:r>
              <a:rPr lang="en-US" dirty="0"/>
              <a:t> = 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34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09800" y="1905000"/>
            <a:ext cx="838200" cy="8382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480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6200" y="1905000"/>
            <a:ext cx="838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62600" y="2057400"/>
            <a:ext cx="10374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done</a:t>
            </a:r>
          </a:p>
        </p:txBody>
      </p:sp>
    </p:spTree>
    <p:extLst>
      <p:ext uri="{BB962C8B-B14F-4D97-AF65-F5344CB8AC3E}">
        <p14:creationId xmlns:p14="http://schemas.microsoft.com/office/powerpoint/2010/main" val="2705073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Partitioning </a:t>
            </a:r>
            <a:r>
              <a:rPr lang="en-US" dirty="0" err="1"/>
              <a:t>subranges</a:t>
            </a:r>
            <a:r>
              <a:rPr lang="en-US" dirty="0"/>
              <a:t> of the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When quicksort </a:t>
            </a:r>
            <a:r>
              <a:rPr lang="en-US" dirty="0" err="1"/>
              <a:t>recurses</a:t>
            </a:r>
            <a:r>
              <a:rPr lang="en-US" dirty="0"/>
              <a:t>, it will need to partition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just the left and right halves </a:t>
            </a:r>
            <a:r>
              <a:rPr lang="en-US" dirty="0"/>
              <a:t>of the array</a:t>
            </a:r>
          </a:p>
          <a:p>
            <a:endParaRPr lang="en-US" dirty="0"/>
          </a:p>
          <a:p>
            <a:r>
              <a:rPr lang="en-US" dirty="0"/>
              <a:t>So we need to change partition to take the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region of the array </a:t>
            </a:r>
            <a:r>
              <a:rPr lang="en-US" dirty="0"/>
              <a:t>to be partitioned as an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argument</a:t>
            </a:r>
          </a:p>
          <a:p>
            <a:pPr lvl="1"/>
            <a:r>
              <a:rPr lang="en-US" dirty="0"/>
              <a:t>Specified by its starting and ending indices</a:t>
            </a:r>
          </a:p>
          <a:p>
            <a:pPr lvl="1"/>
            <a:endParaRPr lang="en-US" dirty="0"/>
          </a:p>
          <a:p>
            <a:r>
              <a:rPr lang="en-US" dirty="0"/>
              <a:t>Quicksort also needs Partition to tell it where the split is, so it will return </a:t>
            </a:r>
            <a:r>
              <a:rPr lang="en-US" dirty="0" err="1"/>
              <a:t>nextLeft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Partition(a, </a:t>
            </a:r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</a:rPr>
              <a:t>pIndex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</a:rPr>
              <a:t>start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</a:rPr>
              <a:t>end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)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</a:t>
            </a:r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</a:rPr>
              <a:t>pValue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= a[</a:t>
            </a:r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</a:rPr>
              <a:t>pIndex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]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// Move pivot to end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swap a[</a:t>
            </a:r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</a:rPr>
              <a:t>pIndex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]</a:t>
            </a:r>
            <a:b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</a:b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         with </a:t>
            </a: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</a:rPr>
              <a:t>a[end]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// Move small values left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</a:t>
            </a:r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</a:rPr>
              <a:t>nextLeft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= </a:t>
            </a: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</a:rPr>
              <a:t>start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for i = </a:t>
            </a: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</a:rPr>
              <a:t>start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to </a:t>
            </a: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</a:rPr>
              <a:t>end-1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     if a[i]&lt;=</a:t>
            </a:r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</a:rPr>
              <a:t>pValue</a:t>
            </a:r>
            <a:b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</a:b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        swap a[i]</a:t>
            </a:r>
            <a:b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</a:b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                 with a[</a:t>
            </a:r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</a:rPr>
              <a:t>nextLeft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]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        </a:t>
            </a:r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</a:rPr>
              <a:t>nextLeft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++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// Move the pivot into place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swap a[</a:t>
            </a:r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</a:rPr>
              <a:t>nextLeft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]</a:t>
            </a:r>
            <a:b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</a:b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           with </a:t>
            </a: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</a:rPr>
              <a:t>a[end]</a:t>
            </a:r>
            <a:br>
              <a:rPr lang="en-US" sz="1600" b="1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</a:rPr>
              <a:t>   return </a:t>
            </a:r>
            <a:r>
              <a:rPr lang="en-US" sz="1600" b="1" dirty="0" err="1">
                <a:solidFill>
                  <a:schemeClr val="accent3">
                    <a:lumMod val="50000"/>
                  </a:schemeClr>
                </a:solidFill>
              </a:rPr>
              <a:t>nextLeft</a:t>
            </a:r>
            <a:endParaRPr lang="en-US" sz="1600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22716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real quicksort algorithm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Quicksort(a)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QuicksortRecur</a:t>
            </a:r>
            <a:r>
              <a:rPr lang="en-US" dirty="0"/>
              <a:t>(a, 0, a.Length-1)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QuicksortRecur</a:t>
            </a:r>
            <a:r>
              <a:rPr lang="en-US" dirty="0"/>
              <a:t>(a, start, end)</a:t>
            </a:r>
          </a:p>
          <a:p>
            <a:pPr marL="0" indent="0">
              <a:buNone/>
            </a:pPr>
            <a:r>
              <a:rPr lang="en-US" dirty="0"/>
              <a:t>   if end&gt;start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pIndex</a:t>
            </a:r>
            <a:r>
              <a:rPr lang="en-US" dirty="0"/>
              <a:t> = … </a:t>
            </a:r>
            <a:r>
              <a:rPr lang="en-US" i="1" dirty="0"/>
              <a:t>select pivot index </a:t>
            </a:r>
            <a:r>
              <a:rPr lang="en-US" dirty="0"/>
              <a:t>…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newIndex</a:t>
            </a:r>
            <a:r>
              <a:rPr lang="en-US" dirty="0"/>
              <a:t> = Partition(a, </a:t>
            </a:r>
            <a:r>
              <a:rPr lang="en-US" dirty="0" err="1"/>
              <a:t>pIndex</a:t>
            </a:r>
            <a:r>
              <a:rPr lang="en-US" dirty="0"/>
              <a:t>, start, end)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QuicksortRecur</a:t>
            </a:r>
            <a:r>
              <a:rPr lang="en-US" dirty="0"/>
              <a:t>(a, start, newIndex-1)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QuicksortRecur</a:t>
            </a:r>
            <a:r>
              <a:rPr lang="en-US" dirty="0"/>
              <a:t>(a, newIndex+1, end)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629400" y="2819400"/>
            <a:ext cx="21178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We’ll talk about</a:t>
            </a:r>
          </a:p>
          <a:p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this part shortly …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6172200" y="3618131"/>
            <a:ext cx="381000" cy="420469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54192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(best case)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The best case is where we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always pick</a:t>
                </a:r>
                <a:r>
                  <a:rPr lang="en-US" dirty="0"/>
                  <a:t> a pivot that splits the array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exactly in half</a:t>
                </a:r>
              </a:p>
              <a:p>
                <a:endParaRPr lang="en-US" dirty="0"/>
              </a:p>
              <a:p>
                <a:r>
                  <a:rPr lang="en-US" dirty="0"/>
                  <a:t>Then we </a:t>
                </a:r>
                <a:r>
                  <a:rPr lang="en-US" dirty="0" err="1"/>
                  <a:t>recurse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b="1" i="1" dirty="0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1" i="1" dirty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b="1" i="1" dirty="0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dirty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/>
                                  </a:rPr>
                                  <m:t>𝐥𝐨𝐠</m:t>
                                </m:r>
                              </m:e>
                              <m:sub>
                                <m:r>
                                  <a:rPr lang="en-US" b="1" i="1" dirty="0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sub>
                            </m:sSub>
                          </m:fName>
                          <m:e>
                            <m:r>
                              <a:rPr lang="en-US" b="1" i="1" dirty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/>
                              </a:rPr>
                              <m:t>𝒏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/>
                  <a:t> times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means “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US" dirty="0"/>
                  <a:t> rounded up to the nearest integer</a:t>
                </a:r>
              </a:p>
              <a:p>
                <a:pPr lvl="1"/>
                <a:r>
                  <a:rPr lang="en-US" dirty="0"/>
                  <a:t>Pronounced “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ceiling</a:t>
                </a:r>
                <a:r>
                  <a:rPr lang="en-US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US" dirty="0"/>
                  <a:t>”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means round down (read: “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floor</a:t>
                </a:r>
                <a:r>
                  <a:rPr lang="en-US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US" dirty="0"/>
                  <a:t>”)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61774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22062" y="1752600"/>
            <a:ext cx="2269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Quicksort(n elements)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26138" y="2514600"/>
            <a:ext cx="2475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Quicksort(n/2 elements)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3516868"/>
            <a:ext cx="1941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Quicksort(n/4 </a:t>
            </a:r>
            <a:r>
              <a:rPr lang="en-US" dirty="0" err="1"/>
              <a:t>elts</a:t>
            </a:r>
            <a:r>
              <a:rPr lang="en-US" dirty="0"/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76200" y="4355068"/>
            <a:ext cx="1941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Quicksort(n/8 </a:t>
            </a:r>
            <a:r>
              <a:rPr lang="en-US" dirty="0" err="1"/>
              <a:t>elts</a:t>
            </a:r>
            <a:r>
              <a:rPr lang="en-US" dirty="0"/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5138" y="4812268"/>
            <a:ext cx="1941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Quicksort(n/8 </a:t>
            </a:r>
            <a:r>
              <a:rPr lang="en-US" dirty="0" err="1"/>
              <a:t>elts</a:t>
            </a:r>
            <a:r>
              <a:rPr lang="en-US" dirty="0"/>
              <a:t>)</a:t>
            </a:r>
          </a:p>
        </p:txBody>
      </p:sp>
      <p:cxnSp>
        <p:nvCxnSpPr>
          <p:cNvPr id="11" name="Straight Arrow Connector 10"/>
          <p:cNvCxnSpPr>
            <a:endCxn id="7" idx="0"/>
          </p:cNvCxnSpPr>
          <p:nvPr/>
        </p:nvCxnSpPr>
        <p:spPr>
          <a:xfrm flipH="1">
            <a:off x="894322" y="3886200"/>
            <a:ext cx="150818" cy="46886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1730938" y="3886200"/>
            <a:ext cx="134040" cy="92606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877782" y="3516868"/>
            <a:ext cx="1941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Quicksort(n/4 </a:t>
            </a:r>
            <a:r>
              <a:rPr lang="en-US" dirty="0" err="1"/>
              <a:t>elts</a:t>
            </a:r>
            <a:r>
              <a:rPr lang="en-US" dirty="0"/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70320" y="4355068"/>
            <a:ext cx="1941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Quicksort(n/8 </a:t>
            </a:r>
            <a:r>
              <a:rPr lang="en-US" dirty="0" err="1"/>
              <a:t>elts</a:t>
            </a:r>
            <a:r>
              <a:rPr lang="en-US" dirty="0"/>
              <a:t>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8156" y="4800600"/>
            <a:ext cx="1941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Quicksort(n/8 </a:t>
            </a:r>
            <a:r>
              <a:rPr lang="en-US" dirty="0" err="1"/>
              <a:t>elts</a:t>
            </a:r>
            <a:r>
              <a:rPr lang="en-US" dirty="0"/>
              <a:t>)</a:t>
            </a:r>
          </a:p>
        </p:txBody>
      </p:sp>
      <p:cxnSp>
        <p:nvCxnSpPr>
          <p:cNvPr id="18" name="Straight Arrow Connector 17"/>
          <p:cNvCxnSpPr>
            <a:endCxn id="16" idx="0"/>
          </p:cNvCxnSpPr>
          <p:nvPr/>
        </p:nvCxnSpPr>
        <p:spPr>
          <a:xfrm flipH="1">
            <a:off x="3140842" y="3886200"/>
            <a:ext cx="150816" cy="46886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3977458" y="3886200"/>
            <a:ext cx="134040" cy="92606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>
            <a:off x="1864978" y="2883932"/>
            <a:ext cx="305342" cy="63293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2971800" y="2883932"/>
            <a:ext cx="511738" cy="63293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638800" y="2514600"/>
            <a:ext cx="2475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Quicksort(n/2 elements)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5182" y="3516868"/>
            <a:ext cx="1941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Quicksort(n/4 </a:t>
            </a:r>
            <a:r>
              <a:rPr lang="en-US" dirty="0" err="1"/>
              <a:t>elts</a:t>
            </a:r>
            <a:r>
              <a:rPr lang="en-US" dirty="0"/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77982" y="4355068"/>
            <a:ext cx="1941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Quicksort(n/8 </a:t>
            </a:r>
            <a:r>
              <a:rPr lang="en-US" dirty="0" err="1"/>
              <a:t>elts</a:t>
            </a:r>
            <a:r>
              <a:rPr lang="en-US" dirty="0"/>
              <a:t>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05400" y="4812268"/>
            <a:ext cx="1941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Quicksort(n/8 </a:t>
            </a:r>
            <a:r>
              <a:rPr lang="en-US" dirty="0" err="1"/>
              <a:t>elts</a:t>
            </a:r>
            <a:r>
              <a:rPr lang="en-US" dirty="0"/>
              <a:t>)</a:t>
            </a:r>
          </a:p>
        </p:txBody>
      </p:sp>
      <p:cxnSp>
        <p:nvCxnSpPr>
          <p:cNvPr id="28" name="Straight Arrow Connector 27"/>
          <p:cNvCxnSpPr>
            <a:endCxn id="26" idx="0"/>
          </p:cNvCxnSpPr>
          <p:nvPr/>
        </p:nvCxnSpPr>
        <p:spPr>
          <a:xfrm flipH="1">
            <a:off x="5448504" y="3886200"/>
            <a:ext cx="150817" cy="46886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6285120" y="3886200"/>
            <a:ext cx="134040" cy="92606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840182" y="3516868"/>
            <a:ext cx="1941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Quicksort(n/4 </a:t>
            </a:r>
            <a:r>
              <a:rPr lang="en-US" dirty="0" err="1"/>
              <a:t>elts</a:t>
            </a:r>
            <a:r>
              <a:rPr lang="en-US" dirty="0"/>
              <a:t>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982" y="4355068"/>
            <a:ext cx="1941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Quicksort(n/8 </a:t>
            </a:r>
            <a:r>
              <a:rPr lang="en-US" dirty="0" err="1"/>
              <a:t>elts</a:t>
            </a:r>
            <a:r>
              <a:rPr lang="en-US" dirty="0"/>
              <a:t>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62800" y="4812268"/>
            <a:ext cx="1941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Quicksort(n/8 </a:t>
            </a:r>
            <a:r>
              <a:rPr lang="en-US" dirty="0" err="1"/>
              <a:t>elts</a:t>
            </a:r>
            <a:r>
              <a:rPr lang="en-US" dirty="0"/>
              <a:t>)</a:t>
            </a:r>
          </a:p>
        </p:txBody>
      </p:sp>
      <p:cxnSp>
        <p:nvCxnSpPr>
          <p:cNvPr id="33" name="Straight Arrow Connector 32"/>
          <p:cNvCxnSpPr>
            <a:endCxn id="31" idx="0"/>
          </p:cNvCxnSpPr>
          <p:nvPr/>
        </p:nvCxnSpPr>
        <p:spPr>
          <a:xfrm flipH="1">
            <a:off x="7353504" y="3886200"/>
            <a:ext cx="150816" cy="46886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8190120" y="3886200"/>
            <a:ext cx="134040" cy="92606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6077640" y="2883932"/>
            <a:ext cx="305342" cy="63293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7184462" y="2883932"/>
            <a:ext cx="511738" cy="63293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3149252" y="2121932"/>
            <a:ext cx="392668" cy="39266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5181600" y="2121932"/>
            <a:ext cx="392668" cy="39266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28600" y="1600200"/>
            <a:ext cx="8686800" cy="609600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n elements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2362200"/>
            <a:ext cx="8686800" cy="609600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n elements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" y="3345636"/>
            <a:ext cx="8686800" cy="609600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n elements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200" y="4336236"/>
            <a:ext cx="8991600" cy="845364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n elements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96000"/>
            <a:ext cx="83010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this is somewhat hand-wavy, since  each level of recursion removes one element</a:t>
            </a:r>
          </a:p>
          <a:p>
            <a:r>
              <a:rPr lang="en-US" dirty="0"/>
              <a:t>(the pivot) before dividing by two.  But this still works as an upper bound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8226" y="5181600"/>
            <a:ext cx="2423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72905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7" grpId="0" animBg="1"/>
      <p:bldP spid="39" grpId="0" animBg="1"/>
      <p:bldP spid="4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(best case)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𝑂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func>
                      <m:func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1" dirty="0" smtClean="0">
                            <a:latin typeface="Cambria Math"/>
                          </a:rPr>
                          <m:t>log</m:t>
                        </m:r>
                      </m:fName>
                      <m:e>
                        <m:r>
                          <a:rPr lang="en-US" i="1" dirty="0" smtClean="0">
                            <a:latin typeface="Cambria Math"/>
                          </a:rPr>
                          <m:t>𝑛</m:t>
                        </m:r>
                        <m:r>
                          <a:rPr lang="en-US" i="1" dirty="0" smtClean="0">
                            <a:latin typeface="Cambria Math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/>
                  <a:t> levels of recursion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 items total partitioned in each level</a:t>
                </a:r>
              </a:p>
              <a:p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𝑶</m:t>
                    </m:r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(</m:t>
                    </m:r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𝒏</m:t>
                    </m:r>
                    <m:func>
                      <m:funcPr>
                        <m:ctrlPr>
                          <a:rPr lang="en-US" b="1" i="1" dirty="0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1" i="1" dirty="0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/>
                          </a:rPr>
                          <m:t>𝒍𝒐𝒈</m:t>
                        </m:r>
                      </m:fName>
                      <m:e>
                        <m:r>
                          <a:rPr lang="en-US" b="1" i="1" dirty="0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/>
                          </a:rPr>
                          <m:t>𝒏</m:t>
                        </m:r>
                        <m:r>
                          <a:rPr lang="en-US" b="1" i="1" dirty="0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/>
                  <a:t> total time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3909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(worst case)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worst case is where we always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pick largest or smallest</a:t>
                </a:r>
                <a:r>
                  <a:rPr lang="en-US" dirty="0"/>
                  <a:t> element as the pivot</a:t>
                </a:r>
              </a:p>
              <a:p>
                <a:pPr lvl="1"/>
                <a:r>
                  <a:rPr lang="en-US" dirty="0"/>
                  <a:t>All remaining elements on one side</a:t>
                </a:r>
              </a:p>
              <a:p>
                <a:endParaRPr lang="en-US" dirty="0"/>
              </a:p>
              <a:p>
                <a:r>
                  <a:rPr lang="en-US" dirty="0"/>
                  <a:t>Then we </a:t>
                </a:r>
                <a:r>
                  <a:rPr lang="en-US" dirty="0" err="1"/>
                  <a:t>recurse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𝒏</m:t>
                    </m:r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−</m:t>
                    </m:r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dirty="0"/>
                  <a:t> times!</a:t>
                </a:r>
              </a:p>
              <a:p>
                <a:pPr lvl="1"/>
                <a:r>
                  <a:rPr lang="en-US" dirty="0"/>
                  <a:t>i.e.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 total calls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0083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(worst case)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𝑂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𝑛</m:t>
                    </m:r>
                    <m:r>
                      <a:rPr lang="en-US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levels of recursion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𝑂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𝑛</m:t>
                    </m:r>
                    <m:r>
                      <a:rPr lang="en-US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work per level of recursion</a:t>
                </a:r>
              </a:p>
              <a:p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𝑶</m:t>
                    </m:r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b="1" i="1" dirty="0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/>
                          </a:rPr>
                          <m:t>𝒏</m:t>
                        </m:r>
                      </m:e>
                      <m:sup>
                        <m:r>
                          <a:rPr lang="en-US" b="1" i="1" dirty="0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total time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9053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(average case)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Hand-wavy argument:</a:t>
                </a:r>
              </a:p>
              <a:p>
                <a:r>
                  <a:rPr lang="en-US" dirty="0"/>
                  <a:t>You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have to pick really badly </a:t>
                </a:r>
                <a:r>
                  <a:rPr lang="en-US" dirty="0"/>
                  <a:t>to get worst-case behavior</a:t>
                </a:r>
              </a:p>
              <a:p>
                <a:r>
                  <a:rPr lang="en-US" dirty="0"/>
                  <a:t>Even if you only split it so that each time:</a:t>
                </a:r>
              </a:p>
              <a:p>
                <a:pPr lvl="1"/>
                <a:r>
                  <a:rPr lang="en-US" dirty="0"/>
                  <a:t>99% of the elements are on one side</a:t>
                </a:r>
              </a:p>
              <a:p>
                <a:pPr lvl="1"/>
                <a:r>
                  <a:rPr lang="en-US" dirty="0"/>
                  <a:t>1% are on the </a:t>
                </a:r>
                <a:r>
                  <a:rPr lang="en-US" dirty="0" err="1"/>
                  <a:t>the</a:t>
                </a:r>
                <a:r>
                  <a:rPr lang="en-US" dirty="0"/>
                  <a:t> other side</a:t>
                </a:r>
              </a:p>
              <a:p>
                <a:pPr lvl="1"/>
                <a:r>
                  <a:rPr lang="en-US" dirty="0"/>
                  <a:t>You still get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𝑂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func>
                      <m:func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1" dirty="0" smtClean="0">
                            <a:latin typeface="Cambria Math"/>
                          </a:rPr>
                          <m:t>log</m:t>
                        </m:r>
                      </m:fName>
                      <m:e>
                        <m:r>
                          <a:rPr lang="en-US" i="1" dirty="0" smtClean="0">
                            <a:latin typeface="Cambria Math"/>
                          </a:rPr>
                          <m:t>𝑛</m:t>
                        </m:r>
                        <m:r>
                          <a:rPr lang="en-US" i="1" dirty="0" smtClean="0">
                            <a:latin typeface="Cambria Math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/>
                  <a:t> levels of recursion</a:t>
                </a:r>
              </a:p>
              <a:p>
                <a:pPr lvl="1"/>
                <a:r>
                  <a:rPr lang="en-US" dirty="0"/>
                  <a:t>It’s just closer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7</m:t>
                    </m:r>
                    <m:func>
                      <m:func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1" dirty="0" smtClean="0">
                            <a:latin typeface="Cambria Math"/>
                          </a:rPr>
                          <m:t>log</m:t>
                        </m:r>
                      </m:fName>
                      <m:e>
                        <m:r>
                          <a:rPr lang="en-US" i="1" dirty="0" smtClean="0">
                            <a:latin typeface="Cambria Math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dirty="0"/>
                  <a:t> than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1" smtClean="0">
                            <a:latin typeface="Cambria Math"/>
                          </a:rPr>
                          <m:t>log</m:t>
                        </m:r>
                      </m:fName>
                      <m:e>
                        <m:r>
                          <a:rPr lang="en-US" i="1" smtClean="0">
                            <a:latin typeface="Cambria Math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dirty="0"/>
                  <a:t>, but that’s still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𝑂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func>
                      <m:func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1" dirty="0" smtClean="0">
                            <a:latin typeface="Cambria Math"/>
                          </a:rPr>
                          <m:t>log</m:t>
                        </m:r>
                      </m:fName>
                      <m:e>
                        <m:r>
                          <a:rPr lang="en-US" i="1" dirty="0" smtClean="0">
                            <a:latin typeface="Cambria Math"/>
                          </a:rPr>
                          <m:t>𝑛</m:t>
                        </m:r>
                        <m:r>
                          <a:rPr lang="en-US" i="1" dirty="0" smtClean="0">
                            <a:latin typeface="Cambria Math"/>
                          </a:rPr>
                          <m:t>)</m:t>
                        </m:r>
                      </m:e>
                    </m:func>
                  </m:oMath>
                </a14:m>
                <a:endParaRPr lang="en-US" i="1" dirty="0">
                  <a:latin typeface="Cambria Math"/>
                </a:endParaRPr>
              </a:p>
              <a:p>
                <a:endParaRPr lang="en-US" dirty="0"/>
              </a:p>
              <a:p>
                <a:r>
                  <a:rPr lang="en-US" dirty="0"/>
                  <a:t>So even if most of the time you only get the split to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within 1%, you still get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𝑶</m:t>
                    </m:r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(</m:t>
                    </m:r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𝒏</m:t>
                    </m:r>
                    <m:func>
                      <m:funcPr>
                        <m:ctrlPr>
                          <a:rPr lang="en-US" b="1" i="1" dirty="0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1" i="1" dirty="0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/>
                          </a:rPr>
                          <m:t>𝒍𝒐𝒈</m:t>
                        </m:r>
                      </m:fName>
                      <m:e>
                        <m:r>
                          <a:rPr lang="en-US" b="1" i="1" dirty="0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/>
                          </a:rPr>
                          <m:t>𝒏</m:t>
                        </m:r>
                        <m:r>
                          <a:rPr lang="en-US" b="1" i="1" dirty="0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/>
                  <a:t> total execution time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85" t="-2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09612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Picking the pivot element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 the choice of the pivot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determines performance</a:t>
            </a:r>
          </a:p>
          <a:p>
            <a:r>
              <a:rPr lang="en-US" dirty="0"/>
              <a:t>How do we choose the pivot element?</a:t>
            </a:r>
          </a:p>
        </p:txBody>
      </p:sp>
    </p:spTree>
    <p:extLst>
      <p:ext uri="{BB962C8B-B14F-4D97-AF65-F5344CB8AC3E}">
        <p14:creationId xmlns:p14="http://schemas.microsoft.com/office/powerpoint/2010/main" val="115629690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Technique 1: fixed choice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E.g. always pick the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first or last </a:t>
            </a:r>
            <a:r>
              <a:rPr lang="en-US" dirty="0"/>
              <a:t>element in the array</a:t>
            </a:r>
          </a:p>
          <a:p>
            <a:r>
              <a:rPr lang="en-US" dirty="0"/>
              <a:t>Usually works fine, but can give you worst-case behavior if the array is already sorted/reverse-sorted</a:t>
            </a:r>
          </a:p>
          <a:p>
            <a:pPr lvl="1"/>
            <a:r>
              <a:rPr lang="en-US" dirty="0"/>
              <a:t>Example: first or last element gives you worst-case behavior on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both sorted</a:t>
            </a:r>
            <a:r>
              <a:rPr lang="en-US" dirty="0"/>
              <a:t>, and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reverse-sorted </a:t>
            </a:r>
            <a:r>
              <a:rPr lang="en-US" dirty="0"/>
              <a:t>arrays</a:t>
            </a:r>
          </a:p>
        </p:txBody>
      </p:sp>
    </p:spTree>
    <p:extLst>
      <p:ext uri="{BB962C8B-B14F-4D97-AF65-F5344CB8AC3E}">
        <p14:creationId xmlns:p14="http://schemas.microsoft.com/office/powerpoint/2010/main" val="17291264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Technique 2: median of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Grab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three elements </a:t>
            </a:r>
            <a:r>
              <a:rPr lang="en-US" dirty="0"/>
              <a:t>(e.g. first, last, and middle of the array)</a:t>
            </a:r>
          </a:p>
          <a:p>
            <a:r>
              <a:rPr lang="en-US" dirty="0"/>
              <a:t>Find the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median</a:t>
            </a:r>
            <a:r>
              <a:rPr lang="en-US" dirty="0"/>
              <a:t> (the one that’s between the other two</a:t>
            </a:r>
          </a:p>
          <a:p>
            <a:r>
              <a:rPr lang="en-US" dirty="0"/>
              <a:t>Use that as the pivot</a:t>
            </a:r>
          </a:p>
          <a:p>
            <a:r>
              <a:rPr lang="en-US" dirty="0"/>
              <a:t>Works well, but a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sneaky adversary </a:t>
            </a:r>
            <a:r>
              <a:rPr lang="en-US" dirty="0"/>
              <a:t>could cook up an array to force your sort to run slowly</a:t>
            </a:r>
          </a:p>
          <a:p>
            <a:pPr lvl="1"/>
            <a:r>
              <a:rPr lang="en-US" dirty="0"/>
              <a:t>Mostly of theoretical interest</a:t>
            </a:r>
          </a:p>
        </p:txBody>
      </p:sp>
    </p:spTree>
    <p:extLst>
      <p:ext uri="{BB962C8B-B14F-4D97-AF65-F5344CB8AC3E}">
        <p14:creationId xmlns:p14="http://schemas.microsoft.com/office/powerpoint/2010/main" val="258524763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Technique 3:</a:t>
            </a:r>
            <a:br>
              <a:rPr lang="en-US" dirty="0"/>
            </a:br>
            <a:r>
              <a:rPr lang="en-US" dirty="0"/>
              <a:t>Median of the whole array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Compute the median (middle element) of the whole array</a:t>
                </a:r>
              </a:p>
              <a:p>
                <a:pPr lvl="1"/>
                <a:r>
                  <a:rPr lang="en-US" dirty="0"/>
                  <a:t>Unfortunately, simple methods for computing the media are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𝑶</m:t>
                    </m:r>
                    <m:d>
                      <m:dPr>
                        <m:ctrlPr>
                          <a:rPr lang="en-US" b="1" i="1" dirty="0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1" i="1" dirty="0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dirty="0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/>
                              </a:rPr>
                              <m:t>𝒏</m:t>
                            </m:r>
                          </m:e>
                          <m:sup>
                            <m:r>
                              <a:rPr lang="en-US" b="1" i="1" dirty="0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in the worst case</a:t>
                </a:r>
              </a:p>
              <a:p>
                <a:pPr lvl="1"/>
                <a:r>
                  <a:rPr lang="en-US" dirty="0"/>
                  <a:t>There are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𝑶</m:t>
                    </m:r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(</m:t>
                    </m:r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𝒏</m:t>
                    </m:r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:r>
                  <a:rPr lang="en-US" dirty="0"/>
                  <a:t>methods, but they have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large constant factors</a:t>
                </a:r>
              </a:p>
              <a:p>
                <a:r>
                  <a:rPr lang="en-US" dirty="0"/>
                  <a:t>This is called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median sort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752" r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515135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Technique 4: choose randomly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This is what people generally use in practice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𝑂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𝑛</m:t>
                    </m:r>
                    <m:func>
                      <m:func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1" dirty="0" smtClean="0">
                            <a:latin typeface="Cambria Math"/>
                          </a:rPr>
                          <m:t>log</m:t>
                        </m:r>
                      </m:fName>
                      <m:e>
                        <m:r>
                          <a:rPr lang="en-US" i="1" dirty="0" smtClean="0">
                            <a:latin typeface="Cambria Math"/>
                          </a:rPr>
                          <m:t>𝑛</m:t>
                        </m:r>
                        <m:r>
                          <a:rPr lang="en-US" i="1" dirty="0" smtClean="0">
                            <a:latin typeface="Cambria Math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/>
                  <a:t> behavior on average</a:t>
                </a:r>
              </a:p>
              <a:p>
                <a:r>
                  <a:rPr lang="en-US" dirty="0"/>
                  <a:t>Doesn’t depend on the input</a:t>
                </a:r>
              </a:p>
              <a:p>
                <a:pPr lvl="1"/>
                <a:r>
                  <a:rPr lang="en-US" dirty="0"/>
                  <a:t>So there’s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no worst-case input</a:t>
                </a:r>
              </a:p>
              <a:p>
                <a:pPr lvl="1"/>
                <a:r>
                  <a:rPr lang="en-US" dirty="0"/>
                  <a:t>Just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worst-case luck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79959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linked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all great, but what if our data is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not in an array</a:t>
            </a:r>
            <a:r>
              <a:rPr lang="en-US" dirty="0"/>
              <a:t>?</a:t>
            </a:r>
          </a:p>
          <a:p>
            <a:r>
              <a:rPr lang="en-US" dirty="0"/>
              <a:t>Is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quicksort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a good choice if your data is in a </a:t>
            </a:r>
            <a:r>
              <a:rPr lang="en-US" b="1">
                <a:solidFill>
                  <a:schemeClr val="accent6">
                    <a:lumMod val="75000"/>
                  </a:schemeClr>
                </a:solidFill>
              </a:rPr>
              <a:t>linked list</a:t>
            </a:r>
            <a:r>
              <a:rPr lang="en-US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48523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</a:t>
            </a:r>
            <a:r>
              <a:rPr lang="en-US"/>
              <a:t>linked lists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Alas, no :-(</a:t>
                </a:r>
              </a:p>
              <a:p>
                <a:pPr marL="0" indent="0">
                  <a:buNone/>
                </a:pPr>
                <a:r>
                  <a:rPr lang="en-US" dirty="0"/>
                  <a:t>Quicksort assumes efficient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random access </a:t>
                </a:r>
                <a:r>
                  <a:rPr lang="en-US" dirty="0"/>
                  <a:t>to array elements</a:t>
                </a:r>
              </a:p>
              <a:p>
                <a:r>
                  <a:rPr lang="en-US" dirty="0"/>
                  <a:t>Should be able to ask for the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𝐭𝐡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element </a:t>
                </a:r>
                <a:r>
                  <a:rPr lang="en-US" dirty="0"/>
                  <a:t>and get the answer in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b="1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time</a:t>
                </a:r>
              </a:p>
              <a:p>
                <a:r>
                  <a:rPr lang="en-US" dirty="0"/>
                  <a:t>But </a:t>
                </a:r>
                <a:r>
                  <a:rPr lang="en-US"/>
                  <a:t>for lists</a:t>
                </a:r>
                <a:r>
                  <a:rPr lang="en-US" dirty="0"/>
                  <a:t>, it’s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time</a:t>
                </a:r>
                <a:endParaRPr lang="en-US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852" t="-1752" r="-2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30445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can we do efficiently</a:t>
            </a:r>
            <a:br>
              <a:rPr lang="en-US" dirty="0"/>
            </a:br>
            <a:r>
              <a:rPr lang="en-US" dirty="0"/>
              <a:t>with </a:t>
            </a:r>
            <a:r>
              <a:rPr lang="en-US"/>
              <a:t>sorted lists</a:t>
            </a:r>
            <a:r>
              <a:rPr lang="en-US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we want to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design a sort </a:t>
            </a:r>
            <a:r>
              <a:rPr lang="en-US" dirty="0"/>
              <a:t>that will be efficient </a:t>
            </a:r>
            <a:r>
              <a:rPr lang="en-US"/>
              <a:t>for lists</a:t>
            </a:r>
            <a:r>
              <a:rPr lang="en-US" dirty="0"/>
              <a:t>, we might start by asking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what we can do efficiently </a:t>
            </a:r>
            <a:r>
              <a:rPr lang="en-US" b="1">
                <a:solidFill>
                  <a:schemeClr val="accent6">
                    <a:lumMod val="75000"/>
                  </a:schemeClr>
                </a:solidFill>
              </a:rPr>
              <a:t>with lists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spcBef>
                <a:spcPts val="1800"/>
              </a:spcBef>
            </a:pPr>
            <a:r>
              <a:rPr lang="en-US" dirty="0"/>
              <a:t>Hints</a:t>
            </a:r>
          </a:p>
          <a:p>
            <a:pPr lvl="1"/>
            <a:r>
              <a:rPr lang="en-US" dirty="0"/>
              <a:t>What can you do efficiently </a:t>
            </a:r>
            <a:r>
              <a:rPr lang="en-US"/>
              <a:t>with lists </a:t>
            </a:r>
            <a:r>
              <a:rPr lang="en-US" dirty="0"/>
              <a:t>that are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already sorted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Think back to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111</a:t>
            </a:r>
          </a:p>
        </p:txBody>
      </p:sp>
    </p:spTree>
    <p:extLst>
      <p:ext uri="{BB962C8B-B14F-4D97-AF65-F5344CB8AC3E}">
        <p14:creationId xmlns:p14="http://schemas.microsoft.com/office/powerpoint/2010/main" val="28038257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Merging </a:t>
            </a:r>
            <a:r>
              <a:rPr lang="en-US"/>
              <a:t>sorted lists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sz="3600" dirty="0"/>
                  <a:t>Given </a:t>
                </a:r>
                <a:r>
                  <a:rPr lang="en-US" sz="3600" b="1" dirty="0">
                    <a:solidFill>
                      <a:schemeClr val="accent6">
                        <a:lumMod val="75000"/>
                      </a:schemeClr>
                    </a:solidFill>
                  </a:rPr>
                  <a:t>two sorted lists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sz="3600" dirty="0"/>
                  <a:t>We can merge them into </a:t>
                </a:r>
                <a:r>
                  <a:rPr lang="en-US" sz="3600" b="1" dirty="0">
                    <a:solidFill>
                      <a:schemeClr val="accent6">
                        <a:lumMod val="75000"/>
                      </a:schemeClr>
                    </a:solidFill>
                  </a:rPr>
                  <a:t>one sorted list </a:t>
                </a:r>
                <a:r>
                  <a:rPr lang="en-US" sz="3600" dirty="0"/>
                  <a:t>in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3600" dirty="0"/>
                  <a:t> time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0">
                <a:blip r:embed="rId2"/>
                <a:stretch>
                  <a:fillRect l="-2715" t="-31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572000" cy="50292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merge</a:t>
            </a:r>
            <a:r>
              <a:rPr lang="en-US" dirty="0"/>
              <a:t>(cell1, cell2)</a:t>
            </a:r>
          </a:p>
          <a:p>
            <a:pPr marL="0" indent="0">
              <a:buNone/>
            </a:pPr>
            <a:r>
              <a:rPr lang="en-US" dirty="0"/>
              <a:t>   if (cell1== null)</a:t>
            </a:r>
          </a:p>
          <a:p>
            <a:pPr marL="0" indent="0">
              <a:buNone/>
            </a:pPr>
            <a:r>
              <a:rPr lang="en-US" dirty="0"/>
              <a:t>      return cell2</a:t>
            </a:r>
          </a:p>
          <a:p>
            <a:pPr marL="0" indent="0">
              <a:buNone/>
            </a:pPr>
            <a:r>
              <a:rPr lang="en-US" dirty="0"/>
              <a:t>   if (cell2 == null)</a:t>
            </a:r>
          </a:p>
          <a:p>
            <a:pPr marL="0" indent="0">
              <a:buNone/>
            </a:pPr>
            <a:r>
              <a:rPr lang="en-US" dirty="0"/>
              <a:t>      return cell1</a:t>
            </a:r>
          </a:p>
          <a:p>
            <a:pPr marL="0" indent="0">
              <a:buNone/>
            </a:pPr>
            <a:r>
              <a:rPr lang="en-US" dirty="0"/>
              <a:t>   if (cell1.value &gt; cell2.value)</a:t>
            </a:r>
          </a:p>
          <a:p>
            <a:pPr marL="0" indent="0">
              <a:buNone/>
            </a:pPr>
            <a:r>
              <a:rPr lang="en-US" dirty="0"/>
              <a:t>      return </a:t>
            </a:r>
            <a:br>
              <a:rPr lang="en-US" dirty="0"/>
            </a:br>
            <a:r>
              <a:rPr lang="en-US" dirty="0"/>
              <a:t>        new Cell(cell2.value,</a:t>
            </a:r>
            <a:br>
              <a:rPr lang="en-US" dirty="0"/>
            </a:br>
            <a:r>
              <a:rPr lang="en-US" dirty="0"/>
              <a:t>                       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merge</a:t>
            </a:r>
            <a:r>
              <a:rPr lang="en-US" dirty="0"/>
              <a:t>(cell1, cell2.next)</a:t>
            </a:r>
          </a:p>
          <a:p>
            <a:pPr marL="0" indent="0">
              <a:buNone/>
            </a:pPr>
            <a:r>
              <a:rPr lang="en-US" dirty="0"/>
              <a:t>   else</a:t>
            </a:r>
          </a:p>
          <a:p>
            <a:pPr marL="0" indent="0">
              <a:buNone/>
            </a:pPr>
            <a:r>
              <a:rPr lang="en-US" dirty="0"/>
              <a:t>      return</a:t>
            </a:r>
            <a:br>
              <a:rPr lang="en-US" dirty="0"/>
            </a:br>
            <a:r>
              <a:rPr lang="en-US" dirty="0"/>
              <a:t>        new Cell(cell1.value,</a:t>
            </a:r>
            <a:br>
              <a:rPr lang="en-US" dirty="0"/>
            </a:br>
            <a:r>
              <a:rPr lang="en-US" dirty="0"/>
              <a:t>                       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merge</a:t>
            </a:r>
            <a:r>
              <a:rPr lang="en-US" dirty="0"/>
              <a:t>(cell1.next, cell2)</a:t>
            </a:r>
          </a:p>
        </p:txBody>
      </p:sp>
    </p:spTree>
    <p:extLst>
      <p:ext uri="{BB962C8B-B14F-4D97-AF65-F5344CB8AC3E}">
        <p14:creationId xmlns:p14="http://schemas.microsoft.com/office/powerpoint/2010/main" val="427278512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the list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do we make a sort algorithm out of this?</a:t>
            </a:r>
          </a:p>
          <a:p>
            <a:pPr lvl="1"/>
            <a:r>
              <a:rPr lang="en-US" dirty="0"/>
              <a:t>Split the list in two</a:t>
            </a:r>
          </a:p>
          <a:p>
            <a:pPr lvl="1"/>
            <a:r>
              <a:rPr lang="en-US" dirty="0"/>
              <a:t>Recursively sort the two halves</a:t>
            </a:r>
          </a:p>
          <a:p>
            <a:pPr lvl="1"/>
            <a:r>
              <a:rPr lang="en-US" dirty="0"/>
              <a:t>Merge the sorted halves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sz="half" idx="2"/>
              </p:nvPr>
            </p:nvSpPr>
            <p:spPr>
              <a:xfrm>
                <a:off x="4648200" y="1600200"/>
                <a:ext cx="4495800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chemeClr val="accent6">
                        <a:lumMod val="75000"/>
                      </a:schemeClr>
                    </a:solidFill>
                  </a:rPr>
                  <a:t>mergesort</a:t>
                </a:r>
                <a:r>
                  <a:rPr lang="en-US" sz="2400" dirty="0"/>
                  <a:t>(list)</a:t>
                </a:r>
              </a:p>
              <a:p>
                <a:pPr marL="0" indent="0">
                  <a:buNone/>
                </a:pPr>
                <a:r>
                  <a:rPr lang="en-US" sz="2400" dirty="0"/>
                  <a:t>    if list length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     return list</a:t>
                </a:r>
              </a:p>
              <a:p>
                <a:pPr marL="0" indent="0">
                  <a:buNone/>
                </a:pPr>
                <a:r>
                  <a:rPr lang="en-US" sz="2400" dirty="0"/>
                  <a:t>    else</a:t>
                </a:r>
              </a:p>
              <a:p>
                <a:pPr marL="0" indent="0">
                  <a:buNone/>
                </a:pPr>
                <a:r>
                  <a:rPr lang="en-US" sz="2400" dirty="0"/>
                  <a:t>       split list into halves</a:t>
                </a:r>
              </a:p>
              <a:p>
                <a:pPr marL="0" indent="0">
                  <a:buNone/>
                </a:pPr>
                <a:r>
                  <a:rPr lang="en-US" sz="2400" dirty="0"/>
                  <a:t>       return  </a:t>
                </a:r>
                <a:br>
                  <a:rPr lang="en-US" sz="2400" dirty="0"/>
                </a:br>
                <a:r>
                  <a:rPr lang="en-US" sz="2400" dirty="0"/>
                  <a:t>           merge(</a:t>
                </a:r>
                <a:br>
                  <a:rPr lang="en-US" sz="2400" dirty="0"/>
                </a:br>
                <a:r>
                  <a:rPr lang="en-US" sz="2400" dirty="0"/>
                  <a:t>             </a:t>
                </a:r>
                <a:r>
                  <a:rPr lang="en-US" sz="2400" b="1" dirty="0" err="1">
                    <a:solidFill>
                      <a:schemeClr val="accent6">
                        <a:lumMod val="75000"/>
                      </a:schemeClr>
                    </a:solidFill>
                  </a:rPr>
                  <a:t>mergesort</a:t>
                </a:r>
                <a:r>
                  <a:rPr lang="en-US" sz="2400" dirty="0"/>
                  <a:t>(first half),</a:t>
                </a:r>
                <a:br>
                  <a:rPr lang="en-US" sz="2400" dirty="0"/>
                </a:br>
                <a:r>
                  <a:rPr lang="en-US" sz="2400" dirty="0"/>
                  <a:t>             </a:t>
                </a:r>
                <a:r>
                  <a:rPr lang="en-US" sz="2400" b="1" dirty="0" err="1">
                    <a:solidFill>
                      <a:schemeClr val="accent6">
                        <a:lumMod val="75000"/>
                      </a:schemeClr>
                    </a:solidFill>
                  </a:rPr>
                  <a:t>mergesort</a:t>
                </a:r>
                <a:r>
                  <a:rPr lang="en-US" sz="2400" dirty="0"/>
                  <a:t>(second half))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48200" y="1600200"/>
                <a:ext cx="4495800" cy="4525963"/>
              </a:xfrm>
              <a:blipFill rotWithShape="0">
                <a:blip r:embed="rId2"/>
                <a:stretch>
                  <a:fillRect l="-2171" t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7805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version of the code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merge_sort</a:t>
            </a:r>
            <a:r>
              <a:rPr lang="en-US" dirty="0"/>
              <a:t>(list m) {</a:t>
            </a:r>
          </a:p>
          <a:p>
            <a:pPr marL="0" indent="0">
              <a:buNone/>
            </a:pPr>
            <a:r>
              <a:rPr lang="en-US" dirty="0"/>
              <a:t>    if m == null || </a:t>
            </a:r>
            <a:r>
              <a:rPr lang="en-US" dirty="0" err="1"/>
              <a:t>m.next</a:t>
            </a:r>
            <a:r>
              <a:rPr lang="en-US" dirty="0"/>
              <a:t> == null then</a:t>
            </a:r>
          </a:p>
          <a:p>
            <a:pPr marL="0" indent="0">
              <a:buNone/>
            </a:pPr>
            <a:r>
              <a:rPr lang="en-US" dirty="0"/>
              <a:t>        return 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left = empty list; right = empty list; index = 0;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foreach</a:t>
            </a:r>
            <a:r>
              <a:rPr lang="en-US" dirty="0"/>
              <a:t> cell x in m {</a:t>
            </a:r>
          </a:p>
          <a:p>
            <a:pPr marL="0" indent="0">
              <a:buNone/>
            </a:pPr>
            <a:r>
              <a:rPr lang="en-US" dirty="0"/>
              <a:t>        if i is odd then</a:t>
            </a:r>
          </a:p>
          <a:p>
            <a:pPr marL="0" indent="0">
              <a:buNone/>
            </a:pPr>
            <a:r>
              <a:rPr lang="en-US" dirty="0"/>
              <a:t>            add x to left</a:t>
            </a:r>
          </a:p>
          <a:p>
            <a:pPr marL="0" indent="0">
              <a:buNone/>
            </a:pPr>
            <a:r>
              <a:rPr lang="en-US" dirty="0"/>
              <a:t>        else</a:t>
            </a:r>
          </a:p>
          <a:p>
            <a:pPr marL="0" indent="0">
              <a:buNone/>
            </a:pPr>
            <a:r>
              <a:rPr lang="en-US" dirty="0"/>
              <a:t>            add x to right</a:t>
            </a:r>
            <a:br>
              <a:rPr lang="en-US" dirty="0"/>
            </a:br>
            <a:r>
              <a:rPr lang="en-US" dirty="0"/>
              <a:t>        i++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return merge(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merge_sort</a:t>
            </a:r>
            <a:r>
              <a:rPr lang="en-US" dirty="0"/>
              <a:t>(left),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merge_sort</a:t>
            </a:r>
            <a:r>
              <a:rPr lang="en-US" dirty="0"/>
              <a:t>(right))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4117061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Complexity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Basically 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same as Quicksort</a:t>
                </a:r>
              </a:p>
              <a:p>
                <a:r>
                  <a:rPr lang="en-US" dirty="0"/>
                  <a:t>On each level of recursion, the lists are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divided in two</a:t>
                </a:r>
              </a:p>
              <a:p>
                <a:r>
                  <a:rPr lang="en-US" dirty="0"/>
                  <a:t>So we can only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recurse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𝐥𝐨𝐠</m:t>
                                </m:r>
                              </m:e>
                              <m:sub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fName>
                          <m:e>
                            <m:r>
                              <a:rPr lang="en-US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func>
                      </m:e>
                    </m:d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levels</a:t>
                </a:r>
                <a:endParaRPr lang="en-US" b="1" dirty="0"/>
              </a:p>
              <a:p>
                <a:r>
                  <a:rPr lang="en-US" dirty="0"/>
                  <a:t>But each level does merging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elements into various lists</a:t>
                </a:r>
              </a:p>
              <a:p>
                <a:pPr lvl="1"/>
                <a:r>
                  <a:rPr lang="en-US" dirty="0"/>
                  <a:t>So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total work per level of recursion</a:t>
                </a:r>
                <a:endParaRPr lang="en-US" b="1" dirty="0"/>
              </a:p>
              <a:p>
                <a:r>
                  <a:rPr lang="en-US" dirty="0"/>
                  <a:t>So total work is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func>
                      <m:funcPr>
                        <m:ctrlPr>
                          <a:rPr lang="en-US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1" i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𝐥𝐨𝐠</m:t>
                        </m:r>
                      </m:fName>
                      <m:e>
                        <m:r>
                          <a:rPr lang="en-US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func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704" t="-1752"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060733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is this different from Quicksort’s complexity?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06848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is this different from Quicksort’s complexity?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Quicksort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in 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average case</a:t>
                </a:r>
              </a:p>
              <a:p>
                <a:r>
                  <a:rPr lang="en-US" dirty="0"/>
                  <a:t>Merge sort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in 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worst case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Because lists are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always divided perfectly in half</a:t>
                </a:r>
                <a:endParaRPr lang="en-US" b="1" dirty="0">
                  <a:solidFill>
                    <a:schemeClr val="tx1"/>
                  </a:solidFill>
                </a:endParaRPr>
              </a:p>
              <a:p>
                <a:r>
                  <a:rPr lang="en-US" dirty="0"/>
                  <a:t>So it’s always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guaranteed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b="1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func>
                      <m:funcPr>
                        <m:ctrlP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𝒍𝒐𝒈</m:t>
                        </m:r>
                      </m:fName>
                      <m:e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func>
                    <m:r>
                      <a:rPr lang="en-US" b="1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704" t="-1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400763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 CLR chapter on Quicksort (chapter 8/9, depending on edition)</a:t>
            </a:r>
          </a:p>
        </p:txBody>
      </p:sp>
    </p:spTree>
    <p:extLst>
      <p:ext uri="{BB962C8B-B14F-4D97-AF65-F5344CB8AC3E}">
        <p14:creationId xmlns:p14="http://schemas.microsoft.com/office/powerpoint/2010/main" val="37272898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3585</TotalTime>
  <Words>2349</Words>
  <Application>Microsoft Office PowerPoint</Application>
  <PresentationFormat>On-screen Show (4:3)</PresentationFormat>
  <Paragraphs>655</Paragraphs>
  <Slides>60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6" baseType="lpstr">
      <vt:lpstr>Arial</vt:lpstr>
      <vt:lpstr>Calibri</vt:lpstr>
      <vt:lpstr>Cambria Math</vt:lpstr>
      <vt:lpstr>Symbol</vt:lpstr>
      <vt:lpstr>Verdana</vt:lpstr>
      <vt:lpstr>Office Theme</vt:lpstr>
      <vt:lpstr>Lecture 11 Sorting 2</vt:lpstr>
      <vt:lpstr>Why is sorting hard?</vt:lpstr>
      <vt:lpstr>Partitioning</vt:lpstr>
      <vt:lpstr>Partitioning</vt:lpstr>
      <vt:lpstr>Partitioning</vt:lpstr>
      <vt:lpstr>Quicksort (Hoare, 1960)</vt:lpstr>
      <vt:lpstr>Quicksort (Hoare, 1960)</vt:lpstr>
      <vt:lpstr>Implementing partitioning</vt:lpstr>
      <vt:lpstr>Implementing partitioning</vt:lpstr>
      <vt:lpstr>Implementing partitioning</vt:lpstr>
      <vt:lpstr>Implementing partitioning</vt:lpstr>
      <vt:lpstr>Implementing partitioning</vt:lpstr>
      <vt:lpstr>Implementing partitioning</vt:lpstr>
      <vt:lpstr>Implementing partitioning</vt:lpstr>
      <vt:lpstr>Implementing partitioning</vt:lpstr>
      <vt:lpstr>Implementing partitioning</vt:lpstr>
      <vt:lpstr>Implementing partitioning</vt:lpstr>
      <vt:lpstr>Implementing partitioning</vt:lpstr>
      <vt:lpstr>Implementing partitioning</vt:lpstr>
      <vt:lpstr>In-place partitioning</vt:lpstr>
      <vt:lpstr>In-place partitioning</vt:lpstr>
      <vt:lpstr>In-place partitioning</vt:lpstr>
      <vt:lpstr>In-place partitioning</vt:lpstr>
      <vt:lpstr>In-place partitioning</vt:lpstr>
      <vt:lpstr>In-place partitioning</vt:lpstr>
      <vt:lpstr>In-place partitioning</vt:lpstr>
      <vt:lpstr>In-place partitioning</vt:lpstr>
      <vt:lpstr>In-place partitioning</vt:lpstr>
      <vt:lpstr>In-place partitioning</vt:lpstr>
      <vt:lpstr>In-place partitioning</vt:lpstr>
      <vt:lpstr>In-place partitioning</vt:lpstr>
      <vt:lpstr>In-place partitioning</vt:lpstr>
      <vt:lpstr>In-place partitioning</vt:lpstr>
      <vt:lpstr>In-place partitioning</vt:lpstr>
      <vt:lpstr>In-place partitioning</vt:lpstr>
      <vt:lpstr>In-place partitioning</vt:lpstr>
      <vt:lpstr>In-place partitioning</vt:lpstr>
      <vt:lpstr>Partitioning subranges of the array</vt:lpstr>
      <vt:lpstr>The real quicksort algorithm</vt:lpstr>
      <vt:lpstr>Analysis (best case)</vt:lpstr>
      <vt:lpstr>Call tree</vt:lpstr>
      <vt:lpstr>Analysis (best case)</vt:lpstr>
      <vt:lpstr>Analysis (worst case)</vt:lpstr>
      <vt:lpstr>Analysis (worst case)</vt:lpstr>
      <vt:lpstr>Analysis (average case)</vt:lpstr>
      <vt:lpstr>Picking the pivot element</vt:lpstr>
      <vt:lpstr>Technique 1: fixed choice</vt:lpstr>
      <vt:lpstr>Technique 2: median of 3</vt:lpstr>
      <vt:lpstr>Technique 3: Median of the whole array</vt:lpstr>
      <vt:lpstr>Technique 4: choose randomly</vt:lpstr>
      <vt:lpstr>Sorting linked lists</vt:lpstr>
      <vt:lpstr>Sorting linked lists</vt:lpstr>
      <vt:lpstr>What can we do efficiently with sorted lists?</vt:lpstr>
      <vt:lpstr>Merging sorted lists</vt:lpstr>
      <vt:lpstr>Sorting the list</vt:lpstr>
      <vt:lpstr>Full version of the code</vt:lpstr>
      <vt:lpstr>Complexity analysis</vt:lpstr>
      <vt:lpstr>How is this different from Quicksort’s complexity?</vt:lpstr>
      <vt:lpstr>How is this different from Quicksort’s complexity?</vt:lpstr>
      <vt:lpstr>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 Structures and Algorithms</dc:title>
  <dc:creator>Ian Horswill</dc:creator>
  <cp:lastModifiedBy>Ian Horswill</cp:lastModifiedBy>
  <cp:revision>205</cp:revision>
  <cp:lastPrinted>2011-05-18T14:00:37Z</cp:lastPrinted>
  <dcterms:created xsi:type="dcterms:W3CDTF">2010-03-27T22:31:10Z</dcterms:created>
  <dcterms:modified xsi:type="dcterms:W3CDTF">2018-06-04T18:07:28Z</dcterms:modified>
</cp:coreProperties>
</file>