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75" r:id="rId3"/>
    <p:sldId id="258" r:id="rId4"/>
    <p:sldId id="273" r:id="rId5"/>
    <p:sldId id="272" r:id="rId6"/>
    <p:sldId id="274" r:id="rId7"/>
    <p:sldId id="266" r:id="rId8"/>
    <p:sldId id="261" r:id="rId9"/>
    <p:sldId id="270" r:id="rId10"/>
    <p:sldId id="279" r:id="rId11"/>
    <p:sldId id="276" r:id="rId12"/>
    <p:sldId id="277" r:id="rId13"/>
    <p:sldId id="278" r:id="rId14"/>
    <p:sldId id="281" r:id="rId15"/>
    <p:sldId id="280" r:id="rId16"/>
    <p:sldId id="268" r:id="rId17"/>
    <p:sldId id="271" r:id="rId18"/>
    <p:sldId id="282" r:id="rId19"/>
    <p:sldId id="283" r:id="rId20"/>
    <p:sldId id="260" r:id="rId21"/>
    <p:sldId id="284" r:id="rId22"/>
    <p:sldId id="285" r:id="rId23"/>
    <p:sldId id="289" r:id="rId24"/>
    <p:sldId id="290" r:id="rId25"/>
    <p:sldId id="291" r:id="rId26"/>
    <p:sldId id="292" r:id="rId27"/>
    <p:sldId id="286" r:id="rId28"/>
    <p:sldId id="287" r:id="rId29"/>
    <p:sldId id="293" r:id="rId30"/>
    <p:sldId id="288" r:id="rId31"/>
    <p:sldId id="294" r:id="rId32"/>
    <p:sldId id="295" r:id="rId33"/>
    <p:sldId id="296" r:id="rId34"/>
    <p:sldId id="259" r:id="rId35"/>
    <p:sldId id="297" r:id="rId36"/>
    <p:sldId id="298" r:id="rId37"/>
    <p:sldId id="299" r:id="rId38"/>
    <p:sldId id="300" r:id="rId39"/>
    <p:sldId id="301" r:id="rId40"/>
    <p:sldId id="302" r:id="rId41"/>
    <p:sldId id="303" r:id="rId42"/>
    <p:sldId id="304" r:id="rId43"/>
    <p:sldId id="257" r:id="rId44"/>
    <p:sldId id="305" r:id="rId45"/>
    <p:sldId id="306" r:id="rId46"/>
    <p:sldId id="307" r:id="rId47"/>
    <p:sldId id="308" r:id="rId48"/>
    <p:sldId id="309" r:id="rId49"/>
    <p:sldId id="310" r:id="rId50"/>
    <p:sldId id="312" r:id="rId51"/>
    <p:sldId id="319" r:id="rId52"/>
    <p:sldId id="320" r:id="rId53"/>
    <p:sldId id="313" r:id="rId54"/>
    <p:sldId id="314" r:id="rId55"/>
    <p:sldId id="317" r:id="rId56"/>
    <p:sldId id="318" r:id="rId57"/>
    <p:sldId id="315" r:id="rId58"/>
    <p:sldId id="316" r:id="rId59"/>
    <p:sldId id="311"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600" autoAdjust="0"/>
    <p:restoredTop sz="86376" autoAdjust="0"/>
  </p:normalViewPr>
  <p:slideViewPr>
    <p:cSldViewPr>
      <p:cViewPr varScale="1">
        <p:scale>
          <a:sx n="88" d="100"/>
          <a:sy n="88" d="100"/>
        </p:scale>
        <p:origin x="621" y="63"/>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179"/>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86200"/>
            <a:ext cx="7772400" cy="1470025"/>
          </a:xfrm>
        </p:spPr>
        <p:txBody>
          <a:bodyPr anchor="b"/>
          <a:lstStyle/>
          <a:p>
            <a:r>
              <a:rPr lang="en-US" dirty="0"/>
              <a:t>Click to edit Master title style</a:t>
            </a:r>
          </a:p>
        </p:txBody>
      </p:sp>
      <p:sp>
        <p:nvSpPr>
          <p:cNvPr id="3" name="Subtitle 2"/>
          <p:cNvSpPr>
            <a:spLocks noGrp="1"/>
          </p:cNvSpPr>
          <p:nvPr>
            <p:ph type="subTitle" idx="1"/>
          </p:nvPr>
        </p:nvSpPr>
        <p:spPr>
          <a:xfrm>
            <a:off x="685800" y="5334000"/>
            <a:ext cx="6400800" cy="7620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8F7F9AA-A437-4C1D-B7A7-132C663DC277}" type="datetimeFigureOut">
              <a:rPr lang="en-US" smtClean="0"/>
              <a:t>3/31/2019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68963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F7F9AA-A437-4C1D-B7A7-132C663DC277}" type="datetimeFigureOut">
              <a:rPr lang="en-US" smtClean="0"/>
              <a:t>3/31/2019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207140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F7F9AA-A437-4C1D-B7A7-132C663DC277}" type="datetimeFigureOut">
              <a:rPr lang="en-US" smtClean="0"/>
              <a:t>3/31/2019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3479075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atin typeface="+mn-lt"/>
              </a:defRPr>
            </a:lvl1pPr>
            <a:lvl2pPr>
              <a:defRPr sz="2400">
                <a:latin typeface="+mn-lt"/>
              </a:defRPr>
            </a:lvl2pPr>
            <a:lvl3pPr>
              <a:defRPr sz="2000">
                <a:latin typeface="+mn-lt"/>
              </a:defRPr>
            </a:lvl3pPr>
            <a:lvl4pPr>
              <a:defRPr sz="1800">
                <a:latin typeface="+mn-lt"/>
              </a:defRPr>
            </a:lvl4pPr>
            <a:lvl5pPr>
              <a:defRPr sz="1800">
                <a:latin typeface="+mn-lt"/>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atin typeface="+mn-lt"/>
              </a:defRPr>
            </a:lvl1pPr>
            <a:lvl2pPr>
              <a:defRPr sz="2400">
                <a:latin typeface="+mn-lt"/>
              </a:defRPr>
            </a:lvl2pPr>
            <a:lvl3pPr>
              <a:defRPr sz="2000">
                <a:latin typeface="+mn-lt"/>
              </a:defRPr>
            </a:lvl3pPr>
            <a:lvl4pPr>
              <a:defRPr sz="1800">
                <a:latin typeface="+mn-lt"/>
              </a:defRPr>
            </a:lvl4pPr>
            <a:lvl5pPr>
              <a:defRPr sz="1800">
                <a:latin typeface="+mn-lt"/>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n-lt"/>
              </a:defRPr>
            </a:lvl1pPr>
          </a:lstStyle>
          <a:p>
            <a:fld id="{78F7F9AA-A437-4C1D-B7A7-132C663DC277}" type="datetimeFigureOut">
              <a:rPr lang="en-US" smtClean="0"/>
              <a:pPr/>
              <a:t>3/31/2019</a:t>
            </a:fld>
            <a:endParaRPr lang="en-US" dirty="0"/>
          </a:p>
        </p:txBody>
      </p:sp>
      <p:sp>
        <p:nvSpPr>
          <p:cNvPr id="6" name="Footer Placeholder 5"/>
          <p:cNvSpPr>
            <a:spLocks noGrp="1"/>
          </p:cNvSpPr>
          <p:nvPr>
            <p:ph type="ftr" sz="quarter" idx="11"/>
          </p:nvPr>
        </p:nvSpPr>
        <p:spPr/>
        <p:txBody>
          <a:bodyPr/>
          <a:lstStyle>
            <a:lvl1pPr>
              <a:defRPr>
                <a:latin typeface="+mn-lt"/>
              </a:defRPr>
            </a:lvl1pPr>
          </a:lstStyle>
          <a:p>
            <a:endParaRPr lang="en-US" dirty="0"/>
          </a:p>
        </p:txBody>
      </p:sp>
      <p:sp>
        <p:nvSpPr>
          <p:cNvPr id="7" name="Slide Number Placeholder 6"/>
          <p:cNvSpPr>
            <a:spLocks noGrp="1"/>
          </p:cNvSpPr>
          <p:nvPr>
            <p:ph type="sldNum" sz="quarter" idx="12"/>
          </p:nvPr>
        </p:nvSpPr>
        <p:spPr/>
        <p:txBody>
          <a:bodyPr/>
          <a:lstStyle>
            <a:lvl1pPr>
              <a:defRPr>
                <a:latin typeface="+mn-lt"/>
              </a:defRPr>
            </a:lvl1pPr>
          </a:lstStyle>
          <a:p>
            <a:fld id="{54A6550D-5249-4695-AA6F-4029ECE97DB6}" type="slidenum">
              <a:rPr lang="en-US" smtClean="0"/>
              <a:pPr/>
              <a:t>‹#›</a:t>
            </a:fld>
            <a:endParaRPr lang="en-US" dirty="0"/>
          </a:p>
        </p:txBody>
      </p:sp>
    </p:spTree>
    <p:extLst>
      <p:ext uri="{BB962C8B-B14F-4D97-AF65-F5344CB8AC3E}">
        <p14:creationId xmlns:p14="http://schemas.microsoft.com/office/powerpoint/2010/main" val="118883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F7F9AA-A437-4C1D-B7A7-132C663DC277}" type="datetimeFigureOut">
              <a:rPr lang="en-US" smtClean="0"/>
              <a:t>3/31/2019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562206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8F7F9AA-A437-4C1D-B7A7-132C663DC277}" type="datetimeFigureOut">
              <a:rPr lang="en-US" smtClean="0"/>
              <a:t>3/31/2019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2360800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F7F9AA-A437-4C1D-B7A7-132C663DC277}" type="datetimeFigureOut">
              <a:rPr lang="en-US" smtClean="0"/>
              <a:t>3/31/2019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455886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F7F9AA-A437-4C1D-B7A7-132C663DC277}" type="datetimeFigureOut">
              <a:rPr lang="en-US" smtClean="0"/>
              <a:t>3/31/2019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4206203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F7F9AA-A437-4C1D-B7A7-132C663DC277}" type="datetimeFigureOut">
              <a:rPr lang="en-US" smtClean="0"/>
              <a:t>3/31/2019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1576518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F7F9AA-A437-4C1D-B7A7-132C663DC277}" type="datetimeFigureOut">
              <a:rPr lang="en-US" smtClean="0"/>
              <a:t>3/31/2019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3727980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F7F9AA-A437-4C1D-B7A7-132C663DC277}" type="datetimeFigureOut">
              <a:rPr lang="en-US" smtClean="0"/>
              <a:t>3/31/2019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1004788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mn-lt"/>
              </a:defRPr>
            </a:lvl1pPr>
          </a:lstStyle>
          <a:p>
            <a:fld id="{78F7F9AA-A437-4C1D-B7A7-132C663DC277}" type="datetimeFigureOut">
              <a:rPr lang="en-US" smtClean="0"/>
              <a:pPr/>
              <a:t>3/31/2019</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mn-lt"/>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mn-lt"/>
              </a:defRPr>
            </a:lvl1pPr>
          </a:lstStyle>
          <a:p>
            <a:fld id="{54A6550D-5249-4695-AA6F-4029ECE97DB6}" type="slidenum">
              <a:rPr lang="en-US" smtClean="0"/>
              <a:pPr/>
              <a:t>‹#›</a:t>
            </a:fld>
            <a:endParaRPr lang="en-US" dirty="0"/>
          </a:p>
        </p:txBody>
      </p:sp>
    </p:spTree>
    <p:extLst>
      <p:ext uri="{BB962C8B-B14F-4D97-AF65-F5344CB8AC3E}">
        <p14:creationId xmlns:p14="http://schemas.microsoft.com/office/powerpoint/2010/main" val="332971127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spcBef>
          <a:spcPct val="0"/>
        </a:spcBef>
        <a:buNone/>
        <a:defRPr sz="4400" kern="1200">
          <a:solidFill>
            <a:schemeClr val="tx1"/>
          </a:solidFill>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lumMod val="75000"/>
              <a:lumOff val="2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lumMod val="75000"/>
              <a:lumOff val="2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lumMod val="75000"/>
              <a:lumOff val="2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lumMod val="75000"/>
              <a:lumOff val="2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0.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dirty="0">
                <a:latin typeface="+mj-lt"/>
                <a:ea typeface="Verdana" pitchFamily="34" charset="0"/>
                <a:cs typeface="Verdana" pitchFamily="34" charset="0"/>
              </a:rPr>
              <a:t>Lecture 1</a:t>
            </a:r>
            <a:br>
              <a:rPr lang="en-US" dirty="0">
                <a:latin typeface="+mj-lt"/>
                <a:ea typeface="Verdana" pitchFamily="34" charset="0"/>
                <a:cs typeface="Verdana" pitchFamily="34" charset="0"/>
              </a:rPr>
            </a:br>
            <a:r>
              <a:rPr lang="en-US" dirty="0">
                <a:latin typeface="+mj-lt"/>
                <a:ea typeface="Verdana" pitchFamily="34" charset="0"/>
                <a:cs typeface="Verdana" pitchFamily="34" charset="0"/>
              </a:rPr>
              <a:t>Mathematical preliminaries</a:t>
            </a:r>
          </a:p>
        </p:txBody>
      </p:sp>
      <p:sp>
        <p:nvSpPr>
          <p:cNvPr id="3" name="Subtitle 2"/>
          <p:cNvSpPr>
            <a:spLocks noGrp="1"/>
          </p:cNvSpPr>
          <p:nvPr>
            <p:ph type="subTitle" idx="1"/>
          </p:nvPr>
        </p:nvSpPr>
        <p:spPr/>
        <p:txBody>
          <a:bodyPr/>
          <a:lstStyle/>
          <a:p>
            <a:pPr algn="l"/>
            <a:r>
              <a:rPr lang="en-US" dirty="0">
                <a:solidFill>
                  <a:schemeClr val="tx1">
                    <a:lumMod val="75000"/>
                    <a:lumOff val="25000"/>
                  </a:schemeClr>
                </a:solidFill>
                <a:latin typeface="+mj-lt"/>
              </a:rPr>
              <a:t>EECS-214</a:t>
            </a:r>
          </a:p>
        </p:txBody>
      </p:sp>
    </p:spTree>
    <p:extLst>
      <p:ext uri="{BB962C8B-B14F-4D97-AF65-F5344CB8AC3E}">
        <p14:creationId xmlns:p14="http://schemas.microsoft.com/office/powerpoint/2010/main" val="115332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6" name="Picture 12" descr="http://www.malaspina.com/jpg/whitehea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0"/>
            <a:ext cx="2362200" cy="246448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www.freewebs.com/miguelcalvo/russell%5B1%5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0"/>
            <a:ext cx="2008372" cy="24384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Sets</a:t>
            </a:r>
          </a:p>
        </p:txBody>
      </p:sp>
      <p:sp>
        <p:nvSpPr>
          <p:cNvPr id="3" name="Content Placeholder 2"/>
          <p:cNvSpPr>
            <a:spLocks noGrp="1"/>
          </p:cNvSpPr>
          <p:nvPr>
            <p:ph sz="half" idx="1"/>
          </p:nvPr>
        </p:nvSpPr>
        <p:spPr>
          <a:xfrm>
            <a:off x="457200" y="1600200"/>
            <a:ext cx="4038600" cy="5257800"/>
          </a:xfrm>
        </p:spPr>
        <p:txBody>
          <a:bodyPr>
            <a:normAutofit fontScale="62500" lnSpcReduction="20000"/>
          </a:bodyPr>
          <a:lstStyle/>
          <a:p>
            <a:r>
              <a:rPr lang="en-US" dirty="0"/>
              <a:t>Since the early 20</a:t>
            </a:r>
            <a:r>
              <a:rPr lang="en-US" baseline="30000" dirty="0"/>
              <a:t>th</a:t>
            </a:r>
            <a:r>
              <a:rPr lang="en-US" dirty="0"/>
              <a:t> century, </a:t>
            </a:r>
            <a:r>
              <a:rPr lang="en-US" b="1" dirty="0">
                <a:solidFill>
                  <a:schemeClr val="accent6">
                    <a:lumMod val="50000"/>
                  </a:schemeClr>
                </a:solidFill>
              </a:rPr>
              <a:t>most of mathematics</a:t>
            </a:r>
            <a:r>
              <a:rPr lang="en-US" dirty="0"/>
              <a:t> has been described in terms of set theory</a:t>
            </a:r>
          </a:p>
          <a:p>
            <a:endParaRPr lang="en-US" dirty="0"/>
          </a:p>
          <a:p>
            <a:r>
              <a:rPr lang="en-US" b="1" dirty="0">
                <a:solidFill>
                  <a:schemeClr val="accent6">
                    <a:lumMod val="50000"/>
                  </a:schemeClr>
                </a:solidFill>
              </a:rPr>
              <a:t>Common vocabulary </a:t>
            </a:r>
            <a:r>
              <a:rPr lang="en-US" dirty="0"/>
              <a:t>for describing a wide range of different mathematical objects</a:t>
            </a:r>
          </a:p>
          <a:p>
            <a:pPr lvl="1"/>
            <a:r>
              <a:rPr lang="en-US" dirty="0"/>
              <a:t>Numbers, languages, trees</a:t>
            </a:r>
          </a:p>
          <a:p>
            <a:pPr lvl="1"/>
            <a:r>
              <a:rPr lang="en-US" dirty="0"/>
              <a:t>Functions (and you can describe almost anything in terms of functions)</a:t>
            </a:r>
          </a:p>
          <a:p>
            <a:endParaRPr lang="en-US" dirty="0"/>
          </a:p>
          <a:p>
            <a:r>
              <a:rPr lang="en-US" dirty="0"/>
              <a:t>Partial history</a:t>
            </a:r>
          </a:p>
          <a:p>
            <a:pPr lvl="1"/>
            <a:r>
              <a:rPr lang="en-US" dirty="0"/>
              <a:t>1910 </a:t>
            </a:r>
            <a:r>
              <a:rPr lang="en-US" b="1" dirty="0">
                <a:solidFill>
                  <a:schemeClr val="accent6">
                    <a:lumMod val="50000"/>
                  </a:schemeClr>
                </a:solidFill>
              </a:rPr>
              <a:t>Russell and Whitehead </a:t>
            </a:r>
            <a:r>
              <a:rPr lang="en-US" dirty="0"/>
              <a:t>defined arithmetic, calculus, etc. in terms of sets, but it has some bad bugs</a:t>
            </a:r>
            <a:endParaRPr lang="en-US" i="1" dirty="0"/>
          </a:p>
          <a:p>
            <a:pPr lvl="1"/>
            <a:r>
              <a:rPr lang="en-US" dirty="0"/>
              <a:t>1917 </a:t>
            </a:r>
            <a:r>
              <a:rPr lang="en-US" b="1" dirty="0">
                <a:solidFill>
                  <a:schemeClr val="accent6">
                    <a:lumMod val="50000"/>
                  </a:schemeClr>
                </a:solidFill>
              </a:rPr>
              <a:t>Wittgenstein</a:t>
            </a:r>
            <a:r>
              <a:rPr lang="en-US" dirty="0">
                <a:solidFill>
                  <a:schemeClr val="accent6">
                    <a:lumMod val="50000"/>
                  </a:schemeClr>
                </a:solidFill>
              </a:rPr>
              <a:t> </a:t>
            </a:r>
            <a:r>
              <a:rPr lang="en-US" dirty="0"/>
              <a:t>fixes some of its bugs; concludes art and poetry are ultimately more important</a:t>
            </a:r>
          </a:p>
          <a:p>
            <a:pPr lvl="1"/>
            <a:r>
              <a:rPr lang="en-US" dirty="0"/>
              <a:t>1930 </a:t>
            </a:r>
            <a:r>
              <a:rPr lang="en-US" b="1" dirty="0" err="1">
                <a:solidFill>
                  <a:schemeClr val="accent6">
                    <a:lumMod val="50000"/>
                  </a:schemeClr>
                </a:solidFill>
              </a:rPr>
              <a:t>Zermelo</a:t>
            </a:r>
            <a:r>
              <a:rPr lang="en-US" b="1" dirty="0">
                <a:solidFill>
                  <a:schemeClr val="accent6">
                    <a:lumMod val="50000"/>
                  </a:schemeClr>
                </a:solidFill>
              </a:rPr>
              <a:t> and </a:t>
            </a:r>
            <a:r>
              <a:rPr lang="en-US" b="1" dirty="0" err="1">
                <a:solidFill>
                  <a:schemeClr val="accent6">
                    <a:lumMod val="50000"/>
                  </a:schemeClr>
                </a:solidFill>
              </a:rPr>
              <a:t>Fraenkel</a:t>
            </a:r>
            <a:r>
              <a:rPr lang="en-US" b="1" dirty="0">
                <a:solidFill>
                  <a:schemeClr val="accent6">
                    <a:lumMod val="50000"/>
                  </a:schemeClr>
                </a:solidFill>
              </a:rPr>
              <a:t> </a:t>
            </a:r>
            <a:r>
              <a:rPr lang="en-US" dirty="0"/>
              <a:t>fixed some more, giving us the modern version of set theory</a:t>
            </a:r>
          </a:p>
          <a:p>
            <a:endParaRPr lang="en-US" dirty="0"/>
          </a:p>
        </p:txBody>
      </p:sp>
      <p:pic>
        <p:nvPicPr>
          <p:cNvPr id="1032" name="Picture 8" descr="http://encefalus.com/wp-content/uploads/2008/10/wittgenstein.jpg"/>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5638800" y="2057400"/>
            <a:ext cx="3276600" cy="261286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180px-Ernst_Zermel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5600" y="4486274"/>
            <a:ext cx="1714500" cy="2371726"/>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Abraham Fraenke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3572" y="4515203"/>
            <a:ext cx="1928228" cy="2342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4529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Sets</a:t>
            </a:r>
          </a:p>
        </p:txBody>
      </p:sp>
      <p:sp>
        <p:nvSpPr>
          <p:cNvPr id="3" name="Content Placeholder 2"/>
          <p:cNvSpPr>
            <a:spLocks noGrp="1"/>
          </p:cNvSpPr>
          <p:nvPr>
            <p:ph sz="half" idx="1"/>
          </p:nvPr>
        </p:nvSpPr>
        <p:spPr/>
        <p:txBody>
          <a:bodyPr>
            <a:normAutofit fontScale="85000" lnSpcReduction="20000"/>
          </a:bodyPr>
          <a:lstStyle/>
          <a:p>
            <a:r>
              <a:rPr lang="en-US" b="1" dirty="0">
                <a:solidFill>
                  <a:schemeClr val="accent6">
                    <a:lumMod val="50000"/>
                  </a:schemeClr>
                </a:solidFill>
              </a:rPr>
              <a:t>Unordered</a:t>
            </a:r>
            <a:r>
              <a:rPr lang="en-US" dirty="0">
                <a:solidFill>
                  <a:schemeClr val="accent6">
                    <a:lumMod val="50000"/>
                  </a:schemeClr>
                </a:solidFill>
              </a:rPr>
              <a:t> </a:t>
            </a:r>
            <a:r>
              <a:rPr lang="en-US" dirty="0"/>
              <a:t>collections of “</a:t>
            </a:r>
            <a:r>
              <a:rPr lang="en-US" b="1" dirty="0">
                <a:solidFill>
                  <a:schemeClr val="accent6">
                    <a:lumMod val="50000"/>
                  </a:schemeClr>
                </a:solidFill>
              </a:rPr>
              <a:t>elements</a:t>
            </a:r>
            <a:r>
              <a:rPr lang="en-US" dirty="0"/>
              <a:t>”</a:t>
            </a:r>
          </a:p>
          <a:p>
            <a:pPr lvl="1"/>
            <a:r>
              <a:rPr lang="en-US" dirty="0"/>
              <a:t>Any objects you might want to think about mathematically</a:t>
            </a:r>
          </a:p>
          <a:p>
            <a:pPr lvl="1"/>
            <a:r>
              <a:rPr lang="en-US" dirty="0"/>
              <a:t>Including </a:t>
            </a:r>
            <a:r>
              <a:rPr lang="en-US" b="1" dirty="0"/>
              <a:t>other sets</a:t>
            </a:r>
          </a:p>
          <a:p>
            <a:pPr lvl="1"/>
            <a:r>
              <a:rPr lang="en-US" dirty="0"/>
              <a:t>Numbers, colors, people, whatever</a:t>
            </a:r>
          </a:p>
          <a:p>
            <a:pPr lvl="1"/>
            <a:endParaRPr lang="en-US" dirty="0"/>
          </a:p>
          <a:p>
            <a:r>
              <a:rPr lang="en-US" dirty="0"/>
              <a:t>Often notated with </a:t>
            </a:r>
            <a:r>
              <a:rPr lang="en-US" b="1" dirty="0">
                <a:solidFill>
                  <a:schemeClr val="accent6">
                    <a:lumMod val="50000"/>
                  </a:schemeClr>
                </a:solidFill>
              </a:rPr>
              <a:t>curly braces</a:t>
            </a:r>
          </a:p>
          <a:p>
            <a:pPr marL="457200" lvl="1" indent="0">
              <a:buNone/>
            </a:pPr>
            <a:r>
              <a:rPr lang="en-US" dirty="0"/>
              <a:t>{ a, b, c, d }</a:t>
            </a:r>
          </a:p>
          <a:p>
            <a:pPr marL="457200" lvl="1" indent="0">
              <a:buNone/>
            </a:pPr>
            <a:r>
              <a:rPr lang="en-US" dirty="0"/>
              <a:t>Read: “the set whose elements are a, b, c, d”</a:t>
            </a:r>
          </a:p>
        </p:txBody>
      </p:sp>
      <mc:AlternateContent xmlns:mc="http://schemas.openxmlformats.org/markup-compatibility/2006" xmlns:a14="http://schemas.microsoft.com/office/drawing/2010/main">
        <mc:Choice Requires="a14">
          <p:sp>
            <p:nvSpPr>
              <p:cNvPr id="4" name="Content Placeholder 3"/>
              <p:cNvSpPr>
                <a:spLocks noGrp="1"/>
              </p:cNvSpPr>
              <p:nvPr>
                <p:ph sz="half" idx="2"/>
              </p:nvPr>
            </p:nvSpPr>
            <p:spPr/>
            <p:txBody>
              <a:bodyPr>
                <a:normAutofit fontScale="85000" lnSpcReduction="20000"/>
              </a:bodyPr>
              <a:lstStyle/>
              <a:p>
                <a:r>
                  <a:rPr lang="en-US" dirty="0"/>
                  <a:t>Examples</a:t>
                </a:r>
              </a:p>
              <a:p>
                <a:pPr lvl="1"/>
                <a:r>
                  <a:rPr lang="en-US" dirty="0"/>
                  <a:t>The </a:t>
                </a:r>
                <a:r>
                  <a:rPr lang="en-US" b="1" dirty="0">
                    <a:solidFill>
                      <a:schemeClr val="accent6">
                        <a:lumMod val="50000"/>
                      </a:schemeClr>
                    </a:solidFill>
                  </a:rPr>
                  <a:t>empty set</a:t>
                </a:r>
                <a:r>
                  <a:rPr lang="en-US" dirty="0"/>
                  <a:t>, { }</a:t>
                </a:r>
                <a:br>
                  <a:rPr lang="en-US" dirty="0"/>
                </a:br>
                <a:r>
                  <a:rPr lang="en-US" dirty="0"/>
                  <a:t>(the set with no elements)</a:t>
                </a:r>
              </a:p>
              <a:p>
                <a:pPr lvl="1"/>
                <a:endParaRPr lang="en-US" dirty="0"/>
              </a:p>
              <a:p>
                <a:pPr lvl="1"/>
                <a:r>
                  <a:rPr lang="en-US" dirty="0"/>
                  <a:t>The set of </a:t>
                </a:r>
                <a:r>
                  <a:rPr lang="en-US" b="1" dirty="0">
                    <a:solidFill>
                      <a:schemeClr val="accent6">
                        <a:lumMod val="50000"/>
                      </a:schemeClr>
                    </a:solidFill>
                  </a:rPr>
                  <a:t>integers</a:t>
                </a:r>
                <a:r>
                  <a:rPr lang="en-US" dirty="0"/>
                  <a:t>, </a:t>
                </a:r>
                <a14:m>
                  <m:oMath xmlns:m="http://schemas.openxmlformats.org/officeDocument/2006/math">
                    <m:r>
                      <a:rPr lang="en-US" i="1" dirty="0" smtClean="0">
                        <a:latin typeface="Cambria Math"/>
                      </a:rPr>
                      <m:t>ℤ</m:t>
                    </m:r>
                  </m:oMath>
                </a14:m>
                <a:endParaRPr lang="en-US" dirty="0">
                  <a:sym typeface="Mathematica7"/>
                </a:endParaRPr>
              </a:p>
              <a:p>
                <a:pPr lvl="1"/>
                <a:r>
                  <a:rPr lang="en-US" dirty="0">
                    <a:sym typeface="Mathematica7"/>
                  </a:rPr>
                  <a:t>The </a:t>
                </a:r>
                <a:r>
                  <a:rPr lang="en-US" b="1" dirty="0">
                    <a:solidFill>
                      <a:schemeClr val="accent6">
                        <a:lumMod val="50000"/>
                      </a:schemeClr>
                    </a:solidFill>
                    <a:sym typeface="Mathematica7"/>
                  </a:rPr>
                  <a:t>set of all sets of integers</a:t>
                </a:r>
                <a:endParaRPr lang="en-US" b="1" dirty="0">
                  <a:solidFill>
                    <a:schemeClr val="accent6">
                      <a:lumMod val="50000"/>
                    </a:schemeClr>
                  </a:solidFill>
                </a:endParaRPr>
              </a:p>
              <a:p>
                <a:pPr lvl="1"/>
                <a:r>
                  <a:rPr lang="en-US" dirty="0"/>
                  <a:t>The set of </a:t>
                </a:r>
                <a:r>
                  <a:rPr lang="en-US" b="1" dirty="0">
                    <a:solidFill>
                      <a:schemeClr val="accent6">
                        <a:lumMod val="50000"/>
                      </a:schemeClr>
                    </a:solidFill>
                  </a:rPr>
                  <a:t>real numbers</a:t>
                </a:r>
                <a:r>
                  <a:rPr lang="en-US" dirty="0"/>
                  <a:t> </a:t>
                </a:r>
                <a:r>
                  <a:rPr lang="en-US" dirty="0" err="1"/>
                  <a:t>numbers</a:t>
                </a:r>
                <a:r>
                  <a:rPr lang="en-US" dirty="0"/>
                  <a:t>, </a:t>
                </a:r>
                <a14:m>
                  <m:oMath xmlns:m="http://schemas.openxmlformats.org/officeDocument/2006/math">
                    <m:r>
                      <a:rPr lang="en-US" i="1" dirty="0" smtClean="0">
                        <a:latin typeface="Cambria Math"/>
                      </a:rPr>
                      <m:t>ℝ</m:t>
                    </m:r>
                  </m:oMath>
                </a14:m>
                <a:endParaRPr lang="en-US" dirty="0">
                  <a:sym typeface="Mathematica7"/>
                </a:endParaRPr>
              </a:p>
              <a:p>
                <a:pPr lvl="1"/>
                <a:r>
                  <a:rPr lang="en-US" dirty="0">
                    <a:sym typeface="Mathematica7"/>
                  </a:rPr>
                  <a:t>The set of </a:t>
                </a:r>
                <a:r>
                  <a:rPr lang="en-US" b="1" dirty="0">
                    <a:solidFill>
                      <a:schemeClr val="accent6">
                        <a:lumMod val="50000"/>
                      </a:schemeClr>
                    </a:solidFill>
                    <a:sym typeface="Mathematica7"/>
                  </a:rPr>
                  <a:t>irrational numbers</a:t>
                </a:r>
                <a:endParaRPr lang="en-US" b="1" dirty="0">
                  <a:solidFill>
                    <a:schemeClr val="accent6">
                      <a:lumMod val="50000"/>
                    </a:schemeClr>
                  </a:solidFill>
                </a:endParaRPr>
              </a:p>
              <a:p>
                <a:pPr lvl="1"/>
                <a:r>
                  <a:rPr lang="en-US" dirty="0"/>
                  <a:t>The set of </a:t>
                </a:r>
                <a:r>
                  <a:rPr lang="en-US" b="1" dirty="0">
                    <a:solidFill>
                      <a:schemeClr val="accent6">
                        <a:lumMod val="50000"/>
                      </a:schemeClr>
                    </a:solidFill>
                  </a:rPr>
                  <a:t>left-handed democrats who like </a:t>
                </a:r>
                <a:r>
                  <a:rPr lang="en-US" b="1" dirty="0" err="1">
                    <a:solidFill>
                      <a:schemeClr val="accent6">
                        <a:lumMod val="50000"/>
                      </a:schemeClr>
                    </a:solidFill>
                  </a:rPr>
                  <a:t>ovaltine</a:t>
                </a:r>
                <a:r>
                  <a:rPr lang="en-US" b="1" dirty="0">
                    <a:solidFill>
                      <a:schemeClr val="accent6">
                        <a:lumMod val="50000"/>
                      </a:schemeClr>
                    </a:solidFill>
                  </a:rPr>
                  <a:t> and </a:t>
                </a:r>
                <a:r>
                  <a:rPr lang="en-US" b="1" dirty="0" err="1">
                    <a:solidFill>
                      <a:schemeClr val="accent6">
                        <a:lumMod val="50000"/>
                      </a:schemeClr>
                    </a:solidFill>
                  </a:rPr>
                  <a:t>lolcats</a:t>
                </a:r>
                <a:r>
                  <a:rPr lang="en-US" b="1" dirty="0">
                    <a:solidFill>
                      <a:schemeClr val="accent6">
                        <a:lumMod val="50000"/>
                      </a:schemeClr>
                    </a:solidFill>
                  </a:rPr>
                  <a:t> </a:t>
                </a:r>
                <a:r>
                  <a:rPr lang="en-US" dirty="0"/>
                  <a:t>(might be the empty set; we don’t know)</a:t>
                </a:r>
              </a:p>
            </p:txBody>
          </p:sp>
        </mc:Choice>
        <mc:Fallback xmlns="">
          <p:sp>
            <p:nvSpPr>
              <p:cNvPr id="4" name="Content Placeholder 3"/>
              <p:cNvSpPr>
                <a:spLocks noGrp="1" noRot="1" noChangeAspect="1" noMove="1" noResize="1" noEditPoints="1" noAdjustHandles="1" noChangeArrowheads="1" noChangeShapeType="1" noTextEdit="1"/>
              </p:cNvSpPr>
              <p:nvPr>
                <p:ph sz="half" idx="2"/>
              </p:nvPr>
            </p:nvSpPr>
            <p:spPr>
              <a:blipFill rotWithShape="0">
                <a:blip r:embed="rId2"/>
                <a:stretch>
                  <a:fillRect l="-2115" t="-2561"/>
                </a:stretch>
              </a:blipFill>
            </p:spPr>
            <p:txBody>
              <a:bodyPr/>
              <a:lstStyle/>
              <a:p>
                <a:r>
                  <a:rPr lang="en-US">
                    <a:noFill/>
                  </a:rPr>
                  <a:t> </a:t>
                </a:r>
              </a:p>
            </p:txBody>
          </p:sp>
        </mc:Fallback>
      </mc:AlternateContent>
    </p:spTree>
    <p:extLst>
      <p:ext uri="{BB962C8B-B14F-4D97-AF65-F5344CB8AC3E}">
        <p14:creationId xmlns:p14="http://schemas.microsoft.com/office/powerpoint/2010/main" val="300889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concepts</a:t>
            </a:r>
          </a:p>
        </p:txBody>
      </p:sp>
      <p:sp>
        <p:nvSpPr>
          <p:cNvPr id="3" name="Content Placeholder 2"/>
          <p:cNvSpPr>
            <a:spLocks noGrp="1"/>
          </p:cNvSpPr>
          <p:nvPr>
            <p:ph sz="half" idx="1"/>
          </p:nvPr>
        </p:nvSpPr>
        <p:spPr/>
        <p:txBody>
          <a:bodyPr>
            <a:normAutofit fontScale="85000" lnSpcReduction="10000"/>
          </a:bodyPr>
          <a:lstStyle/>
          <a:p>
            <a:r>
              <a:rPr lang="en-US" b="1" dirty="0">
                <a:solidFill>
                  <a:schemeClr val="accent6">
                    <a:lumMod val="50000"/>
                  </a:schemeClr>
                </a:solidFill>
              </a:rPr>
              <a:t>Membership</a:t>
            </a:r>
            <a:br>
              <a:rPr lang="en-US" dirty="0"/>
            </a:br>
            <a:r>
              <a:rPr lang="en-US" dirty="0"/>
              <a:t>Whether a set has a given object as a member</a:t>
            </a:r>
          </a:p>
          <a:p>
            <a:pPr lvl="1"/>
            <a:r>
              <a:rPr lang="en-US" dirty="0"/>
              <a:t>If x is an element of the set S, we write: </a:t>
            </a:r>
            <a:r>
              <a:rPr lang="en-US" dirty="0" err="1"/>
              <a:t>x</a:t>
            </a:r>
            <a:r>
              <a:rPr lang="en-US" dirty="0" err="1">
                <a:sym typeface="Symbol"/>
              </a:rPr>
              <a:t>S</a:t>
            </a:r>
            <a:endParaRPr lang="en-US" dirty="0">
              <a:sym typeface="Symbol"/>
            </a:endParaRPr>
          </a:p>
          <a:p>
            <a:pPr lvl="1"/>
            <a:r>
              <a:rPr lang="en-US" dirty="0">
                <a:sym typeface="Symbol"/>
              </a:rPr>
              <a:t>Or if it isn’t, </a:t>
            </a:r>
            <a:r>
              <a:rPr lang="en-US" dirty="0" err="1">
                <a:sym typeface="Symbol"/>
              </a:rPr>
              <a:t>xS</a:t>
            </a:r>
            <a:endParaRPr lang="en-US" dirty="0">
              <a:sym typeface="Symbol"/>
            </a:endParaRPr>
          </a:p>
        </p:txBody>
      </p:sp>
      <p:sp>
        <p:nvSpPr>
          <p:cNvPr id="4" name="Content Placeholder 3"/>
          <p:cNvSpPr>
            <a:spLocks noGrp="1"/>
          </p:cNvSpPr>
          <p:nvPr>
            <p:ph sz="half" idx="2"/>
          </p:nvPr>
        </p:nvSpPr>
        <p:spPr>
          <a:xfrm>
            <a:off x="4648200" y="1600200"/>
            <a:ext cx="4419600" cy="4525963"/>
          </a:xfrm>
        </p:spPr>
        <p:txBody>
          <a:bodyPr>
            <a:normAutofit fontScale="85000" lnSpcReduction="10000"/>
          </a:bodyPr>
          <a:lstStyle/>
          <a:p>
            <a:r>
              <a:rPr lang="en-US" b="1" dirty="0">
                <a:solidFill>
                  <a:schemeClr val="accent6">
                    <a:lumMod val="50000"/>
                  </a:schemeClr>
                </a:solidFill>
              </a:rPr>
              <a:t>Subset/superset</a:t>
            </a:r>
            <a:br>
              <a:rPr lang="en-US" dirty="0"/>
            </a:br>
            <a:r>
              <a:rPr lang="en-US" dirty="0"/>
              <a:t>Whether one set has all the members of another set</a:t>
            </a:r>
          </a:p>
          <a:p>
            <a:endParaRPr lang="en-US" dirty="0"/>
          </a:p>
          <a:p>
            <a:r>
              <a:rPr lang="en-US" dirty="0"/>
              <a:t>If big set B has all the members of smaller set S, we say:</a:t>
            </a:r>
          </a:p>
          <a:p>
            <a:pPr lvl="1"/>
            <a:r>
              <a:rPr lang="en-US" dirty="0"/>
              <a:t>S is a subset of B</a:t>
            </a:r>
          </a:p>
          <a:p>
            <a:pPr lvl="2"/>
            <a:r>
              <a:rPr lang="en-US" dirty="0"/>
              <a:t>Or: S is contained in B</a:t>
            </a:r>
          </a:p>
          <a:p>
            <a:pPr lvl="1"/>
            <a:r>
              <a:rPr lang="en-US" dirty="0"/>
              <a:t>B is a superset of S</a:t>
            </a:r>
          </a:p>
          <a:p>
            <a:pPr lvl="1"/>
            <a:r>
              <a:rPr lang="en-US" dirty="0"/>
              <a:t>S </a:t>
            </a:r>
            <a:r>
              <a:rPr lang="en-US" dirty="0">
                <a:sym typeface="Symbol"/>
              </a:rPr>
              <a:t> B (subset or same)</a:t>
            </a:r>
            <a:br>
              <a:rPr lang="en-US" dirty="0">
                <a:sym typeface="Symbol"/>
              </a:rPr>
            </a:br>
            <a:r>
              <a:rPr lang="en-US" dirty="0">
                <a:sym typeface="Symbol"/>
              </a:rPr>
              <a:t>or S  B (strict subset)</a:t>
            </a:r>
          </a:p>
          <a:p>
            <a:pPr lvl="1"/>
            <a:r>
              <a:rPr lang="en-US" dirty="0">
                <a:sym typeface="Symbol"/>
              </a:rPr>
              <a:t>B  S (superset or same)</a:t>
            </a:r>
            <a:br>
              <a:rPr lang="en-US" dirty="0">
                <a:sym typeface="Symbol"/>
              </a:rPr>
            </a:br>
            <a:r>
              <a:rPr lang="en-US" dirty="0">
                <a:sym typeface="Symbol"/>
              </a:rPr>
              <a:t>or B  S (strict superset)</a:t>
            </a:r>
            <a:endParaRPr lang="en-US" dirty="0"/>
          </a:p>
          <a:p>
            <a:endParaRPr lang="en-US" dirty="0"/>
          </a:p>
        </p:txBody>
      </p:sp>
      <p:sp>
        <p:nvSpPr>
          <p:cNvPr id="5" name="Oval 4"/>
          <p:cNvSpPr/>
          <p:nvPr/>
        </p:nvSpPr>
        <p:spPr>
          <a:xfrm>
            <a:off x="1140178" y="4038600"/>
            <a:ext cx="2362200" cy="22947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2800" dirty="0"/>
              <a:t>B</a:t>
            </a:r>
          </a:p>
        </p:txBody>
      </p:sp>
      <p:sp>
        <p:nvSpPr>
          <p:cNvPr id="6" name="Oval 5"/>
          <p:cNvSpPr/>
          <p:nvPr/>
        </p:nvSpPr>
        <p:spPr>
          <a:xfrm>
            <a:off x="2130778" y="4209870"/>
            <a:ext cx="990600" cy="105664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a:t>
            </a:r>
          </a:p>
        </p:txBody>
      </p:sp>
      <mc:AlternateContent xmlns:mc="http://schemas.openxmlformats.org/markup-compatibility/2006" xmlns:a14="http://schemas.microsoft.com/office/drawing/2010/main">
        <mc:Choice Requires="a14">
          <p:sp>
            <p:nvSpPr>
              <p:cNvPr id="7" name="TextBox 6"/>
              <p:cNvSpPr txBox="1"/>
              <p:nvPr/>
            </p:nvSpPr>
            <p:spPr>
              <a:xfrm>
                <a:off x="3214848" y="5963977"/>
                <a:ext cx="82375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a:rPr>
                        <m:t>𝑆</m:t>
                      </m:r>
                      <m:r>
                        <a:rPr lang="en-US" i="1" dirty="0" smtClean="0">
                          <a:latin typeface="Cambria Math"/>
                        </a:rPr>
                        <m:t>⊂</m:t>
                      </m:r>
                      <m:r>
                        <a:rPr lang="en-US" i="1" dirty="0" smtClean="0">
                          <a:latin typeface="Cambria Math"/>
                        </a:rPr>
                        <m:t>𝐵</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3214848" y="5963977"/>
                <a:ext cx="823752" cy="369332"/>
              </a:xfrm>
              <a:prstGeom prst="rect">
                <a:avLst/>
              </a:prstGeom>
              <a:blipFill rotWithShape="1">
                <a:blip r:embed="rId2"/>
                <a:stretch>
                  <a:fillRect t="-8197" r="-8824" b="-24590"/>
                </a:stretch>
              </a:blipFill>
            </p:spPr>
            <p:txBody>
              <a:bodyPr/>
              <a:lstStyle/>
              <a:p>
                <a:r>
                  <a:rPr lang="en-US">
                    <a:noFill/>
                  </a:rPr>
                  <a:t> </a:t>
                </a:r>
              </a:p>
            </p:txBody>
          </p:sp>
        </mc:Fallback>
      </mc:AlternateContent>
    </p:spTree>
    <p:extLst>
      <p:ext uri="{BB962C8B-B14F-4D97-AF65-F5344CB8AC3E}">
        <p14:creationId xmlns:p14="http://schemas.microsoft.com/office/powerpoint/2010/main" val="2516149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comprehensions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m:t>
                      </m:r>
                      <m:r>
                        <a:rPr lang="en-US" b="0" i="1" smtClean="0">
                          <a:latin typeface="Cambria Math"/>
                        </a:rPr>
                        <m:t>𝑥</m:t>
                      </m:r>
                      <m:r>
                        <a:rPr lang="en-US" b="0" i="1" smtClean="0">
                          <a:latin typeface="Cambria Math"/>
                        </a:rPr>
                        <m:t>|</m:t>
                      </m:r>
                      <m:r>
                        <m:rPr>
                          <m:nor/>
                        </m:rPr>
                        <a:rPr lang="en-US" b="0" i="0" smtClean="0">
                          <a:latin typeface="Cambria Math"/>
                        </a:rPr>
                        <m:t> </m:t>
                      </m:r>
                      <m:r>
                        <m:rPr>
                          <m:nor/>
                        </m:rPr>
                        <a:rPr lang="en-US" b="0" i="0" smtClean="0">
                          <a:latin typeface="Cambria Math"/>
                        </a:rPr>
                        <m:t>some</m:t>
                      </m:r>
                      <m:r>
                        <m:rPr>
                          <m:nor/>
                        </m:rPr>
                        <a:rPr lang="en-US" b="0" i="0" smtClean="0">
                          <a:latin typeface="Cambria Math"/>
                        </a:rPr>
                        <m:t> </m:t>
                      </m:r>
                      <m:r>
                        <m:rPr>
                          <m:nor/>
                        </m:rPr>
                        <a:rPr lang="en-US" b="0" i="0" smtClean="0">
                          <a:latin typeface="Cambria Math"/>
                        </a:rPr>
                        <m:t>property</m:t>
                      </m:r>
                      <m:r>
                        <m:rPr>
                          <m:nor/>
                        </m:rPr>
                        <a:rPr lang="en-US" b="0" i="0" smtClean="0">
                          <a:latin typeface="Cambria Math"/>
                        </a:rPr>
                        <m:t> </m:t>
                      </m:r>
                      <m:r>
                        <m:rPr>
                          <m:nor/>
                        </m:rPr>
                        <a:rPr lang="en-US" b="0" i="0" smtClean="0">
                          <a:latin typeface="Cambria Math"/>
                        </a:rPr>
                        <m:t>of</m:t>
                      </m:r>
                      <m:r>
                        <m:rPr>
                          <m:nor/>
                        </m:rPr>
                        <a:rPr lang="en-US" b="0" i="0" smtClean="0">
                          <a:latin typeface="Cambria Math"/>
                        </a:rPr>
                        <m:t> </m:t>
                      </m:r>
                      <m:r>
                        <a:rPr lang="en-US" b="0" i="1" smtClean="0">
                          <a:latin typeface="Cambria Math"/>
                        </a:rPr>
                        <m:t>𝑥</m:t>
                      </m:r>
                      <m:r>
                        <m:rPr>
                          <m:nor/>
                        </m:rPr>
                        <a:rPr lang="en-US" b="0" i="0" smtClean="0">
                          <a:latin typeface="Cambria Math"/>
                        </a:rPr>
                        <m:t> </m:t>
                      </m:r>
                      <m:r>
                        <m:rPr>
                          <m:nor/>
                        </m:rPr>
                        <a:rPr lang="en-US" b="0" i="0" smtClean="0">
                          <a:latin typeface="Cambria Math"/>
                        </a:rPr>
                        <m:t>is</m:t>
                      </m:r>
                      <m:r>
                        <m:rPr>
                          <m:nor/>
                        </m:rPr>
                        <a:rPr lang="en-US" b="0" i="0" smtClean="0">
                          <a:latin typeface="Cambria Math"/>
                        </a:rPr>
                        <m:t> </m:t>
                      </m:r>
                      <m:r>
                        <m:rPr>
                          <m:nor/>
                        </m:rPr>
                        <a:rPr lang="en-US" b="0" i="0" smtClean="0">
                          <a:latin typeface="Cambria Math"/>
                        </a:rPr>
                        <m:t>true</m:t>
                      </m:r>
                      <m:r>
                        <a:rPr lang="en-US" b="0" i="1" smtClean="0">
                          <a:latin typeface="Cambria Math"/>
                        </a:rPr>
                        <m:t>}</m:t>
                      </m:r>
                    </m:oMath>
                  </m:oMathPara>
                </a14:m>
                <a:endParaRPr lang="en-US" dirty="0"/>
              </a:p>
              <a:p>
                <a:r>
                  <a:rPr lang="en-US" dirty="0"/>
                  <a:t>Read: “</a:t>
                </a:r>
                <a:r>
                  <a:rPr lang="en-US" b="1" dirty="0">
                    <a:solidFill>
                      <a:schemeClr val="accent6">
                        <a:lumMod val="50000"/>
                      </a:schemeClr>
                    </a:solidFill>
                  </a:rPr>
                  <a:t>the set x </a:t>
                </a:r>
                <a:r>
                  <a:rPr lang="en-US" b="1" dirty="0">
                    <a:solidFill>
                      <a:schemeClr val="accent6">
                        <a:lumMod val="75000"/>
                      </a:schemeClr>
                    </a:solidFill>
                  </a:rPr>
                  <a:t>such that </a:t>
                </a:r>
                <a:r>
                  <a:rPr lang="en-US" b="1" dirty="0">
                    <a:solidFill>
                      <a:schemeClr val="accent6">
                        <a:lumMod val="50000"/>
                      </a:schemeClr>
                    </a:solidFill>
                  </a:rPr>
                  <a:t>some property of x is true</a:t>
                </a:r>
                <a:r>
                  <a:rPr lang="en-US" dirty="0"/>
                  <a:t>”</a:t>
                </a:r>
              </a:p>
              <a:p>
                <a:r>
                  <a:rPr lang="en-US" dirty="0"/>
                  <a:t>Examples:</a:t>
                </a:r>
              </a:p>
              <a:p>
                <a:pPr lvl="1"/>
                <a:r>
                  <a:rPr lang="en-US" dirty="0"/>
                  <a:t>{ x | x an odd positive integer } means the set { 1, 3, 5, 7, … }</a:t>
                </a:r>
              </a:p>
              <a:p>
                <a:pPr lvl="1"/>
                <a:r>
                  <a:rPr lang="en-US" dirty="0"/>
                  <a:t>{ y | y</a:t>
                </a:r>
                <a:r>
                  <a:rPr lang="en-US" baseline="30000" dirty="0"/>
                  <a:t>2</a:t>
                </a:r>
                <a:r>
                  <a:rPr lang="en-US" dirty="0"/>
                  <a:t> = 4 } means the set  { 2, -2 }</a:t>
                </a:r>
              </a:p>
              <a:p>
                <a:pPr lvl="1"/>
                <a:r>
                  <a:rPr lang="en-US" dirty="0"/>
                  <a:t>{ z</a:t>
                </a:r>
                <a:r>
                  <a:rPr lang="en-US" baseline="30000" dirty="0"/>
                  <a:t>2</a:t>
                </a:r>
                <a:r>
                  <a:rPr lang="en-US" dirty="0"/>
                  <a:t> | z a positive integer } means the set</a:t>
                </a:r>
                <a:br>
                  <a:rPr lang="en-US" dirty="0"/>
                </a:br>
                <a:r>
                  <a:rPr lang="en-US" dirty="0"/>
                  <a:t>{ 1, 4, 9, 16, … }</a:t>
                </a:r>
              </a:p>
              <a:p>
                <a:pPr lvl="1"/>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704" r="-1407"/>
                </a:stretch>
              </a:blipFill>
            </p:spPr>
            <p:txBody>
              <a:bodyPr/>
              <a:lstStyle/>
              <a:p>
                <a:r>
                  <a:rPr lang="en-US">
                    <a:noFill/>
                  </a:rPr>
                  <a:t> </a:t>
                </a:r>
              </a:p>
            </p:txBody>
          </p:sp>
        </mc:Fallback>
      </mc:AlternateContent>
    </p:spTree>
    <p:extLst>
      <p:ext uri="{BB962C8B-B14F-4D97-AF65-F5344CB8AC3E}">
        <p14:creationId xmlns:p14="http://schemas.microsoft.com/office/powerpoint/2010/main" val="4088937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Theoretical aside: set comprehensions can cause problems</a:t>
            </a:r>
          </a:p>
        </p:txBody>
      </p:sp>
      <p:sp>
        <p:nvSpPr>
          <p:cNvPr id="3" name="Content Placeholder 2"/>
          <p:cNvSpPr>
            <a:spLocks noGrp="1"/>
          </p:cNvSpPr>
          <p:nvPr>
            <p:ph idx="1"/>
          </p:nvPr>
        </p:nvSpPr>
        <p:spPr>
          <a:xfrm>
            <a:off x="457200" y="1905000"/>
            <a:ext cx="8229600" cy="4221163"/>
          </a:xfrm>
        </p:spPr>
        <p:txBody>
          <a:bodyPr/>
          <a:lstStyle/>
          <a:p>
            <a:r>
              <a:rPr lang="en-US" dirty="0"/>
              <a:t>Bertrand Russell was given a lot of trouble by </a:t>
            </a:r>
            <a:r>
              <a:rPr lang="en-US" b="1" dirty="0">
                <a:solidFill>
                  <a:schemeClr val="accent6">
                    <a:lumMod val="50000"/>
                  </a:schemeClr>
                </a:solidFill>
              </a:rPr>
              <a:t>the set of all sets who don’t contain themselves and members</a:t>
            </a:r>
            <a:r>
              <a:rPr lang="en-US" dirty="0"/>
              <a:t>:  { S | S </a:t>
            </a:r>
            <a:r>
              <a:rPr lang="en-US" dirty="0">
                <a:sym typeface="Symbol"/>
              </a:rPr>
              <a:t> S }</a:t>
            </a:r>
          </a:p>
          <a:p>
            <a:endParaRPr lang="en-US" dirty="0">
              <a:sym typeface="Symbol"/>
            </a:endParaRPr>
          </a:p>
          <a:p>
            <a:r>
              <a:rPr lang="en-US" dirty="0"/>
              <a:t>Fortunately, we can ignore this issue</a:t>
            </a:r>
          </a:p>
        </p:txBody>
      </p:sp>
    </p:spTree>
    <p:extLst>
      <p:ext uri="{BB962C8B-B14F-4D97-AF65-F5344CB8AC3E}">
        <p14:creationId xmlns:p14="http://schemas.microsoft.com/office/powerpoint/2010/main" val="2053830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operations on sets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62500" lnSpcReduction="20000"/>
              </a:bodyPr>
              <a:lstStyle/>
              <a:p>
                <a:r>
                  <a:rPr lang="en-US" b="1" dirty="0">
                    <a:solidFill>
                      <a:schemeClr val="accent6">
                        <a:lumMod val="50000"/>
                      </a:schemeClr>
                    </a:solidFill>
                  </a:rPr>
                  <a:t>Union</a:t>
                </a:r>
              </a:p>
              <a:p>
                <a:pPr lvl="1"/>
                <a:r>
                  <a:rPr lang="en-US" dirty="0"/>
                  <a:t>All the elements in either or both of two sets</a:t>
                </a:r>
              </a:p>
              <a:p>
                <a:pPr lvl="1"/>
                <a14:m>
                  <m:oMath xmlns:m="http://schemas.openxmlformats.org/officeDocument/2006/math">
                    <m:r>
                      <a:rPr lang="en-US" i="1" dirty="0" smtClean="0">
                        <a:latin typeface="Cambria Math"/>
                        <a:sym typeface="Symbol"/>
                      </a:rPr>
                      <m:t> </m:t>
                    </m:r>
                    <m:sSub>
                      <m:sSubPr>
                        <m:ctrlPr>
                          <a:rPr lang="en-US" i="1" dirty="0" smtClean="0">
                            <a:latin typeface="Cambria Math" panose="02040503050406030204" pitchFamily="18" charset="0"/>
                            <a:sym typeface="Symbol"/>
                          </a:rPr>
                        </m:ctrlPr>
                      </m:sSubPr>
                      <m:e>
                        <m:r>
                          <a:rPr lang="en-US" i="1" dirty="0" smtClean="0">
                            <a:latin typeface="Cambria Math"/>
                            <a:sym typeface="Symbol"/>
                          </a:rPr>
                          <m:t>𝑆</m:t>
                        </m:r>
                      </m:e>
                      <m:sub>
                        <m:r>
                          <a:rPr lang="en-US" i="1" dirty="0" smtClean="0">
                            <a:latin typeface="Cambria Math"/>
                            <a:sym typeface="Symbol"/>
                          </a:rPr>
                          <m:t>1</m:t>
                        </m:r>
                      </m:sub>
                    </m:sSub>
                    <m:r>
                      <a:rPr lang="en-US" i="1" dirty="0" smtClean="0">
                        <a:latin typeface="Cambria Math"/>
                        <a:sym typeface="Symbol"/>
                      </a:rPr>
                      <m:t>∪</m:t>
                    </m:r>
                    <m:sSub>
                      <m:sSubPr>
                        <m:ctrlPr>
                          <a:rPr lang="en-US" i="1" dirty="0" smtClean="0">
                            <a:latin typeface="Cambria Math" panose="02040503050406030204" pitchFamily="18" charset="0"/>
                            <a:sym typeface="Symbol"/>
                          </a:rPr>
                        </m:ctrlPr>
                      </m:sSubPr>
                      <m:e>
                        <m:r>
                          <a:rPr lang="en-US" i="1" dirty="0" smtClean="0">
                            <a:latin typeface="Cambria Math"/>
                            <a:sym typeface="Symbol"/>
                          </a:rPr>
                          <m:t>𝑆</m:t>
                        </m:r>
                      </m:e>
                      <m:sub>
                        <m:r>
                          <a:rPr lang="en-US" i="1" dirty="0" smtClean="0">
                            <a:latin typeface="Cambria Math"/>
                            <a:sym typeface="Symbol"/>
                          </a:rPr>
                          <m:t>2</m:t>
                        </m:r>
                      </m:sub>
                    </m:sSub>
                    <m:r>
                      <a:rPr lang="en-US" i="1" dirty="0" smtClean="0">
                        <a:latin typeface="Cambria Math"/>
                        <a:sym typeface="Symbol"/>
                      </a:rPr>
                      <m:t> ≝</m:t>
                    </m:r>
                    <m:d>
                      <m:dPr>
                        <m:begChr m:val="{"/>
                        <m:endChr m:val="}"/>
                        <m:ctrlPr>
                          <a:rPr lang="en-US" i="1" dirty="0" smtClean="0">
                            <a:latin typeface="Cambria Math" panose="02040503050406030204" pitchFamily="18" charset="0"/>
                            <a:sym typeface="Symbol"/>
                          </a:rPr>
                        </m:ctrlPr>
                      </m:dPr>
                      <m:e>
                        <m:r>
                          <a:rPr lang="en-US" i="1" dirty="0" smtClean="0">
                            <a:latin typeface="Cambria Math"/>
                            <a:sym typeface="Symbol"/>
                          </a:rPr>
                          <m:t>𝑥</m:t>
                        </m:r>
                        <m:r>
                          <a:rPr lang="en-US" i="1" dirty="0" smtClean="0">
                            <a:latin typeface="Cambria Math"/>
                            <a:sym typeface="Symbol"/>
                          </a:rPr>
                          <m:t> | </m:t>
                        </m:r>
                        <m:r>
                          <a:rPr lang="en-US" i="1" dirty="0" smtClean="0">
                            <a:latin typeface="Cambria Math"/>
                            <a:sym typeface="Symbol"/>
                          </a:rPr>
                          <m:t>𝑥</m:t>
                        </m:r>
                        <m:r>
                          <a:rPr lang="en-US" i="1" dirty="0" smtClean="0">
                            <a:latin typeface="Cambria Math"/>
                            <a:sym typeface="Symbol"/>
                          </a:rPr>
                          <m:t>∈</m:t>
                        </m:r>
                        <m:sSub>
                          <m:sSubPr>
                            <m:ctrlPr>
                              <a:rPr lang="en-US" i="1" dirty="0" smtClean="0">
                                <a:latin typeface="Cambria Math" panose="02040503050406030204" pitchFamily="18" charset="0"/>
                                <a:sym typeface="Symbol"/>
                              </a:rPr>
                            </m:ctrlPr>
                          </m:sSubPr>
                          <m:e>
                            <m:r>
                              <a:rPr lang="en-US" i="1" dirty="0" smtClean="0">
                                <a:latin typeface="Cambria Math"/>
                                <a:sym typeface="Symbol"/>
                              </a:rPr>
                              <m:t>𝑆</m:t>
                            </m:r>
                          </m:e>
                          <m:sub>
                            <m:r>
                              <a:rPr lang="en-US" i="1" dirty="0" smtClean="0">
                                <a:latin typeface="Cambria Math"/>
                                <a:sym typeface="Symbol"/>
                              </a:rPr>
                              <m:t>1</m:t>
                            </m:r>
                          </m:sub>
                        </m:sSub>
                        <m:r>
                          <m:rPr>
                            <m:nor/>
                          </m:rPr>
                          <a:rPr lang="en-US" i="0" dirty="0" smtClean="0">
                            <a:latin typeface="Cambria Math"/>
                            <a:sym typeface="Symbol"/>
                          </a:rPr>
                          <m:t>or</m:t>
                        </m:r>
                        <m:r>
                          <a:rPr lang="en-US" i="1" dirty="0" smtClean="0">
                            <a:latin typeface="Cambria Math"/>
                            <a:sym typeface="Symbol"/>
                          </a:rPr>
                          <m:t> </m:t>
                        </m:r>
                        <m:r>
                          <a:rPr lang="en-US" i="1" dirty="0" smtClean="0">
                            <a:latin typeface="Cambria Math"/>
                            <a:sym typeface="Symbol"/>
                          </a:rPr>
                          <m:t>𝑥</m:t>
                        </m:r>
                        <m:r>
                          <a:rPr lang="en-US" i="1" dirty="0" smtClean="0">
                            <a:latin typeface="Cambria Math"/>
                            <a:sym typeface="Symbol"/>
                          </a:rPr>
                          <m:t>∈</m:t>
                        </m:r>
                        <m:sSub>
                          <m:sSubPr>
                            <m:ctrlPr>
                              <a:rPr lang="en-US" i="1" dirty="0" smtClean="0">
                                <a:latin typeface="Cambria Math" panose="02040503050406030204" pitchFamily="18" charset="0"/>
                                <a:sym typeface="Symbol"/>
                              </a:rPr>
                            </m:ctrlPr>
                          </m:sSubPr>
                          <m:e>
                            <m:r>
                              <a:rPr lang="en-US" i="1" dirty="0" smtClean="0">
                                <a:latin typeface="Cambria Math"/>
                                <a:sym typeface="Symbol"/>
                              </a:rPr>
                              <m:t>𝑠</m:t>
                            </m:r>
                          </m:e>
                          <m:sub>
                            <m:r>
                              <a:rPr lang="en-US" i="1" dirty="0" smtClean="0">
                                <a:latin typeface="Cambria Math"/>
                                <a:sym typeface="Symbol"/>
                              </a:rPr>
                              <m:t>2</m:t>
                            </m:r>
                          </m:sub>
                        </m:sSub>
                      </m:e>
                    </m:d>
                  </m:oMath>
                </a14:m>
                <a:endParaRPr lang="en-US" dirty="0"/>
              </a:p>
              <a:p>
                <a:endParaRPr lang="en-US" dirty="0"/>
              </a:p>
              <a:p>
                <a:r>
                  <a:rPr lang="en-US" b="1" dirty="0">
                    <a:solidFill>
                      <a:schemeClr val="accent6">
                        <a:lumMod val="50000"/>
                      </a:schemeClr>
                    </a:solidFill>
                  </a:rPr>
                  <a:t>Intersection</a:t>
                </a:r>
              </a:p>
              <a:p>
                <a:pPr lvl="1"/>
                <a:r>
                  <a:rPr lang="en-US" dirty="0"/>
                  <a:t>All the elements common to two sets</a:t>
                </a:r>
              </a:p>
              <a:p>
                <a:pPr lvl="1"/>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𝑆</m:t>
                        </m:r>
                      </m:e>
                      <m:sub>
                        <m:r>
                          <a:rPr lang="en-US" i="1" dirty="0" smtClean="0">
                            <a:latin typeface="Cambria Math"/>
                          </a:rPr>
                          <m:t>1</m:t>
                        </m:r>
                      </m:sub>
                    </m:sSub>
                    <m:r>
                      <a:rPr lang="en-US" i="1" dirty="0" smtClean="0">
                        <a:latin typeface="Cambria Math"/>
                      </a:rPr>
                      <m:t>∩</m:t>
                    </m:r>
                    <m:sSub>
                      <m:sSubPr>
                        <m:ctrlPr>
                          <a:rPr lang="en-US" i="1" dirty="0" smtClean="0">
                            <a:latin typeface="Cambria Math" panose="02040503050406030204" pitchFamily="18" charset="0"/>
                          </a:rPr>
                        </m:ctrlPr>
                      </m:sSubPr>
                      <m:e>
                        <m:r>
                          <a:rPr lang="en-US" i="1" dirty="0" smtClean="0">
                            <a:latin typeface="Cambria Math"/>
                          </a:rPr>
                          <m:t>𝑆</m:t>
                        </m:r>
                      </m:e>
                      <m:sub>
                        <m:r>
                          <a:rPr lang="en-US" i="1" dirty="0" smtClean="0">
                            <a:latin typeface="Cambria Math"/>
                          </a:rPr>
                          <m:t>2</m:t>
                        </m:r>
                      </m:sub>
                    </m:sSub>
                    <m:r>
                      <a:rPr lang="en-US" i="1" dirty="0" smtClean="0">
                        <a:latin typeface="Cambria Math"/>
                      </a:rPr>
                      <m:t> ≝</m:t>
                    </m:r>
                    <m:d>
                      <m:dPr>
                        <m:begChr m:val="{"/>
                        <m:endChr m:val="|"/>
                        <m:ctrlPr>
                          <a:rPr lang="en-US" i="1" dirty="0" smtClean="0">
                            <a:latin typeface="Cambria Math" panose="02040503050406030204" pitchFamily="18" charset="0"/>
                          </a:rPr>
                        </m:ctrlPr>
                      </m:dPr>
                      <m:e>
                        <m:r>
                          <a:rPr lang="en-US" i="1" dirty="0" smtClean="0">
                            <a:latin typeface="Cambria Math"/>
                          </a:rPr>
                          <m:t> </m:t>
                        </m:r>
                        <m:r>
                          <a:rPr lang="en-US" i="1" dirty="0" smtClean="0">
                            <a:latin typeface="Cambria Math"/>
                          </a:rPr>
                          <m:t>𝑥</m:t>
                        </m:r>
                        <m:r>
                          <a:rPr lang="en-US" i="1" dirty="0" smtClean="0">
                            <a:latin typeface="Cambria Math"/>
                          </a:rPr>
                          <m:t> </m:t>
                        </m:r>
                      </m:e>
                    </m:d>
                    <m:r>
                      <a:rPr lang="en-US" i="1" dirty="0" smtClean="0">
                        <a:latin typeface="Cambria Math"/>
                      </a:rPr>
                      <m:t> </m:t>
                    </m:r>
                    <m:r>
                      <a:rPr lang="en-US" i="1" dirty="0" smtClean="0">
                        <a:latin typeface="Cambria Math"/>
                      </a:rPr>
                      <m:t>𝑥</m:t>
                    </m:r>
                    <m:r>
                      <a:rPr lang="en-US" i="1" dirty="0" smtClean="0">
                        <a:latin typeface="Cambria Math"/>
                      </a:rPr>
                      <m:t>∈</m:t>
                    </m:r>
                    <m:sSub>
                      <m:sSubPr>
                        <m:ctrlPr>
                          <a:rPr lang="en-US" i="1" dirty="0" smtClean="0">
                            <a:latin typeface="Cambria Math" panose="02040503050406030204" pitchFamily="18" charset="0"/>
                          </a:rPr>
                        </m:ctrlPr>
                      </m:sSubPr>
                      <m:e>
                        <m:r>
                          <a:rPr lang="en-US" i="1" dirty="0" smtClean="0">
                            <a:latin typeface="Cambria Math"/>
                          </a:rPr>
                          <m:t>𝑆</m:t>
                        </m:r>
                      </m:e>
                      <m:sub>
                        <m:r>
                          <a:rPr lang="en-US" i="1" dirty="0" smtClean="0">
                            <a:latin typeface="Cambria Math"/>
                          </a:rPr>
                          <m:t>1</m:t>
                        </m:r>
                      </m:sub>
                    </m:sSub>
                    <m:r>
                      <m:rPr>
                        <m:nor/>
                      </m:rPr>
                      <a:rPr lang="en-US" i="0" dirty="0" smtClean="0">
                        <a:latin typeface="Cambria Math"/>
                      </a:rPr>
                      <m:t>and</m:t>
                    </m:r>
                    <m:r>
                      <a:rPr lang="en-US" i="1" dirty="0" smtClean="0">
                        <a:latin typeface="Cambria Math"/>
                      </a:rPr>
                      <m:t> </m:t>
                    </m:r>
                    <m:r>
                      <a:rPr lang="en-US" i="1" dirty="0" smtClean="0">
                        <a:latin typeface="Cambria Math"/>
                      </a:rPr>
                      <m:t>𝑥</m:t>
                    </m:r>
                    <m:r>
                      <a:rPr lang="en-US" i="1" dirty="0" smtClean="0">
                        <a:latin typeface="Cambria Math"/>
                      </a:rPr>
                      <m:t>∈</m:t>
                    </m:r>
                    <m:sSub>
                      <m:sSubPr>
                        <m:ctrlPr>
                          <a:rPr lang="en-US" i="1" dirty="0" smtClean="0">
                            <a:latin typeface="Cambria Math" panose="02040503050406030204" pitchFamily="18" charset="0"/>
                          </a:rPr>
                        </m:ctrlPr>
                      </m:sSubPr>
                      <m:e>
                        <m:r>
                          <a:rPr lang="en-US" i="1" dirty="0" smtClean="0">
                            <a:latin typeface="Cambria Math"/>
                          </a:rPr>
                          <m:t>𝑆</m:t>
                        </m:r>
                      </m:e>
                      <m:sub>
                        <m:r>
                          <a:rPr lang="en-US" i="1" dirty="0" smtClean="0">
                            <a:latin typeface="Cambria Math"/>
                          </a:rPr>
                          <m:t>2</m:t>
                        </m:r>
                      </m:sub>
                    </m:sSub>
                    <m:r>
                      <a:rPr lang="en-US" i="1" dirty="0" smtClean="0">
                        <a:latin typeface="Cambria Math"/>
                      </a:rPr>
                      <m:t>} </m:t>
                    </m:r>
                  </m:oMath>
                </a14:m>
                <a:endParaRPr lang="en-US" dirty="0"/>
              </a:p>
              <a:p>
                <a:endParaRPr lang="en-US" dirty="0"/>
              </a:p>
              <a:p>
                <a:r>
                  <a:rPr lang="en-US" b="1" dirty="0">
                    <a:solidFill>
                      <a:schemeClr val="accent6">
                        <a:lumMod val="50000"/>
                      </a:schemeClr>
                    </a:solidFill>
                  </a:rPr>
                  <a:t>Difference</a:t>
                </a:r>
              </a:p>
              <a:p>
                <a:pPr lvl="1"/>
                <a:r>
                  <a:rPr lang="en-US" dirty="0"/>
                  <a:t>All the elements in one set but not the other</a:t>
                </a:r>
              </a:p>
              <a:p>
                <a:pPr lvl="1"/>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𝑆</m:t>
                        </m:r>
                      </m:e>
                      <m:sub>
                        <m:r>
                          <a:rPr lang="en-US" i="1" dirty="0" smtClean="0">
                            <a:latin typeface="Cambria Math"/>
                          </a:rPr>
                          <m:t>1</m:t>
                        </m:r>
                      </m:sub>
                    </m:sSub>
                    <m:r>
                      <a:rPr lang="en-US" i="1" dirty="0" smtClean="0">
                        <a:latin typeface="Cambria Math"/>
                      </a:rPr>
                      <m:t>−</m:t>
                    </m:r>
                    <m:sSub>
                      <m:sSubPr>
                        <m:ctrlPr>
                          <a:rPr lang="en-US" i="1" dirty="0" smtClean="0">
                            <a:latin typeface="Cambria Math" panose="02040503050406030204" pitchFamily="18" charset="0"/>
                          </a:rPr>
                        </m:ctrlPr>
                      </m:sSubPr>
                      <m:e>
                        <m:r>
                          <a:rPr lang="en-US" i="1" dirty="0" smtClean="0">
                            <a:latin typeface="Cambria Math"/>
                          </a:rPr>
                          <m:t>𝑆</m:t>
                        </m:r>
                      </m:e>
                      <m:sub>
                        <m:r>
                          <a:rPr lang="en-US" i="1" dirty="0" smtClean="0">
                            <a:latin typeface="Cambria Math"/>
                          </a:rPr>
                          <m:t>2</m:t>
                        </m:r>
                      </m:sub>
                    </m:sSub>
                    <m:r>
                      <a:rPr lang="en-US" i="1" dirty="0" smtClean="0">
                        <a:latin typeface="Cambria Math"/>
                      </a:rPr>
                      <m:t> ≝</m:t>
                    </m:r>
                    <m:d>
                      <m:dPr>
                        <m:begChr m:val="{"/>
                        <m:endChr m:val="}"/>
                        <m:ctrlPr>
                          <a:rPr lang="en-US" i="1" dirty="0" smtClean="0">
                            <a:latin typeface="Cambria Math" panose="02040503050406030204" pitchFamily="18" charset="0"/>
                          </a:rPr>
                        </m:ctrlPr>
                      </m:dPr>
                      <m:e>
                        <m:r>
                          <a:rPr lang="en-US" i="1" dirty="0" smtClean="0">
                            <a:latin typeface="Cambria Math"/>
                          </a:rPr>
                          <m:t>𝑥</m:t>
                        </m:r>
                        <m:r>
                          <a:rPr lang="en-US" i="1" dirty="0" smtClean="0">
                            <a:latin typeface="Cambria Math"/>
                          </a:rPr>
                          <m:t> | </m:t>
                        </m:r>
                        <m:r>
                          <a:rPr lang="en-US" i="1" dirty="0">
                            <a:latin typeface="Cambria Math"/>
                          </a:rPr>
                          <m:t>𝑥</m:t>
                        </m:r>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𝑆</m:t>
                            </m:r>
                          </m:e>
                          <m:sub>
                            <m:r>
                              <a:rPr lang="en-US" i="1" dirty="0">
                                <a:latin typeface="Cambria Math"/>
                              </a:rPr>
                              <m:t>1</m:t>
                            </m:r>
                          </m:sub>
                        </m:sSub>
                        <m:r>
                          <a:rPr lang="en-US" i="1" dirty="0">
                            <a:latin typeface="Cambria Math"/>
                          </a:rPr>
                          <m:t> </m:t>
                        </m:r>
                        <m:r>
                          <a:rPr lang="en-US" i="1" dirty="0">
                            <a:latin typeface="Cambria Math"/>
                          </a:rPr>
                          <m:t>𝑏𝑢𝑡</m:t>
                        </m:r>
                        <m:r>
                          <a:rPr lang="en-US" i="1" dirty="0">
                            <a:latin typeface="Cambria Math"/>
                          </a:rPr>
                          <m:t> </m:t>
                        </m:r>
                        <m:r>
                          <a:rPr lang="en-US" i="1" dirty="0">
                            <a:latin typeface="Cambria Math"/>
                          </a:rPr>
                          <m:t>𝑥</m:t>
                        </m:r>
                        <m:r>
                          <a:rPr lang="en-US" i="1" dirty="0">
                            <a:latin typeface="Cambria Math"/>
                          </a:rPr>
                          <m:t> ∉</m:t>
                        </m:r>
                        <m:sSub>
                          <m:sSubPr>
                            <m:ctrlPr>
                              <a:rPr lang="en-US" i="1" dirty="0">
                                <a:latin typeface="Cambria Math" panose="02040503050406030204" pitchFamily="18" charset="0"/>
                              </a:rPr>
                            </m:ctrlPr>
                          </m:sSubPr>
                          <m:e>
                            <m:r>
                              <a:rPr lang="en-US" i="1" dirty="0">
                                <a:latin typeface="Cambria Math"/>
                              </a:rPr>
                              <m:t>𝑆</m:t>
                            </m:r>
                          </m:e>
                          <m:sub>
                            <m:r>
                              <a:rPr lang="en-US" i="1" dirty="0">
                                <a:latin typeface="Cambria Math"/>
                              </a:rPr>
                              <m:t>2</m:t>
                            </m:r>
                          </m:sub>
                        </m:sSub>
                      </m:e>
                    </m:d>
                  </m:oMath>
                </a14:m>
                <a:endParaRPr lang="en-US" dirty="0"/>
              </a:p>
              <a:p>
                <a:endParaRPr lang="en-US" dirty="0"/>
              </a:p>
              <a:p>
                <a:r>
                  <a:rPr lang="en-US" b="1" dirty="0" err="1">
                    <a:solidFill>
                      <a:schemeClr val="accent6">
                        <a:lumMod val="50000"/>
                      </a:schemeClr>
                    </a:solidFill>
                  </a:rPr>
                  <a:t>Powerset</a:t>
                </a:r>
                <a:endParaRPr lang="en-US" b="1" dirty="0">
                  <a:solidFill>
                    <a:schemeClr val="accent6">
                      <a:lumMod val="50000"/>
                    </a:schemeClr>
                  </a:solidFill>
                </a:endParaRPr>
              </a:p>
              <a:p>
                <a:pPr lvl="1"/>
                <a:r>
                  <a:rPr lang="en-US" dirty="0"/>
                  <a:t>The set of all subsets of a given set</a:t>
                </a:r>
              </a:p>
              <a:p>
                <a:pPr lvl="1"/>
                <a14:m>
                  <m:oMath xmlns:m="http://schemas.openxmlformats.org/officeDocument/2006/math">
                    <m:sSup>
                      <m:sSupPr>
                        <m:ctrlPr>
                          <a:rPr lang="en-US" i="1" dirty="0" smtClean="0">
                            <a:latin typeface="Cambria Math" panose="02040503050406030204" pitchFamily="18" charset="0"/>
                            <a:sym typeface="Symbol"/>
                          </a:rPr>
                        </m:ctrlPr>
                      </m:sSupPr>
                      <m:e>
                        <m:r>
                          <a:rPr lang="en-US" i="1" dirty="0" smtClean="0">
                            <a:latin typeface="Cambria Math"/>
                            <a:sym typeface="Symbol"/>
                          </a:rPr>
                          <m:t>2</m:t>
                        </m:r>
                      </m:e>
                      <m:sup>
                        <m:r>
                          <a:rPr lang="en-US" i="1" dirty="0" smtClean="0">
                            <a:latin typeface="Cambria Math"/>
                            <a:sym typeface="Symbol"/>
                          </a:rPr>
                          <m:t>𝑆</m:t>
                        </m:r>
                      </m:sup>
                    </m:sSup>
                    <m:r>
                      <a:rPr lang="en-US" i="1" dirty="0" smtClean="0">
                        <a:latin typeface="Cambria Math"/>
                        <a:sym typeface="Symbol"/>
                      </a:rPr>
                      <m:t> ≝</m:t>
                    </m:r>
                    <m:d>
                      <m:dPr>
                        <m:begChr m:val="{"/>
                        <m:endChr m:val="|"/>
                        <m:ctrlPr>
                          <a:rPr lang="en-US" i="1" dirty="0" smtClean="0">
                            <a:latin typeface="Cambria Math" panose="02040503050406030204" pitchFamily="18" charset="0"/>
                            <a:sym typeface="Symbol"/>
                          </a:rPr>
                        </m:ctrlPr>
                      </m:dPr>
                      <m:e>
                        <m:r>
                          <a:rPr lang="en-US" i="1" dirty="0" smtClean="0">
                            <a:latin typeface="Cambria Math"/>
                            <a:sym typeface="Symbol"/>
                          </a:rPr>
                          <m:t> </m:t>
                        </m:r>
                        <m:sSup>
                          <m:sSupPr>
                            <m:ctrlPr>
                              <a:rPr lang="en-US" i="1" dirty="0" smtClean="0">
                                <a:latin typeface="Cambria Math" panose="02040503050406030204" pitchFamily="18" charset="0"/>
                                <a:sym typeface="Symbol"/>
                              </a:rPr>
                            </m:ctrlPr>
                          </m:sSupPr>
                          <m:e>
                            <m:r>
                              <a:rPr lang="en-US" i="1" dirty="0" smtClean="0">
                                <a:latin typeface="Cambria Math"/>
                                <a:sym typeface="Symbol"/>
                              </a:rPr>
                              <m:t>𝑆</m:t>
                            </m:r>
                          </m:e>
                          <m:sup>
                            <m:r>
                              <a:rPr lang="en-US" i="1" dirty="0" smtClean="0">
                                <a:latin typeface="Cambria Math"/>
                                <a:sym typeface="Symbol"/>
                              </a:rPr>
                              <m:t>′</m:t>
                            </m:r>
                          </m:sup>
                        </m:sSup>
                        <m:r>
                          <a:rPr lang="en-US" i="1" dirty="0" smtClean="0">
                            <a:latin typeface="Cambria Math"/>
                            <a:sym typeface="Symbol"/>
                          </a:rPr>
                          <m:t> </m:t>
                        </m:r>
                      </m:e>
                    </m:d>
                    <m:r>
                      <a:rPr lang="en-US" i="1" dirty="0" smtClean="0">
                        <a:latin typeface="Cambria Math"/>
                        <a:sym typeface="Symbol"/>
                      </a:rPr>
                      <m:t> </m:t>
                    </m:r>
                    <m:r>
                      <a:rPr lang="en-US" i="1" dirty="0" smtClean="0">
                        <a:latin typeface="Cambria Math"/>
                        <a:sym typeface="Symbol"/>
                      </a:rPr>
                      <m:t>𝑆</m:t>
                    </m:r>
                    <m:r>
                      <a:rPr lang="en-US" i="1" dirty="0" smtClean="0">
                        <a:latin typeface="Cambria Math"/>
                        <a:sym typeface="Symbol"/>
                      </a:rPr>
                      <m:t>′</m:t>
                    </m:r>
                    <m:r>
                      <m:rPr>
                        <m:lit/>
                      </m:rPr>
                      <a:rPr lang="en-US" i="1" dirty="0" smtClean="0">
                        <a:latin typeface="Cambria Math"/>
                        <a:sym typeface="Symbol"/>
                      </a:rPr>
                      <m:t> </m:t>
                    </m:r>
                    <m:r>
                      <a:rPr lang="en-US" i="1" dirty="0" smtClean="0">
                        <a:latin typeface="Cambria Math"/>
                        <a:sym typeface="Symbol"/>
                      </a:rPr>
                      <m:t>⊆</m:t>
                    </m:r>
                    <m:r>
                      <a:rPr lang="en-US" i="1" dirty="0" smtClean="0">
                        <a:latin typeface="Cambria Math"/>
                        <a:sym typeface="Symbol"/>
                      </a:rPr>
                      <m:t>𝑆</m:t>
                    </m:r>
                    <m:r>
                      <a:rPr lang="en-US" i="1" dirty="0" smtClean="0">
                        <a:latin typeface="Cambria Math"/>
                        <a:sym typeface="Symbol"/>
                      </a:rPr>
                      <m:t> }</m:t>
                    </m:r>
                  </m:oMath>
                </a14:m>
                <a:r>
                  <a:rPr lang="en-US" dirty="0">
                    <a:sym typeface="Symbol"/>
                  </a:rPr>
                  <a:t>   (any guesses why we use this notation?)</a:t>
                </a:r>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2022" b="-2022"/>
                </a:stretch>
              </a:blipFill>
            </p:spPr>
            <p:txBody>
              <a:bodyPr/>
              <a:lstStyle/>
              <a:p>
                <a:r>
                  <a:rPr lang="en-US">
                    <a:noFill/>
                  </a:rPr>
                  <a:t> </a:t>
                </a:r>
              </a:p>
            </p:txBody>
          </p:sp>
        </mc:Fallback>
      </mc:AlternateContent>
    </p:spTree>
    <p:extLst>
      <p:ext uri="{BB962C8B-B14F-4D97-AF65-F5344CB8AC3E}">
        <p14:creationId xmlns:p14="http://schemas.microsoft.com/office/powerpoint/2010/main" val="1022783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sequences from sets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229600" cy="5257800"/>
              </a:xfrm>
            </p:spPr>
            <p:txBody>
              <a:bodyPr>
                <a:normAutofit fontScale="70000" lnSpcReduction="20000"/>
              </a:bodyPr>
              <a:lstStyle/>
              <a:p>
                <a:r>
                  <a:rPr lang="en-US" b="1" dirty="0">
                    <a:solidFill>
                      <a:schemeClr val="accent6">
                        <a:lumMod val="50000"/>
                      </a:schemeClr>
                    </a:solidFill>
                  </a:rPr>
                  <a:t>Ordered pair </a:t>
                </a:r>
                <a:r>
                  <a:rPr lang="en-US" dirty="0"/>
                  <a:t>of two elements</a:t>
                </a:r>
              </a:p>
              <a:p>
                <a:pPr lvl="1"/>
                <a14:m>
                  <m:oMath xmlns:m="http://schemas.openxmlformats.org/officeDocument/2006/math">
                    <m:r>
                      <a:rPr lang="en-US" b="0" i="1" smtClean="0">
                        <a:solidFill>
                          <a:schemeClr val="tx1"/>
                        </a:solidFill>
                        <a:latin typeface="Cambria Math"/>
                      </a:rPr>
                      <m:t>(</m:t>
                    </m:r>
                    <m:r>
                      <a:rPr lang="en-US" b="0" i="1" smtClean="0">
                        <a:solidFill>
                          <a:schemeClr val="tx1"/>
                        </a:solidFill>
                        <a:latin typeface="Cambria Math"/>
                      </a:rPr>
                      <m:t>𝑎</m:t>
                    </m:r>
                    <m:r>
                      <a:rPr lang="en-US" b="0" i="1" smtClean="0">
                        <a:solidFill>
                          <a:schemeClr val="tx1"/>
                        </a:solidFill>
                        <a:latin typeface="Cambria Math"/>
                      </a:rPr>
                      <m:t>,</m:t>
                    </m:r>
                    <m:r>
                      <a:rPr lang="en-US" b="0" i="1" smtClean="0">
                        <a:solidFill>
                          <a:schemeClr val="tx1"/>
                        </a:solidFill>
                        <a:latin typeface="Cambria Math"/>
                      </a:rPr>
                      <m:t>𝑏</m:t>
                    </m:r>
                    <m:r>
                      <a:rPr lang="en-US" b="0" i="1" smtClean="0">
                        <a:solidFill>
                          <a:schemeClr val="tx1"/>
                        </a:solidFill>
                        <a:latin typeface="Cambria Math"/>
                      </a:rPr>
                      <m:t>)</m:t>
                    </m:r>
                  </m:oMath>
                </a14:m>
                <a:r>
                  <a:rPr lang="en-US" dirty="0">
                    <a:solidFill>
                      <a:schemeClr val="tx1"/>
                    </a:solidFill>
                  </a:rPr>
                  <a:t> rather than </a:t>
                </a:r>
                <a14:m>
                  <m:oMath xmlns:m="http://schemas.openxmlformats.org/officeDocument/2006/math">
                    <m:r>
                      <a:rPr lang="en-US" b="0" i="1" smtClean="0">
                        <a:solidFill>
                          <a:schemeClr val="tx1"/>
                        </a:solidFill>
                        <a:latin typeface="Cambria Math"/>
                      </a:rPr>
                      <m:t>{</m:t>
                    </m:r>
                    <m:r>
                      <a:rPr lang="en-US" b="0" i="1" smtClean="0">
                        <a:solidFill>
                          <a:schemeClr val="tx1"/>
                        </a:solidFill>
                        <a:latin typeface="Cambria Math"/>
                      </a:rPr>
                      <m:t>𝑎</m:t>
                    </m:r>
                    <m:r>
                      <a:rPr lang="en-US" b="0" i="1" smtClean="0">
                        <a:solidFill>
                          <a:schemeClr val="tx1"/>
                        </a:solidFill>
                        <a:latin typeface="Cambria Math"/>
                      </a:rPr>
                      <m:t>,</m:t>
                    </m:r>
                    <m:r>
                      <a:rPr lang="en-US" b="0" i="1" smtClean="0">
                        <a:solidFill>
                          <a:schemeClr val="tx1"/>
                        </a:solidFill>
                        <a:latin typeface="Cambria Math"/>
                      </a:rPr>
                      <m:t>𝑏</m:t>
                    </m:r>
                    <m:r>
                      <a:rPr lang="en-US" b="0" i="1" smtClean="0">
                        <a:solidFill>
                          <a:schemeClr val="tx1"/>
                        </a:solidFill>
                        <a:latin typeface="Cambria Math"/>
                      </a:rPr>
                      <m:t>}</m:t>
                    </m:r>
                  </m:oMath>
                </a14:m>
                <a:endParaRPr lang="en-US" dirty="0">
                  <a:solidFill>
                    <a:schemeClr val="tx1"/>
                  </a:solidFill>
                </a:endParaRPr>
              </a:p>
              <a:p>
                <a:pPr lvl="1"/>
                <a:r>
                  <a:rPr lang="en-US" dirty="0">
                    <a:solidFill>
                      <a:schemeClr val="tx1"/>
                    </a:solidFill>
                  </a:rPr>
                  <a:t>Like a set, but order matters</a:t>
                </a:r>
              </a:p>
              <a:p>
                <a:pPr lvl="1"/>
                <a:r>
                  <a:rPr lang="en-US" dirty="0" err="1">
                    <a:solidFill>
                      <a:schemeClr val="tx1"/>
                    </a:solidFill>
                  </a:rPr>
                  <a:t>Nerdly</a:t>
                </a:r>
                <a:r>
                  <a:rPr lang="en-US" dirty="0">
                    <a:solidFill>
                      <a:schemeClr val="tx1"/>
                    </a:solidFill>
                  </a:rPr>
                  <a:t> trivia: can be defined in terms of normal sets as </a:t>
                </a:r>
                <a14:m>
                  <m:oMath xmlns:m="http://schemas.openxmlformats.org/officeDocument/2006/math">
                    <m:r>
                      <a:rPr lang="en-US" b="0" i="1" smtClean="0">
                        <a:solidFill>
                          <a:schemeClr val="tx1"/>
                        </a:solidFill>
                        <a:latin typeface="Cambria Math" panose="02040503050406030204" pitchFamily="18" charset="0"/>
                      </a:rPr>
                      <m:t>{</m:t>
                    </m:r>
                    <m:d>
                      <m:dPr>
                        <m:begChr m:val="{"/>
                        <m:endChr m:val="}"/>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𝑎</m:t>
                        </m:r>
                      </m:e>
                    </m:d>
                    <m:r>
                      <a:rPr lang="en-US" b="0" i="1" smtClean="0">
                        <a:solidFill>
                          <a:schemeClr val="tx1"/>
                        </a:solidFill>
                        <a:latin typeface="Cambria Math" panose="02040503050406030204" pitchFamily="18" charset="0"/>
                      </a:rPr>
                      <m:t>, </m:t>
                    </m:r>
                    <m:d>
                      <m:dPr>
                        <m:begChr m:val="{"/>
                        <m:endChr m:val="}"/>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𝑎</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𝑏</m:t>
                        </m:r>
                      </m:e>
                    </m:d>
                    <m:r>
                      <a:rPr lang="en-US" b="0" i="1" smtClean="0">
                        <a:solidFill>
                          <a:schemeClr val="tx1"/>
                        </a:solidFill>
                        <a:latin typeface="Cambria Math" panose="02040503050406030204" pitchFamily="18" charset="0"/>
                      </a:rPr>
                      <m:t>}</m:t>
                    </m:r>
                  </m:oMath>
                </a14:m>
                <a:endParaRPr lang="en-US" dirty="0">
                  <a:solidFill>
                    <a:schemeClr val="tx1"/>
                  </a:solidFill>
                </a:endParaRPr>
              </a:p>
              <a:p>
                <a:pPr lvl="1"/>
                <a:endParaRPr lang="en-US" dirty="0">
                  <a:solidFill>
                    <a:schemeClr val="tx1"/>
                  </a:solidFill>
                </a:endParaRPr>
              </a:p>
              <a:p>
                <a:r>
                  <a:rPr lang="en-US" b="1" dirty="0">
                    <a:solidFill>
                      <a:schemeClr val="accent6">
                        <a:lumMod val="50000"/>
                      </a:schemeClr>
                    </a:solidFill>
                  </a:rPr>
                  <a:t>Cartesian product</a:t>
                </a:r>
                <a:r>
                  <a:rPr lang="en-US" dirty="0"/>
                  <a:t> of two sets</a:t>
                </a:r>
              </a:p>
              <a:p>
                <a:pPr lvl="1"/>
                <a:r>
                  <a:rPr lang="en-US" dirty="0"/>
                  <a:t>The set of all pairs of elements drawn from the sets</a:t>
                </a:r>
              </a:p>
              <a:p>
                <a:pPr lvl="2"/>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r>
                      <a:rPr lang="en-US" b="0" i="1" smtClean="0">
                        <a:latin typeface="Cambria Math"/>
                      </a:rPr>
                      <m:t>𝑎</m:t>
                    </m:r>
                    <m:r>
                      <a:rPr lang="en-US" b="0" i="1" smtClean="0">
                        <a:latin typeface="Cambria Math"/>
                      </a:rPr>
                      <m:t>,</m:t>
                    </m:r>
                    <m:r>
                      <a:rPr lang="en-US" b="0" i="1" smtClean="0">
                        <a:latin typeface="Cambria Math"/>
                      </a:rPr>
                      <m:t>𝑏</m:t>
                    </m:r>
                    <m:r>
                      <a:rPr lang="en-US" b="0" i="1" smtClean="0">
                        <a:latin typeface="Cambria Math"/>
                      </a:rPr>
                      <m:t>)|</m:t>
                    </m:r>
                    <m:r>
                      <a:rPr lang="en-US" b="0" i="1" smtClean="0">
                        <a:latin typeface="Cambria Math"/>
                      </a:rPr>
                      <m:t>𝑎</m:t>
                    </m:r>
                    <m:r>
                      <a:rPr lang="en-US" b="0" i="1" smtClean="0">
                        <a:latin typeface="Cambria Math"/>
                      </a:rPr>
                      <m:t>∈</m:t>
                    </m:r>
                    <m:r>
                      <a:rPr lang="en-US" b="0" i="1" smtClean="0">
                        <a:latin typeface="Cambria Math"/>
                      </a:rPr>
                      <m:t>𝐴</m:t>
                    </m:r>
                    <m:r>
                      <a:rPr lang="en-US" b="0" i="1" smtClean="0">
                        <a:latin typeface="Cambria Math"/>
                      </a:rPr>
                      <m:t>, </m:t>
                    </m:r>
                    <m:r>
                      <a:rPr lang="en-US" b="0" i="1" smtClean="0">
                        <a:latin typeface="Cambria Math"/>
                      </a:rPr>
                      <m:t>𝑏</m:t>
                    </m:r>
                    <m:r>
                      <a:rPr lang="en-US" b="0" i="1" smtClean="0">
                        <a:latin typeface="Cambria Math"/>
                      </a:rPr>
                      <m:t>∈</m:t>
                    </m:r>
                    <m:r>
                      <a:rPr lang="en-US" b="0" i="1" smtClean="0">
                        <a:latin typeface="Cambria Math"/>
                      </a:rPr>
                      <m:t>𝐵</m:t>
                    </m:r>
                    <m:r>
                      <a:rPr lang="en-US" b="0" i="1" smtClean="0">
                        <a:latin typeface="Cambria Math"/>
                      </a:rPr>
                      <m:t>}</m:t>
                    </m:r>
                  </m:oMath>
                </a14:m>
                <a:endParaRPr lang="en-US" dirty="0"/>
              </a:p>
              <a:p>
                <a:pPr lvl="1"/>
                <a:r>
                  <a:rPr lang="en-US" dirty="0"/>
                  <a:t>More generally:</a:t>
                </a:r>
              </a:p>
              <a:p>
                <a:pPr lvl="2"/>
                <a:r>
                  <a:rPr lang="en-US" dirty="0"/>
                  <a:t>A</a:t>
                </a:r>
                <a:r>
                  <a:rPr lang="en-US" dirty="0">
                    <a:sym typeface="Symbol"/>
                  </a:rPr>
                  <a:t>BCD = { (a, b, c, d) | </a:t>
                </a:r>
                <a:r>
                  <a:rPr lang="en-US" dirty="0" err="1">
                    <a:sym typeface="Symbol"/>
                  </a:rPr>
                  <a:t>aA</a:t>
                </a:r>
                <a:r>
                  <a:rPr lang="en-US" dirty="0">
                    <a:sym typeface="Symbol"/>
                  </a:rPr>
                  <a:t>, etc. }</a:t>
                </a:r>
              </a:p>
              <a:p>
                <a:pPr marL="457200" lvl="1" indent="0">
                  <a:buNone/>
                </a:pPr>
                <a:endParaRPr lang="en-US" dirty="0"/>
              </a:p>
              <a:p>
                <a:r>
                  <a:rPr lang="en-US" b="1" dirty="0">
                    <a:solidFill>
                      <a:schemeClr val="accent6">
                        <a:lumMod val="50000"/>
                      </a:schemeClr>
                    </a:solidFill>
                  </a:rPr>
                  <a:t>Power</a:t>
                </a:r>
                <a:r>
                  <a:rPr lang="en-US" dirty="0"/>
                  <a:t> of a set (as opposed to the </a:t>
                </a:r>
                <a:r>
                  <a:rPr lang="en-US" dirty="0" err="1"/>
                  <a:t>powerset</a:t>
                </a:r>
                <a:r>
                  <a:rPr lang="en-US" dirty="0"/>
                  <a:t>)</a:t>
                </a:r>
              </a:p>
              <a:p>
                <a:pPr marL="457200" lvl="1" indent="0">
                  <a:buNone/>
                </a:pP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𝑛</m:t>
                        </m:r>
                      </m:sup>
                    </m:sSup>
                    <m:r>
                      <a:rPr lang="en-US" b="0" i="1" smtClean="0">
                        <a:latin typeface="Cambria Math"/>
                      </a:rPr>
                      <m:t>=</m:t>
                    </m:r>
                    <m:r>
                      <a:rPr lang="en-US" b="0" i="1" smtClean="0">
                        <a:latin typeface="Cambria Math"/>
                      </a:rPr>
                      <m:t>𝐴</m:t>
                    </m:r>
                    <m:r>
                      <a:rPr lang="en-US" b="0" i="1" smtClean="0">
                        <a:latin typeface="Cambria Math"/>
                      </a:rPr>
                      <m:t>×</m:t>
                    </m:r>
                    <m:r>
                      <a:rPr lang="en-US" b="0" i="1" smtClean="0">
                        <a:latin typeface="Cambria Math"/>
                      </a:rPr>
                      <m:t>𝐴</m:t>
                    </m:r>
                    <m:r>
                      <a:rPr lang="en-US" b="0" i="1" smtClean="0">
                        <a:latin typeface="Cambria Math"/>
                      </a:rPr>
                      <m:t>×</m:t>
                    </m:r>
                    <m:r>
                      <a:rPr lang="en-US" b="0" i="1" smtClean="0">
                        <a:latin typeface="Cambria Math"/>
                      </a:rPr>
                      <m:t>𝐴</m:t>
                    </m:r>
                    <m:r>
                      <a:rPr lang="en-US" b="0" i="1" smtClean="0">
                        <a:latin typeface="Cambria Math"/>
                      </a:rPr>
                      <m:t> …×</m:t>
                    </m:r>
                    <m:r>
                      <a:rPr lang="en-US" b="0" i="1" smtClean="0">
                        <a:latin typeface="Cambria Math"/>
                      </a:rPr>
                      <m:t>𝐴</m:t>
                    </m:r>
                  </m:oMath>
                </a14:m>
                <a:r>
                  <a:rPr lang="en-US" dirty="0"/>
                  <a:t> (n times)</a:t>
                </a:r>
                <a14:m>
                  <m:oMath xmlns:m="http://schemas.openxmlformats.org/officeDocument/2006/math">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𝑛</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𝑛</m:t>
                        </m:r>
                      </m:sub>
                    </m:sSub>
                    <m:r>
                      <a:rPr lang="en-US" b="0" i="1" smtClean="0">
                        <a:latin typeface="Cambria Math"/>
                      </a:rPr>
                      <m:t>∈</m:t>
                    </m:r>
                    <m:r>
                      <a:rPr lang="en-US" b="0" i="1" smtClean="0">
                        <a:latin typeface="Cambria Math"/>
                      </a:rPr>
                      <m:t>𝐴</m:t>
                    </m:r>
                    <m:r>
                      <a:rPr lang="en-US" b="0" i="1" smtClean="0">
                        <a:latin typeface="Cambria Math"/>
                      </a:rPr>
                      <m:t>}</m:t>
                    </m:r>
                  </m:oMath>
                </a14:m>
                <a:br>
                  <a:rPr lang="en-US" dirty="0"/>
                </a:br>
                <a:r>
                  <a:rPr lang="en-US" dirty="0"/>
                  <a:t>(in other words, n-vectors of elements of S)</a:t>
                </a:r>
              </a:p>
              <a:p>
                <a:endParaRPr lang="en-US" dirty="0"/>
              </a:p>
              <a:p>
                <a:r>
                  <a:rPr lang="en-US" b="1" dirty="0" err="1">
                    <a:solidFill>
                      <a:schemeClr val="accent6">
                        <a:lumMod val="50000"/>
                      </a:schemeClr>
                    </a:solidFill>
                  </a:rPr>
                  <a:t>Kleene</a:t>
                </a:r>
                <a:r>
                  <a:rPr lang="en-US" b="1" baseline="0" dirty="0">
                    <a:solidFill>
                      <a:schemeClr val="accent6">
                        <a:lumMod val="50000"/>
                      </a:schemeClr>
                    </a:solidFill>
                  </a:rPr>
                  <a:t> closure</a:t>
                </a:r>
              </a:p>
              <a:p>
                <a:pPr lvl="1"/>
                <a:r>
                  <a:rPr lang="en-US" dirty="0"/>
                  <a:t>The set of all tuples of elements from a given set, regardless of length</a:t>
                </a:r>
                <a:endParaRPr lang="en-US" baseline="0" dirty="0"/>
              </a:p>
              <a:p>
                <a:pPr marL="457200" lvl="1" indent="0">
                  <a:buNone/>
                </a:pPr>
                <a:endParaRPr lang="en-US" i="1" dirty="0">
                  <a:latin typeface="Cambria Math"/>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229600" cy="5257800"/>
              </a:xfrm>
              <a:blipFill rotWithShape="0">
                <a:blip r:embed="rId2"/>
                <a:stretch>
                  <a:fillRect l="-815" t="-1972" b="-2204"/>
                </a:stretch>
              </a:blipFill>
            </p:spPr>
            <p:txBody>
              <a:bodyPr/>
              <a:lstStyle/>
              <a:p>
                <a:r>
                  <a:rPr lang="en-US">
                    <a:noFill/>
                  </a:rPr>
                  <a:t> </a:t>
                </a:r>
              </a:p>
            </p:txBody>
          </p:sp>
        </mc:Fallback>
      </mc:AlternateContent>
    </p:spTree>
    <p:extLst>
      <p:ext uri="{BB962C8B-B14F-4D97-AF65-F5344CB8AC3E}">
        <p14:creationId xmlns:p14="http://schemas.microsoft.com/office/powerpoint/2010/main" val="1502936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Relations</a:t>
            </a:r>
          </a:p>
        </p:txBody>
      </p:sp>
      <p:sp>
        <p:nvSpPr>
          <p:cNvPr id="3" name="Content Placeholder 2"/>
          <p:cNvSpPr>
            <a:spLocks noGrp="1"/>
          </p:cNvSpPr>
          <p:nvPr>
            <p:ph sz="half" idx="1"/>
          </p:nvPr>
        </p:nvSpPr>
        <p:spPr>
          <a:xfrm>
            <a:off x="457200" y="1524000"/>
            <a:ext cx="4038600" cy="5257800"/>
          </a:xfrm>
        </p:spPr>
        <p:txBody>
          <a:bodyPr>
            <a:normAutofit fontScale="70000" lnSpcReduction="20000"/>
          </a:bodyPr>
          <a:lstStyle/>
          <a:p>
            <a:r>
              <a:rPr lang="en-US" dirty="0"/>
              <a:t>A </a:t>
            </a:r>
            <a:r>
              <a:rPr lang="en-US" b="1" dirty="0">
                <a:solidFill>
                  <a:schemeClr val="accent6">
                    <a:lumMod val="50000"/>
                  </a:schemeClr>
                </a:solidFill>
              </a:rPr>
              <a:t>relation</a:t>
            </a:r>
            <a:r>
              <a:rPr lang="en-US" dirty="0">
                <a:solidFill>
                  <a:schemeClr val="accent6">
                    <a:lumMod val="50000"/>
                  </a:schemeClr>
                </a:solidFill>
              </a:rPr>
              <a:t> </a:t>
            </a:r>
            <a:r>
              <a:rPr lang="en-US" dirty="0"/>
              <a:t>between two sets is a property that might hold between some elements of the sets, but not others</a:t>
            </a:r>
          </a:p>
          <a:p>
            <a:pPr marL="0" indent="0">
              <a:buNone/>
            </a:pPr>
            <a:endParaRPr lang="en-US" dirty="0"/>
          </a:p>
          <a:p>
            <a:r>
              <a:rPr lang="en-US" dirty="0"/>
              <a:t>Example</a:t>
            </a:r>
          </a:p>
          <a:p>
            <a:pPr lvl="1"/>
            <a:r>
              <a:rPr lang="en-US" dirty="0"/>
              <a:t>Given the set of all college students, S, and the set of all colleges, C,</a:t>
            </a:r>
          </a:p>
          <a:p>
            <a:pPr lvl="1"/>
            <a:r>
              <a:rPr lang="en-US" dirty="0"/>
              <a:t>Attendance is a relation between elements of S and elements of C</a:t>
            </a:r>
          </a:p>
          <a:p>
            <a:pPr lvl="2"/>
            <a:r>
              <a:rPr lang="en-US" dirty="0"/>
              <a:t>For any </a:t>
            </a:r>
            <a:r>
              <a:rPr lang="en-US" dirty="0" err="1"/>
              <a:t>s</a:t>
            </a:r>
            <a:r>
              <a:rPr lang="en-US" dirty="0" err="1">
                <a:sym typeface="Symbol"/>
              </a:rPr>
              <a:t>S</a:t>
            </a:r>
            <a:r>
              <a:rPr lang="en-US" dirty="0">
                <a:sym typeface="Symbol"/>
              </a:rPr>
              <a:t>, </a:t>
            </a:r>
            <a:r>
              <a:rPr lang="en-US" dirty="0" err="1">
                <a:sym typeface="Symbol"/>
              </a:rPr>
              <a:t>cC</a:t>
            </a:r>
            <a:r>
              <a:rPr lang="en-US" dirty="0">
                <a:sym typeface="Symbol"/>
              </a:rPr>
              <a:t>, we can ask whether s attends c</a:t>
            </a:r>
            <a:endParaRPr lang="en-US" dirty="0"/>
          </a:p>
          <a:p>
            <a:endParaRPr lang="en-US" dirty="0"/>
          </a:p>
          <a:p>
            <a:r>
              <a:rPr lang="en-US" dirty="0"/>
              <a:t>If R is some relation, we’ll write </a:t>
            </a:r>
            <a:r>
              <a:rPr lang="en-US" dirty="0" err="1"/>
              <a:t>xRy</a:t>
            </a:r>
            <a:r>
              <a:rPr lang="en-US" dirty="0"/>
              <a:t> to mean “R </a:t>
            </a:r>
            <a:r>
              <a:rPr lang="en-US" b="1" dirty="0">
                <a:solidFill>
                  <a:schemeClr val="accent6">
                    <a:lumMod val="50000"/>
                  </a:schemeClr>
                </a:solidFill>
              </a:rPr>
              <a:t>holds</a:t>
            </a:r>
            <a:r>
              <a:rPr lang="en-US" dirty="0">
                <a:solidFill>
                  <a:schemeClr val="accent6">
                    <a:lumMod val="50000"/>
                  </a:schemeClr>
                </a:solidFill>
              </a:rPr>
              <a:t> </a:t>
            </a:r>
            <a:r>
              <a:rPr lang="en-US" dirty="0"/>
              <a:t>between elements x and y”</a:t>
            </a:r>
          </a:p>
          <a:p>
            <a:pPr lvl="1"/>
            <a:r>
              <a:rPr lang="en-US" dirty="0"/>
              <a:t>E.g. if A = attendance, then you would write </a:t>
            </a:r>
            <a:r>
              <a:rPr lang="en-US" dirty="0" err="1"/>
              <a:t>sAc</a:t>
            </a:r>
            <a:r>
              <a:rPr lang="en-US" dirty="0"/>
              <a:t> to mean “s attends c”</a:t>
            </a:r>
          </a:p>
          <a:p>
            <a:endParaRPr lang="en-US" dirty="0"/>
          </a:p>
          <a:p>
            <a:endParaRPr lang="en-US" dirty="0"/>
          </a:p>
          <a:p>
            <a:pPr lvl="1"/>
            <a:endParaRPr lang="en-US" dirty="0"/>
          </a:p>
        </p:txBody>
      </p:sp>
      <p:sp>
        <p:nvSpPr>
          <p:cNvPr id="6" name="Oval 5"/>
          <p:cNvSpPr/>
          <p:nvPr/>
        </p:nvSpPr>
        <p:spPr>
          <a:xfrm>
            <a:off x="5105400" y="1143000"/>
            <a:ext cx="2438400" cy="2362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6858000" y="4114800"/>
            <a:ext cx="1752600" cy="1752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638800" y="1752600"/>
            <a:ext cx="152400" cy="1524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638800" y="2355145"/>
            <a:ext cx="152400" cy="1524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327422" y="1724378"/>
            <a:ext cx="152400" cy="1524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6400800" y="2476500"/>
            <a:ext cx="152400" cy="1524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5966178" y="2819400"/>
            <a:ext cx="152400" cy="1524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6705600" y="1899356"/>
            <a:ext cx="152400" cy="1524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7086600" y="2324100"/>
            <a:ext cx="152400" cy="1524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670800" y="4495800"/>
            <a:ext cx="152400" cy="1524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178800" y="4991100"/>
            <a:ext cx="152400" cy="1524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181008" y="5257800"/>
            <a:ext cx="152400" cy="1524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440653" y="4800600"/>
            <a:ext cx="152400" cy="1524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6934200" y="990600"/>
            <a:ext cx="1012906" cy="369332"/>
          </a:xfrm>
          <a:prstGeom prst="rect">
            <a:avLst/>
          </a:prstGeom>
          <a:noFill/>
        </p:spPr>
        <p:txBody>
          <a:bodyPr wrap="none" rtlCol="0">
            <a:spAutoFit/>
          </a:bodyPr>
          <a:lstStyle/>
          <a:p>
            <a:r>
              <a:rPr lang="en-US" dirty="0"/>
              <a:t>Students</a:t>
            </a:r>
          </a:p>
        </p:txBody>
      </p:sp>
      <p:sp>
        <p:nvSpPr>
          <p:cNvPr id="20" name="TextBox 19"/>
          <p:cNvSpPr txBox="1"/>
          <p:nvPr/>
        </p:nvSpPr>
        <p:spPr>
          <a:xfrm>
            <a:off x="8077200" y="3689024"/>
            <a:ext cx="896399" cy="369332"/>
          </a:xfrm>
          <a:prstGeom prst="rect">
            <a:avLst/>
          </a:prstGeom>
          <a:noFill/>
        </p:spPr>
        <p:txBody>
          <a:bodyPr wrap="none" rtlCol="0">
            <a:spAutoFit/>
          </a:bodyPr>
          <a:lstStyle/>
          <a:p>
            <a:r>
              <a:rPr lang="en-US" dirty="0"/>
              <a:t>Schools</a:t>
            </a:r>
          </a:p>
        </p:txBody>
      </p:sp>
      <p:sp>
        <p:nvSpPr>
          <p:cNvPr id="21" name="TextBox 20"/>
          <p:cNvSpPr txBox="1"/>
          <p:nvPr/>
        </p:nvSpPr>
        <p:spPr>
          <a:xfrm>
            <a:off x="7315200" y="5257800"/>
            <a:ext cx="1202252" cy="307777"/>
          </a:xfrm>
          <a:prstGeom prst="rect">
            <a:avLst/>
          </a:prstGeom>
          <a:noFill/>
        </p:spPr>
        <p:txBody>
          <a:bodyPr wrap="none" rtlCol="0">
            <a:spAutoFit/>
          </a:bodyPr>
          <a:lstStyle/>
          <a:p>
            <a:r>
              <a:rPr lang="en-US" sz="1400" dirty="0"/>
              <a:t>Northwestern</a:t>
            </a:r>
          </a:p>
        </p:txBody>
      </p:sp>
      <p:sp>
        <p:nvSpPr>
          <p:cNvPr id="22" name="TextBox 21"/>
          <p:cNvSpPr txBox="1"/>
          <p:nvPr/>
        </p:nvSpPr>
        <p:spPr>
          <a:xfrm>
            <a:off x="5562600" y="2655901"/>
            <a:ext cx="448584" cy="307777"/>
          </a:xfrm>
          <a:prstGeom prst="rect">
            <a:avLst/>
          </a:prstGeom>
          <a:noFill/>
        </p:spPr>
        <p:txBody>
          <a:bodyPr wrap="none" rtlCol="0">
            <a:spAutoFit/>
          </a:bodyPr>
          <a:lstStyle/>
          <a:p>
            <a:r>
              <a:rPr lang="en-US" sz="1400" dirty="0"/>
              <a:t>You</a:t>
            </a:r>
          </a:p>
        </p:txBody>
      </p:sp>
      <p:cxnSp>
        <p:nvCxnSpPr>
          <p:cNvPr id="24" name="Straight Connector 23"/>
          <p:cNvCxnSpPr>
            <a:stCxn id="12" idx="4"/>
            <a:endCxn id="17" idx="1"/>
          </p:cNvCxnSpPr>
          <p:nvPr/>
        </p:nvCxnSpPr>
        <p:spPr>
          <a:xfrm>
            <a:off x="6042378" y="2971800"/>
            <a:ext cx="1160948" cy="23083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3" idx="4"/>
            <a:endCxn id="17" idx="0"/>
          </p:cNvCxnSpPr>
          <p:nvPr/>
        </p:nvCxnSpPr>
        <p:spPr>
          <a:xfrm>
            <a:off x="6781800" y="2051756"/>
            <a:ext cx="475408" cy="32060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8" idx="5"/>
            <a:endCxn id="17" idx="1"/>
          </p:cNvCxnSpPr>
          <p:nvPr/>
        </p:nvCxnSpPr>
        <p:spPr>
          <a:xfrm>
            <a:off x="5768882" y="1882682"/>
            <a:ext cx="1434444" cy="33974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11" idx="5"/>
            <a:endCxn id="15" idx="1"/>
          </p:cNvCxnSpPr>
          <p:nvPr/>
        </p:nvCxnSpPr>
        <p:spPr>
          <a:xfrm>
            <a:off x="6530882" y="2606582"/>
            <a:ext cx="1162236" cy="191153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14" idx="3"/>
            <a:endCxn id="16" idx="0"/>
          </p:cNvCxnSpPr>
          <p:nvPr/>
        </p:nvCxnSpPr>
        <p:spPr>
          <a:xfrm>
            <a:off x="7108918" y="2454182"/>
            <a:ext cx="1146082" cy="25369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0" idx="2"/>
            <a:endCxn id="15" idx="0"/>
          </p:cNvCxnSpPr>
          <p:nvPr/>
        </p:nvCxnSpPr>
        <p:spPr>
          <a:xfrm>
            <a:off x="6327422" y="1800578"/>
            <a:ext cx="1419578" cy="269522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9" idx="5"/>
            <a:endCxn id="18" idx="1"/>
          </p:cNvCxnSpPr>
          <p:nvPr/>
        </p:nvCxnSpPr>
        <p:spPr>
          <a:xfrm>
            <a:off x="5768882" y="2485227"/>
            <a:ext cx="1694089" cy="233769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6986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Relations as sets</a:t>
            </a:r>
          </a:p>
        </p:txBody>
      </p:sp>
      <p:sp>
        <p:nvSpPr>
          <p:cNvPr id="3" name="Content Placeholder 2"/>
          <p:cNvSpPr>
            <a:spLocks noGrp="1"/>
          </p:cNvSpPr>
          <p:nvPr>
            <p:ph sz="half" idx="1"/>
          </p:nvPr>
        </p:nvSpPr>
        <p:spPr>
          <a:xfrm>
            <a:off x="457200" y="1524000"/>
            <a:ext cx="4038600" cy="5257800"/>
          </a:xfrm>
        </p:spPr>
        <p:txBody>
          <a:bodyPr>
            <a:normAutofit/>
          </a:bodyPr>
          <a:lstStyle/>
          <a:p>
            <a:r>
              <a:rPr lang="en-US" dirty="0"/>
              <a:t>Relations are usually formalized in set theory as </a:t>
            </a:r>
            <a:r>
              <a:rPr lang="en-US" b="1" dirty="0">
                <a:solidFill>
                  <a:schemeClr val="accent6">
                    <a:lumMod val="50000"/>
                  </a:schemeClr>
                </a:solidFill>
              </a:rPr>
              <a:t>sets of pairs</a:t>
            </a:r>
          </a:p>
          <a:p>
            <a:pPr lvl="1"/>
            <a:r>
              <a:rPr lang="en-US" dirty="0"/>
              <a:t>In particular, the pairs of things that are related</a:t>
            </a:r>
          </a:p>
          <a:p>
            <a:pPr>
              <a:spcBef>
                <a:spcPts val="1800"/>
              </a:spcBef>
            </a:pPr>
            <a:r>
              <a:rPr lang="en-US" dirty="0"/>
              <a:t>Then </a:t>
            </a:r>
            <a:r>
              <a:rPr lang="en-US" dirty="0" err="1"/>
              <a:t>xRy</a:t>
            </a:r>
            <a:r>
              <a:rPr lang="en-US" dirty="0"/>
              <a:t> just means (</a:t>
            </a:r>
            <a:r>
              <a:rPr lang="en-US" dirty="0" err="1"/>
              <a:t>x,y</a:t>
            </a:r>
            <a:r>
              <a:rPr lang="en-US" dirty="0"/>
              <a:t>)</a:t>
            </a:r>
            <a:r>
              <a:rPr lang="en-US" dirty="0">
                <a:sym typeface="Symbol"/>
              </a:rPr>
              <a:t>R</a:t>
            </a:r>
          </a:p>
          <a:p>
            <a:pPr>
              <a:spcBef>
                <a:spcPts val="1800"/>
              </a:spcBef>
            </a:pPr>
            <a:r>
              <a:rPr lang="en-US" dirty="0">
                <a:sym typeface="Symbol"/>
              </a:rPr>
              <a:t>We can mostly ignore this</a:t>
            </a:r>
          </a:p>
        </p:txBody>
      </p:sp>
      <p:sp>
        <p:nvSpPr>
          <p:cNvPr id="6" name="Oval 5"/>
          <p:cNvSpPr/>
          <p:nvPr/>
        </p:nvSpPr>
        <p:spPr>
          <a:xfrm>
            <a:off x="5105400" y="1143000"/>
            <a:ext cx="2438400" cy="2362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6858000" y="4114800"/>
            <a:ext cx="1752600" cy="1752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638800" y="1752600"/>
            <a:ext cx="152400" cy="1524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638800" y="2355145"/>
            <a:ext cx="152400" cy="1524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327422" y="1724378"/>
            <a:ext cx="152400" cy="1524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6400800" y="2476500"/>
            <a:ext cx="152400" cy="1524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5966178" y="2819400"/>
            <a:ext cx="152400" cy="1524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6705600" y="1899356"/>
            <a:ext cx="152400" cy="1524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7086600" y="2324100"/>
            <a:ext cx="152400" cy="1524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670800" y="4495800"/>
            <a:ext cx="152400" cy="1524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178800" y="4991100"/>
            <a:ext cx="152400" cy="1524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181008" y="5257800"/>
            <a:ext cx="152400" cy="1524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440653" y="4800600"/>
            <a:ext cx="152400" cy="1524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6934200" y="990600"/>
            <a:ext cx="1012906" cy="369332"/>
          </a:xfrm>
          <a:prstGeom prst="rect">
            <a:avLst/>
          </a:prstGeom>
          <a:noFill/>
        </p:spPr>
        <p:txBody>
          <a:bodyPr wrap="none" rtlCol="0">
            <a:spAutoFit/>
          </a:bodyPr>
          <a:lstStyle/>
          <a:p>
            <a:r>
              <a:rPr lang="en-US" dirty="0"/>
              <a:t>Students</a:t>
            </a:r>
          </a:p>
        </p:txBody>
      </p:sp>
      <p:sp>
        <p:nvSpPr>
          <p:cNvPr id="20" name="TextBox 19"/>
          <p:cNvSpPr txBox="1"/>
          <p:nvPr/>
        </p:nvSpPr>
        <p:spPr>
          <a:xfrm>
            <a:off x="8077200" y="3689024"/>
            <a:ext cx="896399" cy="369332"/>
          </a:xfrm>
          <a:prstGeom prst="rect">
            <a:avLst/>
          </a:prstGeom>
          <a:noFill/>
        </p:spPr>
        <p:txBody>
          <a:bodyPr wrap="none" rtlCol="0">
            <a:spAutoFit/>
          </a:bodyPr>
          <a:lstStyle/>
          <a:p>
            <a:r>
              <a:rPr lang="en-US" dirty="0"/>
              <a:t>Schools</a:t>
            </a:r>
          </a:p>
        </p:txBody>
      </p:sp>
      <p:sp>
        <p:nvSpPr>
          <p:cNvPr id="21" name="TextBox 20"/>
          <p:cNvSpPr txBox="1"/>
          <p:nvPr/>
        </p:nvSpPr>
        <p:spPr>
          <a:xfrm>
            <a:off x="7315200" y="5257800"/>
            <a:ext cx="1202252" cy="307777"/>
          </a:xfrm>
          <a:prstGeom prst="rect">
            <a:avLst/>
          </a:prstGeom>
          <a:noFill/>
        </p:spPr>
        <p:txBody>
          <a:bodyPr wrap="none" rtlCol="0">
            <a:spAutoFit/>
          </a:bodyPr>
          <a:lstStyle/>
          <a:p>
            <a:r>
              <a:rPr lang="en-US" sz="1400" dirty="0"/>
              <a:t>Northwestern</a:t>
            </a:r>
          </a:p>
        </p:txBody>
      </p:sp>
      <p:sp>
        <p:nvSpPr>
          <p:cNvPr id="22" name="TextBox 21"/>
          <p:cNvSpPr txBox="1"/>
          <p:nvPr/>
        </p:nvSpPr>
        <p:spPr>
          <a:xfrm>
            <a:off x="5562600" y="2655901"/>
            <a:ext cx="448584" cy="307777"/>
          </a:xfrm>
          <a:prstGeom prst="rect">
            <a:avLst/>
          </a:prstGeom>
          <a:noFill/>
        </p:spPr>
        <p:txBody>
          <a:bodyPr wrap="none" rtlCol="0">
            <a:spAutoFit/>
          </a:bodyPr>
          <a:lstStyle/>
          <a:p>
            <a:r>
              <a:rPr lang="en-US" sz="1400" dirty="0"/>
              <a:t>You</a:t>
            </a:r>
          </a:p>
        </p:txBody>
      </p:sp>
      <p:cxnSp>
        <p:nvCxnSpPr>
          <p:cNvPr id="24" name="Straight Connector 23"/>
          <p:cNvCxnSpPr>
            <a:stCxn id="12" idx="4"/>
            <a:endCxn id="17" idx="1"/>
          </p:cNvCxnSpPr>
          <p:nvPr/>
        </p:nvCxnSpPr>
        <p:spPr>
          <a:xfrm>
            <a:off x="6042378" y="2971800"/>
            <a:ext cx="1160948" cy="23083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3" idx="4"/>
            <a:endCxn id="17" idx="0"/>
          </p:cNvCxnSpPr>
          <p:nvPr/>
        </p:nvCxnSpPr>
        <p:spPr>
          <a:xfrm>
            <a:off x="6781800" y="2051756"/>
            <a:ext cx="475408" cy="32060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8" idx="5"/>
            <a:endCxn id="17" idx="1"/>
          </p:cNvCxnSpPr>
          <p:nvPr/>
        </p:nvCxnSpPr>
        <p:spPr>
          <a:xfrm>
            <a:off x="5768882" y="1882682"/>
            <a:ext cx="1434444" cy="33974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11" idx="5"/>
            <a:endCxn id="15" idx="1"/>
          </p:cNvCxnSpPr>
          <p:nvPr/>
        </p:nvCxnSpPr>
        <p:spPr>
          <a:xfrm>
            <a:off x="6530882" y="2606582"/>
            <a:ext cx="1162236" cy="191153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14" idx="3"/>
            <a:endCxn id="16" idx="0"/>
          </p:cNvCxnSpPr>
          <p:nvPr/>
        </p:nvCxnSpPr>
        <p:spPr>
          <a:xfrm>
            <a:off x="7108918" y="2454182"/>
            <a:ext cx="1146082" cy="25369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0" idx="2"/>
            <a:endCxn id="15" idx="0"/>
          </p:cNvCxnSpPr>
          <p:nvPr/>
        </p:nvCxnSpPr>
        <p:spPr>
          <a:xfrm>
            <a:off x="6327422" y="1800578"/>
            <a:ext cx="1419578" cy="269522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9" idx="5"/>
            <a:endCxn id="18" idx="1"/>
          </p:cNvCxnSpPr>
          <p:nvPr/>
        </p:nvCxnSpPr>
        <p:spPr>
          <a:xfrm>
            <a:off x="5768882" y="2485227"/>
            <a:ext cx="1694089" cy="233769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79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Special kinds of relations</a:t>
            </a:r>
          </a:p>
        </p:txBody>
      </p:sp>
      <p:sp>
        <p:nvSpPr>
          <p:cNvPr id="3" name="Content Placeholder 2"/>
          <p:cNvSpPr>
            <a:spLocks noGrp="1"/>
          </p:cNvSpPr>
          <p:nvPr>
            <p:ph idx="1"/>
          </p:nvPr>
        </p:nvSpPr>
        <p:spPr/>
        <p:txBody>
          <a:bodyPr>
            <a:normAutofit/>
          </a:bodyPr>
          <a:lstStyle/>
          <a:p>
            <a:r>
              <a:rPr lang="en-US" dirty="0"/>
              <a:t>A lot of the most useful relations are the ones that hold between elements of the </a:t>
            </a:r>
            <a:r>
              <a:rPr lang="en-US" b="1" dirty="0">
                <a:solidFill>
                  <a:schemeClr val="accent6">
                    <a:lumMod val="50000"/>
                  </a:schemeClr>
                </a:solidFill>
              </a:rPr>
              <a:t>same set</a:t>
            </a:r>
          </a:p>
          <a:p>
            <a:endParaRPr lang="en-US" dirty="0"/>
          </a:p>
          <a:p>
            <a:r>
              <a:rPr lang="en-US" dirty="0"/>
              <a:t>For example, for the integers, we have the relations</a:t>
            </a:r>
          </a:p>
          <a:p>
            <a:pPr lvl="1"/>
            <a:r>
              <a:rPr lang="en-US" b="1" dirty="0">
                <a:solidFill>
                  <a:schemeClr val="accent6">
                    <a:lumMod val="50000"/>
                  </a:schemeClr>
                </a:solidFill>
              </a:rPr>
              <a:t>Equality</a:t>
            </a:r>
            <a:r>
              <a:rPr lang="en-US" dirty="0"/>
              <a:t>: x = y</a:t>
            </a:r>
          </a:p>
          <a:p>
            <a:pPr lvl="1"/>
            <a:r>
              <a:rPr lang="en-US" b="1" dirty="0">
                <a:solidFill>
                  <a:schemeClr val="accent6">
                    <a:lumMod val="50000"/>
                  </a:schemeClr>
                </a:solidFill>
              </a:rPr>
              <a:t>Ordering</a:t>
            </a:r>
            <a:r>
              <a:rPr lang="en-US" dirty="0"/>
              <a:t>: x </a:t>
            </a:r>
            <a:r>
              <a:rPr lang="en-US" dirty="0">
                <a:sym typeface="Symbol"/>
              </a:rPr>
              <a:t> </a:t>
            </a:r>
            <a:r>
              <a:rPr lang="en-US" dirty="0"/>
              <a:t>y</a:t>
            </a:r>
          </a:p>
        </p:txBody>
      </p:sp>
    </p:spTree>
    <p:extLst>
      <p:ext uri="{BB962C8B-B14F-4D97-AF65-F5344CB8AC3E}">
        <p14:creationId xmlns:p14="http://schemas.microsoft.com/office/powerpoint/2010/main" val="3041491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relations</a:t>
            </a:r>
          </a:p>
        </p:txBody>
      </p:sp>
      <p:sp>
        <p:nvSpPr>
          <p:cNvPr id="4" name="Content Placeholder 3"/>
          <p:cNvSpPr>
            <a:spLocks noGrp="1"/>
          </p:cNvSpPr>
          <p:nvPr>
            <p:ph sz="half" idx="1"/>
          </p:nvPr>
        </p:nvSpPr>
        <p:spPr/>
        <p:txBody>
          <a:bodyPr>
            <a:normAutofit fontScale="92500" lnSpcReduction="10000"/>
          </a:bodyPr>
          <a:lstStyle/>
          <a:p>
            <a:r>
              <a:rPr lang="en-US" dirty="0"/>
              <a:t>Equality</a:t>
            </a:r>
          </a:p>
          <a:p>
            <a:pPr lvl="1"/>
            <a:r>
              <a:rPr lang="en-US" b="1" dirty="0">
                <a:solidFill>
                  <a:schemeClr val="accent6">
                    <a:lumMod val="50000"/>
                  </a:schemeClr>
                </a:solidFill>
              </a:rPr>
              <a:t>Reflexivity</a:t>
            </a:r>
          </a:p>
          <a:p>
            <a:pPr lvl="2"/>
            <a:r>
              <a:rPr lang="en-US" dirty="0"/>
              <a:t>x=x</a:t>
            </a:r>
          </a:p>
          <a:p>
            <a:pPr lvl="1"/>
            <a:r>
              <a:rPr lang="en-US" b="1" dirty="0">
                <a:solidFill>
                  <a:schemeClr val="accent6">
                    <a:lumMod val="50000"/>
                  </a:schemeClr>
                </a:solidFill>
              </a:rPr>
              <a:t>Transitivity</a:t>
            </a:r>
          </a:p>
          <a:p>
            <a:pPr lvl="2"/>
            <a:r>
              <a:rPr lang="en-US" dirty="0"/>
              <a:t>If x=y and y=z</a:t>
            </a:r>
          </a:p>
          <a:p>
            <a:pPr lvl="2"/>
            <a:r>
              <a:rPr lang="en-US" dirty="0"/>
              <a:t>Then x=z</a:t>
            </a:r>
          </a:p>
          <a:p>
            <a:pPr lvl="1"/>
            <a:r>
              <a:rPr lang="en-US" b="1" dirty="0">
                <a:solidFill>
                  <a:schemeClr val="accent6">
                    <a:lumMod val="50000"/>
                  </a:schemeClr>
                </a:solidFill>
              </a:rPr>
              <a:t>Symmetry</a:t>
            </a:r>
          </a:p>
          <a:p>
            <a:pPr lvl="2"/>
            <a:r>
              <a:rPr lang="en-US" dirty="0"/>
              <a:t>If x=y, then y=x</a:t>
            </a:r>
          </a:p>
          <a:p>
            <a:pPr lvl="1"/>
            <a:endParaRPr lang="en-US" dirty="0"/>
          </a:p>
        </p:txBody>
      </p:sp>
      <p:sp>
        <p:nvSpPr>
          <p:cNvPr id="5" name="Content Placeholder 4"/>
          <p:cNvSpPr>
            <a:spLocks noGrp="1"/>
          </p:cNvSpPr>
          <p:nvPr>
            <p:ph sz="half" idx="2"/>
          </p:nvPr>
        </p:nvSpPr>
        <p:spPr/>
        <p:txBody>
          <a:bodyPr>
            <a:normAutofit fontScale="92500" lnSpcReduction="10000"/>
          </a:bodyPr>
          <a:lstStyle/>
          <a:p>
            <a:r>
              <a:rPr lang="en-US" dirty="0"/>
              <a:t>Ordering</a:t>
            </a:r>
          </a:p>
          <a:p>
            <a:pPr lvl="1"/>
            <a:r>
              <a:rPr lang="en-US" b="1" dirty="0">
                <a:solidFill>
                  <a:schemeClr val="accent6">
                    <a:lumMod val="50000"/>
                  </a:schemeClr>
                </a:solidFill>
              </a:rPr>
              <a:t>Reflexivity</a:t>
            </a:r>
          </a:p>
          <a:p>
            <a:pPr lvl="2"/>
            <a:r>
              <a:rPr lang="en-US" dirty="0"/>
              <a:t>x</a:t>
            </a:r>
            <a:r>
              <a:rPr lang="en-US" dirty="0">
                <a:sym typeface="Symbol"/>
              </a:rPr>
              <a:t>  </a:t>
            </a:r>
            <a:r>
              <a:rPr lang="en-US" dirty="0"/>
              <a:t>x</a:t>
            </a:r>
          </a:p>
          <a:p>
            <a:pPr lvl="1"/>
            <a:r>
              <a:rPr lang="en-US" b="1" dirty="0">
                <a:solidFill>
                  <a:schemeClr val="accent6">
                    <a:lumMod val="50000"/>
                  </a:schemeClr>
                </a:solidFill>
              </a:rPr>
              <a:t>Transitivity</a:t>
            </a:r>
          </a:p>
          <a:p>
            <a:pPr lvl="2"/>
            <a:r>
              <a:rPr lang="en-US" dirty="0"/>
              <a:t>If x </a:t>
            </a:r>
            <a:r>
              <a:rPr lang="en-US" dirty="0">
                <a:sym typeface="Symbol"/>
              </a:rPr>
              <a:t> </a:t>
            </a:r>
            <a:r>
              <a:rPr lang="en-US" dirty="0"/>
              <a:t>y and y</a:t>
            </a:r>
            <a:r>
              <a:rPr lang="en-US" dirty="0">
                <a:sym typeface="Symbol"/>
              </a:rPr>
              <a:t>  </a:t>
            </a:r>
            <a:r>
              <a:rPr lang="en-US" dirty="0"/>
              <a:t>z</a:t>
            </a:r>
          </a:p>
          <a:p>
            <a:pPr lvl="2"/>
            <a:r>
              <a:rPr lang="en-US" dirty="0"/>
              <a:t>Then x</a:t>
            </a:r>
            <a:r>
              <a:rPr lang="en-US" dirty="0">
                <a:sym typeface="Symbol"/>
              </a:rPr>
              <a:t>  </a:t>
            </a:r>
            <a:r>
              <a:rPr lang="en-US" dirty="0"/>
              <a:t>z</a:t>
            </a:r>
          </a:p>
          <a:p>
            <a:pPr lvl="1"/>
            <a:r>
              <a:rPr lang="en-US" b="1" dirty="0" err="1">
                <a:solidFill>
                  <a:schemeClr val="accent6">
                    <a:lumMod val="50000"/>
                  </a:schemeClr>
                </a:solidFill>
              </a:rPr>
              <a:t>Antisymmetry</a:t>
            </a:r>
            <a:endParaRPr lang="en-US" b="1" dirty="0">
              <a:solidFill>
                <a:schemeClr val="accent6">
                  <a:lumMod val="50000"/>
                </a:schemeClr>
              </a:solidFill>
            </a:endParaRPr>
          </a:p>
          <a:p>
            <a:pPr lvl="2"/>
            <a:r>
              <a:rPr lang="en-US" dirty="0"/>
              <a:t>If x</a:t>
            </a:r>
            <a:r>
              <a:rPr lang="en-US" dirty="0">
                <a:sym typeface="Symbol"/>
              </a:rPr>
              <a:t>  </a:t>
            </a:r>
            <a:r>
              <a:rPr lang="en-US" dirty="0"/>
              <a:t>y, and y </a:t>
            </a:r>
            <a:r>
              <a:rPr lang="en-US" dirty="0">
                <a:sym typeface="Symbol"/>
              </a:rPr>
              <a:t> x</a:t>
            </a:r>
          </a:p>
          <a:p>
            <a:pPr lvl="2"/>
            <a:r>
              <a:rPr lang="en-US" dirty="0">
                <a:sym typeface="Symbol"/>
              </a:rPr>
              <a:t>T</a:t>
            </a:r>
            <a:r>
              <a:rPr lang="en-US" dirty="0"/>
              <a:t>hen x = y</a:t>
            </a:r>
          </a:p>
          <a:p>
            <a:pPr lvl="1"/>
            <a:r>
              <a:rPr lang="en-US" b="1" dirty="0">
                <a:solidFill>
                  <a:schemeClr val="accent6">
                    <a:lumMod val="50000"/>
                  </a:schemeClr>
                </a:solidFill>
              </a:rPr>
              <a:t>Totality</a:t>
            </a:r>
          </a:p>
          <a:p>
            <a:pPr lvl="2"/>
            <a:r>
              <a:rPr lang="en-US" dirty="0"/>
              <a:t>For any x, y</a:t>
            </a:r>
          </a:p>
          <a:p>
            <a:pPr lvl="2"/>
            <a:r>
              <a:rPr lang="en-US" dirty="0"/>
              <a:t>Either x </a:t>
            </a:r>
            <a:r>
              <a:rPr lang="en-US" dirty="0">
                <a:sym typeface="Symbol"/>
              </a:rPr>
              <a:t> y or y  x</a:t>
            </a:r>
            <a:br>
              <a:rPr lang="en-US" dirty="0">
                <a:sym typeface="Symbol"/>
              </a:rPr>
            </a:br>
            <a:r>
              <a:rPr lang="en-US" dirty="0">
                <a:sym typeface="Symbol"/>
              </a:rPr>
              <a:t>(or both)</a:t>
            </a:r>
            <a:endParaRPr lang="en-US" dirty="0"/>
          </a:p>
        </p:txBody>
      </p:sp>
    </p:spTree>
    <p:extLst>
      <p:ext uri="{BB962C8B-B14F-4D97-AF65-F5344CB8AC3E}">
        <p14:creationId xmlns:p14="http://schemas.microsoft.com/office/powerpoint/2010/main" val="3936266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Generalizing relations</a:t>
            </a:r>
          </a:p>
        </p:txBody>
      </p:sp>
      <p:sp>
        <p:nvSpPr>
          <p:cNvPr id="3" name="Content Placeholder 2"/>
          <p:cNvSpPr>
            <a:spLocks noGrp="1"/>
          </p:cNvSpPr>
          <p:nvPr>
            <p:ph sz="half" idx="1"/>
          </p:nvPr>
        </p:nvSpPr>
        <p:spPr/>
        <p:txBody>
          <a:bodyPr>
            <a:normAutofit fontScale="77500" lnSpcReduction="20000"/>
          </a:bodyPr>
          <a:lstStyle/>
          <a:p>
            <a:r>
              <a:rPr lang="en-US" dirty="0"/>
              <a:t>Much of mathematics is about </a:t>
            </a:r>
            <a:r>
              <a:rPr lang="en-US" b="1" dirty="0">
                <a:solidFill>
                  <a:schemeClr val="accent6">
                    <a:lumMod val="50000"/>
                  </a:schemeClr>
                </a:solidFill>
              </a:rPr>
              <a:t>abstracting</a:t>
            </a:r>
            <a:r>
              <a:rPr lang="en-US" b="1" dirty="0"/>
              <a:t> </a:t>
            </a:r>
            <a:r>
              <a:rPr lang="en-US" dirty="0"/>
              <a:t>or generalizing familiar notions</a:t>
            </a:r>
          </a:p>
          <a:p>
            <a:endParaRPr lang="en-US" dirty="0"/>
          </a:p>
          <a:p>
            <a:r>
              <a:rPr lang="en-US" dirty="0"/>
              <a:t>What happens if we have a relation that’s like a familiar one, but different</a:t>
            </a:r>
          </a:p>
        </p:txBody>
      </p:sp>
      <p:sp>
        <p:nvSpPr>
          <p:cNvPr id="4" name="Content Placeholder 3"/>
          <p:cNvSpPr>
            <a:spLocks noGrp="1"/>
          </p:cNvSpPr>
          <p:nvPr>
            <p:ph sz="half" idx="2"/>
          </p:nvPr>
        </p:nvSpPr>
        <p:spPr/>
        <p:txBody>
          <a:bodyPr>
            <a:normAutofit fontScale="77500" lnSpcReduction="20000"/>
          </a:bodyPr>
          <a:lstStyle/>
          <a:p>
            <a:r>
              <a:rPr lang="en-US" b="1" dirty="0">
                <a:solidFill>
                  <a:schemeClr val="accent6">
                    <a:lumMod val="50000"/>
                  </a:schemeClr>
                </a:solidFill>
              </a:rPr>
              <a:t>Equivalence </a:t>
            </a:r>
            <a:r>
              <a:rPr lang="en-US" dirty="0"/>
              <a:t>relation</a:t>
            </a:r>
          </a:p>
          <a:p>
            <a:pPr lvl="1"/>
            <a:r>
              <a:rPr lang="en-US" b="1" dirty="0"/>
              <a:t>Any </a:t>
            </a:r>
            <a:r>
              <a:rPr lang="en-US" dirty="0"/>
              <a:t>relation that satisfies reflexivity, transitivity, and symmetry</a:t>
            </a:r>
          </a:p>
          <a:p>
            <a:pPr lvl="1"/>
            <a:r>
              <a:rPr lang="en-US" dirty="0"/>
              <a:t>Acts like =</a:t>
            </a:r>
          </a:p>
          <a:p>
            <a:pPr lvl="1"/>
            <a:endParaRPr lang="en-US" dirty="0"/>
          </a:p>
          <a:p>
            <a:r>
              <a:rPr lang="en-US" b="1" dirty="0">
                <a:solidFill>
                  <a:schemeClr val="accent6">
                    <a:lumMod val="50000"/>
                  </a:schemeClr>
                </a:solidFill>
              </a:rPr>
              <a:t>Partial orderings</a:t>
            </a:r>
          </a:p>
          <a:p>
            <a:pPr lvl="1"/>
            <a:r>
              <a:rPr lang="en-US" dirty="0"/>
              <a:t>Any relation that satisfies reflexivity, transitivity, and </a:t>
            </a:r>
            <a:r>
              <a:rPr lang="en-US" dirty="0" err="1"/>
              <a:t>antisymmetry</a:t>
            </a:r>
            <a:endParaRPr lang="en-US" dirty="0"/>
          </a:p>
          <a:p>
            <a:pPr lvl="1"/>
            <a:r>
              <a:rPr lang="en-US" dirty="0"/>
              <a:t>Acts like </a:t>
            </a:r>
            <a:r>
              <a:rPr lang="en-US" dirty="0">
                <a:sym typeface="Symbol"/>
              </a:rPr>
              <a:t></a:t>
            </a:r>
          </a:p>
          <a:p>
            <a:endParaRPr lang="en-US" dirty="0">
              <a:sym typeface="Symbol"/>
            </a:endParaRPr>
          </a:p>
          <a:p>
            <a:r>
              <a:rPr lang="en-US" b="1" dirty="0">
                <a:solidFill>
                  <a:schemeClr val="accent6">
                    <a:lumMod val="50000"/>
                  </a:schemeClr>
                </a:solidFill>
                <a:sym typeface="Symbol"/>
              </a:rPr>
              <a:t>Total orderings</a:t>
            </a:r>
            <a:r>
              <a:rPr lang="en-US" dirty="0">
                <a:sym typeface="Symbol"/>
              </a:rPr>
              <a:t> </a:t>
            </a:r>
          </a:p>
          <a:p>
            <a:pPr lvl="1"/>
            <a:r>
              <a:rPr lang="en-US" dirty="0">
                <a:sym typeface="Symbol"/>
              </a:rPr>
              <a:t>Any partial ordering that also satisfies totality</a:t>
            </a:r>
            <a:endParaRPr lang="en-US" dirty="0"/>
          </a:p>
        </p:txBody>
      </p:sp>
    </p:spTree>
    <p:extLst>
      <p:ext uri="{BB962C8B-B14F-4D97-AF65-F5344CB8AC3E}">
        <p14:creationId xmlns:p14="http://schemas.microsoft.com/office/powerpoint/2010/main" val="2529947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partial orderings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b="1" dirty="0">
                    <a:solidFill>
                      <a:schemeClr val="accent6">
                        <a:lumMod val="50000"/>
                      </a:schemeClr>
                    </a:solidFill>
                  </a:rPr>
                  <a:t>C++</a:t>
                </a:r>
                <a:r>
                  <a:rPr lang="en-US" dirty="0"/>
                  <a:t> classes</a:t>
                </a:r>
              </a:p>
              <a:p>
                <a:pPr lvl="1"/>
                <a14:m>
                  <m:oMath xmlns:m="http://schemas.openxmlformats.org/officeDocument/2006/math">
                    <m:r>
                      <a:rPr lang="en-US" i="1" dirty="0" smtClean="0">
                        <a:latin typeface="Cambria Math"/>
                      </a:rPr>
                      <m:t>𝑎</m:t>
                    </m:r>
                    <m:r>
                      <a:rPr lang="en-US" i="1" dirty="0" smtClean="0">
                        <a:latin typeface="Cambria Math"/>
                      </a:rPr>
                      <m:t>≼</m:t>
                    </m:r>
                    <m:r>
                      <a:rPr lang="en-US" i="1" dirty="0" smtClean="0">
                        <a:latin typeface="Cambria Math"/>
                      </a:rPr>
                      <m:t>𝑏</m:t>
                    </m:r>
                  </m:oMath>
                </a14:m>
                <a:r>
                  <a:rPr lang="en-US" dirty="0"/>
                  <a:t> </a:t>
                </a:r>
                <a:r>
                  <a:rPr lang="en-US" dirty="0" err="1"/>
                  <a:t>iff</a:t>
                </a:r>
                <a:r>
                  <a:rPr lang="en-US" dirty="0"/>
                  <a:t> </a:t>
                </a:r>
                <a14:m>
                  <m:oMath xmlns:m="http://schemas.openxmlformats.org/officeDocument/2006/math">
                    <m:r>
                      <a:rPr lang="en-US" i="1" dirty="0" smtClean="0">
                        <a:latin typeface="Cambria Math"/>
                      </a:rPr>
                      <m:t>𝑎</m:t>
                    </m:r>
                  </m:oMath>
                </a14:m>
                <a:r>
                  <a:rPr lang="en-US" dirty="0"/>
                  <a:t> is a subclass of </a:t>
                </a:r>
                <a14:m>
                  <m:oMath xmlns:m="http://schemas.openxmlformats.org/officeDocument/2006/math">
                    <m:r>
                      <a:rPr lang="en-US" i="1" dirty="0" smtClean="0">
                        <a:latin typeface="Cambria Math"/>
                      </a:rPr>
                      <m:t>𝑏</m:t>
                    </m:r>
                  </m:oMath>
                </a14:m>
                <a:endParaRPr lang="en-US" dirty="0"/>
              </a:p>
              <a:p>
                <a:pPr lvl="1"/>
                <a:endParaRPr lang="en-US" dirty="0"/>
              </a:p>
              <a:p>
                <a:r>
                  <a:rPr lang="en-US" b="1" dirty="0">
                    <a:solidFill>
                      <a:schemeClr val="accent6">
                        <a:lumMod val="50000"/>
                      </a:schemeClr>
                    </a:solidFill>
                  </a:rPr>
                  <a:t>Northwestern</a:t>
                </a:r>
                <a:r>
                  <a:rPr lang="en-US" dirty="0">
                    <a:solidFill>
                      <a:schemeClr val="accent6">
                        <a:lumMod val="50000"/>
                      </a:schemeClr>
                    </a:solidFill>
                  </a:rPr>
                  <a:t> </a:t>
                </a:r>
                <a:r>
                  <a:rPr lang="en-US" dirty="0"/>
                  <a:t>classes</a:t>
                </a:r>
              </a:p>
              <a:p>
                <a:pPr lvl="1"/>
                <a14:m>
                  <m:oMath xmlns:m="http://schemas.openxmlformats.org/officeDocument/2006/math">
                    <m:r>
                      <a:rPr lang="en-US" i="1" dirty="0" smtClean="0">
                        <a:latin typeface="Cambria Math"/>
                      </a:rPr>
                      <m:t>𝑎</m:t>
                    </m:r>
                    <m:r>
                      <a:rPr lang="en-US" i="1" dirty="0" smtClean="0">
                        <a:latin typeface="Cambria Math"/>
                      </a:rPr>
                      <m:t>≼</m:t>
                    </m:r>
                    <m:r>
                      <a:rPr lang="en-US" i="1" dirty="0" smtClean="0">
                        <a:latin typeface="Cambria Math"/>
                      </a:rPr>
                      <m:t>𝑏</m:t>
                    </m:r>
                  </m:oMath>
                </a14:m>
                <a:r>
                  <a:rPr lang="en-US" dirty="0"/>
                  <a:t> </a:t>
                </a:r>
                <a:r>
                  <a:rPr lang="en-US" dirty="0" err="1"/>
                  <a:t>iff</a:t>
                </a:r>
                <a:r>
                  <a:rPr lang="en-US" dirty="0"/>
                  <a:t> </a:t>
                </a:r>
                <a14:m>
                  <m:oMath xmlns:m="http://schemas.openxmlformats.org/officeDocument/2006/math">
                    <m:r>
                      <a:rPr lang="en-US" i="1" dirty="0" smtClean="0">
                        <a:latin typeface="Cambria Math"/>
                      </a:rPr>
                      <m:t>𝑎</m:t>
                    </m:r>
                  </m:oMath>
                </a14:m>
                <a:r>
                  <a:rPr lang="en-US" dirty="0"/>
                  <a:t> is a prerequisite of </a:t>
                </a:r>
                <a14:m>
                  <m:oMath xmlns:m="http://schemas.openxmlformats.org/officeDocument/2006/math">
                    <m:r>
                      <a:rPr lang="en-US" i="1" dirty="0" smtClean="0">
                        <a:latin typeface="Cambria Math"/>
                      </a:rPr>
                      <m:t>𝑏</m:t>
                    </m:r>
                  </m:oMath>
                </a14:m>
                <a:endParaRPr lang="en-US" dirty="0"/>
              </a:p>
              <a:p>
                <a:pPr lvl="1"/>
                <a:endParaRPr lang="en-US" dirty="0"/>
              </a:p>
              <a:p>
                <a:r>
                  <a:rPr lang="en-US" b="1" dirty="0">
                    <a:solidFill>
                      <a:schemeClr val="accent6">
                        <a:lumMod val="50000"/>
                      </a:schemeClr>
                    </a:solidFill>
                  </a:rPr>
                  <a:t>Social</a:t>
                </a:r>
                <a:r>
                  <a:rPr lang="en-US" dirty="0">
                    <a:solidFill>
                      <a:schemeClr val="accent6">
                        <a:lumMod val="50000"/>
                      </a:schemeClr>
                    </a:solidFill>
                  </a:rPr>
                  <a:t> </a:t>
                </a:r>
                <a:r>
                  <a:rPr lang="en-US" dirty="0"/>
                  <a:t>classes</a:t>
                </a:r>
              </a:p>
              <a:p>
                <a:pPr lvl="1"/>
                <a14:m>
                  <m:oMath xmlns:m="http://schemas.openxmlformats.org/officeDocument/2006/math">
                    <m:r>
                      <a:rPr lang="en-US" i="1" dirty="0" smtClean="0">
                        <a:latin typeface="Cambria Math"/>
                      </a:rPr>
                      <m:t>𝑎</m:t>
                    </m:r>
                    <m:r>
                      <a:rPr lang="en-US" i="1" dirty="0" smtClean="0">
                        <a:latin typeface="Cambria Math"/>
                      </a:rPr>
                      <m:t>≼</m:t>
                    </m:r>
                    <m:r>
                      <a:rPr lang="en-US" i="1" dirty="0" smtClean="0">
                        <a:latin typeface="Cambria Math"/>
                      </a:rPr>
                      <m:t>𝑏</m:t>
                    </m:r>
                  </m:oMath>
                </a14:m>
                <a:r>
                  <a:rPr lang="en-US" dirty="0"/>
                  <a:t> </a:t>
                </a:r>
                <a:r>
                  <a:rPr lang="en-US" dirty="0" err="1"/>
                  <a:t>iff</a:t>
                </a:r>
                <a:r>
                  <a:rPr lang="en-US" dirty="0"/>
                  <a:t> </a:t>
                </a:r>
                <a14:m>
                  <m:oMath xmlns:m="http://schemas.openxmlformats.org/officeDocument/2006/math">
                    <m:r>
                      <a:rPr lang="en-US" i="1" dirty="0" smtClean="0">
                        <a:latin typeface="Cambria Math"/>
                      </a:rPr>
                      <m:t>𝑎</m:t>
                    </m:r>
                  </m:oMath>
                </a14:m>
                <a:r>
                  <a:rPr lang="en-US" dirty="0"/>
                  <a:t> is lower status than </a:t>
                </a:r>
                <a14:m>
                  <m:oMath xmlns:m="http://schemas.openxmlformats.org/officeDocument/2006/math">
                    <m:r>
                      <a:rPr lang="en-US" i="1" dirty="0" smtClean="0">
                        <a:latin typeface="Cambria Math"/>
                      </a:rPr>
                      <m:t>𝑏</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en-US">
                    <a:noFill/>
                  </a:rPr>
                  <a:t> </a:t>
                </a:r>
              </a:p>
            </p:txBody>
          </p:sp>
        </mc:Fallback>
      </mc:AlternateContent>
    </p:spTree>
    <p:extLst>
      <p:ext uri="{BB962C8B-B14F-4D97-AF65-F5344CB8AC3E}">
        <p14:creationId xmlns:p14="http://schemas.microsoft.com/office/powerpoint/2010/main" val="3192690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Equivalence relations</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p:txBody>
              <a:bodyPr>
                <a:normAutofit lnSpcReduction="10000"/>
              </a:bodyPr>
              <a:lstStyle/>
              <a:p>
                <a:r>
                  <a:rPr lang="en-US" dirty="0"/>
                  <a:t>Let’s use </a:t>
                </a:r>
                <a14:m>
                  <m:oMath xmlns:m="http://schemas.openxmlformats.org/officeDocument/2006/math">
                    <m:r>
                      <a:rPr lang="en-US" b="1" i="1" dirty="0" smtClean="0">
                        <a:solidFill>
                          <a:schemeClr val="accent6">
                            <a:lumMod val="50000"/>
                          </a:schemeClr>
                        </a:solidFill>
                        <a:latin typeface="Cambria Math"/>
                      </a:rPr>
                      <m:t>≡</m:t>
                    </m:r>
                  </m:oMath>
                </a14:m>
                <a:r>
                  <a:rPr lang="en-US" dirty="0">
                    <a:solidFill>
                      <a:schemeClr val="accent6">
                        <a:lumMod val="50000"/>
                      </a:schemeClr>
                    </a:solidFill>
                  </a:rPr>
                  <a:t> </a:t>
                </a:r>
                <a:r>
                  <a:rPr lang="en-US" dirty="0"/>
                  <a:t>to mean </a:t>
                </a:r>
                <a:r>
                  <a:rPr lang="en-US" b="1" dirty="0">
                    <a:solidFill>
                      <a:schemeClr val="accent6">
                        <a:lumMod val="50000"/>
                      </a:schemeClr>
                    </a:solidFill>
                  </a:rPr>
                  <a:t>equivalence</a:t>
                </a:r>
              </a:p>
              <a:p>
                <a:pPr lvl="1"/>
                <a:r>
                  <a:rPr lang="en-US" dirty="0"/>
                  <a:t>So </a:t>
                </a:r>
                <a14:m>
                  <m:oMath xmlns:m="http://schemas.openxmlformats.org/officeDocument/2006/math">
                    <m:r>
                      <a:rPr lang="en-US" i="1" dirty="0" smtClean="0">
                        <a:latin typeface="Cambria Math"/>
                      </a:rPr>
                      <m:t>𝑎</m:t>
                    </m:r>
                    <m:r>
                      <a:rPr lang="en-US" i="1" dirty="0" smtClean="0">
                        <a:latin typeface="Cambria Math"/>
                      </a:rPr>
                      <m:t>≡</m:t>
                    </m:r>
                    <m:r>
                      <a:rPr lang="en-US" i="1" dirty="0" smtClean="0">
                        <a:latin typeface="Cambria Math"/>
                      </a:rPr>
                      <m:t>𝑏</m:t>
                    </m:r>
                  </m:oMath>
                </a14:m>
                <a:r>
                  <a:rPr lang="en-US" dirty="0"/>
                  <a:t> means “a is equivalent to b”</a:t>
                </a:r>
              </a:p>
              <a:p>
                <a:pPr lvl="1"/>
                <a:endParaRPr lang="en-US" dirty="0"/>
              </a:p>
              <a:p>
                <a:r>
                  <a:rPr lang="en-US" dirty="0"/>
                  <a:t>We call the </a:t>
                </a:r>
                <a:r>
                  <a:rPr lang="en-US" b="1" dirty="0">
                    <a:solidFill>
                      <a:schemeClr val="accent6">
                        <a:lumMod val="50000"/>
                      </a:schemeClr>
                    </a:solidFill>
                  </a:rPr>
                  <a:t>equivalence class </a:t>
                </a:r>
                <a14:m>
                  <m:oMath xmlns:m="http://schemas.openxmlformats.org/officeDocument/2006/math">
                    <m:d>
                      <m:dPr>
                        <m:begChr m:val="["/>
                        <m:endChr m:val="]"/>
                        <m:ctrlPr>
                          <a:rPr lang="en-US" i="1" dirty="0" smtClean="0">
                            <a:latin typeface="Cambria Math" panose="02040503050406030204" pitchFamily="18" charset="0"/>
                          </a:rPr>
                        </m:ctrlPr>
                      </m:dPr>
                      <m:e>
                        <m:r>
                          <a:rPr lang="en-US" i="1" dirty="0" smtClean="0">
                            <a:latin typeface="Cambria Math"/>
                          </a:rPr>
                          <m:t>𝑥</m:t>
                        </m:r>
                      </m:e>
                    </m:d>
                  </m:oMath>
                </a14:m>
                <a:r>
                  <a:rPr lang="en-US" dirty="0"/>
                  <a:t>of a value </a:t>
                </a:r>
                <a14:m>
                  <m:oMath xmlns:m="http://schemas.openxmlformats.org/officeDocument/2006/math">
                    <m:r>
                      <a:rPr lang="en-US" i="1" dirty="0" smtClean="0">
                        <a:latin typeface="Cambria Math"/>
                      </a:rPr>
                      <m:t>𝑥</m:t>
                    </m:r>
                  </m:oMath>
                </a14:m>
                <a:r>
                  <a:rPr lang="en-US" dirty="0"/>
                  <a:t>, the set of all the things that are equivalent to it</a:t>
                </a:r>
              </a:p>
              <a:p>
                <a:pPr lvl="1"/>
                <a14:m>
                  <m:oMath xmlns:m="http://schemas.openxmlformats.org/officeDocument/2006/math">
                    <m:d>
                      <m:dPr>
                        <m:begChr m:val="["/>
                        <m:endChr m:val="]"/>
                        <m:ctrlPr>
                          <a:rPr lang="en-US" i="1" dirty="0" smtClean="0">
                            <a:latin typeface="Cambria Math" panose="02040503050406030204" pitchFamily="18" charset="0"/>
                          </a:rPr>
                        </m:ctrlPr>
                      </m:dPr>
                      <m:e>
                        <m:r>
                          <a:rPr lang="en-US" i="1" dirty="0" smtClean="0">
                            <a:latin typeface="Cambria Math"/>
                          </a:rPr>
                          <m:t>𝑥</m:t>
                        </m:r>
                      </m:e>
                    </m:d>
                    <m:r>
                      <a:rPr lang="en-US" i="1" dirty="0" smtClean="0">
                        <a:latin typeface="Cambria Math"/>
                      </a:rPr>
                      <m:t>≝</m:t>
                    </m:r>
                    <m:d>
                      <m:dPr>
                        <m:begChr m:val="{"/>
                        <m:endChr m:val="|"/>
                        <m:ctrlPr>
                          <a:rPr lang="en-US" i="1" dirty="0" smtClean="0">
                            <a:latin typeface="Cambria Math" panose="02040503050406030204" pitchFamily="18" charset="0"/>
                          </a:rPr>
                        </m:ctrlPr>
                      </m:dPr>
                      <m:e>
                        <m:r>
                          <a:rPr lang="en-US" i="1" dirty="0" smtClean="0">
                            <a:latin typeface="Cambria Math"/>
                          </a:rPr>
                          <m:t>𝑦</m:t>
                        </m:r>
                        <m:r>
                          <a:rPr lang="en-US" i="1" dirty="0" smtClean="0">
                            <a:latin typeface="Cambria Math"/>
                          </a:rPr>
                          <m:t> </m:t>
                        </m:r>
                      </m:e>
                    </m:d>
                    <m:r>
                      <a:rPr lang="en-US" i="1" dirty="0" smtClean="0">
                        <a:latin typeface="Cambria Math"/>
                      </a:rPr>
                      <m:t> </m:t>
                    </m:r>
                    <m:r>
                      <a:rPr lang="en-US" i="1" dirty="0" smtClean="0">
                        <a:latin typeface="Cambria Math"/>
                      </a:rPr>
                      <m:t>𝑥</m:t>
                    </m:r>
                    <m:r>
                      <a:rPr lang="en-US" i="1" dirty="0" smtClean="0">
                        <a:latin typeface="Cambria Math"/>
                      </a:rPr>
                      <m:t>≡</m:t>
                    </m:r>
                    <m:r>
                      <a:rPr lang="en-US" i="1" dirty="0" smtClean="0">
                        <a:latin typeface="Cambria Math"/>
                      </a:rPr>
                      <m:t>𝑦</m:t>
                    </m:r>
                    <m:r>
                      <a:rPr lang="en-US" i="1" dirty="0" smtClean="0">
                        <a:latin typeface="Cambria Math"/>
                      </a:rPr>
                      <m:t> }</m:t>
                    </m:r>
                  </m:oMath>
                </a14:m>
                <a:endParaRPr lang="en-US" dirty="0"/>
              </a:p>
              <a:p>
                <a:endParaRPr lang="en-US" dirty="0"/>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blipFill rotWithShape="1">
                <a:blip r:embed="rId2"/>
                <a:stretch>
                  <a:fillRect l="-2564" t="-2156" r="-346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Content Placeholder 3"/>
              <p:cNvSpPr>
                <a:spLocks noGrp="1"/>
              </p:cNvSpPr>
              <p:nvPr>
                <p:ph sz="half" idx="2"/>
              </p:nvPr>
            </p:nvSpPr>
            <p:spPr/>
            <p:txBody>
              <a:bodyPr>
                <a:normAutofit lnSpcReduction="10000"/>
              </a:bodyPr>
              <a:lstStyle/>
              <a:p>
                <a:r>
                  <a:rPr lang="en-US" dirty="0"/>
                  <a:t>Example: </a:t>
                </a:r>
                <a:r>
                  <a:rPr lang="en-US" b="1" dirty="0">
                    <a:solidFill>
                      <a:schemeClr val="accent6">
                        <a:lumMod val="50000"/>
                      </a:schemeClr>
                    </a:solidFill>
                  </a:rPr>
                  <a:t>parity</a:t>
                </a:r>
              </a:p>
              <a:p>
                <a:pPr lvl="1"/>
                <a14:m>
                  <m:oMath xmlns:m="http://schemas.openxmlformats.org/officeDocument/2006/math">
                    <m:r>
                      <a:rPr lang="en-US" i="1" dirty="0">
                        <a:latin typeface="Cambria Math"/>
                      </a:rPr>
                      <m:t>𝑎</m:t>
                    </m:r>
                    <m:r>
                      <a:rPr lang="en-US" i="1" dirty="0">
                        <a:latin typeface="Cambria Math"/>
                      </a:rPr>
                      <m:t>≡</m:t>
                    </m:r>
                    <m:r>
                      <a:rPr lang="en-US" i="1" dirty="0">
                        <a:latin typeface="Cambria Math"/>
                      </a:rPr>
                      <m:t>𝑏</m:t>
                    </m:r>
                    <m:r>
                      <a:rPr lang="en-US" i="1" dirty="0">
                        <a:latin typeface="Cambria Math"/>
                      </a:rPr>
                      <m:t> </m:t>
                    </m:r>
                  </m:oMath>
                </a14:m>
                <a:r>
                  <a:rPr lang="en-US" dirty="0"/>
                  <a:t>iff </a:t>
                </a:r>
                <a14:m>
                  <m:oMath xmlns:m="http://schemas.openxmlformats.org/officeDocument/2006/math">
                    <m:r>
                      <a:rPr lang="en-US" i="1" dirty="0">
                        <a:latin typeface="Cambria Math"/>
                      </a:rPr>
                      <m:t>𝑎</m:t>
                    </m:r>
                    <m:r>
                      <a:rPr lang="en-US" i="1" dirty="0">
                        <a:latin typeface="Cambria Math"/>
                      </a:rPr>
                      <m:t>, </m:t>
                    </m:r>
                    <m:r>
                      <a:rPr lang="en-US" i="1" dirty="0">
                        <a:latin typeface="Cambria Math"/>
                      </a:rPr>
                      <m:t>𝑏</m:t>
                    </m:r>
                  </m:oMath>
                </a14:m>
                <a:r>
                  <a:rPr lang="en-US" dirty="0"/>
                  <a:t> are both odd or both even</a:t>
                </a:r>
              </a:p>
              <a:p>
                <a:pPr lvl="1"/>
                <a:r>
                  <a:rPr lang="en-US" dirty="0"/>
                  <a:t>Or more formally</a:t>
                </a:r>
              </a:p>
              <a:p>
                <a:pPr lvl="2"/>
                <a14:m>
                  <m:oMath xmlns:m="http://schemas.openxmlformats.org/officeDocument/2006/math">
                    <m:r>
                      <a:rPr lang="en-US" i="1" dirty="0" smtClean="0">
                        <a:latin typeface="Cambria Math"/>
                      </a:rPr>
                      <m:t>𝑎</m:t>
                    </m:r>
                    <m:r>
                      <a:rPr lang="en-US" i="1" dirty="0" smtClean="0">
                        <a:latin typeface="Cambria Math"/>
                      </a:rPr>
                      <m:t>≡</m:t>
                    </m:r>
                    <m:r>
                      <a:rPr lang="en-US" i="1" dirty="0" smtClean="0">
                        <a:latin typeface="Cambria Math"/>
                      </a:rPr>
                      <m:t>𝑏</m:t>
                    </m:r>
                    <m:r>
                      <a:rPr lang="en-US" i="1" dirty="0" smtClean="0">
                        <a:latin typeface="Cambria Math"/>
                      </a:rPr>
                      <m:t> </m:t>
                    </m:r>
                    <m:r>
                      <m:rPr>
                        <m:nor/>
                      </m:rPr>
                      <a:rPr lang="en-US" i="0" dirty="0" smtClean="0">
                        <a:latin typeface="Cambria Math"/>
                      </a:rPr>
                      <m:t>iff</m:t>
                    </m:r>
                  </m:oMath>
                </a14:m>
                <a:br>
                  <a:rPr lang="en-US" dirty="0">
                    <a:latin typeface="Cambria Math"/>
                  </a:rPr>
                </a:br>
                <a:r>
                  <a:rPr lang="en-US" dirty="0">
                    <a:latin typeface="Cambria Math"/>
                  </a:rPr>
                  <a:t>   </a:t>
                </a:r>
                <a14:m>
                  <m:oMath xmlns:m="http://schemas.openxmlformats.org/officeDocument/2006/math">
                    <m:r>
                      <a:rPr lang="en-US" i="1" dirty="0" smtClean="0">
                        <a:latin typeface="Cambria Math"/>
                      </a:rPr>
                      <m:t> </m:t>
                    </m:r>
                    <m:r>
                      <a:rPr lang="en-US" i="1" dirty="0">
                        <a:latin typeface="Cambria Math"/>
                      </a:rPr>
                      <m:t>𝑎</m:t>
                    </m:r>
                    <m:r>
                      <a:rPr lang="en-US" i="1" dirty="0">
                        <a:latin typeface="Cambria Math"/>
                      </a:rPr>
                      <m:t> </m:t>
                    </m:r>
                    <m:r>
                      <m:rPr>
                        <m:nor/>
                      </m:rPr>
                      <a:rPr lang="en-US" dirty="0">
                        <a:latin typeface="Cambria Math"/>
                      </a:rPr>
                      <m:t>mod</m:t>
                    </m:r>
                    <m:r>
                      <a:rPr lang="en-US" i="1" dirty="0">
                        <a:latin typeface="Cambria Math"/>
                      </a:rPr>
                      <m:t> 2 = </m:t>
                    </m:r>
                    <m:r>
                      <a:rPr lang="en-US" i="1" dirty="0">
                        <a:latin typeface="Cambria Math"/>
                      </a:rPr>
                      <m:t>𝑏</m:t>
                    </m:r>
                    <m:r>
                      <a:rPr lang="en-US" i="1" dirty="0">
                        <a:latin typeface="Cambria Math"/>
                      </a:rPr>
                      <m:t> </m:t>
                    </m:r>
                    <m:r>
                      <m:rPr>
                        <m:nor/>
                      </m:rPr>
                      <a:rPr lang="en-US" dirty="0">
                        <a:latin typeface="Cambria Math"/>
                      </a:rPr>
                      <m:t>mod</m:t>
                    </m:r>
                    <m:r>
                      <m:rPr>
                        <m:nor/>
                      </m:rPr>
                      <a:rPr lang="en-US" dirty="0">
                        <a:latin typeface="Cambria Math"/>
                      </a:rPr>
                      <m:t> </m:t>
                    </m:r>
                    <m:r>
                      <a:rPr lang="en-US" i="1" dirty="0">
                        <a:latin typeface="Cambria Math"/>
                      </a:rPr>
                      <m:t>2</m:t>
                    </m:r>
                  </m:oMath>
                </a14:m>
                <a:endParaRPr lang="en-US" dirty="0"/>
              </a:p>
              <a:p>
                <a:pPr lvl="2"/>
                <a:r>
                  <a:rPr lang="en-US" dirty="0"/>
                  <a:t>Often just written </a:t>
                </a:r>
                <a14:m>
                  <m:oMath xmlns:m="http://schemas.openxmlformats.org/officeDocument/2006/math">
                    <m:r>
                      <a:rPr lang="en-US" i="1" dirty="0">
                        <a:latin typeface="Cambria Math"/>
                      </a:rPr>
                      <m:t>𝑎</m:t>
                    </m:r>
                    <m:r>
                      <a:rPr lang="en-US" i="1" dirty="0" smtClean="0">
                        <a:latin typeface="Cambria Math"/>
                      </a:rPr>
                      <m:t>=</m:t>
                    </m:r>
                    <m:r>
                      <a:rPr lang="en-US" i="1" dirty="0">
                        <a:latin typeface="Cambria Math"/>
                      </a:rPr>
                      <m:t>𝑏</m:t>
                    </m:r>
                    <m:r>
                      <a:rPr lang="en-US" i="1" dirty="0">
                        <a:latin typeface="Cambria Math"/>
                      </a:rPr>
                      <m:t> </m:t>
                    </m:r>
                    <m:r>
                      <m:rPr>
                        <m:sty m:val="p"/>
                      </m:rPr>
                      <a:rPr lang="en-US" i="1" dirty="0">
                        <a:latin typeface="Cambria Math"/>
                      </a:rPr>
                      <m:t>mod</m:t>
                    </m:r>
                    <m:r>
                      <a:rPr lang="en-US" i="1" dirty="0">
                        <a:latin typeface="Cambria Math"/>
                      </a:rPr>
                      <m:t> 2</m:t>
                    </m:r>
                  </m:oMath>
                </a14:m>
                <a:endParaRPr lang="en-US" dirty="0"/>
              </a:p>
              <a:p>
                <a:pPr lvl="1"/>
                <a:r>
                  <a:rPr lang="en-US" dirty="0"/>
                  <a:t>Equivalence classes are</a:t>
                </a:r>
              </a:p>
              <a:p>
                <a:pPr lvl="2"/>
                <a:r>
                  <a:rPr lang="en-US" dirty="0"/>
                  <a:t>The set of </a:t>
                </a:r>
                <a:r>
                  <a:rPr lang="en-US" b="1" dirty="0">
                    <a:solidFill>
                      <a:schemeClr val="accent6">
                        <a:lumMod val="50000"/>
                      </a:schemeClr>
                    </a:solidFill>
                  </a:rPr>
                  <a:t>odd numbers</a:t>
                </a:r>
                <a:br>
                  <a:rPr lang="en-US" b="1" dirty="0">
                    <a:solidFill>
                      <a:schemeClr val="accent6">
                        <a:lumMod val="50000"/>
                      </a:schemeClr>
                    </a:solidFill>
                  </a:rPr>
                </a:br>
                <a14:m>
                  <m:oMath xmlns:m="http://schemas.openxmlformats.org/officeDocument/2006/math">
                    <m:r>
                      <a:rPr lang="en-US" i="1" dirty="0" smtClean="0">
                        <a:latin typeface="Cambria Math"/>
                      </a:rPr>
                      <m:t>{1, 3, 5, 7, …}</m:t>
                    </m:r>
                  </m:oMath>
                </a14:m>
                <a:endParaRPr lang="en-US" dirty="0"/>
              </a:p>
              <a:p>
                <a:pPr lvl="2"/>
                <a:r>
                  <a:rPr lang="en-US" dirty="0"/>
                  <a:t>The set of </a:t>
                </a:r>
                <a:r>
                  <a:rPr lang="en-US" b="1" dirty="0">
                    <a:solidFill>
                      <a:schemeClr val="accent6">
                        <a:lumMod val="50000"/>
                      </a:schemeClr>
                    </a:solidFill>
                  </a:rPr>
                  <a:t>even numbers </a:t>
                </a:r>
                <a14:m>
                  <m:oMath xmlns:m="http://schemas.openxmlformats.org/officeDocument/2006/math">
                    <m:r>
                      <a:rPr lang="en-US" i="1" dirty="0" smtClean="0">
                        <a:latin typeface="Cambria Math"/>
                      </a:rPr>
                      <m:t>{ 2, 4, 6, 8, …}</m:t>
                    </m:r>
                  </m:oMath>
                </a14:m>
                <a:endParaRPr lang="en-US" dirty="0"/>
              </a:p>
              <a:p>
                <a:endParaRPr lang="en-US" dirty="0"/>
              </a:p>
            </p:txBody>
          </p:sp>
        </mc:Choice>
        <mc:Fallback>
          <p:sp>
            <p:nvSpPr>
              <p:cNvPr id="4" name="Content Placeholder 3"/>
              <p:cNvSpPr>
                <a:spLocks noGrp="1" noRot="1" noChangeAspect="1" noMove="1" noResize="1" noEditPoints="1" noAdjustHandles="1" noChangeArrowheads="1" noChangeShapeType="1" noTextEdit="1"/>
              </p:cNvSpPr>
              <p:nvPr>
                <p:ph sz="half" idx="2"/>
              </p:nvPr>
            </p:nvSpPr>
            <p:spPr>
              <a:blipFill>
                <a:blip r:embed="rId3"/>
                <a:stretch>
                  <a:fillRect l="-2719" t="-2291" b="-1078"/>
                </a:stretch>
              </a:blipFill>
            </p:spPr>
            <p:txBody>
              <a:bodyPr/>
              <a:lstStyle/>
              <a:p>
                <a:r>
                  <a:rPr lang="en-US">
                    <a:noFill/>
                  </a:rPr>
                  <a:t> </a:t>
                </a:r>
              </a:p>
            </p:txBody>
          </p:sp>
        </mc:Fallback>
      </mc:AlternateContent>
    </p:spTree>
    <p:extLst>
      <p:ext uri="{BB962C8B-B14F-4D97-AF65-F5344CB8AC3E}">
        <p14:creationId xmlns:p14="http://schemas.microsoft.com/office/powerpoint/2010/main" val="1216799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pPr marL="0" indent="0">
                  <a:buNone/>
                </a:pPr>
                <a:r>
                  <a:rPr lang="en-US" dirty="0"/>
                  <a:t>Consider the relation </a:t>
                </a:r>
                <a14:m>
                  <m:oMath xmlns:m="http://schemas.openxmlformats.org/officeDocument/2006/math">
                    <m:r>
                      <a:rPr lang="en-US" i="1" dirty="0" smtClean="0">
                        <a:latin typeface="Cambria Math"/>
                      </a:rPr>
                      <m:t>𝑎𝐹𝑏</m:t>
                    </m:r>
                  </m:oMath>
                </a14:m>
                <a:r>
                  <a:rPr lang="en-US" dirty="0"/>
                  <a:t> </a:t>
                </a:r>
                <a:r>
                  <a:rPr lang="en-US" dirty="0" err="1"/>
                  <a:t>iff</a:t>
                </a:r>
                <a:r>
                  <a:rPr lang="en-US" dirty="0"/>
                  <a:t> </a:t>
                </a:r>
                <a14:m>
                  <m:oMath xmlns:m="http://schemas.openxmlformats.org/officeDocument/2006/math">
                    <m:r>
                      <a:rPr lang="en-US" i="1" dirty="0" smtClean="0">
                        <a:latin typeface="Cambria Math"/>
                      </a:rPr>
                      <m:t>𝑎</m:t>
                    </m:r>
                  </m:oMath>
                </a14:m>
                <a:r>
                  <a:rPr lang="en-US" dirty="0"/>
                  <a:t> is a </a:t>
                </a:r>
                <a:r>
                  <a:rPr lang="en-US" b="1" dirty="0" err="1">
                    <a:solidFill>
                      <a:schemeClr val="accent6">
                        <a:lumMod val="50000"/>
                      </a:schemeClr>
                    </a:solidFill>
                  </a:rPr>
                  <a:t>facebook</a:t>
                </a:r>
                <a:r>
                  <a:rPr lang="en-US" b="1" dirty="0">
                    <a:solidFill>
                      <a:schemeClr val="accent6">
                        <a:lumMod val="50000"/>
                      </a:schemeClr>
                    </a:solidFill>
                  </a:rPr>
                  <a:t> friend </a:t>
                </a:r>
                <a:r>
                  <a:rPr lang="en-US" dirty="0"/>
                  <a:t>of </a:t>
                </a:r>
                <a14:m>
                  <m:oMath xmlns:m="http://schemas.openxmlformats.org/officeDocument/2006/math">
                    <m:r>
                      <a:rPr lang="en-US" i="1" dirty="0" smtClean="0">
                        <a:latin typeface="Cambria Math"/>
                      </a:rPr>
                      <m:t>𝑏</m:t>
                    </m:r>
                  </m:oMath>
                </a14:m>
                <a:endParaRPr lang="en-US" dirty="0"/>
              </a:p>
              <a:p>
                <a:r>
                  <a:rPr lang="en-US" dirty="0"/>
                  <a:t>Is </a:t>
                </a:r>
                <a14:m>
                  <m:oMath xmlns:m="http://schemas.openxmlformats.org/officeDocument/2006/math">
                    <m:r>
                      <a:rPr lang="en-US" i="1" dirty="0" smtClean="0">
                        <a:latin typeface="Cambria Math"/>
                      </a:rPr>
                      <m:t>𝐹</m:t>
                    </m:r>
                  </m:oMath>
                </a14:m>
                <a:r>
                  <a:rPr lang="en-US" dirty="0"/>
                  <a:t> an equivalence relation?</a:t>
                </a:r>
              </a:p>
              <a:p>
                <a:pPr lvl="1"/>
                <a:r>
                  <a:rPr lang="en-US" dirty="0"/>
                  <a:t>It’s </a:t>
                </a:r>
                <a:r>
                  <a:rPr lang="en-US" b="1" dirty="0">
                    <a:solidFill>
                      <a:schemeClr val="accent6">
                        <a:lumMod val="50000"/>
                      </a:schemeClr>
                    </a:solidFill>
                  </a:rPr>
                  <a:t>reflexive</a:t>
                </a:r>
                <a:r>
                  <a:rPr lang="en-US" dirty="0"/>
                  <a:t>, at least if we assume we’re all our own friends</a:t>
                </a:r>
              </a:p>
              <a:p>
                <a:pPr lvl="1"/>
                <a:r>
                  <a:rPr lang="en-US" dirty="0"/>
                  <a:t>It’s </a:t>
                </a:r>
                <a:r>
                  <a:rPr lang="en-US" b="1" dirty="0">
                    <a:solidFill>
                      <a:schemeClr val="accent6">
                        <a:lumMod val="50000"/>
                      </a:schemeClr>
                    </a:solidFill>
                  </a:rPr>
                  <a:t>symmetric</a:t>
                </a:r>
                <a:r>
                  <a:rPr lang="en-US" dirty="0"/>
                  <a:t>: if I’m you’re </a:t>
                </a:r>
                <a:r>
                  <a:rPr lang="en-US" dirty="0" err="1"/>
                  <a:t>fb</a:t>
                </a:r>
                <a:r>
                  <a:rPr lang="en-US" dirty="0"/>
                  <a:t> friend, then you’re also my </a:t>
                </a:r>
                <a:r>
                  <a:rPr lang="en-US" dirty="0" err="1"/>
                  <a:t>fb</a:t>
                </a:r>
                <a:r>
                  <a:rPr lang="en-US" dirty="0"/>
                  <a:t> friend</a:t>
                </a:r>
              </a:p>
              <a:p>
                <a:pPr lvl="1"/>
                <a:r>
                  <a:rPr lang="en-US" dirty="0"/>
                  <a:t>But it’s </a:t>
                </a:r>
                <a:r>
                  <a:rPr lang="en-US" b="1" dirty="0">
                    <a:solidFill>
                      <a:schemeClr val="accent6">
                        <a:lumMod val="50000"/>
                      </a:schemeClr>
                    </a:solidFill>
                  </a:rPr>
                  <a:t>not transitive</a:t>
                </a:r>
                <a:r>
                  <a:rPr lang="en-US" dirty="0"/>
                  <a:t>: if I’m your friend, and you’re Paris Hilton’s friend, I’m still probably not Paris Hilton’s friend</a:t>
                </a:r>
              </a:p>
              <a:p>
                <a:r>
                  <a:rPr lang="en-US" dirty="0"/>
                  <a:t>So it’s </a:t>
                </a:r>
                <a:r>
                  <a:rPr lang="en-US" b="1" dirty="0">
                    <a:solidFill>
                      <a:schemeClr val="accent6">
                        <a:lumMod val="50000"/>
                      </a:schemeClr>
                    </a:solidFill>
                  </a:rPr>
                  <a:t>not </a:t>
                </a:r>
                <a:r>
                  <a:rPr lang="en-US" dirty="0"/>
                  <a:t>an equivalence relation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704" t="-3504" r="-889"/>
                </a:stretch>
              </a:blipFill>
            </p:spPr>
            <p:txBody>
              <a:bodyPr/>
              <a:lstStyle/>
              <a:p>
                <a:r>
                  <a:rPr lang="en-US">
                    <a:noFill/>
                  </a:rPr>
                  <a:t> </a:t>
                </a:r>
              </a:p>
            </p:txBody>
          </p:sp>
        </mc:Fallback>
      </mc:AlternateContent>
      <p:pic>
        <p:nvPicPr>
          <p:cNvPr id="1026" name="Picture 2" descr="http://www.ivcampus.sdsu.edu/International_Programs/Study_abroad/facebook.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794" y="272142"/>
            <a:ext cx="3020522" cy="1136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2297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Functions</a:t>
            </a:r>
          </a:p>
        </p:txBody>
      </p:sp>
      <p:sp>
        <p:nvSpPr>
          <p:cNvPr id="3" name="Content Placeholder 2"/>
          <p:cNvSpPr>
            <a:spLocks noGrp="1"/>
          </p:cNvSpPr>
          <p:nvPr>
            <p:ph sz="half" idx="1"/>
          </p:nvPr>
        </p:nvSpPr>
        <p:spPr>
          <a:xfrm>
            <a:off x="457200" y="1600200"/>
            <a:ext cx="4038600" cy="5029200"/>
          </a:xfrm>
        </p:spPr>
        <p:txBody>
          <a:bodyPr>
            <a:normAutofit fontScale="77500" lnSpcReduction="20000"/>
          </a:bodyPr>
          <a:lstStyle/>
          <a:p>
            <a:r>
              <a:rPr lang="en-US" dirty="0"/>
              <a:t>Functions are </a:t>
            </a:r>
            <a:r>
              <a:rPr lang="en-US" b="1" dirty="0">
                <a:solidFill>
                  <a:schemeClr val="accent6">
                    <a:lumMod val="50000"/>
                  </a:schemeClr>
                </a:solidFill>
              </a:rPr>
              <a:t>more important</a:t>
            </a:r>
            <a:r>
              <a:rPr lang="en-US" dirty="0"/>
              <a:t> than relations</a:t>
            </a:r>
          </a:p>
          <a:p>
            <a:endParaRPr lang="en-US" dirty="0"/>
          </a:p>
          <a:p>
            <a:r>
              <a:rPr lang="en-US" dirty="0"/>
              <a:t>But you’re also probably more familiar with them, so we’ll say less about them here</a:t>
            </a:r>
          </a:p>
          <a:p>
            <a:endParaRPr lang="en-US" dirty="0"/>
          </a:p>
          <a:p>
            <a:r>
              <a:rPr lang="en-US" dirty="0"/>
              <a:t>Functions can also be </a:t>
            </a:r>
            <a:r>
              <a:rPr lang="en-US" b="1" dirty="0">
                <a:solidFill>
                  <a:schemeClr val="accent6">
                    <a:lumMod val="50000"/>
                  </a:schemeClr>
                </a:solidFill>
              </a:rPr>
              <a:t>viewed as relations</a:t>
            </a:r>
          </a:p>
          <a:p>
            <a:pPr lvl="1"/>
            <a:r>
              <a:rPr lang="en-US" dirty="0"/>
              <a:t>Think of F(x)=y as a shorthand for </a:t>
            </a:r>
            <a:r>
              <a:rPr lang="en-US" dirty="0" err="1"/>
              <a:t>xFy</a:t>
            </a:r>
            <a:endParaRPr lang="en-US" dirty="0"/>
          </a:p>
          <a:p>
            <a:pPr lvl="1"/>
            <a:r>
              <a:rPr lang="en-US" dirty="0"/>
              <a:t>And since relations can be formalized as sets, that means functions can too</a:t>
            </a:r>
          </a:p>
        </p:txBody>
      </p:sp>
      <mc:AlternateContent xmlns:mc="http://schemas.openxmlformats.org/markup-compatibility/2006" xmlns:a14="http://schemas.microsoft.com/office/drawing/2010/main">
        <mc:Choice Requires="a14">
          <p:sp>
            <p:nvSpPr>
              <p:cNvPr id="4" name="Content Placeholder 3"/>
              <p:cNvSpPr>
                <a:spLocks noGrp="1"/>
              </p:cNvSpPr>
              <p:nvPr>
                <p:ph sz="half" idx="2"/>
              </p:nvPr>
            </p:nvSpPr>
            <p:spPr>
              <a:xfrm>
                <a:off x="4648200" y="1600200"/>
                <a:ext cx="4038600" cy="4876800"/>
              </a:xfrm>
            </p:spPr>
            <p:txBody>
              <a:bodyPr>
                <a:normAutofit fontScale="77500" lnSpcReduction="20000"/>
              </a:bodyPr>
              <a:lstStyle/>
              <a:p>
                <a:pPr marL="0" indent="0">
                  <a:buNone/>
                </a:pPr>
                <a:r>
                  <a:rPr lang="en-US" dirty="0"/>
                  <a:t>If </a:t>
                </a:r>
                <a14:m>
                  <m:oMath xmlns:m="http://schemas.openxmlformats.org/officeDocument/2006/math">
                    <m:r>
                      <a:rPr lang="en-US" i="1" dirty="0" smtClean="0">
                        <a:latin typeface="Cambria Math"/>
                      </a:rPr>
                      <m:t>𝑓</m:t>
                    </m:r>
                  </m:oMath>
                </a14:m>
                <a:r>
                  <a:rPr lang="en-US" dirty="0"/>
                  <a:t> is a function from set </a:t>
                </a:r>
                <a14:m>
                  <m:oMath xmlns:m="http://schemas.openxmlformats.org/officeDocument/2006/math">
                    <m:r>
                      <a:rPr lang="en-US" i="1" dirty="0" smtClean="0">
                        <a:latin typeface="Cambria Math"/>
                      </a:rPr>
                      <m:t>𝑋</m:t>
                    </m:r>
                  </m:oMath>
                </a14:m>
                <a:r>
                  <a:rPr lang="en-US" dirty="0"/>
                  <a:t> to set </a:t>
                </a:r>
                <a14:m>
                  <m:oMath xmlns:m="http://schemas.openxmlformats.org/officeDocument/2006/math">
                    <m:r>
                      <a:rPr lang="en-US" i="1" dirty="0" smtClean="0">
                        <a:latin typeface="Cambria Math"/>
                      </a:rPr>
                      <m:t>𝑌</m:t>
                    </m:r>
                    <m:r>
                      <a:rPr lang="en-US" i="1" dirty="0" smtClean="0">
                        <a:latin typeface="Cambria Math"/>
                      </a:rPr>
                      <m:t> </m:t>
                    </m:r>
                  </m:oMath>
                </a14:m>
                <a:r>
                  <a:rPr lang="en-US" dirty="0"/>
                  <a:t>(written: </a:t>
                </a:r>
                <a14:m>
                  <m:oMath xmlns:m="http://schemas.openxmlformats.org/officeDocument/2006/math">
                    <m:r>
                      <a:rPr lang="en-US" i="1" dirty="0" smtClean="0">
                        <a:latin typeface="Cambria Math"/>
                      </a:rPr>
                      <m:t>𝑓</m:t>
                    </m:r>
                    <m:r>
                      <a:rPr lang="en-US" i="1" dirty="0" smtClean="0">
                        <a:latin typeface="Cambria Math"/>
                      </a:rPr>
                      <m:t>:</m:t>
                    </m:r>
                    <m:r>
                      <a:rPr lang="en-US" i="1" dirty="0" smtClean="0">
                        <a:latin typeface="Cambria Math"/>
                      </a:rPr>
                      <m:t>𝑋</m:t>
                    </m:r>
                    <m:r>
                      <a:rPr lang="en-US" i="1" dirty="0" smtClean="0">
                        <a:latin typeface="Cambria Math"/>
                      </a:rPr>
                      <m:t>→</m:t>
                    </m:r>
                    <m:r>
                      <a:rPr lang="en-US" i="1" dirty="0" smtClean="0">
                        <a:latin typeface="Cambria Math"/>
                      </a:rPr>
                      <m:t>𝑌</m:t>
                    </m:r>
                  </m:oMath>
                </a14:m>
                <a:r>
                  <a:rPr lang="en-US" dirty="0"/>
                  <a:t>)</a:t>
                </a:r>
              </a:p>
              <a:p>
                <a14:m>
                  <m:oMath xmlns:m="http://schemas.openxmlformats.org/officeDocument/2006/math">
                    <m:r>
                      <a:rPr lang="en-US" i="1" dirty="0" smtClean="0">
                        <a:latin typeface="Cambria Math"/>
                      </a:rPr>
                      <m:t>𝑓</m:t>
                    </m:r>
                  </m:oMath>
                </a14:m>
                <a:r>
                  <a:rPr lang="en-US" dirty="0"/>
                  <a:t> is </a:t>
                </a:r>
                <a:r>
                  <a:rPr lang="en-US" b="1" dirty="0">
                    <a:solidFill>
                      <a:schemeClr val="accent6">
                        <a:lumMod val="75000"/>
                      </a:schemeClr>
                    </a:solidFill>
                  </a:rPr>
                  <a:t>one-to-one</a:t>
                </a:r>
                <a:r>
                  <a:rPr lang="en-US" dirty="0"/>
                  <a:t>, when </a:t>
                </a:r>
                <a14:m>
                  <m:oMath xmlns:m="http://schemas.openxmlformats.org/officeDocument/2006/math">
                    <m:r>
                      <a:rPr lang="en-US" i="1" dirty="0" smtClean="0">
                        <a:latin typeface="Cambria Math"/>
                      </a:rPr>
                      <m:t>𝑓</m:t>
                    </m:r>
                    <m:d>
                      <m:dPr>
                        <m:ctrlPr>
                          <a:rPr lang="en-US" i="1" dirty="0" smtClean="0">
                            <a:latin typeface="Cambria Math" panose="02040503050406030204" pitchFamily="18" charset="0"/>
                          </a:rPr>
                        </m:ctrlPr>
                      </m:dPr>
                      <m:e>
                        <m:r>
                          <a:rPr lang="en-US" i="1" dirty="0" smtClean="0">
                            <a:latin typeface="Cambria Math"/>
                          </a:rPr>
                          <m:t>𝑥</m:t>
                        </m:r>
                      </m:e>
                    </m:d>
                    <m:r>
                      <a:rPr lang="en-US" i="1" dirty="0" smtClean="0">
                        <a:latin typeface="Cambria Math"/>
                      </a:rPr>
                      <m:t>=</m:t>
                    </m:r>
                    <m:r>
                      <a:rPr lang="en-US" i="1" dirty="0" smtClean="0">
                        <a:latin typeface="Cambria Math"/>
                      </a:rPr>
                      <m:t>𝑓</m:t>
                    </m:r>
                    <m:r>
                      <a:rPr lang="en-US" i="1" dirty="0" smtClean="0">
                        <a:latin typeface="Cambria Math"/>
                      </a:rPr>
                      <m:t>(</m:t>
                    </m:r>
                    <m:r>
                      <a:rPr lang="en-US" i="1" dirty="0" smtClean="0">
                        <a:latin typeface="Cambria Math"/>
                      </a:rPr>
                      <m:t>𝑦</m:t>
                    </m:r>
                    <m:r>
                      <a:rPr lang="en-US" i="1" dirty="0" smtClean="0">
                        <a:latin typeface="Cambria Math"/>
                      </a:rPr>
                      <m:t>)</m:t>
                    </m:r>
                  </m:oMath>
                </a14:m>
                <a:r>
                  <a:rPr lang="en-US" dirty="0"/>
                  <a:t> only when </a:t>
                </a:r>
                <a14:m>
                  <m:oMath xmlns:m="http://schemas.openxmlformats.org/officeDocument/2006/math">
                    <m:r>
                      <a:rPr lang="en-US" i="1" dirty="0" smtClean="0">
                        <a:latin typeface="Cambria Math"/>
                      </a:rPr>
                      <m:t>𝑥</m:t>
                    </m:r>
                    <m:r>
                      <a:rPr lang="en-US" i="1" dirty="0" smtClean="0">
                        <a:latin typeface="Cambria Math"/>
                      </a:rPr>
                      <m:t>=</m:t>
                    </m:r>
                    <m:r>
                      <a:rPr lang="en-US" i="1" dirty="0" smtClean="0">
                        <a:latin typeface="Cambria Math"/>
                      </a:rPr>
                      <m:t>𝑦</m:t>
                    </m:r>
                  </m:oMath>
                </a14:m>
                <a:endParaRPr lang="en-US" i="1" dirty="0">
                  <a:latin typeface="Cambria Math"/>
                </a:endParaRPr>
              </a:p>
              <a:p>
                <a:pPr lvl="1"/>
                <a:r>
                  <a:rPr lang="en-US" dirty="0"/>
                  <a:t>If </a:t>
                </a:r>
                <a14:m>
                  <m:oMath xmlns:m="http://schemas.openxmlformats.org/officeDocument/2006/math">
                    <m:r>
                      <a:rPr lang="en-US" i="1" dirty="0" smtClean="0">
                        <a:latin typeface="Cambria Math"/>
                      </a:rPr>
                      <m:t>𝑓</m:t>
                    </m:r>
                  </m:oMath>
                </a14:m>
                <a:r>
                  <a:rPr lang="en-US" dirty="0"/>
                  <a:t> is 1:1, then it has an </a:t>
                </a:r>
                <a:r>
                  <a:rPr lang="en-US" b="1" dirty="0">
                    <a:solidFill>
                      <a:schemeClr val="accent6">
                        <a:lumMod val="75000"/>
                      </a:schemeClr>
                    </a:solidFill>
                  </a:rPr>
                  <a:t>inverse</a:t>
                </a:r>
                <a:r>
                  <a:rPr lang="en-US" dirty="0"/>
                  <a:t>,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a:rPr>
                          <m:t>𝑓</m:t>
                        </m:r>
                      </m:e>
                      <m:sup>
                        <m:r>
                          <a:rPr lang="en-US" i="1" dirty="0" smtClean="0">
                            <a:latin typeface="Cambria Math"/>
                          </a:rPr>
                          <m:t>−1</m:t>
                        </m:r>
                      </m:sup>
                    </m:sSup>
                  </m:oMath>
                </a14:m>
                <a:endParaRPr lang="en-US" dirty="0"/>
              </a:p>
              <a:p>
                <a:pPr lvl="1"/>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a:rPr>
                          <m:t>𝑓</m:t>
                        </m:r>
                      </m:e>
                      <m:sup>
                        <m:r>
                          <a:rPr lang="en-US" i="1" dirty="0" smtClean="0">
                            <a:latin typeface="Cambria Math"/>
                          </a:rPr>
                          <m:t>−1</m:t>
                        </m:r>
                      </m:sup>
                    </m:sSup>
                    <m:d>
                      <m:dPr>
                        <m:ctrlPr>
                          <a:rPr lang="en-US" i="1" dirty="0" smtClean="0">
                            <a:latin typeface="Cambria Math" panose="02040503050406030204" pitchFamily="18" charset="0"/>
                          </a:rPr>
                        </m:ctrlPr>
                      </m:dPr>
                      <m:e>
                        <m:r>
                          <a:rPr lang="en-US" i="1" dirty="0" smtClean="0">
                            <a:latin typeface="Cambria Math"/>
                          </a:rPr>
                          <m:t>𝑓</m:t>
                        </m:r>
                        <m:d>
                          <m:dPr>
                            <m:ctrlPr>
                              <a:rPr lang="en-US" i="1" dirty="0" smtClean="0">
                                <a:latin typeface="Cambria Math" panose="02040503050406030204" pitchFamily="18" charset="0"/>
                              </a:rPr>
                            </m:ctrlPr>
                          </m:dPr>
                          <m:e>
                            <m:r>
                              <a:rPr lang="en-US" i="1" dirty="0" smtClean="0">
                                <a:latin typeface="Cambria Math"/>
                              </a:rPr>
                              <m:t>𝑥</m:t>
                            </m:r>
                          </m:e>
                        </m:d>
                      </m:e>
                    </m:d>
                    <m:r>
                      <a:rPr lang="en-US" i="1" dirty="0" smtClean="0">
                        <a:latin typeface="Cambria Math"/>
                      </a:rPr>
                      <m:t>≝</m:t>
                    </m:r>
                    <m:r>
                      <a:rPr lang="en-US" i="1" dirty="0" smtClean="0">
                        <a:latin typeface="Cambria Math"/>
                      </a:rPr>
                      <m:t>𝑥</m:t>
                    </m:r>
                  </m:oMath>
                </a14:m>
                <a:r>
                  <a:rPr lang="en-US" b="1" dirty="0"/>
                  <a:t> </a:t>
                </a:r>
                <a:r>
                  <a:rPr lang="en-US" dirty="0"/>
                  <a:t>for any </a:t>
                </a:r>
                <a14:m>
                  <m:oMath xmlns:m="http://schemas.openxmlformats.org/officeDocument/2006/math">
                    <m:r>
                      <a:rPr lang="en-US" i="1" dirty="0" smtClean="0">
                        <a:latin typeface="Cambria Math"/>
                      </a:rPr>
                      <m:t>𝑥</m:t>
                    </m:r>
                  </m:oMath>
                </a14:m>
                <a:endParaRPr lang="en-US" dirty="0"/>
              </a:p>
              <a:p>
                <a14:m>
                  <m:oMath xmlns:m="http://schemas.openxmlformats.org/officeDocument/2006/math">
                    <m:r>
                      <a:rPr lang="en-US" i="1" dirty="0" smtClean="0">
                        <a:latin typeface="Cambria Math"/>
                      </a:rPr>
                      <m:t>𝑓</m:t>
                    </m:r>
                  </m:oMath>
                </a14:m>
                <a:r>
                  <a:rPr lang="en-US" dirty="0"/>
                  <a:t> is </a:t>
                </a:r>
                <a:r>
                  <a:rPr lang="en-US" b="1" dirty="0">
                    <a:solidFill>
                      <a:schemeClr val="accent6">
                        <a:lumMod val="75000"/>
                      </a:schemeClr>
                    </a:solidFill>
                  </a:rPr>
                  <a:t>onto</a:t>
                </a:r>
                <a:r>
                  <a:rPr lang="en-US" dirty="0"/>
                  <a:t> if for every </a:t>
                </a:r>
                <a14:m>
                  <m:oMath xmlns:m="http://schemas.openxmlformats.org/officeDocument/2006/math">
                    <m:r>
                      <a:rPr lang="en-US" i="1" dirty="0" smtClean="0">
                        <a:latin typeface="Cambria Math"/>
                      </a:rPr>
                      <m:t>𝑦</m:t>
                    </m:r>
                    <m:r>
                      <a:rPr lang="en-US" i="1" dirty="0" smtClean="0">
                        <a:latin typeface="Cambria Math"/>
                      </a:rPr>
                      <m:t>∈</m:t>
                    </m:r>
                    <m:r>
                      <a:rPr lang="en-US" i="1" dirty="0" smtClean="0">
                        <a:latin typeface="Cambria Math"/>
                      </a:rPr>
                      <m:t>𝑌</m:t>
                    </m:r>
                  </m:oMath>
                </a14:m>
                <a:r>
                  <a:rPr lang="en-US" dirty="0"/>
                  <a:t>, there’s at least one </a:t>
                </a:r>
                <a14:m>
                  <m:oMath xmlns:m="http://schemas.openxmlformats.org/officeDocument/2006/math">
                    <m:r>
                      <a:rPr lang="en-US" i="1" dirty="0" smtClean="0">
                        <a:latin typeface="Cambria Math"/>
                      </a:rPr>
                      <m:t>𝑥</m:t>
                    </m:r>
                  </m:oMath>
                </a14:m>
                <a:r>
                  <a:rPr lang="en-US" dirty="0"/>
                  <a:t> for which </a:t>
                </a:r>
                <a14:m>
                  <m:oMath xmlns:m="http://schemas.openxmlformats.org/officeDocument/2006/math">
                    <m:r>
                      <a:rPr lang="en-US" i="1" dirty="0" smtClean="0">
                        <a:latin typeface="Cambria Math"/>
                      </a:rPr>
                      <m:t>𝑓</m:t>
                    </m:r>
                    <m:d>
                      <m:dPr>
                        <m:ctrlPr>
                          <a:rPr lang="en-US" i="1" dirty="0" smtClean="0">
                            <a:latin typeface="Cambria Math" panose="02040503050406030204" pitchFamily="18" charset="0"/>
                          </a:rPr>
                        </m:ctrlPr>
                      </m:dPr>
                      <m:e>
                        <m:r>
                          <a:rPr lang="en-US" i="1" dirty="0" smtClean="0">
                            <a:latin typeface="Cambria Math"/>
                          </a:rPr>
                          <m:t>𝑥</m:t>
                        </m:r>
                      </m:e>
                    </m:d>
                    <m:r>
                      <a:rPr lang="en-US" i="1" dirty="0" smtClean="0">
                        <a:latin typeface="Cambria Math"/>
                      </a:rPr>
                      <m:t>=</m:t>
                    </m:r>
                    <m:r>
                      <a:rPr lang="en-US" i="1" dirty="0" smtClean="0">
                        <a:latin typeface="Cambria Math"/>
                      </a:rPr>
                      <m:t>𝑦</m:t>
                    </m:r>
                  </m:oMath>
                </a14:m>
                <a:endParaRPr lang="en-US" dirty="0"/>
              </a:p>
              <a:p>
                <a:r>
                  <a:rPr lang="en-US" dirty="0"/>
                  <a:t>If </a:t>
                </a:r>
                <a14:m>
                  <m:oMath xmlns:m="http://schemas.openxmlformats.org/officeDocument/2006/math">
                    <m:r>
                      <a:rPr lang="en-US" i="1" dirty="0" smtClean="0">
                        <a:latin typeface="Cambria Math"/>
                      </a:rPr>
                      <m:t>𝑓</m:t>
                    </m:r>
                  </m:oMath>
                </a14:m>
                <a:r>
                  <a:rPr lang="en-US" dirty="0"/>
                  <a:t> is both 1:1 and onto, then it’s called a </a:t>
                </a:r>
                <a:r>
                  <a:rPr lang="en-US" b="1" dirty="0" err="1">
                    <a:solidFill>
                      <a:schemeClr val="accent6">
                        <a:lumMod val="75000"/>
                      </a:schemeClr>
                    </a:solidFill>
                  </a:rPr>
                  <a:t>bijection</a:t>
                </a:r>
                <a:r>
                  <a:rPr lang="en-US" dirty="0"/>
                  <a:t>, and it pairs each element of </a:t>
                </a:r>
                <a14:m>
                  <m:oMath xmlns:m="http://schemas.openxmlformats.org/officeDocument/2006/math">
                    <m:r>
                      <a:rPr lang="en-US" i="1" dirty="0" smtClean="0">
                        <a:latin typeface="Cambria Math"/>
                      </a:rPr>
                      <m:t>𝑋</m:t>
                    </m:r>
                  </m:oMath>
                </a14:m>
                <a:r>
                  <a:rPr lang="en-US" dirty="0"/>
                  <a:t> with a unique element of </a:t>
                </a:r>
                <a14:m>
                  <m:oMath xmlns:m="http://schemas.openxmlformats.org/officeDocument/2006/math">
                    <m:r>
                      <a:rPr lang="en-US" i="1" dirty="0" smtClean="0">
                        <a:latin typeface="Cambria Math"/>
                      </a:rPr>
                      <m:t>𝑌</m:t>
                    </m:r>
                  </m:oMath>
                </a14:m>
                <a:r>
                  <a:rPr lang="en-US" dirty="0"/>
                  <a:t>.</a:t>
                </a:r>
              </a:p>
              <a:p>
                <a:pPr lvl="1"/>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half" idx="2"/>
              </p:nvPr>
            </p:nvSpPr>
            <p:spPr>
              <a:xfrm>
                <a:off x="4648200" y="1600200"/>
                <a:ext cx="4038600" cy="4876800"/>
              </a:xfrm>
              <a:blipFill>
                <a:blip r:embed="rId2"/>
                <a:stretch>
                  <a:fillRect l="-1964" t="-2125" r="-3323"/>
                </a:stretch>
              </a:blipFill>
            </p:spPr>
            <p:txBody>
              <a:bodyPr/>
              <a:lstStyle/>
              <a:p>
                <a:r>
                  <a:rPr lang="en-US">
                    <a:noFill/>
                  </a:rPr>
                  <a:t> </a:t>
                </a:r>
              </a:p>
            </p:txBody>
          </p:sp>
        </mc:Fallback>
      </mc:AlternateContent>
    </p:spTree>
    <p:extLst>
      <p:ext uri="{BB962C8B-B14F-4D97-AF65-F5344CB8AC3E}">
        <p14:creationId xmlns:p14="http://schemas.microsoft.com/office/powerpoint/2010/main" val="88848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a:t>
            </a:r>
          </a:p>
        </p:txBody>
      </p:sp>
      <p:sp>
        <p:nvSpPr>
          <p:cNvPr id="5" name="Oval 4"/>
          <p:cNvSpPr/>
          <p:nvPr/>
        </p:nvSpPr>
        <p:spPr>
          <a:xfrm>
            <a:off x="685800" y="1828800"/>
            <a:ext cx="1524000" cy="342900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t>X</a:t>
            </a:r>
          </a:p>
        </p:txBody>
      </p:sp>
      <p:sp>
        <p:nvSpPr>
          <p:cNvPr id="7" name="Oval 6"/>
          <p:cNvSpPr/>
          <p:nvPr/>
        </p:nvSpPr>
        <p:spPr>
          <a:xfrm>
            <a:off x="1333500" y="25908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333500" y="30480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333500" y="39624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2667000" y="1828800"/>
            <a:ext cx="1524000" cy="342900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t>Y</a:t>
            </a:r>
          </a:p>
        </p:txBody>
      </p:sp>
      <p:sp>
        <p:nvSpPr>
          <p:cNvPr id="12" name="Oval 11"/>
          <p:cNvSpPr/>
          <p:nvPr/>
        </p:nvSpPr>
        <p:spPr>
          <a:xfrm>
            <a:off x="3314700" y="25908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3314700" y="30480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3314700" y="35052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3314700" y="39624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a:stCxn id="7" idx="6"/>
            <a:endCxn id="12" idx="2"/>
          </p:cNvCxnSpPr>
          <p:nvPr/>
        </p:nvCxnSpPr>
        <p:spPr>
          <a:xfrm>
            <a:off x="1562100" y="2705100"/>
            <a:ext cx="17526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8" idx="6"/>
            <a:endCxn id="14" idx="1"/>
          </p:cNvCxnSpPr>
          <p:nvPr/>
        </p:nvCxnSpPr>
        <p:spPr>
          <a:xfrm>
            <a:off x="1562100" y="3162300"/>
            <a:ext cx="1786078" cy="37637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0" idx="6"/>
            <a:endCxn id="15" idx="2"/>
          </p:cNvCxnSpPr>
          <p:nvPr/>
        </p:nvCxnSpPr>
        <p:spPr>
          <a:xfrm>
            <a:off x="1562100" y="4076700"/>
            <a:ext cx="17526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111376" y="5498068"/>
            <a:ext cx="2698624" cy="369332"/>
          </a:xfrm>
          <a:prstGeom prst="rect">
            <a:avLst/>
          </a:prstGeom>
          <a:noFill/>
        </p:spPr>
        <p:txBody>
          <a:bodyPr wrap="none" rtlCol="0">
            <a:spAutoFit/>
          </a:bodyPr>
          <a:lstStyle/>
          <a:p>
            <a:r>
              <a:rPr lang="en-US" dirty="0"/>
              <a:t>1:1 (but not onto) function</a:t>
            </a:r>
          </a:p>
        </p:txBody>
      </p:sp>
      <p:sp>
        <p:nvSpPr>
          <p:cNvPr id="25" name="Oval 24"/>
          <p:cNvSpPr/>
          <p:nvPr/>
        </p:nvSpPr>
        <p:spPr>
          <a:xfrm>
            <a:off x="4876800" y="1828800"/>
            <a:ext cx="1524000" cy="342900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t>X</a:t>
            </a:r>
          </a:p>
        </p:txBody>
      </p:sp>
      <p:sp>
        <p:nvSpPr>
          <p:cNvPr id="26" name="Oval 25"/>
          <p:cNvSpPr/>
          <p:nvPr/>
        </p:nvSpPr>
        <p:spPr>
          <a:xfrm>
            <a:off x="5524500" y="25908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524500" y="30480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5524500" y="35052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5524500" y="39624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6858000" y="1828800"/>
            <a:ext cx="1524000" cy="342900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t>Y</a:t>
            </a:r>
          </a:p>
        </p:txBody>
      </p:sp>
      <p:sp>
        <p:nvSpPr>
          <p:cNvPr id="31" name="Oval 30"/>
          <p:cNvSpPr/>
          <p:nvPr/>
        </p:nvSpPr>
        <p:spPr>
          <a:xfrm>
            <a:off x="7505700" y="25908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7505700" y="35052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7505700" y="39624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p:cNvCxnSpPr>
            <a:stCxn id="26" idx="6"/>
            <a:endCxn id="31" idx="2"/>
          </p:cNvCxnSpPr>
          <p:nvPr/>
        </p:nvCxnSpPr>
        <p:spPr>
          <a:xfrm>
            <a:off x="5753100" y="2705100"/>
            <a:ext cx="17526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27" idx="6"/>
            <a:endCxn id="33" idx="1"/>
          </p:cNvCxnSpPr>
          <p:nvPr/>
        </p:nvCxnSpPr>
        <p:spPr>
          <a:xfrm>
            <a:off x="5753100" y="3162300"/>
            <a:ext cx="1786078" cy="37637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29" idx="6"/>
            <a:endCxn id="34" idx="2"/>
          </p:cNvCxnSpPr>
          <p:nvPr/>
        </p:nvCxnSpPr>
        <p:spPr>
          <a:xfrm>
            <a:off x="5753100" y="4076700"/>
            <a:ext cx="17526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5302376" y="5498068"/>
            <a:ext cx="2698624" cy="369332"/>
          </a:xfrm>
          <a:prstGeom prst="rect">
            <a:avLst/>
          </a:prstGeom>
          <a:noFill/>
        </p:spPr>
        <p:txBody>
          <a:bodyPr wrap="none" rtlCol="0">
            <a:spAutoFit/>
          </a:bodyPr>
          <a:lstStyle/>
          <a:p>
            <a:r>
              <a:rPr lang="en-US" dirty="0"/>
              <a:t>onto (but not 1:1) function</a:t>
            </a:r>
          </a:p>
        </p:txBody>
      </p:sp>
      <p:cxnSp>
        <p:nvCxnSpPr>
          <p:cNvPr id="40" name="Straight Arrow Connector 39"/>
          <p:cNvCxnSpPr>
            <a:stCxn id="28" idx="6"/>
            <a:endCxn id="33" idx="2"/>
          </p:cNvCxnSpPr>
          <p:nvPr/>
        </p:nvCxnSpPr>
        <p:spPr>
          <a:xfrm>
            <a:off x="5753100" y="3619500"/>
            <a:ext cx="17526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9333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a:t>
            </a:r>
          </a:p>
        </p:txBody>
      </p:sp>
      <p:sp>
        <p:nvSpPr>
          <p:cNvPr id="5" name="Oval 4"/>
          <p:cNvSpPr/>
          <p:nvPr/>
        </p:nvSpPr>
        <p:spPr>
          <a:xfrm>
            <a:off x="2895600" y="1828800"/>
            <a:ext cx="1524000" cy="342900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t>X</a:t>
            </a:r>
          </a:p>
        </p:txBody>
      </p:sp>
      <p:sp>
        <p:nvSpPr>
          <p:cNvPr id="7" name="Oval 6"/>
          <p:cNvSpPr/>
          <p:nvPr/>
        </p:nvSpPr>
        <p:spPr>
          <a:xfrm>
            <a:off x="3543300" y="25908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543300" y="30480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3543300" y="35052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3543300" y="39624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4876800" y="1828800"/>
            <a:ext cx="1524000" cy="342900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t>Y</a:t>
            </a:r>
          </a:p>
        </p:txBody>
      </p:sp>
      <p:sp>
        <p:nvSpPr>
          <p:cNvPr id="12" name="Oval 11"/>
          <p:cNvSpPr/>
          <p:nvPr/>
        </p:nvSpPr>
        <p:spPr>
          <a:xfrm>
            <a:off x="5524500" y="25908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524500" y="30480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5524500" y="35052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5524500" y="3962400"/>
            <a:ext cx="228600" cy="228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a:stCxn id="7" idx="6"/>
            <a:endCxn id="12" idx="2"/>
          </p:cNvCxnSpPr>
          <p:nvPr/>
        </p:nvCxnSpPr>
        <p:spPr>
          <a:xfrm>
            <a:off x="3771900" y="2705100"/>
            <a:ext cx="17526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8" idx="6"/>
            <a:endCxn id="14" idx="1"/>
          </p:cNvCxnSpPr>
          <p:nvPr/>
        </p:nvCxnSpPr>
        <p:spPr>
          <a:xfrm>
            <a:off x="3771900" y="3162300"/>
            <a:ext cx="1786078" cy="37637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0" idx="6"/>
            <a:endCxn id="15" idx="2"/>
          </p:cNvCxnSpPr>
          <p:nvPr/>
        </p:nvCxnSpPr>
        <p:spPr>
          <a:xfrm>
            <a:off x="3771900" y="4076700"/>
            <a:ext cx="17526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3048000" y="5498068"/>
            <a:ext cx="3358292" cy="369332"/>
          </a:xfrm>
          <a:prstGeom prst="rect">
            <a:avLst/>
          </a:prstGeom>
          <a:noFill/>
        </p:spPr>
        <p:txBody>
          <a:bodyPr wrap="none" rtlCol="0">
            <a:spAutoFit/>
          </a:bodyPr>
          <a:lstStyle/>
          <a:p>
            <a:r>
              <a:rPr lang="en-US" dirty="0"/>
              <a:t>1:1 onto function (aka a </a:t>
            </a:r>
            <a:r>
              <a:rPr lang="en-US" dirty="0" err="1"/>
              <a:t>bijection</a:t>
            </a:r>
            <a:r>
              <a:rPr lang="en-US" dirty="0"/>
              <a:t>)</a:t>
            </a:r>
          </a:p>
        </p:txBody>
      </p:sp>
      <p:cxnSp>
        <p:nvCxnSpPr>
          <p:cNvPr id="4" name="Straight Arrow Connector 3"/>
          <p:cNvCxnSpPr>
            <a:endCxn id="13" idx="2"/>
          </p:cNvCxnSpPr>
          <p:nvPr/>
        </p:nvCxnSpPr>
        <p:spPr>
          <a:xfrm flipV="1">
            <a:off x="3771900" y="3162300"/>
            <a:ext cx="1752600" cy="4572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18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Graphs</a:t>
            </a:r>
          </a:p>
        </p:txBody>
      </p:sp>
      <p:sp>
        <p:nvSpPr>
          <p:cNvPr id="4" name="Content Placeholder 3"/>
          <p:cNvSpPr>
            <a:spLocks noGrp="1"/>
          </p:cNvSpPr>
          <p:nvPr>
            <p:ph sz="half" idx="1"/>
          </p:nvPr>
        </p:nvSpPr>
        <p:spPr/>
        <p:txBody>
          <a:bodyPr/>
          <a:lstStyle/>
          <a:p>
            <a:r>
              <a:rPr lang="en-US" dirty="0"/>
              <a:t>Informally, a </a:t>
            </a:r>
            <a:r>
              <a:rPr lang="en-US" b="1" dirty="0">
                <a:solidFill>
                  <a:schemeClr val="accent6">
                    <a:lumMod val="50000"/>
                  </a:schemeClr>
                </a:solidFill>
              </a:rPr>
              <a:t>graph</a:t>
            </a:r>
            <a:r>
              <a:rPr lang="en-US" b="1" dirty="0"/>
              <a:t> </a:t>
            </a:r>
            <a:r>
              <a:rPr lang="en-US" dirty="0"/>
              <a:t>is a network of objects connected by lines or arrows</a:t>
            </a:r>
          </a:p>
          <a:p>
            <a:endParaRPr lang="en-US" dirty="0"/>
          </a:p>
          <a:p>
            <a:r>
              <a:rPr lang="en-US" dirty="0"/>
              <a:t>The objects are called </a:t>
            </a:r>
            <a:r>
              <a:rPr lang="en-US" b="1" dirty="0">
                <a:solidFill>
                  <a:schemeClr val="accent6">
                    <a:lumMod val="50000"/>
                  </a:schemeClr>
                </a:solidFill>
              </a:rPr>
              <a:t>nodes </a:t>
            </a:r>
            <a:r>
              <a:rPr lang="en-US" dirty="0"/>
              <a:t>or </a:t>
            </a:r>
            <a:r>
              <a:rPr lang="en-US" b="1" dirty="0">
                <a:solidFill>
                  <a:schemeClr val="accent6">
                    <a:lumMod val="50000"/>
                  </a:schemeClr>
                </a:solidFill>
              </a:rPr>
              <a:t>vertices</a:t>
            </a:r>
            <a:r>
              <a:rPr lang="en-US" b="1" dirty="0"/>
              <a:t> </a:t>
            </a:r>
            <a:r>
              <a:rPr lang="en-US" dirty="0"/>
              <a:t>and the lines are called </a:t>
            </a:r>
            <a:r>
              <a:rPr lang="en-US" b="1" dirty="0">
                <a:solidFill>
                  <a:schemeClr val="accent6">
                    <a:lumMod val="50000"/>
                  </a:schemeClr>
                </a:solidFill>
              </a:rPr>
              <a:t>edges</a:t>
            </a:r>
          </a:p>
        </p:txBody>
      </p:sp>
      <p:sp>
        <p:nvSpPr>
          <p:cNvPr id="6" name="Oval 5"/>
          <p:cNvSpPr/>
          <p:nvPr/>
        </p:nvSpPr>
        <p:spPr>
          <a:xfrm>
            <a:off x="5257800" y="1371600"/>
            <a:ext cx="457200" cy="4572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05600" y="2057400"/>
            <a:ext cx="457200" cy="4572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5"/>
            <a:endCxn id="11" idx="0"/>
          </p:cNvCxnSpPr>
          <p:nvPr/>
        </p:nvCxnSpPr>
        <p:spPr>
          <a:xfrm>
            <a:off x="7304690" y="4657445"/>
            <a:ext cx="346355" cy="98135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2"/>
            <a:endCxn id="12" idx="5"/>
          </p:cNvCxnSpPr>
          <p:nvPr/>
        </p:nvCxnSpPr>
        <p:spPr>
          <a:xfrm flipH="1" flipV="1">
            <a:off x="6638645" y="5571845"/>
            <a:ext cx="783800" cy="29555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7"/>
            <a:endCxn id="9" idx="3"/>
          </p:cNvCxnSpPr>
          <p:nvPr/>
        </p:nvCxnSpPr>
        <p:spPr>
          <a:xfrm flipV="1">
            <a:off x="6638645" y="4657445"/>
            <a:ext cx="342755" cy="59111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7" idx="1"/>
          </p:cNvCxnSpPr>
          <p:nvPr/>
        </p:nvCxnSpPr>
        <p:spPr>
          <a:xfrm>
            <a:off x="5715000" y="1600200"/>
            <a:ext cx="1057555" cy="52415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7"/>
            <a:endCxn id="7" idx="3"/>
          </p:cNvCxnSpPr>
          <p:nvPr/>
        </p:nvCxnSpPr>
        <p:spPr>
          <a:xfrm flipV="1">
            <a:off x="6238911" y="2447645"/>
            <a:ext cx="533644" cy="69553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a:off x="7095845" y="2447645"/>
            <a:ext cx="743510" cy="7660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7600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Graphs</a:t>
            </a:r>
          </a:p>
        </p:txBody>
      </p:sp>
      <mc:AlternateContent xmlns:mc="http://schemas.openxmlformats.org/markup-compatibility/2006" xmlns:a14="http://schemas.microsoft.com/office/drawing/2010/main">
        <mc:Choice Requires="a14">
          <p:sp>
            <p:nvSpPr>
              <p:cNvPr id="4" name="Content Placeholder 3"/>
              <p:cNvSpPr>
                <a:spLocks noGrp="1"/>
              </p:cNvSpPr>
              <p:nvPr>
                <p:ph sz="half" idx="1"/>
              </p:nvPr>
            </p:nvSpPr>
            <p:spPr/>
            <p:txBody>
              <a:bodyPr>
                <a:normAutofit fontScale="92500" lnSpcReduction="10000"/>
              </a:bodyPr>
              <a:lstStyle/>
              <a:p>
                <a:pPr marL="0" indent="0">
                  <a:buNone/>
                </a:pPr>
                <a:r>
                  <a:rPr lang="en-US" dirty="0"/>
                  <a:t>Formally, a </a:t>
                </a:r>
                <a:r>
                  <a:rPr lang="en-US" b="1" dirty="0">
                    <a:solidFill>
                      <a:schemeClr val="accent6">
                        <a:lumMod val="75000"/>
                      </a:schemeClr>
                    </a:solidFill>
                  </a:rPr>
                  <a:t>directed graph</a:t>
                </a:r>
                <a:r>
                  <a:rPr lang="en-US" dirty="0">
                    <a:solidFill>
                      <a:schemeClr val="accent6">
                        <a:lumMod val="50000"/>
                      </a:schemeClr>
                    </a:solidFill>
                  </a:rPr>
                  <a:t> </a:t>
                </a:r>
                <a:r>
                  <a:rPr lang="en-US" dirty="0"/>
                  <a:t>(or </a:t>
                </a:r>
                <a:r>
                  <a:rPr lang="en-US" b="1" dirty="0">
                    <a:solidFill>
                      <a:schemeClr val="accent6">
                        <a:lumMod val="75000"/>
                      </a:schemeClr>
                    </a:solidFill>
                  </a:rPr>
                  <a:t>digraph</a:t>
                </a:r>
                <a:r>
                  <a:rPr lang="en-US" dirty="0"/>
                  <a:t>) is a pair, </a:t>
                </a:r>
                <a14:m>
                  <m:oMath xmlns:m="http://schemas.openxmlformats.org/officeDocument/2006/math">
                    <m:r>
                      <a:rPr lang="en-US" i="1" dirty="0" smtClean="0">
                        <a:latin typeface="Cambria Math"/>
                      </a:rPr>
                      <m:t>𝐺</m:t>
                    </m:r>
                    <m:r>
                      <a:rPr lang="en-US" i="1" dirty="0" smtClean="0">
                        <a:latin typeface="Cambria Math"/>
                      </a:rPr>
                      <m:t>=(</m:t>
                    </m:r>
                    <m:r>
                      <a:rPr lang="en-US" i="1" dirty="0" smtClean="0">
                        <a:latin typeface="Cambria Math"/>
                      </a:rPr>
                      <m:t>𝑉</m:t>
                    </m:r>
                    <m:r>
                      <a:rPr lang="en-US" i="1" dirty="0" smtClean="0">
                        <a:latin typeface="Cambria Math"/>
                      </a:rPr>
                      <m:t>,</m:t>
                    </m:r>
                    <m:r>
                      <a:rPr lang="en-US" i="1" dirty="0" smtClean="0">
                        <a:latin typeface="Cambria Math"/>
                      </a:rPr>
                      <m:t>𝐸</m:t>
                    </m:r>
                    <m:r>
                      <a:rPr lang="en-US" i="1" dirty="0" smtClean="0">
                        <a:latin typeface="Cambria Math"/>
                      </a:rPr>
                      <m:t>)</m:t>
                    </m:r>
                  </m:oMath>
                </a14:m>
                <a:r>
                  <a:rPr lang="en-US" b="1" dirty="0"/>
                  <a:t> </a:t>
                </a:r>
                <a:r>
                  <a:rPr lang="en-US" dirty="0"/>
                  <a:t>where</a:t>
                </a:r>
              </a:p>
              <a:p>
                <a:pPr marL="0" indent="0">
                  <a:buNone/>
                </a:pPr>
                <a:endParaRPr lang="en-US" dirty="0"/>
              </a:p>
              <a:p>
                <a14:m>
                  <m:oMath xmlns:m="http://schemas.openxmlformats.org/officeDocument/2006/math">
                    <m:r>
                      <a:rPr lang="en-US" i="1" dirty="0" smtClean="0">
                        <a:latin typeface="Cambria Math"/>
                      </a:rPr>
                      <m:t>𝑉</m:t>
                    </m:r>
                  </m:oMath>
                </a14:m>
                <a:r>
                  <a:rPr lang="en-US" dirty="0"/>
                  <a:t> is the set of </a:t>
                </a:r>
                <a:r>
                  <a:rPr lang="en-US" b="1" dirty="0">
                    <a:solidFill>
                      <a:schemeClr val="accent6">
                        <a:lumMod val="50000"/>
                      </a:schemeClr>
                    </a:solidFill>
                  </a:rPr>
                  <a:t>vertices</a:t>
                </a:r>
                <a:r>
                  <a:rPr lang="en-US" dirty="0">
                    <a:solidFill>
                      <a:schemeClr val="accent6">
                        <a:lumMod val="50000"/>
                      </a:schemeClr>
                    </a:solidFill>
                  </a:rPr>
                  <a:t> </a:t>
                </a:r>
                <a:r>
                  <a:rPr lang="en-US" dirty="0"/>
                  <a:t>of the graph</a:t>
                </a:r>
              </a:p>
              <a:p>
                <a14:m>
                  <m:oMath xmlns:m="http://schemas.openxmlformats.org/officeDocument/2006/math">
                    <m:r>
                      <a:rPr lang="en-US" i="1" dirty="0" smtClean="0">
                        <a:latin typeface="Cambria Math"/>
                      </a:rPr>
                      <m:t>𝐸</m:t>
                    </m:r>
                    <m:r>
                      <a:rPr lang="en-US" i="1" dirty="0" smtClean="0">
                        <a:latin typeface="Cambria Math"/>
                      </a:rPr>
                      <m:t>⊆</m:t>
                    </m:r>
                    <m:r>
                      <a:rPr lang="en-US" i="1" dirty="0" smtClean="0">
                        <a:latin typeface="Cambria Math"/>
                      </a:rPr>
                      <m:t>𝑉</m:t>
                    </m:r>
                    <m:r>
                      <a:rPr lang="en-US" i="1" dirty="0" smtClean="0">
                        <a:latin typeface="Cambria Math"/>
                      </a:rPr>
                      <m:t>×</m:t>
                    </m:r>
                    <m:r>
                      <a:rPr lang="en-US" i="1" dirty="0" smtClean="0">
                        <a:latin typeface="Cambria Math"/>
                      </a:rPr>
                      <m:t>𝑉</m:t>
                    </m:r>
                  </m:oMath>
                </a14:m>
                <a:r>
                  <a:rPr lang="en-US" dirty="0"/>
                  <a:t> is the set of </a:t>
                </a:r>
                <a:r>
                  <a:rPr lang="en-US" b="1" dirty="0">
                    <a:solidFill>
                      <a:schemeClr val="accent6">
                        <a:lumMod val="50000"/>
                      </a:schemeClr>
                    </a:solidFill>
                  </a:rPr>
                  <a:t>edges</a:t>
                </a:r>
                <a:r>
                  <a:rPr lang="en-US" dirty="0">
                    <a:solidFill>
                      <a:schemeClr val="accent6">
                        <a:lumMod val="50000"/>
                      </a:schemeClr>
                    </a:solidFill>
                  </a:rPr>
                  <a:t> </a:t>
                </a:r>
                <a:r>
                  <a:rPr lang="en-US" dirty="0"/>
                  <a:t>of the graph</a:t>
                </a:r>
              </a:p>
              <a:p>
                <a14:m>
                  <m:oMath xmlns:m="http://schemas.openxmlformats.org/officeDocument/2006/math">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a:rPr>
                              <m:t>𝑣</m:t>
                            </m:r>
                          </m:e>
                          <m:sub>
                            <m:r>
                              <a:rPr lang="en-US" i="1" dirty="0" smtClean="0">
                                <a:latin typeface="Cambria Math"/>
                              </a:rPr>
                              <m:t>1</m:t>
                            </m:r>
                          </m:sub>
                        </m:sSub>
                        <m:r>
                          <a:rPr lang="en-US" i="1" dirty="0" smtClean="0">
                            <a:latin typeface="Cambria Math"/>
                          </a:rPr>
                          <m:t>, </m:t>
                        </m:r>
                        <m:sSub>
                          <m:sSubPr>
                            <m:ctrlPr>
                              <a:rPr lang="en-US" i="1" dirty="0" smtClean="0">
                                <a:latin typeface="Cambria Math" panose="02040503050406030204" pitchFamily="18" charset="0"/>
                              </a:rPr>
                            </m:ctrlPr>
                          </m:sSubPr>
                          <m:e>
                            <m:r>
                              <a:rPr lang="en-US" i="1" dirty="0" smtClean="0">
                                <a:latin typeface="Cambria Math"/>
                              </a:rPr>
                              <m:t>𝑣</m:t>
                            </m:r>
                          </m:e>
                          <m:sub>
                            <m:r>
                              <a:rPr lang="en-US" i="1" dirty="0" smtClean="0">
                                <a:latin typeface="Cambria Math"/>
                              </a:rPr>
                              <m:t>2</m:t>
                            </m:r>
                          </m:sub>
                        </m:sSub>
                      </m:e>
                    </m:d>
                    <m:r>
                      <a:rPr lang="en-US" i="1" dirty="0" smtClean="0">
                        <a:latin typeface="Cambria Math"/>
                      </a:rPr>
                      <m:t>∈</m:t>
                    </m:r>
                    <m:r>
                      <a:rPr lang="en-US" i="1" dirty="0" smtClean="0">
                        <a:latin typeface="Cambria Math"/>
                      </a:rPr>
                      <m:t>𝐸</m:t>
                    </m:r>
                  </m:oMath>
                </a14:m>
                <a:r>
                  <a:rPr lang="en-US" dirty="0"/>
                  <a:t> </a:t>
                </a:r>
                <a:r>
                  <a:rPr lang="en-US" dirty="0" err="1"/>
                  <a:t>iff</a:t>
                </a:r>
                <a:r>
                  <a:rPr lang="en-US" dirty="0"/>
                  <a:t> the graph has an edge (arrow) from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𝑣</m:t>
                        </m:r>
                      </m:e>
                      <m:sub>
                        <m:r>
                          <a:rPr lang="en-US" i="1" dirty="0" smtClean="0">
                            <a:latin typeface="Cambria Math"/>
                          </a:rPr>
                          <m:t>1</m:t>
                        </m:r>
                      </m:sub>
                    </m:sSub>
                  </m:oMath>
                </a14:m>
                <a:r>
                  <a:rPr lang="en-US" dirty="0"/>
                  <a:t> to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𝑣</m:t>
                        </m:r>
                      </m:e>
                      <m:sub>
                        <m:r>
                          <a:rPr lang="en-US" i="1" dirty="0" smtClean="0">
                            <a:latin typeface="Cambria Math"/>
                          </a:rPr>
                          <m:t>2</m:t>
                        </m:r>
                      </m:sub>
                    </m:sSub>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half" idx="1"/>
              </p:nvPr>
            </p:nvSpPr>
            <p:spPr>
              <a:blipFill>
                <a:blip r:embed="rId2"/>
                <a:stretch>
                  <a:fillRect l="-2715" t="-2156" r="-1357"/>
                </a:stretch>
              </a:blipFill>
            </p:spPr>
            <p:txBody>
              <a:bodyPr/>
              <a:lstStyle/>
              <a:p>
                <a:r>
                  <a:rPr lang="en-US">
                    <a:noFill/>
                  </a:rPr>
                  <a:t> </a:t>
                </a:r>
              </a:p>
            </p:txBody>
          </p:sp>
        </mc:Fallback>
      </mc:AlternateContent>
      <p:sp>
        <p:nvSpPr>
          <p:cNvPr id="6" name="Oval 5"/>
          <p:cNvSpPr/>
          <p:nvPr/>
        </p:nvSpPr>
        <p:spPr>
          <a:xfrm>
            <a:off x="5257800" y="1371600"/>
            <a:ext cx="457200" cy="4572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05600" y="2057400"/>
            <a:ext cx="457200" cy="4572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5"/>
            <a:endCxn id="11" idx="0"/>
          </p:cNvCxnSpPr>
          <p:nvPr/>
        </p:nvCxnSpPr>
        <p:spPr>
          <a:xfrm>
            <a:off x="7304690" y="4657445"/>
            <a:ext cx="346355" cy="98135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2"/>
            <a:endCxn id="12" idx="5"/>
          </p:cNvCxnSpPr>
          <p:nvPr/>
        </p:nvCxnSpPr>
        <p:spPr>
          <a:xfrm flipH="1" flipV="1">
            <a:off x="6638645" y="5571845"/>
            <a:ext cx="783800" cy="29555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7"/>
            <a:endCxn id="9" idx="3"/>
          </p:cNvCxnSpPr>
          <p:nvPr/>
        </p:nvCxnSpPr>
        <p:spPr>
          <a:xfrm flipV="1">
            <a:off x="6638645" y="4657445"/>
            <a:ext cx="342755" cy="59111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7" idx="1"/>
          </p:cNvCxnSpPr>
          <p:nvPr/>
        </p:nvCxnSpPr>
        <p:spPr>
          <a:xfrm>
            <a:off x="5715000" y="1600200"/>
            <a:ext cx="1057555" cy="52415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7"/>
            <a:endCxn id="7" idx="3"/>
          </p:cNvCxnSpPr>
          <p:nvPr/>
        </p:nvCxnSpPr>
        <p:spPr>
          <a:xfrm flipV="1">
            <a:off x="6238911" y="2447645"/>
            <a:ext cx="533644" cy="69553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a:off x="7095845" y="2447645"/>
            <a:ext cx="743510" cy="7660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457200" y="6172200"/>
            <a:ext cx="6221255" cy="369332"/>
          </a:xfrm>
          <a:prstGeom prst="rect">
            <a:avLst/>
          </a:prstGeom>
          <a:noFill/>
        </p:spPr>
        <p:txBody>
          <a:bodyPr wrap="none" rtlCol="0">
            <a:spAutoFit/>
          </a:bodyPr>
          <a:lstStyle/>
          <a:p>
            <a:r>
              <a:rPr lang="en-US" b="1" dirty="0"/>
              <a:t>Note:</a:t>
            </a:r>
            <a:r>
              <a:rPr lang="en-US" dirty="0"/>
              <a:t> you can also think of a digraph as a relation on the vertices</a:t>
            </a:r>
          </a:p>
        </p:txBody>
      </p:sp>
    </p:spTree>
    <p:extLst>
      <p:ext uri="{BB962C8B-B14F-4D97-AF65-F5344CB8AC3E}">
        <p14:creationId xmlns:p14="http://schemas.microsoft.com/office/powerpoint/2010/main" val="1788611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Graphs</a:t>
            </a:r>
          </a:p>
        </p:txBody>
      </p:sp>
      <mc:AlternateContent xmlns:mc="http://schemas.openxmlformats.org/markup-compatibility/2006" xmlns:a14="http://schemas.microsoft.com/office/drawing/2010/main">
        <mc:Choice Requires="a14">
          <p:sp>
            <p:nvSpPr>
              <p:cNvPr id="4" name="Content Placeholder 3"/>
              <p:cNvSpPr>
                <a:spLocks noGrp="1"/>
              </p:cNvSpPr>
              <p:nvPr>
                <p:ph sz="half" idx="1"/>
              </p:nvPr>
            </p:nvSpPr>
            <p:spPr/>
            <p:txBody>
              <a:bodyPr>
                <a:normAutofit fontScale="77500" lnSpcReduction="20000"/>
              </a:bodyPr>
              <a:lstStyle/>
              <a:p>
                <a:pPr marL="0" indent="0">
                  <a:buNone/>
                </a:pPr>
                <a:r>
                  <a:rPr lang="en-US" dirty="0"/>
                  <a:t>An </a:t>
                </a:r>
                <a:r>
                  <a:rPr lang="en-US" b="1" dirty="0">
                    <a:solidFill>
                      <a:schemeClr val="accent6">
                        <a:lumMod val="75000"/>
                      </a:schemeClr>
                    </a:solidFill>
                  </a:rPr>
                  <a:t>undirected graph</a:t>
                </a:r>
                <a:r>
                  <a:rPr lang="en-US" b="1" dirty="0">
                    <a:solidFill>
                      <a:schemeClr val="accent6">
                        <a:lumMod val="50000"/>
                      </a:schemeClr>
                    </a:solidFill>
                  </a:rPr>
                  <a:t> </a:t>
                </a:r>
                <a:r>
                  <a:rPr lang="en-US" dirty="0"/>
                  <a:t>is the same except that</a:t>
                </a:r>
              </a:p>
              <a:p>
                <a14:m>
                  <m:oMath xmlns:m="http://schemas.openxmlformats.org/officeDocument/2006/math">
                    <m:r>
                      <a:rPr lang="en-US" i="1" dirty="0" smtClean="0">
                        <a:latin typeface="Cambria Math"/>
                      </a:rPr>
                      <m:t>𝐸</m:t>
                    </m:r>
                  </m:oMath>
                </a14:m>
                <a:r>
                  <a:rPr lang="en-US" dirty="0"/>
                  <a:t> is a set of </a:t>
                </a:r>
                <a:r>
                  <a:rPr lang="en-US" b="1" dirty="0">
                    <a:solidFill>
                      <a:schemeClr val="accent6">
                        <a:lumMod val="75000"/>
                      </a:schemeClr>
                    </a:solidFill>
                  </a:rPr>
                  <a:t>two-element subsets</a:t>
                </a:r>
                <a:r>
                  <a:rPr lang="en-US" b="1" dirty="0">
                    <a:solidFill>
                      <a:schemeClr val="accent6">
                        <a:lumMod val="50000"/>
                      </a:schemeClr>
                    </a:solidFill>
                  </a:rPr>
                  <a:t> </a:t>
                </a:r>
                <a:r>
                  <a:rPr lang="en-US" dirty="0"/>
                  <a:t>of </a:t>
                </a:r>
                <a14:m>
                  <m:oMath xmlns:m="http://schemas.openxmlformats.org/officeDocument/2006/math">
                    <m:r>
                      <a:rPr lang="en-US" i="1" dirty="0" smtClean="0">
                        <a:latin typeface="Cambria Math"/>
                      </a:rPr>
                      <m:t>𝑉</m:t>
                    </m:r>
                  </m:oMath>
                </a14:m>
                <a:r>
                  <a:rPr lang="en-US" dirty="0"/>
                  <a:t> rather than a set of pairs</a:t>
                </a:r>
              </a:p>
              <a:p>
                <a14:m>
                  <m:oMath xmlns:m="http://schemas.openxmlformats.org/officeDocument/2006/math">
                    <m:r>
                      <a:rPr lang="en-US" i="1" dirty="0" smtClean="0">
                        <a:latin typeface="Cambria Math"/>
                      </a:rPr>
                      <m:t>{ </m:t>
                    </m:r>
                    <m:sSub>
                      <m:sSubPr>
                        <m:ctrlPr>
                          <a:rPr lang="en-US" i="1" dirty="0" smtClean="0">
                            <a:latin typeface="Cambria Math" panose="02040503050406030204" pitchFamily="18" charset="0"/>
                          </a:rPr>
                        </m:ctrlPr>
                      </m:sSubPr>
                      <m:e>
                        <m:r>
                          <a:rPr lang="en-US" i="1" dirty="0" smtClean="0">
                            <a:latin typeface="Cambria Math"/>
                          </a:rPr>
                          <m:t>𝑣</m:t>
                        </m:r>
                      </m:e>
                      <m:sub>
                        <m:r>
                          <a:rPr lang="en-US" i="1" dirty="0" smtClean="0">
                            <a:latin typeface="Cambria Math"/>
                          </a:rPr>
                          <m:t>1</m:t>
                        </m:r>
                      </m:sub>
                    </m:sSub>
                    <m:r>
                      <a:rPr lang="en-US" i="1" dirty="0" smtClean="0">
                        <a:latin typeface="Cambria Math"/>
                      </a:rPr>
                      <m:t>, </m:t>
                    </m:r>
                    <m:sSub>
                      <m:sSubPr>
                        <m:ctrlPr>
                          <a:rPr lang="en-US" i="1" dirty="0" smtClean="0">
                            <a:latin typeface="Cambria Math" panose="02040503050406030204" pitchFamily="18" charset="0"/>
                          </a:rPr>
                        </m:ctrlPr>
                      </m:sSubPr>
                      <m:e>
                        <m:r>
                          <a:rPr lang="en-US" i="1" dirty="0" smtClean="0">
                            <a:latin typeface="Cambria Math"/>
                          </a:rPr>
                          <m:t>𝑣</m:t>
                        </m:r>
                      </m:e>
                      <m:sub>
                        <m:r>
                          <a:rPr lang="en-US" i="1" dirty="0" smtClean="0">
                            <a:latin typeface="Cambria Math"/>
                          </a:rPr>
                          <m:t>2</m:t>
                        </m:r>
                      </m:sub>
                    </m:sSub>
                    <m:r>
                      <a:rPr lang="en-US" i="1" dirty="0" smtClean="0">
                        <a:latin typeface="Cambria Math"/>
                      </a:rPr>
                      <m:t>}∈</m:t>
                    </m:r>
                    <m:r>
                      <a:rPr lang="en-US" i="1" dirty="0" smtClean="0">
                        <a:latin typeface="Cambria Math"/>
                      </a:rPr>
                      <m:t>𝐸</m:t>
                    </m:r>
                  </m:oMath>
                </a14:m>
                <a:r>
                  <a:rPr lang="en-US" dirty="0"/>
                  <a:t> </a:t>
                </a:r>
                <a:r>
                  <a:rPr lang="en-US" dirty="0" err="1"/>
                  <a:t>iff</a:t>
                </a:r>
                <a:r>
                  <a:rPr lang="en-US" dirty="0"/>
                  <a:t> the graph has an edge (line)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𝑣</m:t>
                        </m:r>
                      </m:e>
                      <m:sub>
                        <m:r>
                          <a:rPr lang="en-US" i="1" dirty="0" smtClean="0">
                            <a:latin typeface="Cambria Math"/>
                          </a:rPr>
                          <m:t>1</m:t>
                        </m:r>
                      </m:sub>
                    </m:sSub>
                  </m:oMath>
                </a14:m>
                <a:r>
                  <a:rPr lang="en-US" dirty="0"/>
                  <a:t> between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𝑣</m:t>
                        </m:r>
                      </m:e>
                      <m:sub>
                        <m:r>
                          <a:rPr lang="en-US" i="1" dirty="0" smtClean="0">
                            <a:latin typeface="Cambria Math"/>
                          </a:rPr>
                          <m:t>2</m:t>
                        </m:r>
                      </m:sub>
                    </m:sSub>
                  </m:oMath>
                </a14:m>
                <a:endParaRPr lang="en-US" dirty="0"/>
              </a:p>
              <a:p>
                <a:endParaRPr lang="en-US" dirty="0"/>
              </a:p>
              <a:p>
                <a:r>
                  <a:rPr lang="en-US" dirty="0"/>
                  <a:t>Undirected graphs </a:t>
                </a:r>
                <a:r>
                  <a:rPr lang="en-US" b="1" dirty="0">
                    <a:solidFill>
                      <a:schemeClr val="accent6">
                        <a:lumMod val="50000"/>
                      </a:schemeClr>
                    </a:solidFill>
                  </a:rPr>
                  <a:t>don’t distinguish </a:t>
                </a:r>
                <a:r>
                  <a:rPr lang="en-US" dirty="0"/>
                  <a:t>between an edge from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𝑣</m:t>
                        </m:r>
                      </m:e>
                      <m:sub>
                        <m:r>
                          <a:rPr lang="en-US" i="1" dirty="0" smtClean="0">
                            <a:latin typeface="Cambria Math"/>
                          </a:rPr>
                          <m:t>1</m:t>
                        </m:r>
                      </m:sub>
                    </m:sSub>
                  </m:oMath>
                </a14:m>
                <a:r>
                  <a:rPr lang="en-US" dirty="0"/>
                  <a:t> to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𝑣</m:t>
                        </m:r>
                      </m:e>
                      <m:sub>
                        <m:r>
                          <a:rPr lang="en-US" i="1" dirty="0" smtClean="0">
                            <a:latin typeface="Cambria Math"/>
                          </a:rPr>
                          <m:t>2</m:t>
                        </m:r>
                      </m:sub>
                    </m:sSub>
                  </m:oMath>
                </a14:m>
                <a:r>
                  <a:rPr lang="en-US" dirty="0"/>
                  <a:t> and an edge from </a:t>
                </a:r>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𝑣</m:t>
                        </m:r>
                      </m:e>
                      <m:sub>
                        <m:r>
                          <a:rPr lang="en-US" i="1" dirty="0" smtClean="0">
                            <a:latin typeface="Cambria Math"/>
                          </a:rPr>
                          <m:t>2</m:t>
                        </m:r>
                      </m:sub>
                    </m:sSub>
                  </m:oMath>
                </a14:m>
                <a:r>
                  <a:rPr lang="en-US" dirty="0"/>
                  <a:t> to </a:t>
                </a:r>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𝑣</m:t>
                        </m:r>
                      </m:e>
                      <m:sub>
                        <m:r>
                          <a:rPr lang="en-US" i="1" dirty="0" smtClean="0">
                            <a:latin typeface="Cambria Math"/>
                          </a:rPr>
                          <m:t>1</m:t>
                        </m:r>
                      </m:sub>
                    </m:sSub>
                  </m:oMath>
                </a14:m>
                <a:r>
                  <a:rPr lang="en-US" dirty="0"/>
                  <a:t> </a:t>
                </a:r>
              </a:p>
              <a:p>
                <a:pPr lvl="1"/>
                <a:r>
                  <a:rPr lang="en-US" dirty="0"/>
                  <a:t>Hence they’re drawn with lines rather than arrows</a:t>
                </a:r>
              </a:p>
            </p:txBody>
          </p:sp>
        </mc:Choice>
        <mc:Fallback xmlns="">
          <p:sp>
            <p:nvSpPr>
              <p:cNvPr id="4" name="Content Placeholder 3"/>
              <p:cNvSpPr>
                <a:spLocks noGrp="1" noRot="1" noChangeAspect="1" noMove="1" noResize="1" noEditPoints="1" noAdjustHandles="1" noChangeArrowheads="1" noChangeShapeType="1" noTextEdit="1"/>
              </p:cNvSpPr>
              <p:nvPr>
                <p:ph sz="half" idx="1"/>
              </p:nvPr>
            </p:nvSpPr>
            <p:spPr>
              <a:blipFill>
                <a:blip r:embed="rId2"/>
                <a:stretch>
                  <a:fillRect l="-1961" t="-2291" r="-1056"/>
                </a:stretch>
              </a:blipFill>
            </p:spPr>
            <p:txBody>
              <a:bodyPr/>
              <a:lstStyle/>
              <a:p>
                <a:r>
                  <a:rPr lang="en-US">
                    <a:noFill/>
                  </a:rPr>
                  <a:t> </a:t>
                </a:r>
              </a:p>
            </p:txBody>
          </p:sp>
        </mc:Fallback>
      </mc:AlternateContent>
      <p:sp>
        <p:nvSpPr>
          <p:cNvPr id="6" name="Oval 5"/>
          <p:cNvSpPr/>
          <p:nvPr/>
        </p:nvSpPr>
        <p:spPr>
          <a:xfrm>
            <a:off x="5257800" y="137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05600" y="2057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5"/>
            <a:endCxn id="11" idx="0"/>
          </p:cNvCxnSpPr>
          <p:nvPr/>
        </p:nvCxnSpPr>
        <p:spPr>
          <a:xfrm>
            <a:off x="7304690" y="4657445"/>
            <a:ext cx="346355" cy="9813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2"/>
            <a:endCxn id="12" idx="5"/>
          </p:cNvCxnSpPr>
          <p:nvPr/>
        </p:nvCxnSpPr>
        <p:spPr>
          <a:xfrm flipH="1" flipV="1">
            <a:off x="6638645" y="5571845"/>
            <a:ext cx="783800" cy="2955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7"/>
            <a:endCxn id="9" idx="3"/>
          </p:cNvCxnSpPr>
          <p:nvPr/>
        </p:nvCxnSpPr>
        <p:spPr>
          <a:xfrm flipV="1">
            <a:off x="6638645" y="4657445"/>
            <a:ext cx="342755" cy="59111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7" idx="1"/>
          </p:cNvCxnSpPr>
          <p:nvPr/>
        </p:nvCxnSpPr>
        <p:spPr>
          <a:xfrm>
            <a:off x="5715000" y="1600200"/>
            <a:ext cx="1057555" cy="52415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7"/>
            <a:endCxn id="7"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57200" y="6172200"/>
            <a:ext cx="8275022" cy="369332"/>
          </a:xfrm>
          <a:prstGeom prst="rect">
            <a:avLst/>
          </a:prstGeom>
          <a:noFill/>
        </p:spPr>
        <p:txBody>
          <a:bodyPr wrap="none" rtlCol="0">
            <a:spAutoFit/>
          </a:bodyPr>
          <a:lstStyle/>
          <a:p>
            <a:r>
              <a:rPr lang="en-US" b="1" dirty="0"/>
              <a:t>Note:</a:t>
            </a:r>
            <a:r>
              <a:rPr lang="en-US" dirty="0"/>
              <a:t> you can also think of an undirected graph as a symmetric relation on the vertices</a:t>
            </a:r>
          </a:p>
        </p:txBody>
      </p:sp>
    </p:spTree>
    <p:extLst>
      <p:ext uri="{BB962C8B-B14F-4D97-AF65-F5344CB8AC3E}">
        <p14:creationId xmlns:p14="http://schemas.microsoft.com/office/powerpoint/2010/main" val="1320001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Subgraphs</a:t>
            </a:r>
            <a:endParaRPr lang="en-US" dirty="0"/>
          </a:p>
        </p:txBody>
      </p:sp>
      <p:sp>
        <p:nvSpPr>
          <p:cNvPr id="4" name="Content Placeholder 3"/>
          <p:cNvSpPr>
            <a:spLocks noGrp="1"/>
          </p:cNvSpPr>
          <p:nvPr>
            <p:ph sz="half" idx="1"/>
          </p:nvPr>
        </p:nvSpPr>
        <p:spPr/>
        <p:txBody>
          <a:bodyPr>
            <a:normAutofit/>
          </a:bodyPr>
          <a:lstStyle/>
          <a:p>
            <a:pPr marL="0" indent="0">
              <a:buNone/>
            </a:pPr>
            <a:r>
              <a:rPr lang="en-US" dirty="0"/>
              <a:t>A </a:t>
            </a:r>
            <a:r>
              <a:rPr lang="en-US" b="1" dirty="0" err="1">
                <a:solidFill>
                  <a:schemeClr val="accent6">
                    <a:lumMod val="50000"/>
                  </a:schemeClr>
                </a:solidFill>
              </a:rPr>
              <a:t>subgraph</a:t>
            </a:r>
            <a:r>
              <a:rPr lang="en-US" dirty="0">
                <a:solidFill>
                  <a:schemeClr val="accent6">
                    <a:lumMod val="50000"/>
                  </a:schemeClr>
                </a:solidFill>
              </a:rPr>
              <a:t> </a:t>
            </a:r>
            <a:r>
              <a:rPr lang="en-US" dirty="0"/>
              <a:t>is just a graph whose edges and vertices </a:t>
            </a:r>
            <a:r>
              <a:rPr lang="en-US" b="1" dirty="0">
                <a:solidFill>
                  <a:schemeClr val="accent6">
                    <a:lumMod val="50000"/>
                  </a:schemeClr>
                </a:solidFill>
              </a:rPr>
              <a:t>subsets</a:t>
            </a:r>
            <a:r>
              <a:rPr lang="en-US" dirty="0">
                <a:solidFill>
                  <a:schemeClr val="accent6">
                    <a:lumMod val="50000"/>
                  </a:schemeClr>
                </a:solidFill>
              </a:rPr>
              <a:t> </a:t>
            </a:r>
            <a:r>
              <a:rPr lang="en-US" dirty="0"/>
              <a:t>of the vertices and edges of some other graph</a:t>
            </a:r>
          </a:p>
        </p:txBody>
      </p:sp>
      <p:sp>
        <p:nvSpPr>
          <p:cNvPr id="6" name="Oval 5"/>
          <p:cNvSpPr/>
          <p:nvPr/>
        </p:nvSpPr>
        <p:spPr>
          <a:xfrm>
            <a:off x="5257800" y="137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05600" y="2057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5"/>
            <a:endCxn id="11" idx="0"/>
          </p:cNvCxnSpPr>
          <p:nvPr/>
        </p:nvCxnSpPr>
        <p:spPr>
          <a:xfrm>
            <a:off x="7304690" y="4657445"/>
            <a:ext cx="346355" cy="9813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2"/>
            <a:endCxn id="12" idx="5"/>
          </p:cNvCxnSpPr>
          <p:nvPr/>
        </p:nvCxnSpPr>
        <p:spPr>
          <a:xfrm flipH="1" flipV="1">
            <a:off x="6638645" y="5571845"/>
            <a:ext cx="783800" cy="2955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7"/>
            <a:endCxn id="9" idx="3"/>
          </p:cNvCxnSpPr>
          <p:nvPr/>
        </p:nvCxnSpPr>
        <p:spPr>
          <a:xfrm flipV="1">
            <a:off x="6638645" y="4657445"/>
            <a:ext cx="342755" cy="59111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7" idx="1"/>
          </p:cNvCxnSpPr>
          <p:nvPr/>
        </p:nvCxnSpPr>
        <p:spPr>
          <a:xfrm>
            <a:off x="5715000" y="1600200"/>
            <a:ext cx="1057555" cy="52415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7"/>
            <a:endCxn id="7"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5757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Subgraphs</a:t>
            </a:r>
            <a:endParaRPr lang="en-US" dirty="0"/>
          </a:p>
        </p:txBody>
      </p:sp>
      <p:sp>
        <p:nvSpPr>
          <p:cNvPr id="4" name="Content Placeholder 3"/>
          <p:cNvSpPr>
            <a:spLocks noGrp="1"/>
          </p:cNvSpPr>
          <p:nvPr>
            <p:ph sz="half" idx="1"/>
          </p:nvPr>
        </p:nvSpPr>
        <p:spPr/>
        <p:txBody>
          <a:bodyPr>
            <a:normAutofit/>
          </a:bodyPr>
          <a:lstStyle/>
          <a:p>
            <a:pPr marL="0" indent="0">
              <a:buNone/>
            </a:pPr>
            <a:r>
              <a:rPr lang="en-US" dirty="0"/>
              <a:t>A </a:t>
            </a:r>
            <a:r>
              <a:rPr lang="en-US" dirty="0" err="1"/>
              <a:t>subgraph</a:t>
            </a:r>
            <a:r>
              <a:rPr lang="en-US" dirty="0"/>
              <a:t> is just a subset of the </a:t>
            </a:r>
            <a:r>
              <a:rPr lang="en-US"/>
              <a:t>vertices and/or </a:t>
            </a:r>
            <a:r>
              <a:rPr lang="en-US" dirty="0"/>
              <a:t>edges of some other graph</a:t>
            </a:r>
          </a:p>
        </p:txBody>
      </p:sp>
      <p:sp>
        <p:nvSpPr>
          <p:cNvPr id="6" name="Oval 5"/>
          <p:cNvSpPr/>
          <p:nvPr/>
        </p:nvSpPr>
        <p:spPr>
          <a:xfrm>
            <a:off x="5257800" y="137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05600" y="2057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a:stCxn id="6" idx="6"/>
            <a:endCxn id="7" idx="1"/>
          </p:cNvCxnSpPr>
          <p:nvPr/>
        </p:nvCxnSpPr>
        <p:spPr>
          <a:xfrm>
            <a:off x="5715000" y="1600200"/>
            <a:ext cx="1057555" cy="52415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7"/>
            <a:endCxn id="7"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6130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Subgraphs</a:t>
            </a:r>
            <a:endParaRPr lang="en-US" dirty="0"/>
          </a:p>
        </p:txBody>
      </p:sp>
      <p:sp>
        <p:nvSpPr>
          <p:cNvPr id="4" name="Content Placeholder 3"/>
          <p:cNvSpPr>
            <a:spLocks noGrp="1"/>
          </p:cNvSpPr>
          <p:nvPr>
            <p:ph sz="half" idx="1"/>
          </p:nvPr>
        </p:nvSpPr>
        <p:spPr/>
        <p:txBody>
          <a:bodyPr>
            <a:normAutofit/>
          </a:bodyPr>
          <a:lstStyle/>
          <a:p>
            <a:pPr marL="0" indent="0">
              <a:buNone/>
            </a:pPr>
            <a:r>
              <a:rPr lang="en-US" dirty="0"/>
              <a:t>A </a:t>
            </a:r>
            <a:r>
              <a:rPr lang="en-US" dirty="0" err="1"/>
              <a:t>subgraph</a:t>
            </a:r>
            <a:r>
              <a:rPr lang="en-US" dirty="0"/>
              <a:t> is just a subset of the </a:t>
            </a:r>
            <a:r>
              <a:rPr lang="en-US"/>
              <a:t>vertices and/or </a:t>
            </a:r>
            <a:r>
              <a:rPr lang="en-US" dirty="0"/>
              <a:t>edges of some other graph</a:t>
            </a:r>
          </a:p>
        </p:txBody>
      </p:sp>
      <p:sp>
        <p:nvSpPr>
          <p:cNvPr id="6" name="Oval 5"/>
          <p:cNvSpPr/>
          <p:nvPr/>
        </p:nvSpPr>
        <p:spPr>
          <a:xfrm>
            <a:off x="5257800" y="137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05600" y="2057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5"/>
            <a:endCxn id="11" idx="0"/>
          </p:cNvCxnSpPr>
          <p:nvPr/>
        </p:nvCxnSpPr>
        <p:spPr>
          <a:xfrm>
            <a:off x="7304690" y="4657445"/>
            <a:ext cx="346355" cy="9813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2"/>
            <a:endCxn id="12" idx="5"/>
          </p:cNvCxnSpPr>
          <p:nvPr/>
        </p:nvCxnSpPr>
        <p:spPr>
          <a:xfrm flipH="1" flipV="1">
            <a:off x="6638645" y="5571845"/>
            <a:ext cx="783800" cy="2955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7" idx="1"/>
          </p:cNvCxnSpPr>
          <p:nvPr/>
        </p:nvCxnSpPr>
        <p:spPr>
          <a:xfrm>
            <a:off x="5715000" y="1600200"/>
            <a:ext cx="1057555" cy="52415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7"/>
            <a:endCxn id="7"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5583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Subgraphs</a:t>
            </a:r>
            <a:endParaRPr lang="en-US" dirty="0"/>
          </a:p>
        </p:txBody>
      </p:sp>
      <p:sp>
        <p:nvSpPr>
          <p:cNvPr id="4" name="Content Placeholder 3"/>
          <p:cNvSpPr>
            <a:spLocks noGrp="1"/>
          </p:cNvSpPr>
          <p:nvPr>
            <p:ph sz="half" idx="1"/>
          </p:nvPr>
        </p:nvSpPr>
        <p:spPr/>
        <p:txBody>
          <a:bodyPr>
            <a:normAutofit/>
          </a:bodyPr>
          <a:lstStyle/>
          <a:p>
            <a:pPr marL="0" indent="0">
              <a:buNone/>
            </a:pPr>
            <a:r>
              <a:rPr lang="en-US" dirty="0"/>
              <a:t>A </a:t>
            </a:r>
            <a:r>
              <a:rPr lang="en-US" dirty="0" err="1"/>
              <a:t>subgraph</a:t>
            </a:r>
            <a:r>
              <a:rPr lang="en-US" dirty="0"/>
              <a:t> is just a subset of the </a:t>
            </a:r>
            <a:r>
              <a:rPr lang="en-US"/>
              <a:t>vertices and/or </a:t>
            </a:r>
            <a:r>
              <a:rPr lang="en-US" dirty="0"/>
              <a:t>edges of some other graph</a:t>
            </a:r>
          </a:p>
        </p:txBody>
      </p:sp>
      <p:sp>
        <p:nvSpPr>
          <p:cNvPr id="6" name="Oval 5"/>
          <p:cNvSpPr/>
          <p:nvPr/>
        </p:nvSpPr>
        <p:spPr>
          <a:xfrm>
            <a:off x="5257800" y="137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5"/>
            <a:endCxn id="11" idx="0"/>
          </p:cNvCxnSpPr>
          <p:nvPr/>
        </p:nvCxnSpPr>
        <p:spPr>
          <a:xfrm>
            <a:off x="7304690" y="4657445"/>
            <a:ext cx="346355" cy="9813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2"/>
            <a:endCxn id="12" idx="5"/>
          </p:cNvCxnSpPr>
          <p:nvPr/>
        </p:nvCxnSpPr>
        <p:spPr>
          <a:xfrm flipH="1" flipV="1">
            <a:off x="6638645" y="5571845"/>
            <a:ext cx="783800" cy="2955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7"/>
            <a:endCxn id="9" idx="3"/>
          </p:cNvCxnSpPr>
          <p:nvPr/>
        </p:nvCxnSpPr>
        <p:spPr>
          <a:xfrm flipV="1">
            <a:off x="6638645" y="4657445"/>
            <a:ext cx="342755" cy="59111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9836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a:t>
            </a:r>
          </a:p>
        </p:txBody>
      </p:sp>
      <p:sp>
        <p:nvSpPr>
          <p:cNvPr id="4" name="Content Placeholder 3"/>
          <p:cNvSpPr>
            <a:spLocks noGrp="1"/>
          </p:cNvSpPr>
          <p:nvPr>
            <p:ph sz="half" idx="1"/>
          </p:nvPr>
        </p:nvSpPr>
        <p:spPr/>
        <p:txBody>
          <a:bodyPr>
            <a:normAutofit/>
          </a:bodyPr>
          <a:lstStyle/>
          <a:p>
            <a:r>
              <a:rPr lang="en-US" dirty="0"/>
              <a:t>Two vertices linked by an edge are said to be </a:t>
            </a:r>
            <a:r>
              <a:rPr lang="en-US" b="1" dirty="0">
                <a:solidFill>
                  <a:schemeClr val="accent6">
                    <a:lumMod val="50000"/>
                  </a:schemeClr>
                </a:solidFill>
              </a:rPr>
              <a:t>adjacent</a:t>
            </a:r>
          </a:p>
        </p:txBody>
      </p:sp>
      <p:sp>
        <p:nvSpPr>
          <p:cNvPr id="6" name="Oval 5"/>
          <p:cNvSpPr/>
          <p:nvPr/>
        </p:nvSpPr>
        <p:spPr>
          <a:xfrm>
            <a:off x="5257800" y="137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05600" y="20574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5"/>
            <a:endCxn id="11" idx="0"/>
          </p:cNvCxnSpPr>
          <p:nvPr/>
        </p:nvCxnSpPr>
        <p:spPr>
          <a:xfrm>
            <a:off x="7304690" y="4657445"/>
            <a:ext cx="346355" cy="9813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2"/>
            <a:endCxn id="12" idx="5"/>
          </p:cNvCxnSpPr>
          <p:nvPr/>
        </p:nvCxnSpPr>
        <p:spPr>
          <a:xfrm flipH="1" flipV="1">
            <a:off x="6638645" y="5571845"/>
            <a:ext cx="783800" cy="2955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7"/>
            <a:endCxn id="9" idx="3"/>
          </p:cNvCxnSpPr>
          <p:nvPr/>
        </p:nvCxnSpPr>
        <p:spPr>
          <a:xfrm flipV="1">
            <a:off x="6638645" y="4657445"/>
            <a:ext cx="342755" cy="59111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7" idx="1"/>
          </p:cNvCxnSpPr>
          <p:nvPr/>
        </p:nvCxnSpPr>
        <p:spPr>
          <a:xfrm>
            <a:off x="5715000" y="1600200"/>
            <a:ext cx="1057555" cy="52415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7"/>
            <a:endCxn id="7"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13192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Paths</a:t>
            </a:r>
          </a:p>
        </p:txBody>
      </p:sp>
      <p:sp>
        <p:nvSpPr>
          <p:cNvPr id="4" name="Content Placeholder 3"/>
          <p:cNvSpPr>
            <a:spLocks noGrp="1"/>
          </p:cNvSpPr>
          <p:nvPr>
            <p:ph sz="half" idx="1"/>
          </p:nvPr>
        </p:nvSpPr>
        <p:spPr/>
        <p:txBody>
          <a:bodyPr>
            <a:normAutofit lnSpcReduction="10000"/>
          </a:bodyPr>
          <a:lstStyle/>
          <a:p>
            <a:r>
              <a:rPr lang="en-US" dirty="0"/>
              <a:t>A </a:t>
            </a:r>
            <a:r>
              <a:rPr lang="en-US" b="1" dirty="0">
                <a:solidFill>
                  <a:schemeClr val="accent6">
                    <a:lumMod val="50000"/>
                  </a:schemeClr>
                </a:solidFill>
              </a:rPr>
              <a:t>path</a:t>
            </a:r>
            <a:r>
              <a:rPr lang="en-US" dirty="0">
                <a:solidFill>
                  <a:schemeClr val="accent6">
                    <a:lumMod val="50000"/>
                  </a:schemeClr>
                </a:solidFill>
              </a:rPr>
              <a:t> </a:t>
            </a:r>
            <a:r>
              <a:rPr lang="en-US" dirty="0"/>
              <a:t>is a series of adjacent vertices that doesn’t repeat the same vertex</a:t>
            </a:r>
          </a:p>
          <a:p>
            <a:pPr lvl="1"/>
            <a:r>
              <a:rPr lang="en-US" dirty="0"/>
              <a:t>For a directed graph, the path has to follow the direction of the edges</a:t>
            </a:r>
          </a:p>
          <a:p>
            <a:endParaRPr lang="en-US" dirty="0"/>
          </a:p>
          <a:p>
            <a:r>
              <a:rPr lang="en-US" dirty="0"/>
              <a:t>Two vertices are </a:t>
            </a:r>
            <a:r>
              <a:rPr lang="en-US" b="1" dirty="0">
                <a:solidFill>
                  <a:schemeClr val="accent6">
                    <a:lumMod val="50000"/>
                  </a:schemeClr>
                </a:solidFill>
              </a:rPr>
              <a:t>connected</a:t>
            </a:r>
            <a:r>
              <a:rPr lang="en-US" dirty="0"/>
              <a:t>, if there is a path between them</a:t>
            </a:r>
          </a:p>
        </p:txBody>
      </p:sp>
      <p:sp>
        <p:nvSpPr>
          <p:cNvPr id="6" name="Oval 5"/>
          <p:cNvSpPr/>
          <p:nvPr/>
        </p:nvSpPr>
        <p:spPr>
          <a:xfrm>
            <a:off x="5257800" y="13716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05600" y="20574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5"/>
            <a:endCxn id="11" idx="0"/>
          </p:cNvCxnSpPr>
          <p:nvPr/>
        </p:nvCxnSpPr>
        <p:spPr>
          <a:xfrm>
            <a:off x="7304690" y="4657445"/>
            <a:ext cx="346355" cy="9813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2"/>
            <a:endCxn id="12" idx="5"/>
          </p:cNvCxnSpPr>
          <p:nvPr/>
        </p:nvCxnSpPr>
        <p:spPr>
          <a:xfrm flipH="1" flipV="1">
            <a:off x="6638645" y="5571845"/>
            <a:ext cx="783800" cy="2955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7"/>
            <a:endCxn id="9" idx="3"/>
          </p:cNvCxnSpPr>
          <p:nvPr/>
        </p:nvCxnSpPr>
        <p:spPr>
          <a:xfrm flipV="1">
            <a:off x="6638645" y="4657445"/>
            <a:ext cx="342755" cy="59111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7" idx="1"/>
          </p:cNvCxnSpPr>
          <p:nvPr/>
        </p:nvCxnSpPr>
        <p:spPr>
          <a:xfrm>
            <a:off x="5715000" y="1600200"/>
            <a:ext cx="1057555" cy="52415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7"/>
            <a:endCxn id="7"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4686DB5-0104-4AD2-B5D5-ACE9C92FF818}"/>
              </a:ext>
            </a:extLst>
          </p:cNvPr>
          <p:cNvSpPr txBox="1"/>
          <p:nvPr/>
        </p:nvSpPr>
        <p:spPr>
          <a:xfrm>
            <a:off x="457200" y="6218620"/>
            <a:ext cx="7543800" cy="461665"/>
          </a:xfrm>
          <a:prstGeom prst="rect">
            <a:avLst/>
          </a:prstGeom>
          <a:noFill/>
        </p:spPr>
        <p:txBody>
          <a:bodyPr wrap="square" rtlCol="0">
            <a:spAutoFit/>
          </a:bodyPr>
          <a:lstStyle/>
          <a:p>
            <a:r>
              <a:rPr lang="en-US" sz="1200" dirty="0"/>
              <a:t>Fine print: for directed graphs, we sometimes distinguish between directed paths, where all the edges point in the same direction, and undirected paths.  That’s deeper in the weeds than we need to worry about for this class.</a:t>
            </a:r>
          </a:p>
        </p:txBody>
      </p:sp>
    </p:spTree>
    <p:extLst>
      <p:ext uri="{BB962C8B-B14F-4D97-AF65-F5344CB8AC3E}">
        <p14:creationId xmlns:p14="http://schemas.microsoft.com/office/powerpoint/2010/main" val="38134245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Connectivity</a:t>
            </a:r>
          </a:p>
        </p:txBody>
      </p:sp>
      <p:sp>
        <p:nvSpPr>
          <p:cNvPr id="4" name="Content Placeholder 3"/>
          <p:cNvSpPr>
            <a:spLocks noGrp="1"/>
          </p:cNvSpPr>
          <p:nvPr>
            <p:ph sz="half" idx="1"/>
          </p:nvPr>
        </p:nvSpPr>
        <p:spPr/>
        <p:txBody>
          <a:bodyPr>
            <a:normAutofit/>
          </a:bodyPr>
          <a:lstStyle/>
          <a:p>
            <a:pPr marL="0" indent="0">
              <a:buNone/>
            </a:pPr>
            <a:r>
              <a:rPr lang="en-US" dirty="0"/>
              <a:t>A graph is </a:t>
            </a:r>
            <a:r>
              <a:rPr lang="en-US" b="1" dirty="0">
                <a:solidFill>
                  <a:schemeClr val="accent6">
                    <a:lumMod val="50000"/>
                  </a:schemeClr>
                </a:solidFill>
              </a:rPr>
              <a:t>connected</a:t>
            </a:r>
            <a:r>
              <a:rPr lang="en-US" b="1" dirty="0"/>
              <a:t> </a:t>
            </a:r>
            <a:r>
              <a:rPr lang="en-US" dirty="0"/>
              <a:t>if every vertex in the graph is connected to every other vertex</a:t>
            </a:r>
          </a:p>
        </p:txBody>
      </p:sp>
      <p:sp>
        <p:nvSpPr>
          <p:cNvPr id="6" name="Oval 5"/>
          <p:cNvSpPr/>
          <p:nvPr/>
        </p:nvSpPr>
        <p:spPr>
          <a:xfrm>
            <a:off x="5257800" y="13716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05600" y="20574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5"/>
            <a:endCxn id="11" idx="0"/>
          </p:cNvCxnSpPr>
          <p:nvPr/>
        </p:nvCxnSpPr>
        <p:spPr>
          <a:xfrm>
            <a:off x="7304690" y="4657445"/>
            <a:ext cx="346355" cy="9813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2"/>
            <a:endCxn id="12" idx="5"/>
          </p:cNvCxnSpPr>
          <p:nvPr/>
        </p:nvCxnSpPr>
        <p:spPr>
          <a:xfrm flipH="1" flipV="1">
            <a:off x="6638645" y="5571845"/>
            <a:ext cx="783800" cy="2955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7"/>
            <a:endCxn id="9" idx="3"/>
          </p:cNvCxnSpPr>
          <p:nvPr/>
        </p:nvCxnSpPr>
        <p:spPr>
          <a:xfrm flipV="1">
            <a:off x="6638645" y="4657445"/>
            <a:ext cx="342755" cy="59111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7" idx="1"/>
          </p:cNvCxnSpPr>
          <p:nvPr/>
        </p:nvCxnSpPr>
        <p:spPr>
          <a:xfrm>
            <a:off x="5715000" y="1600200"/>
            <a:ext cx="1057555" cy="52415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7"/>
            <a:endCxn id="7"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 name="Straight Connector 4"/>
          <p:cNvCxnSpPr>
            <a:stCxn id="10" idx="3"/>
            <a:endCxn id="9" idx="7"/>
          </p:cNvCxnSpPr>
          <p:nvPr/>
        </p:nvCxnSpPr>
        <p:spPr>
          <a:xfrm flipH="1">
            <a:off x="7304690" y="3537023"/>
            <a:ext cx="534665" cy="7971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8" idx="5"/>
            <a:endCxn id="9" idx="1"/>
          </p:cNvCxnSpPr>
          <p:nvPr/>
        </p:nvCxnSpPr>
        <p:spPr>
          <a:xfrm>
            <a:off x="6238911" y="3466467"/>
            <a:ext cx="742489" cy="8676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C414814-EE8D-4572-8EA7-5B2BDD7ACF20}"/>
              </a:ext>
            </a:extLst>
          </p:cNvPr>
          <p:cNvSpPr txBox="1"/>
          <p:nvPr/>
        </p:nvSpPr>
        <p:spPr>
          <a:xfrm>
            <a:off x="335281" y="5334000"/>
            <a:ext cx="5608319" cy="1169551"/>
          </a:xfrm>
          <a:prstGeom prst="rect">
            <a:avLst/>
          </a:prstGeom>
          <a:noFill/>
        </p:spPr>
        <p:txBody>
          <a:bodyPr wrap="square" rtlCol="0">
            <a:spAutoFit/>
          </a:bodyPr>
          <a:lstStyle/>
          <a:p>
            <a:r>
              <a:rPr lang="en-US" sz="1400" dirty="0"/>
              <a:t>More fine print: for directed graphs, we sometimes distinguish between strongly connected graphs, where there’s always a directed path between any pair of nodes, and weakly connected graphs, where it’s only connected if we ignore the directions of the edges.  Again, this is deeper in the weeds than we need to worry about.</a:t>
            </a:r>
          </a:p>
        </p:txBody>
      </p:sp>
    </p:spTree>
    <p:extLst>
      <p:ext uri="{BB962C8B-B14F-4D97-AF65-F5344CB8AC3E}">
        <p14:creationId xmlns:p14="http://schemas.microsoft.com/office/powerpoint/2010/main" val="1696233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Connected components</a:t>
            </a:r>
          </a:p>
        </p:txBody>
      </p:sp>
      <p:sp>
        <p:nvSpPr>
          <p:cNvPr id="4" name="Content Placeholder 3"/>
          <p:cNvSpPr>
            <a:spLocks noGrp="1"/>
          </p:cNvSpPr>
          <p:nvPr>
            <p:ph sz="half" idx="1"/>
          </p:nvPr>
        </p:nvSpPr>
        <p:spPr/>
        <p:txBody>
          <a:bodyPr>
            <a:normAutofit/>
          </a:bodyPr>
          <a:lstStyle/>
          <a:p>
            <a:r>
              <a:rPr lang="en-US" dirty="0"/>
              <a:t>Not all graphs are connected</a:t>
            </a:r>
          </a:p>
          <a:p>
            <a:endParaRPr lang="en-US" dirty="0"/>
          </a:p>
          <a:p>
            <a:endParaRPr lang="en-US" dirty="0"/>
          </a:p>
        </p:txBody>
      </p:sp>
      <p:sp>
        <p:nvSpPr>
          <p:cNvPr id="6" name="Oval 5"/>
          <p:cNvSpPr/>
          <p:nvPr/>
        </p:nvSpPr>
        <p:spPr>
          <a:xfrm>
            <a:off x="5257800" y="137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05600" y="2057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5"/>
            <a:endCxn id="11" idx="0"/>
          </p:cNvCxnSpPr>
          <p:nvPr/>
        </p:nvCxnSpPr>
        <p:spPr>
          <a:xfrm>
            <a:off x="7304690" y="4657445"/>
            <a:ext cx="346355" cy="9813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2"/>
            <a:endCxn id="12" idx="5"/>
          </p:cNvCxnSpPr>
          <p:nvPr/>
        </p:nvCxnSpPr>
        <p:spPr>
          <a:xfrm flipH="1" flipV="1">
            <a:off x="6638645" y="5571845"/>
            <a:ext cx="783800" cy="2955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7"/>
            <a:endCxn id="9" idx="3"/>
          </p:cNvCxnSpPr>
          <p:nvPr/>
        </p:nvCxnSpPr>
        <p:spPr>
          <a:xfrm flipV="1">
            <a:off x="6638645" y="4657445"/>
            <a:ext cx="342755" cy="59111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7" idx="1"/>
          </p:cNvCxnSpPr>
          <p:nvPr/>
        </p:nvCxnSpPr>
        <p:spPr>
          <a:xfrm>
            <a:off x="5715000" y="1600200"/>
            <a:ext cx="1057555" cy="52415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7"/>
            <a:endCxn id="7"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0709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Connected components</a:t>
            </a:r>
          </a:p>
        </p:txBody>
      </p:sp>
      <p:sp>
        <p:nvSpPr>
          <p:cNvPr id="4" name="Content Placeholder 3"/>
          <p:cNvSpPr>
            <a:spLocks noGrp="1"/>
          </p:cNvSpPr>
          <p:nvPr>
            <p:ph sz="half" idx="1"/>
          </p:nvPr>
        </p:nvSpPr>
        <p:spPr/>
        <p:txBody>
          <a:bodyPr>
            <a:normAutofit/>
          </a:bodyPr>
          <a:lstStyle/>
          <a:p>
            <a:r>
              <a:rPr lang="en-US" dirty="0"/>
              <a:t>Not all graphs are connected</a:t>
            </a:r>
          </a:p>
          <a:p>
            <a:endParaRPr lang="en-US" dirty="0"/>
          </a:p>
          <a:p>
            <a:r>
              <a:rPr lang="en-US" dirty="0"/>
              <a:t>The connected components of a graph are the </a:t>
            </a:r>
            <a:r>
              <a:rPr lang="en-US" b="1" dirty="0">
                <a:solidFill>
                  <a:schemeClr val="accent6">
                    <a:lumMod val="50000"/>
                  </a:schemeClr>
                </a:solidFill>
              </a:rPr>
              <a:t>largest </a:t>
            </a:r>
            <a:r>
              <a:rPr lang="en-US" b="1" dirty="0" err="1">
                <a:solidFill>
                  <a:schemeClr val="accent6">
                    <a:lumMod val="50000"/>
                  </a:schemeClr>
                </a:solidFill>
              </a:rPr>
              <a:t>subgraphs</a:t>
            </a:r>
            <a:r>
              <a:rPr lang="en-US" dirty="0">
                <a:solidFill>
                  <a:schemeClr val="accent6">
                    <a:lumMod val="50000"/>
                  </a:schemeClr>
                </a:solidFill>
              </a:rPr>
              <a:t> </a:t>
            </a:r>
            <a:r>
              <a:rPr lang="en-US" dirty="0"/>
              <a:t>of the graph you can form that are themselves connected</a:t>
            </a:r>
          </a:p>
        </p:txBody>
      </p:sp>
      <p:sp>
        <p:nvSpPr>
          <p:cNvPr id="6" name="Oval 5"/>
          <p:cNvSpPr/>
          <p:nvPr/>
        </p:nvSpPr>
        <p:spPr>
          <a:xfrm>
            <a:off x="5257800" y="137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05600" y="2057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5"/>
            <a:endCxn id="11" idx="0"/>
          </p:cNvCxnSpPr>
          <p:nvPr/>
        </p:nvCxnSpPr>
        <p:spPr>
          <a:xfrm>
            <a:off x="7304690" y="4657445"/>
            <a:ext cx="346355" cy="9813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2"/>
            <a:endCxn id="12" idx="5"/>
          </p:cNvCxnSpPr>
          <p:nvPr/>
        </p:nvCxnSpPr>
        <p:spPr>
          <a:xfrm flipH="1" flipV="1">
            <a:off x="6638645" y="5571845"/>
            <a:ext cx="783800" cy="2955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7"/>
            <a:endCxn id="9" idx="3"/>
          </p:cNvCxnSpPr>
          <p:nvPr/>
        </p:nvCxnSpPr>
        <p:spPr>
          <a:xfrm flipV="1">
            <a:off x="6638645" y="4657445"/>
            <a:ext cx="342755" cy="59111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7" idx="1"/>
          </p:cNvCxnSpPr>
          <p:nvPr/>
        </p:nvCxnSpPr>
        <p:spPr>
          <a:xfrm>
            <a:off x="5715000" y="1600200"/>
            <a:ext cx="1057555" cy="52415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7"/>
            <a:endCxn id="7"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44675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Cycles</a:t>
            </a:r>
          </a:p>
        </p:txBody>
      </p:sp>
      <p:sp>
        <p:nvSpPr>
          <p:cNvPr id="4" name="Content Placeholder 3"/>
          <p:cNvSpPr>
            <a:spLocks noGrp="1"/>
          </p:cNvSpPr>
          <p:nvPr>
            <p:ph sz="half" idx="1"/>
          </p:nvPr>
        </p:nvSpPr>
        <p:spPr/>
        <p:txBody>
          <a:bodyPr>
            <a:normAutofit fontScale="92500"/>
          </a:bodyPr>
          <a:lstStyle/>
          <a:p>
            <a:r>
              <a:rPr lang="en-US" dirty="0"/>
              <a:t>A </a:t>
            </a:r>
            <a:r>
              <a:rPr lang="en-US" b="1" dirty="0">
                <a:solidFill>
                  <a:schemeClr val="accent6">
                    <a:lumMod val="50000"/>
                  </a:schemeClr>
                </a:solidFill>
              </a:rPr>
              <a:t>cycle</a:t>
            </a:r>
            <a:r>
              <a:rPr lang="en-US" dirty="0">
                <a:solidFill>
                  <a:schemeClr val="accent6">
                    <a:lumMod val="50000"/>
                  </a:schemeClr>
                </a:solidFill>
              </a:rPr>
              <a:t> </a:t>
            </a:r>
            <a:r>
              <a:rPr lang="en-US" dirty="0"/>
              <a:t>is a path that starts and ends with the same vertex</a:t>
            </a:r>
          </a:p>
          <a:p>
            <a:pPr lvl="1"/>
            <a:r>
              <a:rPr lang="en-US" dirty="0"/>
              <a:t>(Okay, I know we said paths can’t repeat the same vertex, but we’ll allow the first and the last to be the same)</a:t>
            </a:r>
          </a:p>
          <a:p>
            <a:pPr lvl="1"/>
            <a:endParaRPr lang="en-US" dirty="0"/>
          </a:p>
          <a:p>
            <a:r>
              <a:rPr lang="en-US" dirty="0"/>
              <a:t>A graph is </a:t>
            </a:r>
            <a:r>
              <a:rPr lang="en-US" b="1" dirty="0">
                <a:solidFill>
                  <a:schemeClr val="accent6">
                    <a:lumMod val="50000"/>
                  </a:schemeClr>
                </a:solidFill>
              </a:rPr>
              <a:t>cyclic</a:t>
            </a:r>
            <a:r>
              <a:rPr lang="en-US" b="1" dirty="0"/>
              <a:t> </a:t>
            </a:r>
            <a:r>
              <a:rPr lang="en-US" dirty="0"/>
              <a:t>if it contains at least one cycle</a:t>
            </a:r>
          </a:p>
        </p:txBody>
      </p:sp>
      <p:sp>
        <p:nvSpPr>
          <p:cNvPr id="6" name="Oval 5"/>
          <p:cNvSpPr/>
          <p:nvPr/>
        </p:nvSpPr>
        <p:spPr>
          <a:xfrm>
            <a:off x="5257800" y="137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05600" y="2057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5"/>
            <a:endCxn id="11" idx="0"/>
          </p:cNvCxnSpPr>
          <p:nvPr/>
        </p:nvCxnSpPr>
        <p:spPr>
          <a:xfrm>
            <a:off x="7304690" y="4657445"/>
            <a:ext cx="346355" cy="981355"/>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2"/>
            <a:endCxn id="12" idx="5"/>
          </p:cNvCxnSpPr>
          <p:nvPr/>
        </p:nvCxnSpPr>
        <p:spPr>
          <a:xfrm flipH="1" flipV="1">
            <a:off x="6638645" y="5571845"/>
            <a:ext cx="783800" cy="295555"/>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7"/>
            <a:endCxn id="9" idx="3"/>
          </p:cNvCxnSpPr>
          <p:nvPr/>
        </p:nvCxnSpPr>
        <p:spPr>
          <a:xfrm flipV="1">
            <a:off x="6638645" y="4657445"/>
            <a:ext cx="342755" cy="591110"/>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7" idx="1"/>
          </p:cNvCxnSpPr>
          <p:nvPr/>
        </p:nvCxnSpPr>
        <p:spPr>
          <a:xfrm>
            <a:off x="5715000" y="1600200"/>
            <a:ext cx="1057555" cy="52415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7"/>
            <a:endCxn id="7"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 name="Straight Connector 4"/>
          <p:cNvCxnSpPr>
            <a:stCxn id="8" idx="5"/>
            <a:endCxn id="9" idx="1"/>
          </p:cNvCxnSpPr>
          <p:nvPr/>
        </p:nvCxnSpPr>
        <p:spPr>
          <a:xfrm>
            <a:off x="6238911" y="3466467"/>
            <a:ext cx="742489" cy="8676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0" idx="3"/>
            <a:endCxn id="9" idx="7"/>
          </p:cNvCxnSpPr>
          <p:nvPr/>
        </p:nvCxnSpPr>
        <p:spPr>
          <a:xfrm flipH="1">
            <a:off x="7304690" y="3537023"/>
            <a:ext cx="534665" cy="7971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975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Cycles</a:t>
            </a:r>
          </a:p>
        </p:txBody>
      </p:sp>
      <p:sp>
        <p:nvSpPr>
          <p:cNvPr id="4" name="Content Placeholder 3"/>
          <p:cNvSpPr>
            <a:spLocks noGrp="1"/>
          </p:cNvSpPr>
          <p:nvPr>
            <p:ph sz="half" idx="1"/>
          </p:nvPr>
        </p:nvSpPr>
        <p:spPr>
          <a:xfrm>
            <a:off x="457200" y="1600200"/>
            <a:ext cx="4038600" cy="5181600"/>
          </a:xfrm>
        </p:spPr>
        <p:txBody>
          <a:bodyPr>
            <a:normAutofit fontScale="92500" lnSpcReduction="10000"/>
          </a:bodyPr>
          <a:lstStyle/>
          <a:p>
            <a:r>
              <a:rPr lang="en-US" dirty="0"/>
              <a:t>A </a:t>
            </a:r>
            <a:r>
              <a:rPr lang="en-US" b="1" dirty="0">
                <a:solidFill>
                  <a:schemeClr val="accent6">
                    <a:lumMod val="50000"/>
                  </a:schemeClr>
                </a:solidFill>
              </a:rPr>
              <a:t>cycle</a:t>
            </a:r>
            <a:r>
              <a:rPr lang="en-US" dirty="0">
                <a:solidFill>
                  <a:schemeClr val="accent6">
                    <a:lumMod val="50000"/>
                  </a:schemeClr>
                </a:solidFill>
              </a:rPr>
              <a:t> </a:t>
            </a:r>
            <a:r>
              <a:rPr lang="en-US" dirty="0"/>
              <a:t>is a path that starts and ends with the same vertex</a:t>
            </a:r>
          </a:p>
          <a:p>
            <a:pPr lvl="1"/>
            <a:r>
              <a:rPr lang="en-US" dirty="0"/>
              <a:t>(Okay, I know we said paths can’t repeat the same vertex, but we’ll allow the first and the last to be the same)</a:t>
            </a:r>
          </a:p>
          <a:p>
            <a:pPr lvl="1"/>
            <a:endParaRPr lang="en-US" dirty="0"/>
          </a:p>
          <a:p>
            <a:r>
              <a:rPr lang="en-US" dirty="0"/>
              <a:t>A graph is </a:t>
            </a:r>
            <a:r>
              <a:rPr lang="en-US" b="1" dirty="0">
                <a:solidFill>
                  <a:schemeClr val="accent6">
                    <a:lumMod val="50000"/>
                  </a:schemeClr>
                </a:solidFill>
              </a:rPr>
              <a:t>cyclic</a:t>
            </a:r>
            <a:r>
              <a:rPr lang="en-US" b="1" dirty="0"/>
              <a:t> </a:t>
            </a:r>
            <a:r>
              <a:rPr lang="en-US" dirty="0"/>
              <a:t>if it contains at least one cycle</a:t>
            </a:r>
          </a:p>
          <a:p>
            <a:endParaRPr lang="en-US" dirty="0"/>
          </a:p>
          <a:p>
            <a:pPr marL="0" indent="0">
              <a:buNone/>
            </a:pPr>
            <a:r>
              <a:rPr lang="en-US" dirty="0"/>
              <a:t>(This graph has 2 cycles)</a:t>
            </a:r>
          </a:p>
        </p:txBody>
      </p:sp>
      <p:sp>
        <p:nvSpPr>
          <p:cNvPr id="6" name="Oval 5"/>
          <p:cNvSpPr/>
          <p:nvPr/>
        </p:nvSpPr>
        <p:spPr>
          <a:xfrm>
            <a:off x="5257800" y="137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05600" y="20574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5"/>
            <a:endCxn id="11" idx="0"/>
          </p:cNvCxnSpPr>
          <p:nvPr/>
        </p:nvCxnSpPr>
        <p:spPr>
          <a:xfrm>
            <a:off x="7304690" y="4657445"/>
            <a:ext cx="346355" cy="981355"/>
          </a:xfrm>
          <a:prstGeom prst="straightConnector1">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2"/>
            <a:endCxn id="12" idx="5"/>
          </p:cNvCxnSpPr>
          <p:nvPr/>
        </p:nvCxnSpPr>
        <p:spPr>
          <a:xfrm flipH="1" flipV="1">
            <a:off x="6638645" y="5571845"/>
            <a:ext cx="783800" cy="295555"/>
          </a:xfrm>
          <a:prstGeom prst="straightConnector1">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7"/>
            <a:endCxn id="9" idx="3"/>
          </p:cNvCxnSpPr>
          <p:nvPr/>
        </p:nvCxnSpPr>
        <p:spPr>
          <a:xfrm flipV="1">
            <a:off x="6638645" y="4657445"/>
            <a:ext cx="342755" cy="591110"/>
          </a:xfrm>
          <a:prstGeom prst="straightConnector1">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7" idx="1"/>
          </p:cNvCxnSpPr>
          <p:nvPr/>
        </p:nvCxnSpPr>
        <p:spPr>
          <a:xfrm>
            <a:off x="5715000" y="1600200"/>
            <a:ext cx="1057555" cy="52415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7"/>
            <a:endCxn id="7" idx="3"/>
          </p:cNvCxnSpPr>
          <p:nvPr/>
        </p:nvCxnSpPr>
        <p:spPr>
          <a:xfrm flipV="1">
            <a:off x="6238911" y="2447645"/>
            <a:ext cx="533644" cy="695532"/>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a:off x="7095845" y="2447645"/>
            <a:ext cx="743510" cy="766088"/>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 name="Straight Connector 4"/>
          <p:cNvCxnSpPr>
            <a:stCxn id="8" idx="5"/>
            <a:endCxn id="9" idx="1"/>
          </p:cNvCxnSpPr>
          <p:nvPr/>
        </p:nvCxnSpPr>
        <p:spPr>
          <a:xfrm>
            <a:off x="6238911" y="3466467"/>
            <a:ext cx="742489" cy="86768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0" idx="3"/>
            <a:endCxn id="9" idx="7"/>
          </p:cNvCxnSpPr>
          <p:nvPr/>
        </p:nvCxnSpPr>
        <p:spPr>
          <a:xfrm flipH="1">
            <a:off x="7304690" y="3537023"/>
            <a:ext cx="534665" cy="79713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49770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Trees</a:t>
            </a:r>
          </a:p>
        </p:txBody>
      </p:sp>
      <p:sp>
        <p:nvSpPr>
          <p:cNvPr id="4" name="Content Placeholder 3"/>
          <p:cNvSpPr>
            <a:spLocks noGrp="1"/>
          </p:cNvSpPr>
          <p:nvPr>
            <p:ph sz="half" idx="1"/>
          </p:nvPr>
        </p:nvSpPr>
        <p:spPr/>
        <p:txBody>
          <a:bodyPr/>
          <a:lstStyle/>
          <a:p>
            <a:r>
              <a:rPr lang="en-US" dirty="0"/>
              <a:t>A </a:t>
            </a:r>
            <a:r>
              <a:rPr lang="en-US" b="1" dirty="0">
                <a:solidFill>
                  <a:schemeClr val="accent6">
                    <a:lumMod val="50000"/>
                  </a:schemeClr>
                </a:solidFill>
              </a:rPr>
              <a:t>tree</a:t>
            </a:r>
            <a:r>
              <a:rPr lang="en-US" dirty="0">
                <a:solidFill>
                  <a:schemeClr val="accent6">
                    <a:lumMod val="50000"/>
                  </a:schemeClr>
                </a:solidFill>
              </a:rPr>
              <a:t> </a:t>
            </a:r>
            <a:r>
              <a:rPr lang="en-US" dirty="0"/>
              <a:t>is a graph in which</a:t>
            </a:r>
          </a:p>
          <a:p>
            <a:pPr lvl="1"/>
            <a:r>
              <a:rPr lang="en-US" dirty="0"/>
              <a:t>Any </a:t>
            </a:r>
            <a:r>
              <a:rPr lang="en-US" b="1" dirty="0">
                <a:solidFill>
                  <a:schemeClr val="accent6">
                    <a:lumMod val="50000"/>
                  </a:schemeClr>
                </a:solidFill>
              </a:rPr>
              <a:t>pair of nodes </a:t>
            </a:r>
            <a:r>
              <a:rPr lang="en-US" dirty="0"/>
              <a:t>has</a:t>
            </a:r>
          </a:p>
          <a:p>
            <a:pPr lvl="1"/>
            <a:r>
              <a:rPr lang="en-US" b="1" dirty="0">
                <a:solidFill>
                  <a:schemeClr val="accent6">
                    <a:lumMod val="50000"/>
                  </a:schemeClr>
                </a:solidFill>
              </a:rPr>
              <a:t>Exactly one path </a:t>
            </a:r>
            <a:r>
              <a:rPr lang="en-US" dirty="0"/>
              <a:t>between them</a:t>
            </a:r>
          </a:p>
        </p:txBody>
      </p:sp>
      <p:sp>
        <p:nvSpPr>
          <p:cNvPr id="6" name="Oval 5"/>
          <p:cNvSpPr/>
          <p:nvPr/>
        </p:nvSpPr>
        <p:spPr>
          <a:xfrm>
            <a:off x="5257800" y="137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05600" y="2057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a:stCxn id="9" idx="5"/>
            <a:endCxn id="11" idx="0"/>
          </p:cNvCxnSpPr>
          <p:nvPr/>
        </p:nvCxnSpPr>
        <p:spPr>
          <a:xfrm>
            <a:off x="7304690" y="4657445"/>
            <a:ext cx="346355" cy="9813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2" idx="7"/>
            <a:endCxn id="9" idx="3"/>
          </p:cNvCxnSpPr>
          <p:nvPr/>
        </p:nvCxnSpPr>
        <p:spPr>
          <a:xfrm flipV="1">
            <a:off x="6638645" y="4657445"/>
            <a:ext cx="342755" cy="59111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6" idx="6"/>
            <a:endCxn id="7" idx="1"/>
          </p:cNvCxnSpPr>
          <p:nvPr/>
        </p:nvCxnSpPr>
        <p:spPr>
          <a:xfrm>
            <a:off x="5715000" y="1600200"/>
            <a:ext cx="1057555" cy="52415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8" idx="7"/>
            <a:endCxn id="7"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5"/>
            <a:endCxn id="10"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0" idx="3"/>
            <a:endCxn id="9" idx="7"/>
          </p:cNvCxnSpPr>
          <p:nvPr/>
        </p:nvCxnSpPr>
        <p:spPr>
          <a:xfrm flipH="1">
            <a:off x="7304690" y="3537023"/>
            <a:ext cx="534665" cy="7971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86147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Rooted trees</a:t>
            </a:r>
          </a:p>
        </p:txBody>
      </p:sp>
      <p:sp>
        <p:nvSpPr>
          <p:cNvPr id="4" name="Content Placeholder 3"/>
          <p:cNvSpPr>
            <a:spLocks noGrp="1"/>
          </p:cNvSpPr>
          <p:nvPr>
            <p:ph sz="half" idx="1"/>
          </p:nvPr>
        </p:nvSpPr>
        <p:spPr/>
        <p:txBody>
          <a:bodyPr/>
          <a:lstStyle/>
          <a:p>
            <a:r>
              <a:rPr lang="en-US" dirty="0"/>
              <a:t>In computer science, we usually think of trees as having a distinguished node called the </a:t>
            </a:r>
            <a:r>
              <a:rPr lang="en-US" b="1" dirty="0">
                <a:solidFill>
                  <a:schemeClr val="accent6">
                    <a:lumMod val="50000"/>
                  </a:schemeClr>
                </a:solidFill>
              </a:rPr>
              <a:t>root</a:t>
            </a:r>
          </a:p>
        </p:txBody>
      </p:sp>
      <p:sp>
        <p:nvSpPr>
          <p:cNvPr id="7" name="Oval 6"/>
          <p:cNvSpPr/>
          <p:nvPr/>
        </p:nvSpPr>
        <p:spPr>
          <a:xfrm>
            <a:off x="6705600" y="2057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914445" y="42672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422445" y="56388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248400" y="5181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a:stCxn id="9" idx="5"/>
            <a:endCxn id="11" idx="0"/>
          </p:cNvCxnSpPr>
          <p:nvPr/>
        </p:nvCxnSpPr>
        <p:spPr>
          <a:xfrm>
            <a:off x="7304690" y="4657445"/>
            <a:ext cx="346355" cy="98135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2" idx="7"/>
            <a:endCxn id="9" idx="3"/>
          </p:cNvCxnSpPr>
          <p:nvPr/>
        </p:nvCxnSpPr>
        <p:spPr>
          <a:xfrm flipV="1">
            <a:off x="6638645" y="4657445"/>
            <a:ext cx="342755" cy="59111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8" idx="7"/>
            <a:endCxn id="7"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5"/>
            <a:endCxn id="10"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0" idx="3"/>
            <a:endCxn id="9" idx="7"/>
          </p:cNvCxnSpPr>
          <p:nvPr/>
        </p:nvCxnSpPr>
        <p:spPr>
          <a:xfrm flipH="1">
            <a:off x="7304690" y="3537023"/>
            <a:ext cx="534665" cy="7971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5257800" y="13716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p:cNvCxnSpPr>
            <a:stCxn id="20" idx="6"/>
          </p:cNvCxnSpPr>
          <p:nvPr/>
        </p:nvCxnSpPr>
        <p:spPr>
          <a:xfrm>
            <a:off x="5715000" y="1600200"/>
            <a:ext cx="1057555" cy="52415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15146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Rooted trees</a:t>
            </a:r>
          </a:p>
        </p:txBody>
      </p:sp>
      <p:sp>
        <p:nvSpPr>
          <p:cNvPr id="4" name="Content Placeholder 3"/>
          <p:cNvSpPr>
            <a:spLocks noGrp="1"/>
          </p:cNvSpPr>
          <p:nvPr>
            <p:ph sz="half" idx="1"/>
          </p:nvPr>
        </p:nvSpPr>
        <p:spPr>
          <a:xfrm>
            <a:off x="457200" y="1600200"/>
            <a:ext cx="4038600" cy="5257800"/>
          </a:xfrm>
        </p:spPr>
        <p:txBody>
          <a:bodyPr/>
          <a:lstStyle/>
          <a:p>
            <a:r>
              <a:rPr lang="en-US" dirty="0"/>
              <a:t>In computer science, we usually think of trees as having a distinguished vertex called the </a:t>
            </a:r>
            <a:r>
              <a:rPr lang="en-US" b="1" dirty="0">
                <a:solidFill>
                  <a:schemeClr val="accent6">
                    <a:lumMod val="50000"/>
                  </a:schemeClr>
                </a:solidFill>
              </a:rPr>
              <a:t>root</a:t>
            </a:r>
          </a:p>
          <a:p>
            <a:r>
              <a:rPr lang="en-US" dirty="0"/>
              <a:t>And we draw it</a:t>
            </a:r>
          </a:p>
          <a:p>
            <a:pPr lvl="1"/>
            <a:r>
              <a:rPr lang="en-US" dirty="0"/>
              <a:t>With the root at the top</a:t>
            </a:r>
          </a:p>
          <a:p>
            <a:pPr lvl="1"/>
            <a:r>
              <a:rPr lang="en-US" dirty="0"/>
              <a:t>And other vertices arranged by their distance from the root</a:t>
            </a:r>
          </a:p>
          <a:p>
            <a:endParaRPr lang="en-US" dirty="0"/>
          </a:p>
        </p:txBody>
      </p:sp>
      <p:sp>
        <p:nvSpPr>
          <p:cNvPr id="7" name="Oval 6"/>
          <p:cNvSpPr/>
          <p:nvPr/>
        </p:nvSpPr>
        <p:spPr>
          <a:xfrm>
            <a:off x="6705600" y="2057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772400" y="4428845"/>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8621889" y="557311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934200" y="55400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a:stCxn id="9" idx="5"/>
            <a:endCxn id="11" idx="1"/>
          </p:cNvCxnSpPr>
          <p:nvPr/>
        </p:nvCxnSpPr>
        <p:spPr>
          <a:xfrm>
            <a:off x="8162645" y="4819090"/>
            <a:ext cx="526199" cy="82097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2" idx="7"/>
            <a:endCxn id="9" idx="3"/>
          </p:cNvCxnSpPr>
          <p:nvPr/>
        </p:nvCxnSpPr>
        <p:spPr>
          <a:xfrm flipV="1">
            <a:off x="7324445" y="4819090"/>
            <a:ext cx="514910" cy="787887"/>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8" idx="7"/>
            <a:endCxn id="7"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5"/>
            <a:endCxn id="10"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6705600" y="841801"/>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p:cNvCxnSpPr>
            <a:stCxn id="20" idx="4"/>
            <a:endCxn id="7" idx="0"/>
          </p:cNvCxnSpPr>
          <p:nvPr/>
        </p:nvCxnSpPr>
        <p:spPr>
          <a:xfrm>
            <a:off x="6934200" y="1299001"/>
            <a:ext cx="0" cy="7583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0" idx="4"/>
            <a:endCxn id="9" idx="0"/>
          </p:cNvCxnSpPr>
          <p:nvPr/>
        </p:nvCxnSpPr>
        <p:spPr>
          <a:xfrm>
            <a:off x="8001000" y="3603978"/>
            <a:ext cx="0" cy="824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457200" y="6412468"/>
            <a:ext cx="7025065" cy="369332"/>
          </a:xfrm>
          <a:prstGeom prst="rect">
            <a:avLst/>
          </a:prstGeom>
          <a:noFill/>
        </p:spPr>
        <p:txBody>
          <a:bodyPr wrap="none" rtlCol="0">
            <a:spAutoFit/>
          </a:bodyPr>
          <a:lstStyle/>
          <a:p>
            <a:r>
              <a:rPr lang="en-US" b="1" dirty="0"/>
              <a:t>Note:</a:t>
            </a:r>
            <a:r>
              <a:rPr lang="en-US" dirty="0"/>
              <a:t> you can also think of a rooted tree as a partial order on the vertices</a:t>
            </a:r>
          </a:p>
        </p:txBody>
      </p:sp>
    </p:spTree>
    <p:extLst>
      <p:ext uri="{BB962C8B-B14F-4D97-AF65-F5344CB8AC3E}">
        <p14:creationId xmlns:p14="http://schemas.microsoft.com/office/powerpoint/2010/main" val="23116083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Children</a:t>
            </a:r>
          </a:p>
        </p:txBody>
      </p:sp>
      <p:sp>
        <p:nvSpPr>
          <p:cNvPr id="4" name="Content Placeholder 3"/>
          <p:cNvSpPr>
            <a:spLocks noGrp="1"/>
          </p:cNvSpPr>
          <p:nvPr>
            <p:ph sz="half" idx="1"/>
          </p:nvPr>
        </p:nvSpPr>
        <p:spPr>
          <a:xfrm>
            <a:off x="457200" y="1600200"/>
            <a:ext cx="4038600" cy="5257800"/>
          </a:xfrm>
        </p:spPr>
        <p:txBody>
          <a:bodyPr/>
          <a:lstStyle/>
          <a:p>
            <a:r>
              <a:rPr lang="en-US" dirty="0"/>
              <a:t>The nodes adjacent to a node, but at the next lower depth are called its </a:t>
            </a:r>
            <a:r>
              <a:rPr lang="en-US" b="1" dirty="0">
                <a:solidFill>
                  <a:schemeClr val="accent6">
                    <a:lumMod val="50000"/>
                  </a:schemeClr>
                </a:solidFill>
              </a:rPr>
              <a:t>children</a:t>
            </a:r>
          </a:p>
          <a:p>
            <a:endParaRPr lang="en-US" b="1" dirty="0"/>
          </a:p>
          <a:p>
            <a:pPr marL="0" indent="0">
              <a:buNone/>
            </a:pPr>
            <a:r>
              <a:rPr lang="en-US" b="1" dirty="0"/>
              <a:t>Note: </a:t>
            </a:r>
            <a:r>
              <a:rPr lang="en-US" dirty="0"/>
              <a:t>node and vertex are synonyms</a:t>
            </a:r>
          </a:p>
        </p:txBody>
      </p:sp>
      <p:sp>
        <p:nvSpPr>
          <p:cNvPr id="19" name="Oval 18"/>
          <p:cNvSpPr/>
          <p:nvPr/>
        </p:nvSpPr>
        <p:spPr>
          <a:xfrm>
            <a:off x="6705600" y="20574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848666" y="3076222"/>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7772400" y="4428845"/>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772400" y="3146778"/>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8621889" y="557311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6934200" y="55400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p:cNvCxnSpPr>
            <a:stCxn id="22" idx="5"/>
            <a:endCxn id="25" idx="1"/>
          </p:cNvCxnSpPr>
          <p:nvPr/>
        </p:nvCxnSpPr>
        <p:spPr>
          <a:xfrm>
            <a:off x="8162645" y="4819090"/>
            <a:ext cx="526199" cy="82097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6" idx="7"/>
            <a:endCxn id="22" idx="3"/>
          </p:cNvCxnSpPr>
          <p:nvPr/>
        </p:nvCxnSpPr>
        <p:spPr>
          <a:xfrm flipV="1">
            <a:off x="7324445" y="4819090"/>
            <a:ext cx="514910" cy="787887"/>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1" idx="7"/>
            <a:endCxn id="19"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9" idx="5"/>
            <a:endCxn id="23"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6705600" y="84180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p:cNvCxnSpPr>
            <a:stCxn id="31" idx="4"/>
            <a:endCxn id="19" idx="0"/>
          </p:cNvCxnSpPr>
          <p:nvPr/>
        </p:nvCxnSpPr>
        <p:spPr>
          <a:xfrm>
            <a:off x="6934200" y="1299001"/>
            <a:ext cx="0" cy="7583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3" idx="4"/>
            <a:endCxn id="22" idx="0"/>
          </p:cNvCxnSpPr>
          <p:nvPr/>
        </p:nvCxnSpPr>
        <p:spPr>
          <a:xfrm>
            <a:off x="8001000" y="3603978"/>
            <a:ext cx="0" cy="824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9272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Children</a:t>
            </a:r>
          </a:p>
        </p:txBody>
      </p:sp>
      <p:sp>
        <p:nvSpPr>
          <p:cNvPr id="4" name="Content Placeholder 3"/>
          <p:cNvSpPr>
            <a:spLocks noGrp="1"/>
          </p:cNvSpPr>
          <p:nvPr>
            <p:ph sz="half" idx="1"/>
          </p:nvPr>
        </p:nvSpPr>
        <p:spPr>
          <a:xfrm>
            <a:off x="457200" y="1600200"/>
            <a:ext cx="4038600" cy="5257800"/>
          </a:xfrm>
        </p:spPr>
        <p:txBody>
          <a:bodyPr/>
          <a:lstStyle/>
          <a:p>
            <a:r>
              <a:rPr lang="en-US" dirty="0"/>
              <a:t>The nodes adjacent to a node, but at the next lower depth are called its </a:t>
            </a:r>
            <a:r>
              <a:rPr lang="en-US" b="1" dirty="0">
                <a:solidFill>
                  <a:schemeClr val="accent6">
                    <a:lumMod val="50000"/>
                  </a:schemeClr>
                </a:solidFill>
              </a:rPr>
              <a:t>children</a:t>
            </a:r>
          </a:p>
          <a:p>
            <a:endParaRPr lang="en-US" dirty="0"/>
          </a:p>
          <a:p>
            <a:r>
              <a:rPr lang="en-US" dirty="0"/>
              <a:t>And the nodes that are its children, children’s children, etc., are called its </a:t>
            </a:r>
            <a:r>
              <a:rPr lang="en-US" b="1" dirty="0">
                <a:solidFill>
                  <a:schemeClr val="accent6">
                    <a:lumMod val="50000"/>
                  </a:schemeClr>
                </a:solidFill>
              </a:rPr>
              <a:t>descendants</a:t>
            </a:r>
          </a:p>
        </p:txBody>
      </p:sp>
      <p:sp>
        <p:nvSpPr>
          <p:cNvPr id="19" name="Oval 18"/>
          <p:cNvSpPr/>
          <p:nvPr/>
        </p:nvSpPr>
        <p:spPr>
          <a:xfrm>
            <a:off x="6705600" y="205740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848666" y="3076222"/>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7772400" y="4428845"/>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772400" y="3146778"/>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8621889" y="557311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6934200" y="5540022"/>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p:cNvCxnSpPr>
            <a:stCxn id="22" idx="5"/>
            <a:endCxn id="25" idx="1"/>
          </p:cNvCxnSpPr>
          <p:nvPr/>
        </p:nvCxnSpPr>
        <p:spPr>
          <a:xfrm>
            <a:off x="8162645" y="4819090"/>
            <a:ext cx="526199" cy="82097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6" idx="7"/>
            <a:endCxn id="22" idx="3"/>
          </p:cNvCxnSpPr>
          <p:nvPr/>
        </p:nvCxnSpPr>
        <p:spPr>
          <a:xfrm flipV="1">
            <a:off x="7324445" y="4819090"/>
            <a:ext cx="514910" cy="787887"/>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1" idx="7"/>
            <a:endCxn id="19"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9" idx="5"/>
            <a:endCxn id="23"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6705600" y="84180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p:cNvCxnSpPr>
            <a:stCxn id="31" idx="4"/>
            <a:endCxn id="19" idx="0"/>
          </p:cNvCxnSpPr>
          <p:nvPr/>
        </p:nvCxnSpPr>
        <p:spPr>
          <a:xfrm>
            <a:off x="6934200" y="1299001"/>
            <a:ext cx="0" cy="7583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3" idx="4"/>
            <a:endCxn id="22" idx="0"/>
          </p:cNvCxnSpPr>
          <p:nvPr/>
        </p:nvCxnSpPr>
        <p:spPr>
          <a:xfrm>
            <a:off x="8001000" y="3603978"/>
            <a:ext cx="0" cy="824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05654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Parents and ancestors</a:t>
            </a:r>
          </a:p>
        </p:txBody>
      </p:sp>
      <p:sp>
        <p:nvSpPr>
          <p:cNvPr id="4" name="Content Placeholder 3"/>
          <p:cNvSpPr>
            <a:spLocks noGrp="1"/>
          </p:cNvSpPr>
          <p:nvPr>
            <p:ph sz="half" idx="1"/>
          </p:nvPr>
        </p:nvSpPr>
        <p:spPr>
          <a:xfrm>
            <a:off x="457200" y="1600200"/>
            <a:ext cx="4038600" cy="5257800"/>
          </a:xfrm>
        </p:spPr>
        <p:txBody>
          <a:bodyPr>
            <a:normAutofit fontScale="92500"/>
          </a:bodyPr>
          <a:lstStyle/>
          <a:p>
            <a:r>
              <a:rPr lang="en-US" dirty="0"/>
              <a:t>The nodes above a node in the tree are its </a:t>
            </a:r>
            <a:r>
              <a:rPr lang="en-US" b="1" dirty="0">
                <a:solidFill>
                  <a:schemeClr val="accent6">
                    <a:lumMod val="50000"/>
                  </a:schemeClr>
                </a:solidFill>
              </a:rPr>
              <a:t>ancestors</a:t>
            </a:r>
          </a:p>
          <a:p>
            <a:endParaRPr lang="en-US" dirty="0"/>
          </a:p>
          <a:p>
            <a:r>
              <a:rPr lang="en-US" dirty="0"/>
              <a:t>The node immediately above a node in the tree is its </a:t>
            </a:r>
            <a:r>
              <a:rPr lang="en-US" b="1" dirty="0">
                <a:solidFill>
                  <a:schemeClr val="accent6">
                    <a:lumMod val="50000"/>
                  </a:schemeClr>
                </a:solidFill>
              </a:rPr>
              <a:t>parent</a:t>
            </a:r>
            <a:endParaRPr lang="en-US" dirty="0">
              <a:solidFill>
                <a:schemeClr val="accent6">
                  <a:lumMod val="50000"/>
                </a:schemeClr>
              </a:solidFill>
            </a:endParaRPr>
          </a:p>
          <a:p>
            <a:pPr lvl="1"/>
            <a:r>
              <a:rPr lang="en-US" dirty="0"/>
              <a:t>All nodes have parents except the root</a:t>
            </a:r>
          </a:p>
          <a:p>
            <a:endParaRPr lang="en-US" dirty="0"/>
          </a:p>
          <a:p>
            <a:r>
              <a:rPr lang="en-US" dirty="0"/>
              <a:t>Nodes with the same parent are called </a:t>
            </a:r>
            <a:r>
              <a:rPr lang="en-US" b="1" dirty="0">
                <a:solidFill>
                  <a:schemeClr val="accent6">
                    <a:lumMod val="50000"/>
                  </a:schemeClr>
                </a:solidFill>
              </a:rPr>
              <a:t>siblings</a:t>
            </a:r>
          </a:p>
        </p:txBody>
      </p:sp>
      <p:sp>
        <p:nvSpPr>
          <p:cNvPr id="19" name="Oval 18"/>
          <p:cNvSpPr/>
          <p:nvPr/>
        </p:nvSpPr>
        <p:spPr>
          <a:xfrm>
            <a:off x="6705600" y="2057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7772400" y="4428845"/>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8621889" y="557311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6934200" y="55400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p:cNvCxnSpPr>
            <a:stCxn id="22" idx="5"/>
            <a:endCxn id="25" idx="1"/>
          </p:cNvCxnSpPr>
          <p:nvPr/>
        </p:nvCxnSpPr>
        <p:spPr>
          <a:xfrm>
            <a:off x="8162645" y="4819090"/>
            <a:ext cx="526199" cy="82097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6" idx="7"/>
            <a:endCxn id="22" idx="3"/>
          </p:cNvCxnSpPr>
          <p:nvPr/>
        </p:nvCxnSpPr>
        <p:spPr>
          <a:xfrm flipV="1">
            <a:off x="7324445" y="4819090"/>
            <a:ext cx="514910" cy="787887"/>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1" idx="7"/>
            <a:endCxn id="19" idx="3"/>
          </p:cNvCxnSpPr>
          <p:nvPr/>
        </p:nvCxnSpPr>
        <p:spPr>
          <a:xfrm flipV="1">
            <a:off x="6238911" y="244764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9" idx="5"/>
            <a:endCxn id="23" idx="1"/>
          </p:cNvCxnSpPr>
          <p:nvPr/>
        </p:nvCxnSpPr>
        <p:spPr>
          <a:xfrm>
            <a:off x="7095845" y="244764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6705600" y="84180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p:cNvCxnSpPr>
            <a:stCxn id="31" idx="4"/>
            <a:endCxn id="19" idx="0"/>
          </p:cNvCxnSpPr>
          <p:nvPr/>
        </p:nvCxnSpPr>
        <p:spPr>
          <a:xfrm>
            <a:off x="6934200" y="1299001"/>
            <a:ext cx="0" cy="7583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3" idx="4"/>
            <a:endCxn id="22" idx="0"/>
          </p:cNvCxnSpPr>
          <p:nvPr/>
        </p:nvCxnSpPr>
        <p:spPr>
          <a:xfrm>
            <a:off x="8001000" y="3603978"/>
            <a:ext cx="0" cy="824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08950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DAGs</a:t>
            </a:r>
          </a:p>
        </p:txBody>
      </p:sp>
      <p:sp>
        <p:nvSpPr>
          <p:cNvPr id="4" name="Content Placeholder 3"/>
          <p:cNvSpPr>
            <a:spLocks noGrp="1"/>
          </p:cNvSpPr>
          <p:nvPr>
            <p:ph sz="half" idx="1"/>
          </p:nvPr>
        </p:nvSpPr>
        <p:spPr>
          <a:xfrm>
            <a:off x="457200" y="1600200"/>
            <a:ext cx="4038600" cy="5257800"/>
          </a:xfrm>
        </p:spPr>
        <p:txBody>
          <a:bodyPr>
            <a:normAutofit/>
          </a:bodyPr>
          <a:lstStyle/>
          <a:p>
            <a:r>
              <a:rPr lang="en-US" b="1" dirty="0">
                <a:solidFill>
                  <a:schemeClr val="accent6">
                    <a:lumMod val="50000"/>
                  </a:schemeClr>
                </a:solidFill>
              </a:rPr>
              <a:t>Directed Acyclic Graphs </a:t>
            </a:r>
            <a:r>
              <a:rPr lang="en-US" dirty="0"/>
              <a:t>or </a:t>
            </a:r>
            <a:r>
              <a:rPr lang="en-US" b="1" dirty="0">
                <a:solidFill>
                  <a:schemeClr val="accent6">
                    <a:lumMod val="50000"/>
                  </a:schemeClr>
                </a:solidFill>
              </a:rPr>
              <a:t>DAG</a:t>
            </a:r>
            <a:r>
              <a:rPr lang="en-US" dirty="0"/>
              <a:t>s</a:t>
            </a:r>
            <a:r>
              <a:rPr lang="en-US" b="1" dirty="0"/>
              <a:t> </a:t>
            </a:r>
            <a:r>
              <a:rPr lang="en-US" dirty="0"/>
              <a:t>are directed graphs that don’t have cycles</a:t>
            </a:r>
          </a:p>
          <a:p>
            <a:endParaRPr lang="en-US" b="1" dirty="0"/>
          </a:p>
          <a:p>
            <a:r>
              <a:rPr lang="en-US" dirty="0"/>
              <a:t>They’re a lot like trees</a:t>
            </a:r>
          </a:p>
        </p:txBody>
      </p:sp>
      <p:sp>
        <p:nvSpPr>
          <p:cNvPr id="19" name="Oval 18"/>
          <p:cNvSpPr/>
          <p:nvPr/>
        </p:nvSpPr>
        <p:spPr>
          <a:xfrm>
            <a:off x="6705600" y="2057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7772400" y="4428845"/>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8621889" y="557311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6934200" y="55400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p:cNvCxnSpPr>
            <a:stCxn id="22" idx="5"/>
            <a:endCxn id="25" idx="1"/>
          </p:cNvCxnSpPr>
          <p:nvPr/>
        </p:nvCxnSpPr>
        <p:spPr>
          <a:xfrm>
            <a:off x="8162645" y="4819090"/>
            <a:ext cx="526199" cy="820975"/>
          </a:xfrm>
          <a:prstGeom prst="straightConnector1">
            <a:avLst/>
          </a:prstGeom>
          <a:ln w="127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6" idx="7"/>
            <a:endCxn id="22" idx="3"/>
          </p:cNvCxnSpPr>
          <p:nvPr/>
        </p:nvCxnSpPr>
        <p:spPr>
          <a:xfrm flipV="1">
            <a:off x="7324445" y="4819090"/>
            <a:ext cx="514910" cy="787887"/>
          </a:xfrm>
          <a:prstGeom prst="straightConnector1">
            <a:avLst/>
          </a:prstGeom>
          <a:ln w="1270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1" idx="7"/>
            <a:endCxn id="19" idx="3"/>
          </p:cNvCxnSpPr>
          <p:nvPr/>
        </p:nvCxnSpPr>
        <p:spPr>
          <a:xfrm flipV="1">
            <a:off x="6238911" y="2447645"/>
            <a:ext cx="533644" cy="695532"/>
          </a:xfrm>
          <a:prstGeom prst="straightConnector1">
            <a:avLst/>
          </a:prstGeom>
          <a:ln>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9" idx="5"/>
            <a:endCxn id="23" idx="1"/>
          </p:cNvCxnSpPr>
          <p:nvPr/>
        </p:nvCxnSpPr>
        <p:spPr>
          <a:xfrm>
            <a:off x="7095845" y="2447645"/>
            <a:ext cx="743510" cy="766088"/>
          </a:xfrm>
          <a:prstGeom prst="straightConnector1">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6705600" y="84180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p:cNvCxnSpPr>
            <a:stCxn id="31" idx="4"/>
            <a:endCxn id="19" idx="0"/>
          </p:cNvCxnSpPr>
          <p:nvPr/>
        </p:nvCxnSpPr>
        <p:spPr>
          <a:xfrm>
            <a:off x="6934200" y="1299001"/>
            <a:ext cx="0" cy="758399"/>
          </a:xfrm>
          <a:prstGeom prst="line">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3" idx="4"/>
            <a:endCxn id="22" idx="0"/>
          </p:cNvCxnSpPr>
          <p:nvPr/>
        </p:nvCxnSpPr>
        <p:spPr>
          <a:xfrm>
            <a:off x="8001000" y="3603978"/>
            <a:ext cx="0" cy="824867"/>
          </a:xfrm>
          <a:prstGeom prst="line">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4145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DAGs</a:t>
            </a:r>
          </a:p>
        </p:txBody>
      </p:sp>
      <p:sp>
        <p:nvSpPr>
          <p:cNvPr id="4" name="Content Placeholder 3"/>
          <p:cNvSpPr>
            <a:spLocks noGrp="1"/>
          </p:cNvSpPr>
          <p:nvPr>
            <p:ph sz="half" idx="1"/>
          </p:nvPr>
        </p:nvSpPr>
        <p:spPr>
          <a:xfrm>
            <a:off x="457200" y="1600200"/>
            <a:ext cx="4038600" cy="5257800"/>
          </a:xfrm>
        </p:spPr>
        <p:txBody>
          <a:bodyPr>
            <a:normAutofit/>
          </a:bodyPr>
          <a:lstStyle/>
          <a:p>
            <a:r>
              <a:rPr lang="en-US" b="1" dirty="0">
                <a:solidFill>
                  <a:schemeClr val="accent6">
                    <a:lumMod val="50000"/>
                  </a:schemeClr>
                </a:solidFill>
              </a:rPr>
              <a:t>Directed Acyclic Graphs </a:t>
            </a:r>
            <a:r>
              <a:rPr lang="en-US" dirty="0"/>
              <a:t>or </a:t>
            </a:r>
            <a:r>
              <a:rPr lang="en-US" b="1" dirty="0">
                <a:solidFill>
                  <a:schemeClr val="accent6">
                    <a:lumMod val="50000"/>
                  </a:schemeClr>
                </a:solidFill>
              </a:rPr>
              <a:t>DAG</a:t>
            </a:r>
            <a:r>
              <a:rPr lang="en-US" dirty="0"/>
              <a:t>s</a:t>
            </a:r>
            <a:r>
              <a:rPr lang="en-US" b="1" dirty="0"/>
              <a:t> </a:t>
            </a:r>
            <a:r>
              <a:rPr lang="en-US" dirty="0"/>
              <a:t>are directed graphs that don’t have cycles</a:t>
            </a:r>
          </a:p>
          <a:p>
            <a:endParaRPr lang="en-US" b="1" dirty="0"/>
          </a:p>
          <a:p>
            <a:r>
              <a:rPr lang="en-US" dirty="0"/>
              <a:t>They’re a lot like trees</a:t>
            </a:r>
          </a:p>
          <a:p>
            <a:pPr lvl="1"/>
            <a:r>
              <a:rPr lang="en-US" dirty="0"/>
              <a:t>Only the can “</a:t>
            </a:r>
            <a:r>
              <a:rPr lang="en-US" b="1" dirty="0">
                <a:solidFill>
                  <a:schemeClr val="accent6">
                    <a:lumMod val="50000"/>
                  </a:schemeClr>
                </a:solidFill>
              </a:rPr>
              <a:t>rejoin</a:t>
            </a:r>
            <a:r>
              <a:rPr lang="en-US" dirty="0"/>
              <a:t>” branches together</a:t>
            </a:r>
          </a:p>
        </p:txBody>
      </p:sp>
      <p:sp>
        <p:nvSpPr>
          <p:cNvPr id="19" name="Oval 18"/>
          <p:cNvSpPr/>
          <p:nvPr/>
        </p:nvSpPr>
        <p:spPr>
          <a:xfrm>
            <a:off x="6705600" y="2057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7772400" y="4428845"/>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8621889" y="557311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6934200" y="55400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p:cNvCxnSpPr>
            <a:stCxn id="22" idx="5"/>
            <a:endCxn id="25" idx="1"/>
          </p:cNvCxnSpPr>
          <p:nvPr/>
        </p:nvCxnSpPr>
        <p:spPr>
          <a:xfrm>
            <a:off x="8162645" y="4819090"/>
            <a:ext cx="526199" cy="820975"/>
          </a:xfrm>
          <a:prstGeom prst="straightConnector1">
            <a:avLst/>
          </a:prstGeom>
          <a:ln w="127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6" idx="7"/>
            <a:endCxn id="22" idx="3"/>
          </p:cNvCxnSpPr>
          <p:nvPr/>
        </p:nvCxnSpPr>
        <p:spPr>
          <a:xfrm flipV="1">
            <a:off x="7324445" y="4819090"/>
            <a:ext cx="514910" cy="787887"/>
          </a:xfrm>
          <a:prstGeom prst="straightConnector1">
            <a:avLst/>
          </a:prstGeom>
          <a:ln w="1270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1" idx="7"/>
            <a:endCxn id="19" idx="3"/>
          </p:cNvCxnSpPr>
          <p:nvPr/>
        </p:nvCxnSpPr>
        <p:spPr>
          <a:xfrm flipV="1">
            <a:off x="6238911" y="2447645"/>
            <a:ext cx="533644" cy="695532"/>
          </a:xfrm>
          <a:prstGeom prst="straightConnector1">
            <a:avLst/>
          </a:prstGeom>
          <a:ln>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9" idx="5"/>
            <a:endCxn id="23" idx="1"/>
          </p:cNvCxnSpPr>
          <p:nvPr/>
        </p:nvCxnSpPr>
        <p:spPr>
          <a:xfrm>
            <a:off x="7095845" y="2447645"/>
            <a:ext cx="743510" cy="766088"/>
          </a:xfrm>
          <a:prstGeom prst="straightConnector1">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6705600" y="84180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p:cNvCxnSpPr>
            <a:stCxn id="31" idx="4"/>
            <a:endCxn id="19" idx="0"/>
          </p:cNvCxnSpPr>
          <p:nvPr/>
        </p:nvCxnSpPr>
        <p:spPr>
          <a:xfrm>
            <a:off x="6934200" y="1299001"/>
            <a:ext cx="0" cy="758399"/>
          </a:xfrm>
          <a:prstGeom prst="line">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3" idx="4"/>
            <a:endCxn id="22" idx="0"/>
          </p:cNvCxnSpPr>
          <p:nvPr/>
        </p:nvCxnSpPr>
        <p:spPr>
          <a:xfrm>
            <a:off x="8001000" y="3603978"/>
            <a:ext cx="0" cy="824867"/>
          </a:xfrm>
          <a:prstGeom prst="line">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a:stCxn id="21" idx="4"/>
            <a:endCxn id="26" idx="1"/>
          </p:cNvCxnSpPr>
          <p:nvPr/>
        </p:nvCxnSpPr>
        <p:spPr>
          <a:xfrm>
            <a:off x="6077266" y="3533422"/>
            <a:ext cx="923889" cy="2073555"/>
          </a:xfrm>
          <a:prstGeom prst="straightConnector1">
            <a:avLst/>
          </a:prstGeom>
          <a:ln w="95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42396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DAGs</a:t>
            </a:r>
          </a:p>
        </p:txBody>
      </p:sp>
      <p:sp>
        <p:nvSpPr>
          <p:cNvPr id="4" name="Content Placeholder 3"/>
          <p:cNvSpPr>
            <a:spLocks noGrp="1"/>
          </p:cNvSpPr>
          <p:nvPr>
            <p:ph sz="half" idx="1"/>
          </p:nvPr>
        </p:nvSpPr>
        <p:spPr>
          <a:xfrm>
            <a:off x="457200" y="1600200"/>
            <a:ext cx="4038600" cy="5257800"/>
          </a:xfrm>
        </p:spPr>
        <p:txBody>
          <a:bodyPr>
            <a:normAutofit/>
          </a:bodyPr>
          <a:lstStyle/>
          <a:p>
            <a:r>
              <a:rPr lang="en-US" b="1" dirty="0">
                <a:solidFill>
                  <a:schemeClr val="accent6">
                    <a:lumMod val="50000"/>
                  </a:schemeClr>
                </a:solidFill>
              </a:rPr>
              <a:t>Directed Acyclic Graphs </a:t>
            </a:r>
            <a:r>
              <a:rPr lang="en-US" dirty="0"/>
              <a:t>or </a:t>
            </a:r>
            <a:r>
              <a:rPr lang="en-US" b="1" dirty="0">
                <a:solidFill>
                  <a:schemeClr val="accent6">
                    <a:lumMod val="50000"/>
                  </a:schemeClr>
                </a:solidFill>
              </a:rPr>
              <a:t>DAG</a:t>
            </a:r>
            <a:r>
              <a:rPr lang="en-US" b="1" dirty="0"/>
              <a:t>s </a:t>
            </a:r>
            <a:r>
              <a:rPr lang="en-US" dirty="0"/>
              <a:t>are directed graphs that don’t have cycles</a:t>
            </a:r>
          </a:p>
          <a:p>
            <a:endParaRPr lang="en-US" b="1" dirty="0"/>
          </a:p>
          <a:p>
            <a:r>
              <a:rPr lang="en-US" dirty="0"/>
              <a:t>They’re a lot like trees</a:t>
            </a:r>
          </a:p>
          <a:p>
            <a:pPr lvl="1"/>
            <a:r>
              <a:rPr lang="en-US" dirty="0"/>
              <a:t>Only the can “</a:t>
            </a:r>
            <a:r>
              <a:rPr lang="en-US" b="1" dirty="0">
                <a:solidFill>
                  <a:schemeClr val="accent6">
                    <a:lumMod val="50000"/>
                  </a:schemeClr>
                </a:solidFill>
              </a:rPr>
              <a:t>rejoin</a:t>
            </a:r>
            <a:r>
              <a:rPr lang="en-US" dirty="0"/>
              <a:t>” branches together</a:t>
            </a:r>
          </a:p>
          <a:p>
            <a:pPr lvl="1"/>
            <a:r>
              <a:rPr lang="en-US" dirty="0"/>
              <a:t>But they </a:t>
            </a:r>
            <a:r>
              <a:rPr lang="en-US" b="1" dirty="0">
                <a:solidFill>
                  <a:schemeClr val="accent6">
                    <a:lumMod val="50000"/>
                  </a:schemeClr>
                </a:solidFill>
              </a:rPr>
              <a:t>can’t have cycles</a:t>
            </a:r>
          </a:p>
        </p:txBody>
      </p:sp>
      <p:sp>
        <p:nvSpPr>
          <p:cNvPr id="19" name="Oval 18"/>
          <p:cNvSpPr/>
          <p:nvPr/>
        </p:nvSpPr>
        <p:spPr>
          <a:xfrm>
            <a:off x="6705600" y="2057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848666" y="30762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7772400" y="4428845"/>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772400" y="314677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8621889" y="557311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6934200" y="554002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p:cNvCxnSpPr>
            <a:stCxn id="22" idx="5"/>
            <a:endCxn id="25" idx="1"/>
          </p:cNvCxnSpPr>
          <p:nvPr/>
        </p:nvCxnSpPr>
        <p:spPr>
          <a:xfrm>
            <a:off x="8162645" y="4819090"/>
            <a:ext cx="526199" cy="820975"/>
          </a:xfrm>
          <a:prstGeom prst="straightConnector1">
            <a:avLst/>
          </a:prstGeom>
          <a:ln w="127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6" idx="7"/>
            <a:endCxn id="22" idx="3"/>
          </p:cNvCxnSpPr>
          <p:nvPr/>
        </p:nvCxnSpPr>
        <p:spPr>
          <a:xfrm flipV="1">
            <a:off x="7324445" y="4819090"/>
            <a:ext cx="514910" cy="787887"/>
          </a:xfrm>
          <a:prstGeom prst="straightConnector1">
            <a:avLst/>
          </a:prstGeom>
          <a:ln w="12700">
            <a:solidFill>
              <a:srgbClr val="C00000"/>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1" idx="7"/>
            <a:endCxn id="19" idx="3"/>
          </p:cNvCxnSpPr>
          <p:nvPr/>
        </p:nvCxnSpPr>
        <p:spPr>
          <a:xfrm flipV="1">
            <a:off x="6238911" y="2447645"/>
            <a:ext cx="533644" cy="695532"/>
          </a:xfrm>
          <a:prstGeom prst="straightConnector1">
            <a:avLst/>
          </a:prstGeom>
          <a:ln>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9" idx="5"/>
            <a:endCxn id="23" idx="1"/>
          </p:cNvCxnSpPr>
          <p:nvPr/>
        </p:nvCxnSpPr>
        <p:spPr>
          <a:xfrm>
            <a:off x="7095845" y="2447645"/>
            <a:ext cx="743510" cy="766088"/>
          </a:xfrm>
          <a:prstGeom prst="straightConnector1">
            <a:avLst/>
          </a:prstGeom>
          <a:ln>
            <a:solidFill>
              <a:srgbClr val="C0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6705600" y="84180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p:cNvCxnSpPr>
            <a:stCxn id="31" idx="4"/>
            <a:endCxn id="19" idx="0"/>
          </p:cNvCxnSpPr>
          <p:nvPr/>
        </p:nvCxnSpPr>
        <p:spPr>
          <a:xfrm>
            <a:off x="6934200" y="1299001"/>
            <a:ext cx="0" cy="758399"/>
          </a:xfrm>
          <a:prstGeom prst="line">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3" idx="4"/>
            <a:endCxn id="22" idx="0"/>
          </p:cNvCxnSpPr>
          <p:nvPr/>
        </p:nvCxnSpPr>
        <p:spPr>
          <a:xfrm>
            <a:off x="8001000" y="3603978"/>
            <a:ext cx="0" cy="824867"/>
          </a:xfrm>
          <a:prstGeom prst="line">
            <a:avLst/>
          </a:prstGeom>
          <a:ln>
            <a:solidFill>
              <a:srgbClr val="C0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a:stCxn id="21" idx="4"/>
            <a:endCxn id="26" idx="1"/>
          </p:cNvCxnSpPr>
          <p:nvPr/>
        </p:nvCxnSpPr>
        <p:spPr>
          <a:xfrm>
            <a:off x="6077266" y="3533422"/>
            <a:ext cx="923889" cy="2073555"/>
          </a:xfrm>
          <a:prstGeom prst="straightConnector1">
            <a:avLst/>
          </a:prstGeom>
          <a:ln w="9525">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a:stCxn id="26" idx="0"/>
            <a:endCxn id="19" idx="4"/>
          </p:cNvCxnSpPr>
          <p:nvPr/>
        </p:nvCxnSpPr>
        <p:spPr>
          <a:xfrm flipH="1" flipV="1">
            <a:off x="6934200" y="2514600"/>
            <a:ext cx="228600" cy="3025422"/>
          </a:xfrm>
          <a:prstGeom prst="straightConnector1">
            <a:avLst/>
          </a:prstGeom>
          <a:ln>
            <a:solidFill>
              <a:srgbClr val="C0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08191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analysis</a:t>
            </a:r>
          </a:p>
        </p:txBody>
      </p:sp>
      <mc:AlternateContent xmlns:mc="http://schemas.openxmlformats.org/markup-compatibility/2006" xmlns:a14="http://schemas.microsoft.com/office/drawing/2010/main">
        <mc:Choice Requires="a14">
          <p:sp>
            <p:nvSpPr>
              <p:cNvPr id="4" name="Content Placeholder 3"/>
              <p:cNvSpPr>
                <a:spLocks noGrp="1"/>
              </p:cNvSpPr>
              <p:nvPr>
                <p:ph sz="half" idx="1"/>
              </p:nvPr>
            </p:nvSpPr>
            <p:spPr/>
            <p:txBody>
              <a:bodyPr/>
              <a:lstStyle/>
              <a:p>
                <a:r>
                  <a:rPr lang="en-US" dirty="0"/>
                  <a:t>Say we have two functions, </a:t>
                </a:r>
                <a14:m>
                  <m:oMath xmlns:m="http://schemas.openxmlformats.org/officeDocument/2006/math">
                    <m:r>
                      <m:rPr>
                        <m:sty m:val="p"/>
                      </m:rPr>
                      <a:rPr lang="en-US" i="0" dirty="0" smtClean="0">
                        <a:latin typeface="Cambria Math"/>
                      </a:rPr>
                      <m:t>f</m:t>
                    </m:r>
                    <m:r>
                      <a:rPr lang="en-US" i="1" dirty="0" smtClean="0">
                        <a:latin typeface="Cambria Math"/>
                      </a:rPr>
                      <m:t>(</m:t>
                    </m:r>
                    <m:r>
                      <a:rPr lang="en-US" i="1" dirty="0" smtClean="0">
                        <a:latin typeface="Cambria Math"/>
                      </a:rPr>
                      <m:t>𝑛</m:t>
                    </m:r>
                    <m:r>
                      <a:rPr lang="en-US" i="1" dirty="0" smtClean="0">
                        <a:latin typeface="Cambria Math"/>
                      </a:rPr>
                      <m:t>)</m:t>
                    </m:r>
                  </m:oMath>
                </a14:m>
                <a:r>
                  <a:rPr lang="en-US" dirty="0"/>
                  <a:t> and </a:t>
                </a:r>
                <a14:m>
                  <m:oMath xmlns:m="http://schemas.openxmlformats.org/officeDocument/2006/math">
                    <m:r>
                      <m:rPr>
                        <m:sty m:val="p"/>
                      </m:rPr>
                      <a:rPr lang="en-US" i="0" dirty="0" smtClean="0">
                        <a:latin typeface="Cambria Math"/>
                      </a:rPr>
                      <m:t>g</m:t>
                    </m:r>
                    <m:r>
                      <a:rPr lang="en-US" i="1" dirty="0" smtClean="0">
                        <a:latin typeface="Cambria Math"/>
                      </a:rPr>
                      <m:t>(</m:t>
                    </m:r>
                    <m:r>
                      <a:rPr lang="en-US" i="1" dirty="0" smtClean="0">
                        <a:latin typeface="Cambria Math"/>
                      </a:rPr>
                      <m:t>𝑛</m:t>
                    </m:r>
                    <m:r>
                      <a:rPr lang="en-US" i="1" dirty="0" smtClean="0">
                        <a:latin typeface="Cambria Math"/>
                      </a:rPr>
                      <m:t>)</m:t>
                    </m:r>
                  </m:oMath>
                </a14:m>
                <a:r>
                  <a:rPr lang="en-US" dirty="0"/>
                  <a:t>, how do we decide </a:t>
                </a:r>
                <a:r>
                  <a:rPr lang="en-US" b="1" dirty="0">
                    <a:solidFill>
                      <a:schemeClr val="accent6">
                        <a:lumMod val="50000"/>
                      </a:schemeClr>
                    </a:solidFill>
                  </a:rPr>
                  <a:t>which grows faster</a:t>
                </a:r>
                <a:r>
                  <a:rPr lang="en-US" dirty="0"/>
                  <a:t>?</a:t>
                </a:r>
              </a:p>
            </p:txBody>
          </p:sp>
        </mc:Choice>
        <mc:Fallback xmlns="">
          <p:sp>
            <p:nvSpPr>
              <p:cNvPr id="4" name="Content Placeholder 3"/>
              <p:cNvSpPr>
                <a:spLocks noGrp="1" noRot="1" noChangeAspect="1" noMove="1" noResize="1" noEditPoints="1" noAdjustHandles="1" noChangeArrowheads="1" noChangeShapeType="1" noTextEdit="1"/>
              </p:cNvSpPr>
              <p:nvPr>
                <p:ph sz="half" idx="1"/>
              </p:nvPr>
            </p:nvSpPr>
            <p:spPr>
              <a:blipFill rotWithShape="1">
                <a:blip r:embed="rId2"/>
                <a:stretch>
                  <a:fillRect l="-2564" t="-1213" r="-4223"/>
                </a:stretch>
              </a:blipFill>
            </p:spPr>
            <p:txBody>
              <a:bodyPr/>
              <a:lstStyle/>
              <a:p>
                <a:r>
                  <a:rPr lang="en-US">
                    <a:noFill/>
                  </a:rPr>
                  <a:t> </a:t>
                </a:r>
              </a:p>
            </p:txBody>
          </p:sp>
        </mc:Fallback>
      </mc:AlternateContent>
      <p:sp>
        <p:nvSpPr>
          <p:cNvPr id="5" name="Content Placeholder 4"/>
          <p:cNvSpPr>
            <a:spLocks noGrp="1"/>
          </p:cNvSpPr>
          <p:nvPr>
            <p:ph sz="half" idx="2"/>
          </p:nvPr>
        </p:nvSpPr>
        <p:spPr/>
        <p:txBody>
          <a:bodyPr/>
          <a:lstStyle/>
          <a:p>
            <a:endParaRPr lang="en-US"/>
          </a:p>
        </p:txBody>
      </p:sp>
    </p:spTree>
    <p:extLst>
      <p:ext uri="{BB962C8B-B14F-4D97-AF65-F5344CB8AC3E}">
        <p14:creationId xmlns:p14="http://schemas.microsoft.com/office/powerpoint/2010/main" val="5708803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analysis</a:t>
            </a:r>
          </a:p>
        </p:txBody>
      </p:sp>
      <mc:AlternateContent xmlns:mc="http://schemas.openxmlformats.org/markup-compatibility/2006">
        <mc:Choice xmlns:a14="http://schemas.microsoft.com/office/drawing/2010/main" Requires="a14">
          <p:sp>
            <p:nvSpPr>
              <p:cNvPr id="4" name="Content Placeholder 3"/>
              <p:cNvSpPr>
                <a:spLocks noGrp="1"/>
              </p:cNvSpPr>
              <p:nvPr>
                <p:ph sz="half" idx="1"/>
              </p:nvPr>
            </p:nvSpPr>
            <p:spPr/>
            <p:txBody>
              <a:bodyPr/>
              <a:lstStyle/>
              <a:p>
                <a:r>
                  <a:rPr lang="en-US" dirty="0"/>
                  <a:t>Say we have two functions, </a:t>
                </a:r>
                <a14:m>
                  <m:oMath xmlns:m="http://schemas.openxmlformats.org/officeDocument/2006/math">
                    <m:r>
                      <m:rPr>
                        <m:sty m:val="p"/>
                      </m:rPr>
                      <a:rPr lang="en-US" i="0" dirty="0" smtClean="0">
                        <a:latin typeface="Cambria Math"/>
                      </a:rPr>
                      <m:t>f</m:t>
                    </m:r>
                    <m:r>
                      <a:rPr lang="en-US" i="1" dirty="0" smtClean="0">
                        <a:latin typeface="Cambria Math"/>
                      </a:rPr>
                      <m:t>(</m:t>
                    </m:r>
                    <m:r>
                      <a:rPr lang="en-US" i="1" dirty="0" smtClean="0">
                        <a:latin typeface="Cambria Math"/>
                      </a:rPr>
                      <m:t>𝑛</m:t>
                    </m:r>
                    <m:r>
                      <a:rPr lang="en-US" i="1" dirty="0" smtClean="0">
                        <a:latin typeface="Cambria Math"/>
                      </a:rPr>
                      <m:t>)</m:t>
                    </m:r>
                  </m:oMath>
                </a14:m>
                <a:r>
                  <a:rPr lang="en-US" dirty="0"/>
                  <a:t> and </a:t>
                </a:r>
                <a14:m>
                  <m:oMath xmlns:m="http://schemas.openxmlformats.org/officeDocument/2006/math">
                    <m:r>
                      <m:rPr>
                        <m:sty m:val="p"/>
                      </m:rPr>
                      <a:rPr lang="en-US" i="0" dirty="0" smtClean="0">
                        <a:latin typeface="Cambria Math"/>
                      </a:rPr>
                      <m:t>g</m:t>
                    </m:r>
                    <m:r>
                      <a:rPr lang="en-US" i="1" dirty="0" smtClean="0">
                        <a:latin typeface="Cambria Math"/>
                      </a:rPr>
                      <m:t>(</m:t>
                    </m:r>
                    <m:r>
                      <a:rPr lang="en-US" i="1" dirty="0" smtClean="0">
                        <a:latin typeface="Cambria Math"/>
                      </a:rPr>
                      <m:t>𝑛</m:t>
                    </m:r>
                    <m:r>
                      <a:rPr lang="en-US" i="1" dirty="0" smtClean="0">
                        <a:latin typeface="Cambria Math"/>
                      </a:rPr>
                      <m:t>)</m:t>
                    </m:r>
                  </m:oMath>
                </a14:m>
                <a:r>
                  <a:rPr lang="en-US" dirty="0"/>
                  <a:t>, how do we decide </a:t>
                </a:r>
                <a:r>
                  <a:rPr lang="en-US" b="1" dirty="0">
                    <a:solidFill>
                      <a:schemeClr val="accent6">
                        <a:lumMod val="50000"/>
                      </a:schemeClr>
                    </a:solidFill>
                  </a:rPr>
                  <a:t>which grows faster</a:t>
                </a:r>
                <a:r>
                  <a:rPr lang="en-US" dirty="0"/>
                  <a:t>?</a:t>
                </a:r>
              </a:p>
              <a:p>
                <a:endParaRPr lang="en-US" dirty="0"/>
              </a:p>
              <a:p>
                <a:r>
                  <a:rPr lang="en-US" dirty="0"/>
                  <a:t>One way is to look at the limit of their ratio</a:t>
                </a:r>
              </a:p>
            </p:txBody>
          </p:sp>
        </mc:Choice>
        <mc:Fallback>
          <p:sp>
            <p:nvSpPr>
              <p:cNvPr id="4" name="Content Placeholder 3"/>
              <p:cNvSpPr>
                <a:spLocks noGrp="1" noRot="1" noChangeAspect="1" noMove="1" noResize="1" noEditPoints="1" noAdjustHandles="1" noChangeArrowheads="1" noChangeShapeType="1" noTextEdit="1"/>
              </p:cNvSpPr>
              <p:nvPr>
                <p:ph sz="half" idx="1"/>
              </p:nvPr>
            </p:nvSpPr>
            <p:spPr>
              <a:blipFill>
                <a:blip r:embed="rId2"/>
                <a:stretch>
                  <a:fillRect l="-2715" t="-1348" r="-42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4"/>
              <p:cNvSpPr>
                <a:spLocks noGrp="1"/>
              </p:cNvSpPr>
              <p:nvPr>
                <p:ph sz="half" idx="2"/>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func>
                        <m:funcPr>
                          <m:ctrlPr>
                            <a:rPr lang="en-US" sz="5400" i="1" dirty="0" smtClean="0">
                              <a:latin typeface="Cambria Math" panose="02040503050406030204" pitchFamily="18" charset="0"/>
                            </a:rPr>
                          </m:ctrlPr>
                        </m:funcPr>
                        <m:fName>
                          <m:limLow>
                            <m:limLowPr>
                              <m:ctrlPr>
                                <a:rPr lang="en-US" sz="5400" i="1" dirty="0" smtClean="0">
                                  <a:latin typeface="Cambria Math" panose="02040503050406030204" pitchFamily="18" charset="0"/>
                                </a:rPr>
                              </m:ctrlPr>
                            </m:limLowPr>
                            <m:e>
                              <m:r>
                                <m:rPr>
                                  <m:sty m:val="p"/>
                                </m:rPr>
                                <a:rPr lang="en-US" sz="5400" i="1" dirty="0" smtClean="0">
                                  <a:latin typeface="Cambria Math"/>
                                </a:rPr>
                                <m:t>lim</m:t>
                              </m:r>
                            </m:e>
                            <m:lim>
                              <m:r>
                                <a:rPr lang="en-US" sz="5400" i="1" dirty="0" smtClean="0">
                                  <a:latin typeface="Cambria Math"/>
                                </a:rPr>
                                <m:t>𝑛</m:t>
                              </m:r>
                              <m:r>
                                <a:rPr lang="en-US" sz="5400" i="1" dirty="0" smtClean="0">
                                  <a:latin typeface="Cambria Math"/>
                                </a:rPr>
                                <m:t>→∞</m:t>
                              </m:r>
                            </m:lim>
                          </m:limLow>
                        </m:fName>
                        <m:e>
                          <m:f>
                            <m:fPr>
                              <m:ctrlPr>
                                <a:rPr lang="en-US" sz="5400" i="1" dirty="0" smtClean="0">
                                  <a:latin typeface="Cambria Math" panose="02040503050406030204" pitchFamily="18" charset="0"/>
                                </a:rPr>
                              </m:ctrlPr>
                            </m:fPr>
                            <m:num>
                              <m:r>
                                <m:rPr>
                                  <m:sty m:val="p"/>
                                </m:rPr>
                                <a:rPr lang="en-US" sz="5400" i="0" dirty="0" smtClean="0">
                                  <a:latin typeface="Cambria Math"/>
                                </a:rPr>
                                <m:t>f</m:t>
                              </m:r>
                              <m:r>
                                <a:rPr lang="en-US" sz="5400" i="1" dirty="0" smtClean="0">
                                  <a:latin typeface="Cambria Math"/>
                                </a:rPr>
                                <m:t>(</m:t>
                              </m:r>
                              <m:r>
                                <a:rPr lang="en-US" sz="5400" i="1" dirty="0" smtClean="0">
                                  <a:latin typeface="Cambria Math"/>
                                </a:rPr>
                                <m:t>𝑛</m:t>
                              </m:r>
                              <m:r>
                                <a:rPr lang="en-US" sz="5400" i="1" dirty="0" smtClean="0">
                                  <a:latin typeface="Cambria Math"/>
                                </a:rPr>
                                <m:t>)</m:t>
                              </m:r>
                            </m:num>
                            <m:den>
                              <m:r>
                                <m:rPr>
                                  <m:sty m:val="p"/>
                                </m:rPr>
                                <a:rPr lang="en-US" sz="5400" i="0" smtClean="0">
                                  <a:latin typeface="Cambria Math"/>
                                </a:rPr>
                                <m:t>g</m:t>
                              </m:r>
                              <m:r>
                                <a:rPr lang="en-US" sz="5400" i="1" smtClean="0">
                                  <a:latin typeface="Cambria Math"/>
                                </a:rPr>
                                <m:t>(</m:t>
                              </m:r>
                              <m:r>
                                <a:rPr lang="en-US" sz="5400" i="1" smtClean="0">
                                  <a:latin typeface="Cambria Math"/>
                                </a:rPr>
                                <m:t>𝑛</m:t>
                              </m:r>
                              <m:r>
                                <a:rPr lang="en-US" sz="5400" i="1" smtClean="0">
                                  <a:latin typeface="Cambria Math"/>
                                </a:rPr>
                                <m:t>)</m:t>
                              </m:r>
                            </m:den>
                          </m:f>
                        </m:e>
                      </m:func>
                    </m:oMath>
                  </m:oMathPara>
                </a14:m>
                <a:endParaRPr lang="en-US" sz="5400" dirty="0"/>
              </a:p>
            </p:txBody>
          </p:sp>
        </mc:Choice>
        <mc:Fallback xmlns="">
          <p:sp>
            <p:nvSpPr>
              <p:cNvPr id="5" name="Content Placeholder 4"/>
              <p:cNvSpPr>
                <a:spLocks noGrp="1" noRot="1" noChangeAspect="1" noMove="1" noResize="1" noEditPoints="1" noAdjustHandles="1" noChangeArrowheads="1" noChangeShapeType="1" noTextEdit="1"/>
              </p:cNvSpPr>
              <p:nvPr>
                <p:ph sz="half" idx="2"/>
              </p:nvPr>
            </p:nvSpPr>
            <p:spPr>
              <a:blipFill rotWithShape="1">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518507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analysis</a:t>
            </a:r>
          </a:p>
        </p:txBody>
      </p:sp>
      <mc:AlternateContent xmlns:mc="http://schemas.openxmlformats.org/markup-compatibility/2006" xmlns:a14="http://schemas.microsoft.com/office/drawing/2010/main">
        <mc:Choice Requires="a14">
          <p:sp>
            <p:nvSpPr>
              <p:cNvPr id="4" name="Content Placeholder 3"/>
              <p:cNvSpPr>
                <a:spLocks noGrp="1"/>
              </p:cNvSpPr>
              <p:nvPr>
                <p:ph sz="half" idx="1"/>
              </p:nvPr>
            </p:nvSpPr>
            <p:spPr/>
            <p:txBody>
              <a:bodyPr>
                <a:normAutofit fontScale="92500" lnSpcReduction="20000"/>
              </a:bodyPr>
              <a:lstStyle/>
              <a:p>
                <a:r>
                  <a:rPr lang="en-US" dirty="0"/>
                  <a:t>There are three interesting cases</a:t>
                </a:r>
              </a:p>
              <a:p>
                <a:pPr lvl="1"/>
                <a:r>
                  <a:rPr lang="en-US" dirty="0"/>
                  <a:t>The </a:t>
                </a:r>
                <a:r>
                  <a:rPr lang="en-US" b="1" dirty="0">
                    <a:solidFill>
                      <a:schemeClr val="accent6">
                        <a:lumMod val="50000"/>
                      </a:schemeClr>
                    </a:solidFill>
                  </a:rPr>
                  <a:t>limit goes to 0</a:t>
                </a:r>
              </a:p>
              <a:p>
                <a:pPr lvl="2"/>
                <a:r>
                  <a:rPr lang="en-US" dirty="0"/>
                  <a:t>Then </a:t>
                </a:r>
                <a14:m>
                  <m:oMath xmlns:m="http://schemas.openxmlformats.org/officeDocument/2006/math">
                    <m:r>
                      <m:rPr>
                        <m:sty m:val="p"/>
                      </m:rPr>
                      <a:rPr lang="en-US" b="0" i="0" smtClean="0">
                        <a:latin typeface="Cambria Math"/>
                      </a:rPr>
                      <m:t>g</m:t>
                    </m:r>
                  </m:oMath>
                </a14:m>
                <a:r>
                  <a:rPr lang="en-US" dirty="0"/>
                  <a:t> </a:t>
                </a:r>
                <a:r>
                  <a:rPr lang="en-US" b="1" dirty="0">
                    <a:solidFill>
                      <a:schemeClr val="accent6">
                        <a:lumMod val="50000"/>
                      </a:schemeClr>
                    </a:solidFill>
                  </a:rPr>
                  <a:t>dominates</a:t>
                </a:r>
                <a:r>
                  <a:rPr lang="en-US" dirty="0">
                    <a:solidFill>
                      <a:schemeClr val="accent6">
                        <a:lumMod val="50000"/>
                      </a:schemeClr>
                    </a:solidFill>
                  </a:rPr>
                  <a:t> </a:t>
                </a:r>
                <a:r>
                  <a:rPr lang="en-US" dirty="0"/>
                  <a:t>(grows faster than) </a:t>
                </a:r>
                <a14:m>
                  <m:oMath xmlns:m="http://schemas.openxmlformats.org/officeDocument/2006/math">
                    <m:r>
                      <m:rPr>
                        <m:sty m:val="p"/>
                      </m:rPr>
                      <a:rPr lang="en-US">
                        <a:latin typeface="Cambria Math"/>
                      </a:rPr>
                      <m:t>f</m:t>
                    </m:r>
                  </m:oMath>
                </a14:m>
                <a:r>
                  <a:rPr lang="en-US" dirty="0"/>
                  <a:t> </a:t>
                </a:r>
              </a:p>
              <a:p>
                <a:pPr lvl="1"/>
                <a:r>
                  <a:rPr lang="en-US" dirty="0"/>
                  <a:t>The limit goes to </a:t>
                </a:r>
                <a14:m>
                  <m:oMath xmlns:m="http://schemas.openxmlformats.org/officeDocument/2006/math">
                    <m:r>
                      <a:rPr lang="en-US" b="0" i="1" smtClean="0">
                        <a:latin typeface="Cambria Math"/>
                      </a:rPr>
                      <m:t>∞</m:t>
                    </m:r>
                  </m:oMath>
                </a14:m>
                <a:endParaRPr lang="en-US" dirty="0"/>
              </a:p>
              <a:p>
                <a:pPr lvl="2"/>
                <a:r>
                  <a:rPr lang="en-US" dirty="0"/>
                  <a:t>Then </a:t>
                </a:r>
                <a14:m>
                  <m:oMath xmlns:m="http://schemas.openxmlformats.org/officeDocument/2006/math">
                    <m:r>
                      <m:rPr>
                        <m:sty m:val="p"/>
                      </m:rPr>
                      <a:rPr lang="en-US" b="0" i="0" smtClean="0">
                        <a:latin typeface="Cambria Math"/>
                      </a:rPr>
                      <m:t>f</m:t>
                    </m:r>
                  </m:oMath>
                </a14:m>
                <a:r>
                  <a:rPr lang="en-US" dirty="0"/>
                  <a:t> dominates </a:t>
                </a:r>
                <a14:m>
                  <m:oMath xmlns:m="http://schemas.openxmlformats.org/officeDocument/2006/math">
                    <m:r>
                      <m:rPr>
                        <m:sty m:val="p"/>
                      </m:rPr>
                      <a:rPr lang="en-US">
                        <a:latin typeface="Cambria Math"/>
                      </a:rPr>
                      <m:t>g</m:t>
                    </m:r>
                  </m:oMath>
                </a14:m>
                <a:r>
                  <a:rPr lang="en-US" dirty="0"/>
                  <a:t> </a:t>
                </a:r>
              </a:p>
              <a:p>
                <a:pPr lvl="1"/>
                <a:r>
                  <a:rPr lang="en-US" dirty="0"/>
                  <a:t>The limit goes to </a:t>
                </a:r>
                <a:r>
                  <a:rPr lang="en-US" b="1" dirty="0">
                    <a:solidFill>
                      <a:schemeClr val="accent6">
                        <a:lumMod val="50000"/>
                      </a:schemeClr>
                    </a:solidFill>
                  </a:rPr>
                  <a:t>a constant</a:t>
                </a:r>
              </a:p>
              <a:p>
                <a:pPr lvl="2"/>
                <a:r>
                  <a:rPr lang="en-US" dirty="0"/>
                  <a:t>Then they’re </a:t>
                </a:r>
                <a:r>
                  <a:rPr lang="en-US" b="1" dirty="0">
                    <a:solidFill>
                      <a:schemeClr val="accent6">
                        <a:lumMod val="50000"/>
                      </a:schemeClr>
                    </a:solidFill>
                  </a:rPr>
                  <a:t>equivalent </a:t>
                </a:r>
                <a:r>
                  <a:rPr lang="en-US" dirty="0"/>
                  <a:t>up to a constant </a:t>
                </a:r>
                <a:r>
                  <a:rPr lang="en-US" b="1" dirty="0">
                    <a:solidFill>
                      <a:schemeClr val="accent6">
                        <a:lumMod val="50000"/>
                      </a:schemeClr>
                    </a:solidFill>
                  </a:rPr>
                  <a:t>for large values of </a:t>
                </a:r>
                <a:endParaRPr lang="en-US" b="1" dirty="0"/>
              </a:p>
              <a:p>
                <a:pPr lvl="1"/>
                <a:r>
                  <a:rPr lang="en-US" dirty="0"/>
                  <a:t>Boring case: there’s </a:t>
                </a:r>
                <a:r>
                  <a:rPr lang="en-US" b="1" dirty="0">
                    <a:solidFill>
                      <a:schemeClr val="accent6">
                        <a:lumMod val="50000"/>
                      </a:schemeClr>
                    </a:solidFill>
                  </a:rPr>
                  <a:t>no limit </a:t>
                </a:r>
                <a:r>
                  <a:rPr lang="en-US" dirty="0"/>
                  <a:t>(e.g. it oscillates)</a:t>
                </a:r>
              </a:p>
              <a:p>
                <a:pPr lvl="1"/>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half" idx="1"/>
              </p:nvPr>
            </p:nvSpPr>
            <p:spPr>
              <a:blipFill>
                <a:blip r:embed="rId2"/>
                <a:stretch>
                  <a:fillRect l="-2262" t="-2830" r="-16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4"/>
              <p:cNvSpPr>
                <a:spLocks noGrp="1"/>
              </p:cNvSpPr>
              <p:nvPr>
                <p:ph sz="half" idx="2"/>
              </p:nvPr>
            </p:nvSpPr>
            <p:spPr/>
            <p:txBody>
              <a:bodyPr>
                <a:normAutofit fontScale="92500" lnSpcReduction="20000"/>
              </a:bodyPr>
              <a:lstStyle/>
              <a:p>
                <a:pPr marL="0" indent="0">
                  <a:buNone/>
                </a:pPr>
                <a14:m>
                  <m:oMathPara xmlns:m="http://schemas.openxmlformats.org/officeDocument/2006/math">
                    <m:oMathParaPr>
                      <m:jc m:val="centerGroup"/>
                    </m:oMathParaPr>
                    <m:oMath xmlns:m="http://schemas.openxmlformats.org/officeDocument/2006/math">
                      <m:func>
                        <m:funcPr>
                          <m:ctrlPr>
                            <a:rPr lang="en-US" sz="5400" i="1" dirty="0" smtClean="0">
                              <a:latin typeface="Cambria Math" panose="02040503050406030204" pitchFamily="18" charset="0"/>
                            </a:rPr>
                          </m:ctrlPr>
                        </m:funcPr>
                        <m:fName>
                          <m:limLow>
                            <m:limLowPr>
                              <m:ctrlPr>
                                <a:rPr lang="en-US" sz="5400" i="1" dirty="0" smtClean="0">
                                  <a:latin typeface="Cambria Math" panose="02040503050406030204" pitchFamily="18" charset="0"/>
                                </a:rPr>
                              </m:ctrlPr>
                            </m:limLowPr>
                            <m:e>
                              <m:r>
                                <m:rPr>
                                  <m:sty m:val="p"/>
                                </m:rPr>
                                <a:rPr lang="en-US" sz="5400" i="1" dirty="0" smtClean="0">
                                  <a:latin typeface="Cambria Math"/>
                                </a:rPr>
                                <m:t>lim</m:t>
                              </m:r>
                            </m:e>
                            <m:lim>
                              <m:r>
                                <a:rPr lang="en-US" sz="5400" i="1" dirty="0" smtClean="0">
                                  <a:latin typeface="Cambria Math"/>
                                </a:rPr>
                                <m:t>𝑛</m:t>
                              </m:r>
                              <m:r>
                                <a:rPr lang="en-US" sz="5400" i="1" dirty="0" smtClean="0">
                                  <a:latin typeface="Cambria Math"/>
                                </a:rPr>
                                <m:t>→∞</m:t>
                              </m:r>
                            </m:lim>
                          </m:limLow>
                        </m:fName>
                        <m:e>
                          <m:f>
                            <m:fPr>
                              <m:ctrlPr>
                                <a:rPr lang="en-US" sz="5400" i="1" dirty="0" smtClean="0">
                                  <a:latin typeface="Cambria Math" panose="02040503050406030204" pitchFamily="18" charset="0"/>
                                </a:rPr>
                              </m:ctrlPr>
                            </m:fPr>
                            <m:num>
                              <m:r>
                                <m:rPr>
                                  <m:sty m:val="p"/>
                                </m:rPr>
                                <a:rPr lang="en-US" sz="5400" i="0" dirty="0" smtClean="0">
                                  <a:latin typeface="Cambria Math"/>
                                </a:rPr>
                                <m:t>f</m:t>
                              </m:r>
                              <m:r>
                                <a:rPr lang="en-US" sz="5400" i="1" dirty="0" smtClean="0">
                                  <a:latin typeface="Cambria Math"/>
                                </a:rPr>
                                <m:t>(</m:t>
                              </m:r>
                              <m:r>
                                <a:rPr lang="en-US" sz="5400" i="1" dirty="0" smtClean="0">
                                  <a:latin typeface="Cambria Math"/>
                                </a:rPr>
                                <m:t>𝑛</m:t>
                              </m:r>
                              <m:r>
                                <a:rPr lang="en-US" sz="5400" i="1" dirty="0" smtClean="0">
                                  <a:latin typeface="Cambria Math"/>
                                </a:rPr>
                                <m:t>)</m:t>
                              </m:r>
                            </m:num>
                            <m:den>
                              <m:r>
                                <m:rPr>
                                  <m:sty m:val="p"/>
                                </m:rPr>
                                <a:rPr lang="en-US" sz="5400" i="0" smtClean="0">
                                  <a:latin typeface="Cambria Math"/>
                                </a:rPr>
                                <m:t>g</m:t>
                              </m:r>
                              <m:r>
                                <a:rPr lang="en-US" sz="5400" i="1" smtClean="0">
                                  <a:latin typeface="Cambria Math"/>
                                </a:rPr>
                                <m:t>(</m:t>
                              </m:r>
                              <m:r>
                                <a:rPr lang="en-US" sz="5400" i="1" smtClean="0">
                                  <a:latin typeface="Cambria Math"/>
                                </a:rPr>
                                <m:t>𝑛</m:t>
                              </m:r>
                              <m:r>
                                <a:rPr lang="en-US" sz="5400" i="1" smtClean="0">
                                  <a:latin typeface="Cambria Math"/>
                                </a:rPr>
                                <m:t>)</m:t>
                              </m:r>
                            </m:den>
                          </m:f>
                        </m:e>
                      </m:func>
                    </m:oMath>
                  </m:oMathPara>
                </a14:m>
                <a:endParaRPr lang="en-US" sz="5400" dirty="0"/>
              </a:p>
            </p:txBody>
          </p:sp>
        </mc:Choice>
        <mc:Fallback xmlns="">
          <p:sp>
            <p:nvSpPr>
              <p:cNvPr id="5" name="Content Placeholder 4"/>
              <p:cNvSpPr>
                <a:spLocks noGrp="1" noRot="1" noChangeAspect="1" noMove="1" noResize="1" noEditPoints="1" noAdjustHandles="1" noChangeArrowheads="1" noChangeShapeType="1" noTextEdit="1"/>
              </p:cNvSpPr>
              <p:nvPr>
                <p:ph sz="half" idx="2"/>
              </p:nvPr>
            </p:nvSpPr>
            <p:spPr>
              <a:blipFill rotWithShape="1">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44813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fontScale="90000"/>
              </a:bodyPr>
              <a:lstStyle/>
              <a:p>
                <a:r>
                  <a:rPr lang="en-US" dirty="0"/>
                  <a:t>Comparing powers of </a:t>
                </a:r>
                <a14:m>
                  <m:oMath xmlns:m="http://schemas.openxmlformats.org/officeDocument/2006/math">
                    <m:r>
                      <a:rPr lang="en-US" i="1" dirty="0" smtClean="0">
                        <a:latin typeface="Cambria Math"/>
                      </a:rPr>
                      <m:t>𝑛</m:t>
                    </m:r>
                  </m:oMath>
                </a14:m>
                <a:br>
                  <a:rPr lang="en-US" dirty="0"/>
                </a:br>
                <a:r>
                  <a:rPr lang="en-US" sz="2700" dirty="0"/>
                  <a:t>(how do they match up?)</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1">
                <a:blip r:embed="rId2"/>
                <a:stretch>
                  <a:fillRect l="-2593" t="-6383"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normAutofit/>
              </a:bodyPr>
              <a:lstStyle/>
              <a:p>
                <a:pPr marL="0" indent="0">
                  <a:buNone/>
                </a:pPr>
                <a14:m>
                  <m:oMathPara xmlns:m="http://schemas.openxmlformats.org/officeDocument/2006/math">
                    <m:oMathParaPr>
                      <m:jc m:val="left"/>
                    </m:oMathParaPr>
                    <m:oMath xmlns:m="http://schemas.openxmlformats.org/officeDocument/2006/math">
                      <m:func>
                        <m:funcPr>
                          <m:ctrlPr>
                            <a:rPr lang="en-US" i="1" dirty="0" smtClean="0">
                              <a:latin typeface="Cambria Math" panose="02040503050406030204" pitchFamily="18" charset="0"/>
                            </a:rPr>
                          </m:ctrlPr>
                        </m:funcPr>
                        <m:fName>
                          <m:limLow>
                            <m:limLowPr>
                              <m:ctrlPr>
                                <a:rPr lang="en-US" i="1" dirty="0" smtClean="0">
                                  <a:latin typeface="Cambria Math" panose="02040503050406030204" pitchFamily="18" charset="0"/>
                                </a:rPr>
                              </m:ctrlPr>
                            </m:limLowPr>
                            <m:e>
                              <m:r>
                                <m:rPr>
                                  <m:sty m:val="p"/>
                                </m:rPr>
                                <a:rPr lang="en-US" i="1" dirty="0" smtClean="0">
                                  <a:latin typeface="Cambria Math"/>
                                </a:rPr>
                                <m:t>lim</m:t>
                              </m:r>
                            </m:e>
                            <m:lim>
                              <m:r>
                                <a:rPr lang="en-US" i="1" dirty="0" smtClean="0">
                                  <a:latin typeface="Cambria Math"/>
                                </a:rPr>
                                <m:t>𝑛</m:t>
                              </m:r>
                              <m:r>
                                <a:rPr lang="en-US" i="1" dirty="0" smtClean="0">
                                  <a:latin typeface="Cambria Math"/>
                                </a:rPr>
                                <m:t>→∞</m:t>
                              </m:r>
                            </m:lim>
                          </m:limLow>
                        </m:fName>
                        <m:e>
                          <m:f>
                            <m:fPr>
                              <m:ctrlPr>
                                <a:rPr lang="en-US" i="1" dirty="0" smtClean="0">
                                  <a:latin typeface="Cambria Math" panose="02040503050406030204" pitchFamily="18" charset="0"/>
                                </a:rPr>
                              </m:ctrlPr>
                            </m:fPr>
                            <m:num>
                              <m:sSup>
                                <m:sSupPr>
                                  <m:ctrlPr>
                                    <a:rPr lang="en-US" i="1" dirty="0" smtClean="0">
                                      <a:latin typeface="Cambria Math" panose="02040503050406030204" pitchFamily="18" charset="0"/>
                                    </a:rPr>
                                  </m:ctrlPr>
                                </m:sSupPr>
                                <m:e>
                                  <m:r>
                                    <a:rPr lang="en-US" i="1" dirty="0" smtClean="0">
                                      <a:latin typeface="Cambria Math"/>
                                    </a:rPr>
                                    <m:t>𝑛</m:t>
                                  </m:r>
                                </m:e>
                                <m:sup>
                                  <m:r>
                                    <a:rPr lang="en-US" i="1" dirty="0" smtClean="0">
                                      <a:latin typeface="Cambria Math"/>
                                    </a:rPr>
                                    <m:t>𝑡</m:t>
                                  </m:r>
                                </m:sup>
                              </m:sSup>
                            </m:num>
                            <m:den>
                              <m:sSup>
                                <m:sSupPr>
                                  <m:ctrlPr>
                                    <a:rPr lang="en-US" i="1" dirty="0" smtClean="0">
                                      <a:latin typeface="Cambria Math" panose="02040503050406030204" pitchFamily="18" charset="0"/>
                                    </a:rPr>
                                  </m:ctrlPr>
                                </m:sSupPr>
                                <m:e>
                                  <m:r>
                                    <a:rPr lang="en-US" i="1" dirty="0" smtClean="0">
                                      <a:latin typeface="Cambria Math"/>
                                    </a:rPr>
                                    <m:t>𝑛</m:t>
                                  </m:r>
                                </m:e>
                                <m:sup>
                                  <m:r>
                                    <a:rPr lang="en-US" i="1" dirty="0" smtClean="0">
                                      <a:latin typeface="Cambria Math"/>
                                    </a:rPr>
                                    <m:t>𝑏</m:t>
                                  </m:r>
                                </m:sup>
                              </m:sSup>
                            </m:den>
                          </m:f>
                          <m:r>
                            <a:rPr lang="en-US" i="1" dirty="0" smtClean="0">
                              <a:latin typeface="Cambria Math"/>
                            </a:rPr>
                            <m:t>= </m:t>
                          </m:r>
                          <m:func>
                            <m:funcPr>
                              <m:ctrlPr>
                                <a:rPr lang="en-US" i="1" dirty="0" smtClean="0">
                                  <a:latin typeface="Cambria Math" panose="02040503050406030204" pitchFamily="18" charset="0"/>
                                </a:rPr>
                              </m:ctrlPr>
                            </m:funcPr>
                            <m:fName>
                              <m:limLow>
                                <m:limLowPr>
                                  <m:ctrlPr>
                                    <a:rPr lang="en-US" i="1" dirty="0" smtClean="0">
                                      <a:latin typeface="Cambria Math" panose="02040503050406030204" pitchFamily="18" charset="0"/>
                                    </a:rPr>
                                  </m:ctrlPr>
                                </m:limLowPr>
                                <m:e>
                                  <m:r>
                                    <m:rPr>
                                      <m:sty m:val="p"/>
                                    </m:rPr>
                                    <a:rPr lang="en-US" i="1" dirty="0" smtClean="0">
                                      <a:latin typeface="Cambria Math"/>
                                    </a:rPr>
                                    <m:t>lim</m:t>
                                  </m:r>
                                </m:e>
                                <m:lim>
                                  <m:r>
                                    <a:rPr lang="en-US" i="1" dirty="0" smtClean="0">
                                      <a:latin typeface="Cambria Math"/>
                                    </a:rPr>
                                    <m:t>𝑛</m:t>
                                  </m:r>
                                  <m:r>
                                    <a:rPr lang="en-US" i="1" dirty="0" smtClean="0">
                                      <a:latin typeface="Cambria Math"/>
                                    </a:rPr>
                                    <m:t>→∞</m:t>
                                  </m:r>
                                </m:lim>
                              </m:limLow>
                            </m:fName>
                            <m:e>
                              <m:sSup>
                                <m:sSupPr>
                                  <m:ctrlPr>
                                    <a:rPr lang="en-US" i="1" dirty="0" smtClean="0">
                                      <a:latin typeface="Cambria Math" panose="02040503050406030204" pitchFamily="18" charset="0"/>
                                    </a:rPr>
                                  </m:ctrlPr>
                                </m:sSupPr>
                                <m:e>
                                  <m:r>
                                    <a:rPr lang="en-US" i="1" dirty="0" smtClean="0">
                                      <a:latin typeface="Cambria Math"/>
                                    </a:rPr>
                                    <m:t>𝑛</m:t>
                                  </m:r>
                                </m:e>
                                <m:sup>
                                  <m:r>
                                    <a:rPr lang="en-US" i="1" dirty="0" smtClean="0">
                                      <a:latin typeface="Cambria Math"/>
                                    </a:rPr>
                                    <m:t>𝑡</m:t>
                                  </m:r>
                                  <m:r>
                                    <a:rPr lang="en-US" i="1" dirty="0" smtClean="0">
                                      <a:latin typeface="Cambria Math"/>
                                    </a:rPr>
                                    <m:t>−</m:t>
                                  </m:r>
                                  <m:r>
                                    <a:rPr lang="en-US" i="1" dirty="0" smtClean="0">
                                      <a:latin typeface="Cambria Math"/>
                                    </a:rPr>
                                    <m:t>𝑏</m:t>
                                  </m:r>
                                </m:sup>
                              </m:sSup>
                            </m:e>
                          </m:func>
                          <m:r>
                            <a:rPr lang="en-US" i="1" dirty="0" smtClean="0">
                              <a:latin typeface="Cambria Math"/>
                            </a:rPr>
                            <m:t>=</m:t>
                          </m:r>
                          <m:d>
                            <m:dPr>
                              <m:begChr m:val="{"/>
                              <m:endChr m:val=""/>
                              <m:ctrlPr>
                                <a:rPr lang="en-US" i="1" dirty="0" smtClean="0">
                                  <a:latin typeface="Cambria Math" panose="02040503050406030204" pitchFamily="18" charset="0"/>
                                </a:rPr>
                              </m:ctrlPr>
                            </m:dPr>
                            <m:e>
                              <m:m>
                                <m:mPr>
                                  <m:plcHide m:val="on"/>
                                  <m:mcs>
                                    <m:mc>
                                      <m:mcPr>
                                        <m:count m:val="2"/>
                                        <m:mcJc m:val="center"/>
                                      </m:mcPr>
                                    </m:mc>
                                  </m:mcs>
                                  <m:ctrlPr>
                                    <a:rPr lang="en-US" i="1" dirty="0" smtClean="0">
                                      <a:latin typeface="Cambria Math" panose="02040503050406030204" pitchFamily="18" charset="0"/>
                                    </a:rPr>
                                  </m:ctrlPr>
                                </m:mPr>
                                <m:mr>
                                  <m:e>
                                    <m:r>
                                      <a:rPr lang="en-US" i="1" dirty="0" smtClean="0">
                                        <a:latin typeface="Cambria Math"/>
                                      </a:rPr>
                                      <m:t>0,</m:t>
                                    </m:r>
                                  </m:e>
                                  <m:e>
                                    <m:r>
                                      <a:rPr lang="en-US" i="1" dirty="0" smtClean="0">
                                        <a:latin typeface="Cambria Math"/>
                                      </a:rPr>
                                      <m:t>𝑡</m:t>
                                    </m:r>
                                    <m:r>
                                      <a:rPr lang="en-US" i="1" dirty="0" smtClean="0">
                                        <a:latin typeface="Cambria Math"/>
                                      </a:rPr>
                                      <m:t>&lt;</m:t>
                                    </m:r>
                                    <m:r>
                                      <a:rPr lang="en-US" i="1" dirty="0" smtClean="0">
                                        <a:latin typeface="Cambria Math"/>
                                      </a:rPr>
                                      <m:t>𝑏</m:t>
                                    </m:r>
                                  </m:e>
                                </m:mr>
                                <m:mr>
                                  <m:e>
                                    <m:r>
                                      <a:rPr lang="en-US" i="1" dirty="0" smtClean="0">
                                        <a:latin typeface="Cambria Math"/>
                                      </a:rPr>
                                      <m:t>1,</m:t>
                                    </m:r>
                                  </m:e>
                                  <m:e>
                                    <m:r>
                                      <a:rPr lang="en-US" i="1" dirty="0" smtClean="0">
                                        <a:latin typeface="Cambria Math"/>
                                      </a:rPr>
                                      <m:t>𝑡</m:t>
                                    </m:r>
                                    <m:r>
                                      <a:rPr lang="en-US" i="1" dirty="0" smtClean="0">
                                        <a:latin typeface="Cambria Math"/>
                                      </a:rPr>
                                      <m:t>=</m:t>
                                    </m:r>
                                    <m:r>
                                      <a:rPr lang="en-US" i="1" dirty="0" smtClean="0">
                                        <a:latin typeface="Cambria Math"/>
                                      </a:rPr>
                                      <m:t>𝑏</m:t>
                                    </m:r>
                                  </m:e>
                                </m:mr>
                                <m:mr>
                                  <m:e>
                                    <m:r>
                                      <a:rPr lang="en-US" i="1" dirty="0" smtClean="0">
                                        <a:latin typeface="Cambria Math"/>
                                      </a:rPr>
                                      <m:t>∞, </m:t>
                                    </m:r>
                                  </m:e>
                                  <m:e>
                                    <m:r>
                                      <a:rPr lang="en-US" i="1" dirty="0" smtClean="0">
                                        <a:latin typeface="Cambria Math"/>
                                      </a:rPr>
                                      <m:t>𝑡</m:t>
                                    </m:r>
                                    <m:r>
                                      <a:rPr lang="en-US" i="1" dirty="0" smtClean="0">
                                        <a:latin typeface="Cambria Math"/>
                                      </a:rPr>
                                      <m:t>&gt;</m:t>
                                    </m:r>
                                    <m:r>
                                      <a:rPr lang="en-US" i="1" dirty="0" smtClean="0">
                                        <a:latin typeface="Cambria Math"/>
                                      </a:rPr>
                                      <m:t>𝑏</m:t>
                                    </m:r>
                                  </m:e>
                                </m:mr>
                              </m:m>
                            </m:e>
                          </m:d>
                        </m:e>
                      </m:func>
                    </m:oMath>
                  </m:oMathPara>
                </a14:m>
                <a:endParaRPr lang="en-US" dirty="0"/>
              </a:p>
              <a:p>
                <a:pPr marL="0" indent="0">
                  <a:buNone/>
                </a:pPr>
                <a:endParaRPr lang="en-US" dirty="0"/>
              </a:p>
              <a:p>
                <a:r>
                  <a:rPr lang="en-US" dirty="0"/>
                  <a:t>For powers of </a:t>
                </a:r>
                <a14:m>
                  <m:oMath xmlns:m="http://schemas.openxmlformats.org/officeDocument/2006/math">
                    <m:r>
                      <a:rPr lang="en-US" i="1" dirty="0" smtClean="0">
                        <a:latin typeface="Cambria Math"/>
                      </a:rPr>
                      <m:t>𝑛</m:t>
                    </m:r>
                  </m:oMath>
                </a14:m>
                <a:r>
                  <a:rPr lang="en-US" dirty="0"/>
                  <a:t>, whichever one has the </a:t>
                </a:r>
                <a:r>
                  <a:rPr lang="en-US" b="1" dirty="0">
                    <a:solidFill>
                      <a:schemeClr val="accent6">
                        <a:lumMod val="50000"/>
                      </a:schemeClr>
                    </a:solidFill>
                  </a:rPr>
                  <a:t>largest exponent </a:t>
                </a:r>
                <a:r>
                  <a:rPr lang="en-US" dirty="0"/>
                  <a:t>wins</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rotWithShape="1">
                <a:blip r:embed="rId3"/>
                <a:stretch>
                  <a:fillRect l="-1630"/>
                </a:stretch>
              </a:blipFill>
            </p:spPr>
            <p:txBody>
              <a:bodyPr/>
              <a:lstStyle/>
              <a:p>
                <a:r>
                  <a:rPr lang="en-US">
                    <a:noFill/>
                  </a:rPr>
                  <a:t> </a:t>
                </a:r>
              </a:p>
            </p:txBody>
          </p:sp>
        </mc:Fallback>
      </mc:AlternateContent>
    </p:spTree>
    <p:extLst>
      <p:ext uri="{BB962C8B-B14F-4D97-AF65-F5344CB8AC3E}">
        <p14:creationId xmlns:p14="http://schemas.microsoft.com/office/powerpoint/2010/main" val="11451328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polynomials</a:t>
            </a:r>
            <a:br>
              <a:rPr lang="en-US" dirty="0"/>
            </a:br>
            <a:r>
              <a:rPr lang="en-US" sz="2700" dirty="0"/>
              <a:t>(how do they match up?)</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457200" y="4703457"/>
                <a:ext cx="8229600" cy="1422706"/>
              </a:xfrm>
            </p:spPr>
            <p:txBody>
              <a:bodyPr>
                <a:normAutofit fontScale="70000" lnSpcReduction="20000"/>
              </a:bodyPr>
              <a:lstStyle/>
              <a:p>
                <a:pPr marL="0" indent="0">
                  <a:buNone/>
                </a:pPr>
                <a:r>
                  <a:rPr lang="en-US" dirty="0"/>
                  <a:t>(yes, I know: ick)</a:t>
                </a:r>
              </a:p>
              <a:p>
                <a:r>
                  <a:rPr lang="en-US" dirty="0"/>
                  <a:t>The point is that when you add together functions, the </a:t>
                </a:r>
                <a:r>
                  <a:rPr lang="en-US" b="1" dirty="0">
                    <a:solidFill>
                      <a:schemeClr val="accent6">
                        <a:lumMod val="50000"/>
                      </a:schemeClr>
                    </a:solidFill>
                  </a:rPr>
                  <a:t>“biggest” one wins</a:t>
                </a:r>
                <a:r>
                  <a:rPr lang="en-US" dirty="0"/>
                  <a:t>, in this case,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a:rPr>
                          <m:t>𝑛</m:t>
                        </m:r>
                      </m:e>
                      <m:sup>
                        <m:r>
                          <a:rPr lang="en-US" i="1" dirty="0" smtClean="0">
                            <a:latin typeface="Cambria Math"/>
                          </a:rPr>
                          <m:t>5</m:t>
                        </m:r>
                      </m:sup>
                    </m:sSup>
                  </m:oMath>
                </a14:m>
                <a:r>
                  <a:rPr lang="en-US" dirty="0"/>
                  <a:t>.</a:t>
                </a:r>
              </a:p>
              <a:p>
                <a:r>
                  <a:rPr lang="en-US" dirty="0"/>
                  <a:t>The </a:t>
                </a:r>
                <a14:m>
                  <m:oMath xmlns:m="http://schemas.openxmlformats.org/officeDocument/2006/math">
                    <m:r>
                      <a:rPr lang="en-US" i="1" dirty="0" smtClean="0">
                        <a:latin typeface="Cambria Math"/>
                      </a:rPr>
                      <m:t>+4</m:t>
                    </m:r>
                    <m:sSup>
                      <m:sSupPr>
                        <m:ctrlPr>
                          <a:rPr lang="en-US" i="1" dirty="0" smtClean="0">
                            <a:latin typeface="Cambria Math" panose="02040503050406030204" pitchFamily="18" charset="0"/>
                          </a:rPr>
                        </m:ctrlPr>
                      </m:sSupPr>
                      <m:e>
                        <m:r>
                          <a:rPr lang="en-US" i="1" dirty="0" smtClean="0">
                            <a:latin typeface="Cambria Math"/>
                          </a:rPr>
                          <m:t>𝑛</m:t>
                        </m:r>
                      </m:e>
                      <m:sup>
                        <m:r>
                          <a:rPr lang="en-US" i="1" dirty="0" smtClean="0">
                            <a:latin typeface="Cambria Math"/>
                          </a:rPr>
                          <m:t>3</m:t>
                        </m:r>
                      </m:sup>
                    </m:sSup>
                    <m:r>
                      <a:rPr lang="en-US" i="1" dirty="0" smtClean="0">
                        <a:latin typeface="Cambria Math"/>
                      </a:rPr>
                      <m:t>+7 </m:t>
                    </m:r>
                  </m:oMath>
                </a14:m>
                <a:r>
                  <a:rPr lang="en-US" dirty="0"/>
                  <a:t>is </a:t>
                </a:r>
                <a:r>
                  <a:rPr lang="en-US" b="1" dirty="0">
                    <a:solidFill>
                      <a:schemeClr val="accent6">
                        <a:lumMod val="50000"/>
                      </a:schemeClr>
                    </a:solidFill>
                  </a:rPr>
                  <a:t>irrelevant</a:t>
                </a:r>
                <a:r>
                  <a:rPr lang="en-US" dirty="0">
                    <a:solidFill>
                      <a:schemeClr val="accent6">
                        <a:lumMod val="50000"/>
                      </a:schemeClr>
                    </a:solidFill>
                  </a:rPr>
                  <a:t> </a:t>
                </a:r>
                <a:r>
                  <a:rPr lang="en-US" dirty="0"/>
                  <a:t>to the limit</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457200" y="4703457"/>
                <a:ext cx="8229600" cy="1422706"/>
              </a:xfrm>
              <a:blipFill rotWithShape="1">
                <a:blip r:embed="rId2"/>
                <a:stretch>
                  <a:fillRect l="-889" t="-72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457200" y="1740658"/>
                <a:ext cx="8477976" cy="2962799"/>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func>
                        <m:funcPr>
                          <m:ctrlPr>
                            <a:rPr lang="en-US" sz="2400" i="1" dirty="0" smtClean="0">
                              <a:latin typeface="Cambria Math" panose="02040503050406030204" pitchFamily="18" charset="0"/>
                            </a:rPr>
                          </m:ctrlPr>
                        </m:funcPr>
                        <m:fName>
                          <m:limLow>
                            <m:limLowPr>
                              <m:ctrlPr>
                                <a:rPr lang="en-US" sz="2400" i="1" dirty="0">
                                  <a:latin typeface="Cambria Math" panose="02040503050406030204" pitchFamily="18" charset="0"/>
                                </a:rPr>
                              </m:ctrlPr>
                            </m:limLowPr>
                            <m:e>
                              <m:r>
                                <m:rPr>
                                  <m:sty m:val="p"/>
                                </m:rPr>
                                <a:rPr lang="en-US" sz="2400" i="1" dirty="0">
                                  <a:latin typeface="Cambria Math"/>
                                </a:rPr>
                                <m:t>lim</m:t>
                              </m:r>
                            </m:e>
                            <m:lim>
                              <m:r>
                                <a:rPr lang="en-US" sz="2400" i="1" dirty="0">
                                  <a:latin typeface="Cambria Math"/>
                                </a:rPr>
                                <m:t>𝑛</m:t>
                              </m:r>
                              <m:r>
                                <a:rPr lang="en-US" sz="2400" i="1" dirty="0">
                                  <a:latin typeface="Cambria Math"/>
                                </a:rPr>
                                <m:t>→∞</m:t>
                              </m:r>
                            </m:lim>
                          </m:limLow>
                        </m:fName>
                        <m:e>
                          <m:f>
                            <m:fPr>
                              <m:ctrlPr>
                                <a:rPr lang="en-US" sz="2400" i="1" dirty="0">
                                  <a:latin typeface="Cambria Math" panose="02040503050406030204" pitchFamily="18" charset="0"/>
                                </a:rPr>
                              </m:ctrlPr>
                            </m:fPr>
                            <m:num>
                              <m:r>
                                <a:rPr lang="en-US" sz="2400" i="1" dirty="0">
                                  <a:latin typeface="Cambria Math"/>
                                </a:rPr>
                                <m:t>3</m:t>
                              </m:r>
                              <m:sSup>
                                <m:sSupPr>
                                  <m:ctrlPr>
                                    <a:rPr lang="en-US" sz="2400" i="1" dirty="0">
                                      <a:latin typeface="Cambria Math" panose="02040503050406030204" pitchFamily="18" charset="0"/>
                                    </a:rPr>
                                  </m:ctrlPr>
                                </m:sSupPr>
                                <m:e>
                                  <m:r>
                                    <a:rPr lang="en-US" sz="2400" i="1" dirty="0">
                                      <a:latin typeface="Cambria Math"/>
                                    </a:rPr>
                                    <m:t>𝑛</m:t>
                                  </m:r>
                                </m:e>
                                <m:sup>
                                  <m:r>
                                    <a:rPr lang="en-US" sz="2400" i="1" dirty="0">
                                      <a:latin typeface="Cambria Math"/>
                                    </a:rPr>
                                    <m:t>5</m:t>
                                  </m:r>
                                </m:sup>
                              </m:sSup>
                              <m:r>
                                <a:rPr lang="en-US" sz="2400" i="1" dirty="0">
                                  <a:latin typeface="Cambria Math"/>
                                </a:rPr>
                                <m:t>+4</m:t>
                              </m:r>
                              <m:sSup>
                                <m:sSupPr>
                                  <m:ctrlPr>
                                    <a:rPr lang="en-US" sz="2400" i="1" dirty="0">
                                      <a:latin typeface="Cambria Math" panose="02040503050406030204" pitchFamily="18" charset="0"/>
                                    </a:rPr>
                                  </m:ctrlPr>
                                </m:sSupPr>
                                <m:e>
                                  <m:r>
                                    <a:rPr lang="en-US" sz="2400" i="1" dirty="0">
                                      <a:latin typeface="Cambria Math"/>
                                    </a:rPr>
                                    <m:t>𝑛</m:t>
                                  </m:r>
                                </m:e>
                                <m:sup>
                                  <m:r>
                                    <a:rPr lang="en-US" sz="2400" i="1" dirty="0">
                                      <a:latin typeface="Cambria Math"/>
                                    </a:rPr>
                                    <m:t>3</m:t>
                                  </m:r>
                                </m:sup>
                              </m:sSup>
                              <m:r>
                                <a:rPr lang="en-US" sz="2400" i="1" dirty="0">
                                  <a:latin typeface="Cambria Math"/>
                                </a:rPr>
                                <m:t>+7</m:t>
                              </m:r>
                            </m:num>
                            <m:den>
                              <m:sSup>
                                <m:sSupPr>
                                  <m:ctrlPr>
                                    <a:rPr lang="en-US" sz="2400" i="1" dirty="0">
                                      <a:latin typeface="Cambria Math" panose="02040503050406030204" pitchFamily="18" charset="0"/>
                                    </a:rPr>
                                  </m:ctrlPr>
                                </m:sSupPr>
                                <m:e>
                                  <m:r>
                                    <a:rPr lang="en-US" sz="2400" i="1" dirty="0">
                                      <a:latin typeface="Cambria Math"/>
                                    </a:rPr>
                                    <m:t>8</m:t>
                                  </m:r>
                                  <m:r>
                                    <a:rPr lang="en-US" sz="2400" i="1" dirty="0">
                                      <a:latin typeface="Cambria Math"/>
                                    </a:rPr>
                                    <m:t>𝑛</m:t>
                                  </m:r>
                                </m:e>
                                <m:sup>
                                  <m:r>
                                    <a:rPr lang="en-US" sz="2400" i="1" dirty="0">
                                      <a:latin typeface="Cambria Math"/>
                                    </a:rPr>
                                    <m:t>3</m:t>
                                  </m:r>
                                </m:sup>
                              </m:sSup>
                            </m:den>
                          </m:f>
                        </m:e>
                      </m:func>
                      <m:r>
                        <m:rPr>
                          <m:aln/>
                        </m:rPr>
                        <a:rPr lang="en-US" sz="2400" i="1" dirty="0">
                          <a:latin typeface="Cambria Math"/>
                        </a:rPr>
                        <m:t>=</m:t>
                      </m:r>
                      <m:r>
                        <a:rPr lang="en-US" sz="2400" i="1" dirty="0">
                          <a:latin typeface="Cambria Math"/>
                        </a:rPr>
                        <m:t> </m:t>
                      </m:r>
                      <m:func>
                        <m:funcPr>
                          <m:ctrlPr>
                            <a:rPr lang="en-US" sz="2400" i="1" dirty="0">
                              <a:latin typeface="Cambria Math" panose="02040503050406030204" pitchFamily="18" charset="0"/>
                            </a:rPr>
                          </m:ctrlPr>
                        </m:funcPr>
                        <m:fName>
                          <m:limLow>
                            <m:limLowPr>
                              <m:ctrlPr>
                                <a:rPr lang="en-US" sz="2400" i="1" dirty="0">
                                  <a:latin typeface="Cambria Math" panose="02040503050406030204" pitchFamily="18" charset="0"/>
                                </a:rPr>
                              </m:ctrlPr>
                            </m:limLowPr>
                            <m:e>
                              <m:r>
                                <m:rPr>
                                  <m:sty m:val="p"/>
                                </m:rPr>
                                <a:rPr lang="en-US" sz="2400" i="1" dirty="0">
                                  <a:latin typeface="Cambria Math"/>
                                </a:rPr>
                                <m:t>lim</m:t>
                              </m:r>
                            </m:e>
                            <m:lim>
                              <m:r>
                                <a:rPr lang="en-US" sz="2400" i="1" dirty="0">
                                  <a:latin typeface="Cambria Math"/>
                                </a:rPr>
                                <m:t>𝑛</m:t>
                              </m:r>
                              <m:r>
                                <a:rPr lang="en-US" sz="2400" i="1" dirty="0">
                                  <a:latin typeface="Cambria Math"/>
                                </a:rPr>
                                <m:t>→∞</m:t>
                              </m:r>
                            </m:lim>
                          </m:limLow>
                        </m:fName>
                        <m:e>
                          <m:f>
                            <m:fPr>
                              <m:ctrlPr>
                                <a:rPr lang="en-US" sz="2400" i="1" dirty="0">
                                  <a:latin typeface="Cambria Math" panose="02040503050406030204" pitchFamily="18" charset="0"/>
                                </a:rPr>
                              </m:ctrlPr>
                            </m:fPr>
                            <m:num>
                              <m:r>
                                <a:rPr lang="en-US" sz="2400" i="1" dirty="0">
                                  <a:latin typeface="Cambria Math"/>
                                </a:rPr>
                                <m:t>3</m:t>
                              </m:r>
                              <m:sSup>
                                <m:sSupPr>
                                  <m:ctrlPr>
                                    <a:rPr lang="en-US" sz="2400" i="1" dirty="0">
                                      <a:latin typeface="Cambria Math" panose="02040503050406030204" pitchFamily="18" charset="0"/>
                                    </a:rPr>
                                  </m:ctrlPr>
                                </m:sSupPr>
                                <m:e>
                                  <m:r>
                                    <a:rPr lang="en-US" sz="2400" i="1" dirty="0">
                                      <a:latin typeface="Cambria Math"/>
                                    </a:rPr>
                                    <m:t>𝑛</m:t>
                                  </m:r>
                                </m:e>
                                <m:sup>
                                  <m:r>
                                    <a:rPr lang="en-US" sz="2400" i="1" dirty="0">
                                      <a:latin typeface="Cambria Math"/>
                                    </a:rPr>
                                    <m:t>5</m:t>
                                  </m:r>
                                </m:sup>
                              </m:sSup>
                            </m:num>
                            <m:den>
                              <m:sSup>
                                <m:sSupPr>
                                  <m:ctrlPr>
                                    <a:rPr lang="en-US" sz="2400" i="1" dirty="0">
                                      <a:latin typeface="Cambria Math" panose="02040503050406030204" pitchFamily="18" charset="0"/>
                                    </a:rPr>
                                  </m:ctrlPr>
                                </m:sSupPr>
                                <m:e>
                                  <m:r>
                                    <a:rPr lang="en-US" sz="2400" i="1" dirty="0">
                                      <a:latin typeface="Cambria Math"/>
                                    </a:rPr>
                                    <m:t>8</m:t>
                                  </m:r>
                                  <m:r>
                                    <a:rPr lang="en-US" sz="2400" i="1" dirty="0">
                                      <a:latin typeface="Cambria Math"/>
                                    </a:rPr>
                                    <m:t>𝑛</m:t>
                                  </m:r>
                                </m:e>
                                <m:sup>
                                  <m:r>
                                    <a:rPr lang="en-US" sz="2400" i="1" dirty="0">
                                      <a:latin typeface="Cambria Math"/>
                                    </a:rPr>
                                    <m:t>3</m:t>
                                  </m:r>
                                </m:sup>
                              </m:sSup>
                            </m:den>
                          </m:f>
                          <m:r>
                            <a:rPr lang="en-US" sz="2400" i="1" dirty="0">
                              <a:latin typeface="Cambria Math"/>
                            </a:rPr>
                            <m:t>+</m:t>
                          </m:r>
                        </m:e>
                      </m:func>
                      <m:func>
                        <m:funcPr>
                          <m:ctrlPr>
                            <a:rPr lang="en-US" sz="2400" i="1" dirty="0">
                              <a:latin typeface="Cambria Math" panose="02040503050406030204" pitchFamily="18" charset="0"/>
                            </a:rPr>
                          </m:ctrlPr>
                        </m:funcPr>
                        <m:fName>
                          <m:limLow>
                            <m:limLowPr>
                              <m:ctrlPr>
                                <a:rPr lang="en-US" sz="2400" i="1" dirty="0">
                                  <a:latin typeface="Cambria Math" panose="02040503050406030204" pitchFamily="18" charset="0"/>
                                </a:rPr>
                              </m:ctrlPr>
                            </m:limLowPr>
                            <m:e>
                              <m:r>
                                <m:rPr>
                                  <m:sty m:val="p"/>
                                </m:rPr>
                                <a:rPr lang="en-US" sz="2400" i="1" dirty="0">
                                  <a:latin typeface="Cambria Math"/>
                                </a:rPr>
                                <m:t>lim</m:t>
                              </m:r>
                            </m:e>
                            <m:lim>
                              <m:r>
                                <a:rPr lang="en-US" sz="2400" i="1" dirty="0">
                                  <a:latin typeface="Cambria Math"/>
                                </a:rPr>
                                <m:t>𝑛</m:t>
                              </m:r>
                              <m:r>
                                <a:rPr lang="en-US" sz="2400" i="1" dirty="0">
                                  <a:latin typeface="Cambria Math"/>
                                </a:rPr>
                                <m:t>→∞</m:t>
                              </m:r>
                            </m:lim>
                          </m:limLow>
                        </m:fName>
                        <m:e>
                          <m:f>
                            <m:fPr>
                              <m:ctrlPr>
                                <a:rPr lang="en-US" sz="2400" i="1" dirty="0">
                                  <a:latin typeface="Cambria Math" panose="02040503050406030204" pitchFamily="18" charset="0"/>
                                </a:rPr>
                              </m:ctrlPr>
                            </m:fPr>
                            <m:num>
                              <m:r>
                                <a:rPr lang="en-US" sz="2400" i="1" dirty="0">
                                  <a:latin typeface="Cambria Math"/>
                                </a:rPr>
                                <m:t>4</m:t>
                              </m:r>
                              <m:sSup>
                                <m:sSupPr>
                                  <m:ctrlPr>
                                    <a:rPr lang="en-US" sz="2400" i="1" dirty="0">
                                      <a:latin typeface="Cambria Math" panose="02040503050406030204" pitchFamily="18" charset="0"/>
                                    </a:rPr>
                                  </m:ctrlPr>
                                </m:sSupPr>
                                <m:e>
                                  <m:r>
                                    <a:rPr lang="en-US" sz="2400" i="1" dirty="0">
                                      <a:latin typeface="Cambria Math"/>
                                    </a:rPr>
                                    <m:t>𝑛</m:t>
                                  </m:r>
                                </m:e>
                                <m:sup>
                                  <m:r>
                                    <a:rPr lang="en-US" sz="2400" i="1" dirty="0">
                                      <a:latin typeface="Cambria Math"/>
                                    </a:rPr>
                                    <m:t>3</m:t>
                                  </m:r>
                                </m:sup>
                              </m:sSup>
                            </m:num>
                            <m:den>
                              <m:sSup>
                                <m:sSupPr>
                                  <m:ctrlPr>
                                    <a:rPr lang="en-US" sz="2400" i="1" dirty="0">
                                      <a:latin typeface="Cambria Math" panose="02040503050406030204" pitchFamily="18" charset="0"/>
                                    </a:rPr>
                                  </m:ctrlPr>
                                </m:sSupPr>
                                <m:e>
                                  <m:r>
                                    <a:rPr lang="en-US" sz="2400" i="1" dirty="0">
                                      <a:latin typeface="Cambria Math"/>
                                    </a:rPr>
                                    <m:t>8</m:t>
                                  </m:r>
                                  <m:r>
                                    <a:rPr lang="en-US" sz="2400" i="1" dirty="0">
                                      <a:latin typeface="Cambria Math"/>
                                    </a:rPr>
                                    <m:t>𝑛</m:t>
                                  </m:r>
                                </m:e>
                                <m:sup>
                                  <m:r>
                                    <a:rPr lang="en-US" sz="2400" i="1" dirty="0">
                                      <a:latin typeface="Cambria Math"/>
                                    </a:rPr>
                                    <m:t>3</m:t>
                                  </m:r>
                                </m:sup>
                              </m:sSup>
                            </m:den>
                          </m:f>
                          <m:r>
                            <a:rPr lang="en-US" sz="2400" i="1" dirty="0">
                              <a:latin typeface="Cambria Math"/>
                            </a:rPr>
                            <m:t>+</m:t>
                          </m:r>
                        </m:e>
                      </m:func>
                      <m:func>
                        <m:funcPr>
                          <m:ctrlPr>
                            <a:rPr lang="en-US" sz="2400" i="1" dirty="0">
                              <a:latin typeface="Cambria Math" panose="02040503050406030204" pitchFamily="18" charset="0"/>
                            </a:rPr>
                          </m:ctrlPr>
                        </m:funcPr>
                        <m:fName>
                          <m:limLow>
                            <m:limLowPr>
                              <m:ctrlPr>
                                <a:rPr lang="en-US" sz="2400" i="1" dirty="0">
                                  <a:latin typeface="Cambria Math" panose="02040503050406030204" pitchFamily="18" charset="0"/>
                                </a:rPr>
                              </m:ctrlPr>
                            </m:limLowPr>
                            <m:e>
                              <m:r>
                                <m:rPr>
                                  <m:sty m:val="p"/>
                                </m:rPr>
                                <a:rPr lang="en-US" sz="2400" i="1" dirty="0">
                                  <a:latin typeface="Cambria Math"/>
                                </a:rPr>
                                <m:t>lim</m:t>
                              </m:r>
                            </m:e>
                            <m:lim>
                              <m:r>
                                <a:rPr lang="en-US" sz="2400" i="1" dirty="0">
                                  <a:latin typeface="Cambria Math"/>
                                </a:rPr>
                                <m:t>𝑛</m:t>
                              </m:r>
                              <m:r>
                                <a:rPr lang="en-US" sz="2400" i="1" dirty="0">
                                  <a:latin typeface="Cambria Math"/>
                                </a:rPr>
                                <m:t>→∞</m:t>
                              </m:r>
                            </m:lim>
                          </m:limLow>
                        </m:fName>
                        <m:e>
                          <m:f>
                            <m:fPr>
                              <m:ctrlPr>
                                <a:rPr lang="en-US" sz="2400" i="1" dirty="0">
                                  <a:latin typeface="Cambria Math" panose="02040503050406030204" pitchFamily="18" charset="0"/>
                                </a:rPr>
                              </m:ctrlPr>
                            </m:fPr>
                            <m:num>
                              <m:r>
                                <a:rPr lang="en-US" sz="2400" i="1" dirty="0">
                                  <a:latin typeface="Cambria Math"/>
                                </a:rPr>
                                <m:t>7</m:t>
                              </m:r>
                            </m:num>
                            <m:den>
                              <m:sSup>
                                <m:sSupPr>
                                  <m:ctrlPr>
                                    <a:rPr lang="en-US" sz="2400" i="1" dirty="0">
                                      <a:latin typeface="Cambria Math" panose="02040503050406030204" pitchFamily="18" charset="0"/>
                                    </a:rPr>
                                  </m:ctrlPr>
                                </m:sSupPr>
                                <m:e>
                                  <m:r>
                                    <a:rPr lang="en-US" sz="2400" i="1" dirty="0">
                                      <a:latin typeface="Cambria Math"/>
                                    </a:rPr>
                                    <m:t>𝑛</m:t>
                                  </m:r>
                                </m:e>
                                <m:sup>
                                  <m:r>
                                    <a:rPr lang="en-US" sz="2400" i="1" dirty="0">
                                      <a:latin typeface="Cambria Math"/>
                                    </a:rPr>
                                    <m:t>3</m:t>
                                  </m:r>
                                </m:sup>
                              </m:sSup>
                            </m:den>
                          </m:f>
                        </m:e>
                      </m:func>
                    </m:oMath>
                    <m:oMath xmlns:m="http://schemas.openxmlformats.org/officeDocument/2006/math">
                      <m:r>
                        <a:rPr lang="en-US" sz="2400" i="1" dirty="0" smtClean="0">
                          <a:latin typeface="Cambria Math"/>
                        </a:rPr>
                        <m:t> </m:t>
                      </m:r>
                      <m:r>
                        <m:rPr>
                          <m:aln/>
                        </m:rPr>
                        <a:rPr lang="en-US" sz="2400" i="1" dirty="0" smtClean="0">
                          <a:latin typeface="Cambria Math"/>
                        </a:rPr>
                        <m:t>=</m:t>
                      </m:r>
                      <m:r>
                        <a:rPr lang="en-US" sz="2400" i="1" dirty="0" smtClean="0">
                          <a:latin typeface="Cambria Math"/>
                        </a:rPr>
                        <m:t> </m:t>
                      </m:r>
                      <m:func>
                        <m:funcPr>
                          <m:ctrlPr>
                            <a:rPr lang="en-US" sz="2400" i="1" dirty="0">
                              <a:latin typeface="Cambria Math" panose="02040503050406030204" pitchFamily="18" charset="0"/>
                            </a:rPr>
                          </m:ctrlPr>
                        </m:funcPr>
                        <m:fName>
                          <m:limLow>
                            <m:limLowPr>
                              <m:ctrlPr>
                                <a:rPr lang="en-US" sz="2400" i="1" dirty="0">
                                  <a:latin typeface="Cambria Math" panose="02040503050406030204" pitchFamily="18" charset="0"/>
                                </a:rPr>
                              </m:ctrlPr>
                            </m:limLowPr>
                            <m:e>
                              <m:r>
                                <m:rPr>
                                  <m:sty m:val="p"/>
                                </m:rPr>
                                <a:rPr lang="en-US" sz="2400" i="1" dirty="0">
                                  <a:latin typeface="Cambria Math"/>
                                </a:rPr>
                                <m:t>lim</m:t>
                              </m:r>
                            </m:e>
                            <m:lim>
                              <m:r>
                                <a:rPr lang="en-US" sz="2400" i="1" dirty="0">
                                  <a:latin typeface="Cambria Math"/>
                                </a:rPr>
                                <m:t>𝑛</m:t>
                              </m:r>
                              <m:r>
                                <a:rPr lang="en-US" sz="2400" i="1" dirty="0">
                                  <a:latin typeface="Cambria Math"/>
                                </a:rPr>
                                <m:t>→∞</m:t>
                              </m:r>
                            </m:lim>
                          </m:limLow>
                        </m:fName>
                        <m:e>
                          <m:f>
                            <m:fPr>
                              <m:ctrlPr>
                                <a:rPr lang="en-US" sz="2400" i="1" dirty="0" smtClean="0">
                                  <a:latin typeface="Cambria Math" panose="02040503050406030204" pitchFamily="18" charset="0"/>
                                </a:rPr>
                              </m:ctrlPr>
                            </m:fPr>
                            <m:num>
                              <m:r>
                                <a:rPr lang="en-US" sz="2400" i="1" dirty="0" smtClean="0">
                                  <a:latin typeface="Cambria Math"/>
                                </a:rPr>
                                <m:t>3</m:t>
                              </m:r>
                            </m:num>
                            <m:den>
                              <m:r>
                                <a:rPr lang="en-US" sz="2400" i="1" dirty="0" smtClean="0">
                                  <a:latin typeface="Cambria Math"/>
                                </a:rPr>
                                <m:t>8</m:t>
                              </m:r>
                            </m:den>
                          </m:f>
                          <m:sSup>
                            <m:sSupPr>
                              <m:ctrlPr>
                                <a:rPr lang="en-US" sz="2400" i="1" dirty="0" smtClean="0">
                                  <a:latin typeface="Cambria Math" panose="02040503050406030204" pitchFamily="18" charset="0"/>
                                </a:rPr>
                              </m:ctrlPr>
                            </m:sSupPr>
                            <m:e>
                              <m:r>
                                <a:rPr lang="en-US" sz="2400" i="1" dirty="0" smtClean="0">
                                  <a:latin typeface="Cambria Math"/>
                                </a:rPr>
                                <m:t>𝑛</m:t>
                              </m:r>
                            </m:e>
                            <m:sup>
                              <m:r>
                                <a:rPr lang="en-US" sz="2400" i="1" dirty="0" smtClean="0">
                                  <a:latin typeface="Cambria Math"/>
                                </a:rPr>
                                <m:t>2</m:t>
                              </m:r>
                            </m:sup>
                          </m:sSup>
                          <m:r>
                            <a:rPr lang="en-US" sz="2400" i="1" dirty="0">
                              <a:latin typeface="Cambria Math"/>
                            </a:rPr>
                            <m:t>+</m:t>
                          </m:r>
                        </m:e>
                      </m:func>
                      <m:func>
                        <m:funcPr>
                          <m:ctrlPr>
                            <a:rPr lang="en-US" sz="2400" i="1" dirty="0">
                              <a:latin typeface="Cambria Math" panose="02040503050406030204" pitchFamily="18" charset="0"/>
                            </a:rPr>
                          </m:ctrlPr>
                        </m:funcPr>
                        <m:fName>
                          <m:limLow>
                            <m:limLowPr>
                              <m:ctrlPr>
                                <a:rPr lang="en-US" sz="2400" i="1" dirty="0">
                                  <a:latin typeface="Cambria Math" panose="02040503050406030204" pitchFamily="18" charset="0"/>
                                </a:rPr>
                              </m:ctrlPr>
                            </m:limLowPr>
                            <m:e>
                              <m:r>
                                <m:rPr>
                                  <m:sty m:val="p"/>
                                </m:rPr>
                                <a:rPr lang="en-US" sz="2400" i="1" dirty="0">
                                  <a:latin typeface="Cambria Math"/>
                                </a:rPr>
                                <m:t>lim</m:t>
                              </m:r>
                            </m:e>
                            <m:lim>
                              <m:r>
                                <a:rPr lang="en-US" sz="2400" i="1" dirty="0">
                                  <a:latin typeface="Cambria Math"/>
                                </a:rPr>
                                <m:t>𝑛</m:t>
                              </m:r>
                              <m:r>
                                <a:rPr lang="en-US" sz="2400" i="1" dirty="0">
                                  <a:latin typeface="Cambria Math"/>
                                </a:rPr>
                                <m:t>→∞</m:t>
                              </m:r>
                            </m:lim>
                          </m:limLow>
                        </m:fName>
                        <m:e>
                          <m:f>
                            <m:fPr>
                              <m:ctrlPr>
                                <a:rPr lang="en-US" sz="2400" i="1" dirty="0" smtClean="0">
                                  <a:latin typeface="Cambria Math" panose="02040503050406030204" pitchFamily="18" charset="0"/>
                                </a:rPr>
                              </m:ctrlPr>
                            </m:fPr>
                            <m:num>
                              <m:r>
                                <a:rPr lang="en-US" sz="2400" i="1" dirty="0" smtClean="0">
                                  <a:latin typeface="Cambria Math"/>
                                </a:rPr>
                                <m:t>1</m:t>
                              </m:r>
                            </m:num>
                            <m:den>
                              <m:r>
                                <a:rPr lang="en-US" sz="2400" i="1" dirty="0" smtClean="0">
                                  <a:latin typeface="Cambria Math"/>
                                </a:rPr>
                                <m:t>2</m:t>
                              </m:r>
                            </m:den>
                          </m:f>
                          <m:r>
                            <a:rPr lang="en-US" sz="2400" i="1" dirty="0">
                              <a:latin typeface="Cambria Math"/>
                            </a:rPr>
                            <m:t>+</m:t>
                          </m:r>
                        </m:e>
                      </m:func>
                      <m:func>
                        <m:funcPr>
                          <m:ctrlPr>
                            <a:rPr lang="en-US" sz="2400" i="1" dirty="0">
                              <a:latin typeface="Cambria Math" panose="02040503050406030204" pitchFamily="18" charset="0"/>
                            </a:rPr>
                          </m:ctrlPr>
                        </m:funcPr>
                        <m:fName>
                          <m:limLow>
                            <m:limLowPr>
                              <m:ctrlPr>
                                <a:rPr lang="en-US" sz="2400" i="1" dirty="0">
                                  <a:latin typeface="Cambria Math" panose="02040503050406030204" pitchFamily="18" charset="0"/>
                                </a:rPr>
                              </m:ctrlPr>
                            </m:limLowPr>
                            <m:e>
                              <m:r>
                                <m:rPr>
                                  <m:sty m:val="p"/>
                                </m:rPr>
                                <a:rPr lang="en-US" sz="2400" i="1" dirty="0">
                                  <a:latin typeface="Cambria Math"/>
                                </a:rPr>
                                <m:t>lim</m:t>
                              </m:r>
                            </m:e>
                            <m:lim>
                              <m:r>
                                <a:rPr lang="en-US" sz="2400" i="1" dirty="0">
                                  <a:latin typeface="Cambria Math"/>
                                </a:rPr>
                                <m:t>𝑛</m:t>
                              </m:r>
                              <m:r>
                                <a:rPr lang="en-US" sz="2400" i="1" dirty="0">
                                  <a:latin typeface="Cambria Math"/>
                                </a:rPr>
                                <m:t>→∞</m:t>
                              </m:r>
                            </m:lim>
                          </m:limLow>
                        </m:fName>
                        <m:e>
                          <m:f>
                            <m:fPr>
                              <m:ctrlPr>
                                <a:rPr lang="en-US" sz="2400" i="1" dirty="0">
                                  <a:latin typeface="Cambria Math" panose="02040503050406030204" pitchFamily="18" charset="0"/>
                                </a:rPr>
                              </m:ctrlPr>
                            </m:fPr>
                            <m:num>
                              <m:r>
                                <a:rPr lang="en-US" sz="2400" i="1" dirty="0">
                                  <a:latin typeface="Cambria Math"/>
                                </a:rPr>
                                <m:t>7</m:t>
                              </m:r>
                            </m:num>
                            <m:den>
                              <m:sSup>
                                <m:sSupPr>
                                  <m:ctrlPr>
                                    <a:rPr lang="en-US" sz="2400" i="1" dirty="0">
                                      <a:latin typeface="Cambria Math" panose="02040503050406030204" pitchFamily="18" charset="0"/>
                                    </a:rPr>
                                  </m:ctrlPr>
                                </m:sSupPr>
                                <m:e>
                                  <m:r>
                                    <a:rPr lang="en-US" sz="2400" i="1" dirty="0">
                                      <a:latin typeface="Cambria Math"/>
                                    </a:rPr>
                                    <m:t>𝑛</m:t>
                                  </m:r>
                                </m:e>
                                <m:sup>
                                  <m:r>
                                    <a:rPr lang="en-US" sz="2400" i="1" dirty="0">
                                      <a:latin typeface="Cambria Math"/>
                                    </a:rPr>
                                    <m:t>3</m:t>
                                  </m:r>
                                </m:sup>
                              </m:sSup>
                            </m:den>
                          </m:f>
                        </m:e>
                      </m:func>
                    </m:oMath>
                    <m:oMath xmlns:m="http://schemas.openxmlformats.org/officeDocument/2006/math">
                      <m:r>
                        <m:rPr>
                          <m:aln/>
                        </m:rPr>
                        <a:rPr lang="en-US" sz="2400" i="1" dirty="0" smtClean="0">
                          <a:latin typeface="Cambria Math"/>
                        </a:rPr>
                        <m:t>=</m:t>
                      </m:r>
                      <m:r>
                        <a:rPr lang="en-US" sz="2400" i="1" dirty="0" smtClean="0">
                          <a:latin typeface="Cambria Math"/>
                        </a:rPr>
                        <m:t>∞+</m:t>
                      </m:r>
                      <m:f>
                        <m:fPr>
                          <m:ctrlPr>
                            <a:rPr lang="en-US" sz="2400" i="1" dirty="0" smtClean="0">
                              <a:latin typeface="Cambria Math" panose="02040503050406030204" pitchFamily="18" charset="0"/>
                            </a:rPr>
                          </m:ctrlPr>
                        </m:fPr>
                        <m:num>
                          <m:r>
                            <a:rPr lang="en-US" sz="2400" i="1" dirty="0" smtClean="0">
                              <a:latin typeface="Cambria Math"/>
                            </a:rPr>
                            <m:t>1</m:t>
                          </m:r>
                        </m:num>
                        <m:den>
                          <m:r>
                            <a:rPr lang="en-US" sz="2400" i="1" dirty="0" smtClean="0">
                              <a:latin typeface="Cambria Math"/>
                            </a:rPr>
                            <m:t>2</m:t>
                          </m:r>
                        </m:den>
                      </m:f>
                      <m:r>
                        <a:rPr lang="en-US" sz="2400" i="1" dirty="0" smtClean="0">
                          <a:latin typeface="Cambria Math"/>
                        </a:rPr>
                        <m:t>+0</m:t>
                      </m:r>
                    </m:oMath>
                    <m:oMath xmlns:m="http://schemas.openxmlformats.org/officeDocument/2006/math">
                      <m:r>
                        <m:rPr>
                          <m:aln/>
                        </m:rPr>
                        <a:rPr lang="en-US" sz="2400" i="1" dirty="0" smtClean="0">
                          <a:latin typeface="Cambria Math"/>
                        </a:rPr>
                        <m:t>=</m:t>
                      </m:r>
                      <m:r>
                        <a:rPr lang="en-US" sz="2400" i="1" dirty="0" smtClean="0">
                          <a:latin typeface="Cambria Math"/>
                        </a:rPr>
                        <m:t>∞</m:t>
                      </m:r>
                    </m:oMath>
                  </m:oMathPara>
                </a14:m>
                <a:br>
                  <a:rPr lang="en-US" sz="2400" i="1" dirty="0">
                    <a:latin typeface="Cambria Math"/>
                  </a:rPr>
                </a:br>
                <a:endParaRPr lang="en-US" sz="2400" dirty="0"/>
              </a:p>
            </p:txBody>
          </p:sp>
        </mc:Choice>
        <mc:Fallback xmlns="">
          <p:sp>
            <p:nvSpPr>
              <p:cNvPr id="3" name="Rectangle 2"/>
              <p:cNvSpPr>
                <a:spLocks noRot="1" noChangeAspect="1" noMove="1" noResize="1" noEditPoints="1" noAdjustHandles="1" noChangeArrowheads="1" noChangeShapeType="1" noTextEdit="1"/>
              </p:cNvSpPr>
              <p:nvPr/>
            </p:nvSpPr>
            <p:spPr>
              <a:xfrm>
                <a:off x="457200" y="1740658"/>
                <a:ext cx="8477976" cy="2962799"/>
              </a:xfrm>
              <a:prstGeom prst="rect">
                <a:avLst/>
              </a:prstGeom>
              <a:blipFill rotWithShape="1">
                <a:blip r:embed="rId3"/>
                <a:stretch>
                  <a:fillRect l="-1078" b="-3498"/>
                </a:stretch>
              </a:blipFill>
            </p:spPr>
            <p:txBody>
              <a:bodyPr/>
              <a:lstStyle/>
              <a:p>
                <a:r>
                  <a:rPr lang="en-US">
                    <a:noFill/>
                  </a:rPr>
                  <a:t> </a:t>
                </a:r>
              </a:p>
            </p:txBody>
          </p:sp>
        </mc:Fallback>
      </mc:AlternateContent>
    </p:spTree>
    <p:extLst>
      <p:ext uri="{BB962C8B-B14F-4D97-AF65-F5344CB8AC3E}">
        <p14:creationId xmlns:p14="http://schemas.microsoft.com/office/powerpoint/2010/main" val="23874911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this mean?</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We can roughly </a:t>
            </a:r>
            <a:r>
              <a:rPr lang="en-US" b="1" dirty="0">
                <a:solidFill>
                  <a:schemeClr val="accent6">
                    <a:lumMod val="50000"/>
                  </a:schemeClr>
                </a:solidFill>
              </a:rPr>
              <a:t>rank </a:t>
            </a:r>
            <a:r>
              <a:rPr lang="en-US" dirty="0"/>
              <a:t>functions based on the speed with which they increase</a:t>
            </a:r>
          </a:p>
          <a:p>
            <a:r>
              <a:rPr lang="en-US" b="1" dirty="0">
                <a:solidFill>
                  <a:schemeClr val="accent6">
                    <a:lumMod val="50000"/>
                  </a:schemeClr>
                </a:solidFill>
              </a:rPr>
              <a:t>Constants </a:t>
            </a:r>
            <a:r>
              <a:rPr lang="en-US" dirty="0"/>
              <a:t>grow slowest</a:t>
            </a:r>
            <a:br>
              <a:rPr lang="en-US" dirty="0"/>
            </a:br>
            <a:r>
              <a:rPr lang="en-US" dirty="0"/>
              <a:t>(given that they, um, don’t grow at all)</a:t>
            </a:r>
          </a:p>
          <a:p>
            <a:r>
              <a:rPr lang="en-US" dirty="0"/>
              <a:t> Log grows slowly</a:t>
            </a:r>
          </a:p>
          <a:p>
            <a:r>
              <a:rPr lang="en-US" dirty="0"/>
              <a:t> Linear functions grows a little faster</a:t>
            </a:r>
          </a:p>
          <a:p>
            <a:r>
              <a:rPr lang="en-US" dirty="0"/>
              <a:t> Quadratics (n</a:t>
            </a:r>
            <a:r>
              <a:rPr lang="en-US" baseline="30000" dirty="0"/>
              <a:t>2</a:t>
            </a:r>
            <a:r>
              <a:rPr lang="en-US" dirty="0"/>
              <a:t>) faster than that</a:t>
            </a:r>
          </a:p>
          <a:p>
            <a:r>
              <a:rPr lang="en-US" dirty="0"/>
              <a:t>Then other </a:t>
            </a:r>
            <a:r>
              <a:rPr lang="en-US" b="1" dirty="0">
                <a:solidFill>
                  <a:schemeClr val="accent6">
                    <a:lumMod val="50000"/>
                  </a:schemeClr>
                </a:solidFill>
              </a:rPr>
              <a:t>polynomials </a:t>
            </a:r>
            <a:r>
              <a:rPr lang="en-US" dirty="0"/>
              <a:t>(e.g. n</a:t>
            </a:r>
            <a:r>
              <a:rPr lang="en-US" baseline="30000" dirty="0"/>
              <a:t>3</a:t>
            </a:r>
            <a:r>
              <a:rPr lang="en-US" dirty="0">
                <a:latin typeface="Cambria Math"/>
              </a:rPr>
              <a:t>)</a:t>
            </a:r>
          </a:p>
          <a:p>
            <a:r>
              <a:rPr lang="en-US" b="1" dirty="0">
                <a:solidFill>
                  <a:schemeClr val="accent6">
                    <a:lumMod val="50000"/>
                  </a:schemeClr>
                </a:solidFill>
              </a:rPr>
              <a:t> </a:t>
            </a:r>
            <a:r>
              <a:rPr lang="en-US" dirty="0">
                <a:solidFill>
                  <a:schemeClr val="tx1"/>
                </a:solidFill>
              </a:rPr>
              <a:t>2</a:t>
            </a:r>
            <a:r>
              <a:rPr lang="en-US" baseline="30000" dirty="0">
                <a:solidFill>
                  <a:schemeClr val="tx1"/>
                </a:solidFill>
              </a:rPr>
              <a:t>n</a:t>
            </a:r>
            <a:r>
              <a:rPr lang="en-US" dirty="0">
                <a:solidFill>
                  <a:schemeClr val="tx1"/>
                </a:solidFill>
              </a:rPr>
              <a:t> </a:t>
            </a:r>
            <a:r>
              <a:rPr lang="en-US" dirty="0"/>
              <a:t>turns out to grow faster than any polynomial</a:t>
            </a:r>
          </a:p>
          <a:p>
            <a:r>
              <a:rPr lang="en-US" dirty="0"/>
              <a:t>And n!</a:t>
            </a:r>
            <a:r>
              <a:rPr lang="en-US" b="1" dirty="0">
                <a:solidFill>
                  <a:schemeClr val="accent6">
                    <a:lumMod val="50000"/>
                  </a:schemeClr>
                </a:solidFill>
              </a:rPr>
              <a:t> </a:t>
            </a:r>
            <a:r>
              <a:rPr lang="en-US" dirty="0"/>
              <a:t>grows still faster</a:t>
            </a:r>
          </a:p>
        </p:txBody>
      </p:sp>
    </p:spTree>
    <p:extLst>
      <p:ext uri="{BB962C8B-B14F-4D97-AF65-F5344CB8AC3E}">
        <p14:creationId xmlns:p14="http://schemas.microsoft.com/office/powerpoint/2010/main" val="22153004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this mean?</a:t>
            </a:r>
          </a:p>
        </p:txBody>
      </p:sp>
      <p:sp>
        <p:nvSpPr>
          <p:cNvPr id="3" name="Content Placeholder 2"/>
          <p:cNvSpPr>
            <a:spLocks noGrp="1"/>
          </p:cNvSpPr>
          <p:nvPr>
            <p:ph idx="1"/>
          </p:nvPr>
        </p:nvSpPr>
        <p:spPr/>
        <p:txBody>
          <a:bodyPr>
            <a:normAutofit/>
          </a:bodyPr>
          <a:lstStyle/>
          <a:p>
            <a:r>
              <a:rPr lang="en-US" dirty="0"/>
              <a:t>When comparing a sum, all that matters is the </a:t>
            </a:r>
            <a:r>
              <a:rPr lang="en-US" b="1" dirty="0">
                <a:solidFill>
                  <a:schemeClr val="accent6">
                    <a:lumMod val="50000"/>
                  </a:schemeClr>
                </a:solidFill>
              </a:rPr>
              <a:t>fastest growing part </a:t>
            </a:r>
            <a:r>
              <a:rPr lang="en-US" dirty="0"/>
              <a:t>of the sum</a:t>
            </a:r>
          </a:p>
          <a:p>
            <a:pPr lvl="1"/>
            <a:r>
              <a:rPr lang="en-US" dirty="0"/>
              <a:t>Not the other parts</a:t>
            </a:r>
          </a:p>
          <a:p>
            <a:pPr lvl="1"/>
            <a:r>
              <a:rPr lang="en-US" dirty="0"/>
              <a:t>Not any constant it might be multiplied by</a:t>
            </a:r>
          </a:p>
          <a:p>
            <a:pPr lvl="1"/>
            <a:endParaRPr lang="en-US" dirty="0"/>
          </a:p>
          <a:p>
            <a:r>
              <a:rPr lang="en-US" dirty="0"/>
              <a:t>Whichever function has the fastest growing term added in is the one that grows fastest</a:t>
            </a:r>
          </a:p>
        </p:txBody>
      </p:sp>
    </p:spTree>
    <p:extLst>
      <p:ext uri="{BB962C8B-B14F-4D97-AF65-F5344CB8AC3E}">
        <p14:creationId xmlns:p14="http://schemas.microsoft.com/office/powerpoint/2010/main" val="26792089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this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So when we decide “how fast” something grows, what we really care is which “</a:t>
                </a:r>
                <a:r>
                  <a:rPr lang="en-US" b="1" dirty="0">
                    <a:solidFill>
                      <a:schemeClr val="accent6">
                        <a:lumMod val="50000"/>
                      </a:schemeClr>
                    </a:solidFill>
                  </a:rPr>
                  <a:t>class</a:t>
                </a:r>
                <a:r>
                  <a:rPr lang="en-US" dirty="0"/>
                  <a:t>” of functions it’s in</a:t>
                </a:r>
              </a:p>
              <a:p>
                <a:pPr lvl="1"/>
                <a:r>
                  <a:rPr lang="en-US" b="1" dirty="0">
                    <a:solidFill>
                      <a:schemeClr val="accent6">
                        <a:lumMod val="50000"/>
                      </a:schemeClr>
                    </a:solidFill>
                  </a:rPr>
                  <a:t>Constants</a:t>
                </a:r>
              </a:p>
              <a:p>
                <a:pPr lvl="1"/>
                <a:r>
                  <a:rPr lang="en-US" b="1" dirty="0">
                    <a:solidFill>
                      <a:schemeClr val="accent6">
                        <a:lumMod val="50000"/>
                      </a:schemeClr>
                    </a:solidFill>
                  </a:rPr>
                  <a:t>Logarithmic</a:t>
                </a:r>
              </a:p>
              <a:p>
                <a:pPr lvl="1"/>
                <a:r>
                  <a:rPr lang="en-US" b="1" dirty="0">
                    <a:solidFill>
                      <a:schemeClr val="accent6">
                        <a:lumMod val="50000"/>
                      </a:schemeClr>
                    </a:solidFill>
                  </a:rPr>
                  <a:t>Polynomial</a:t>
                </a:r>
                <a:r>
                  <a:rPr lang="en-US" dirty="0"/>
                  <a:t> (and if so, what order – </a:t>
                </a:r>
                <a:r>
                  <a:rPr lang="en-US" b="1" dirty="0">
                    <a:solidFill>
                      <a:schemeClr val="accent6">
                        <a:lumMod val="50000"/>
                      </a:schemeClr>
                    </a:solidFill>
                  </a:rPr>
                  <a:t>linear</a:t>
                </a:r>
                <a:r>
                  <a:rPr lang="en-US" dirty="0"/>
                  <a:t>, </a:t>
                </a:r>
                <a:r>
                  <a:rPr lang="en-US" b="1" dirty="0">
                    <a:solidFill>
                      <a:schemeClr val="accent6">
                        <a:lumMod val="50000"/>
                      </a:schemeClr>
                    </a:solidFill>
                  </a:rPr>
                  <a:t>quadratic</a:t>
                </a:r>
                <a:r>
                  <a:rPr lang="en-US" dirty="0"/>
                  <a:t>, </a:t>
                </a:r>
                <a:r>
                  <a:rPr lang="en-US" b="1" dirty="0">
                    <a:solidFill>
                      <a:schemeClr val="accent6">
                        <a:lumMod val="50000"/>
                      </a:schemeClr>
                    </a:solidFill>
                  </a:rPr>
                  <a:t>cubic</a:t>
                </a:r>
                <a:r>
                  <a:rPr lang="en-US" dirty="0"/>
                  <a:t>, or whatever)</a:t>
                </a:r>
              </a:p>
              <a:p>
                <a:pPr lvl="1"/>
                <a:r>
                  <a:rPr lang="en-US" b="1" dirty="0">
                    <a:solidFill>
                      <a:schemeClr val="accent6">
                        <a:lumMod val="50000"/>
                      </a:schemeClr>
                    </a:solidFill>
                  </a:rPr>
                  <a:t>Exponential</a:t>
                </a:r>
              </a:p>
              <a:p>
                <a:pPr lvl="1"/>
                <a:r>
                  <a:rPr lang="en-US" dirty="0"/>
                  <a:t>Or something </a:t>
                </a:r>
                <a:r>
                  <a:rPr lang="en-US" b="1" dirty="0">
                    <a:solidFill>
                      <a:schemeClr val="accent6">
                        <a:lumMod val="50000"/>
                      </a:schemeClr>
                    </a:solidFill>
                  </a:rPr>
                  <a:t>more complicated </a:t>
                </a:r>
                <a:r>
                  <a:rPr lang="en-US" dirty="0"/>
                  <a:t>like </a:t>
                </a:r>
                <a14:m>
                  <m:oMath xmlns:m="http://schemas.openxmlformats.org/officeDocument/2006/math">
                    <m:r>
                      <a:rPr lang="en-US" i="1" dirty="0" smtClean="0">
                        <a:latin typeface="Cambria Math"/>
                      </a:rPr>
                      <m:t>𝑛</m:t>
                    </m:r>
                    <m:func>
                      <m:funcPr>
                        <m:ctrlPr>
                          <a:rPr lang="en-US" i="1" dirty="0" smtClean="0">
                            <a:latin typeface="Cambria Math" panose="02040503050406030204" pitchFamily="18" charset="0"/>
                          </a:rPr>
                        </m:ctrlPr>
                      </m:funcPr>
                      <m:fName>
                        <m:r>
                          <m:rPr>
                            <m:sty m:val="p"/>
                          </m:rPr>
                          <a:rPr lang="en-US" i="1" dirty="0" smtClean="0">
                            <a:latin typeface="Cambria Math"/>
                          </a:rPr>
                          <m:t>log</m:t>
                        </m:r>
                      </m:fName>
                      <m:e>
                        <m:r>
                          <a:rPr lang="en-US" i="1" dirty="0" smtClean="0">
                            <a:latin typeface="Cambria Math"/>
                          </a:rPr>
                          <m:t>𝑛</m:t>
                        </m:r>
                      </m:e>
                    </m:func>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2830" r="-1926"/>
                </a:stretch>
              </a:blipFill>
            </p:spPr>
            <p:txBody>
              <a:bodyPr/>
              <a:lstStyle/>
              <a:p>
                <a:r>
                  <a:rPr lang="en-US">
                    <a:noFill/>
                  </a:rPr>
                  <a:t> </a:t>
                </a:r>
              </a:p>
            </p:txBody>
          </p:sp>
        </mc:Fallback>
      </mc:AlternateContent>
    </p:spTree>
    <p:extLst>
      <p:ext uri="{BB962C8B-B14F-4D97-AF65-F5344CB8AC3E}">
        <p14:creationId xmlns:p14="http://schemas.microsoft.com/office/powerpoint/2010/main" val="1725903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Sometimes limits aren’t appropriate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Which function grows faster?</a:t>
                </a:r>
              </a:p>
              <a:p>
                <a:pPr lvl="1"/>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a:rPr>
                          <m:t>2</m:t>
                        </m:r>
                      </m:e>
                      <m:sup>
                        <m:r>
                          <a:rPr lang="en-US" i="1" dirty="0" smtClean="0">
                            <a:latin typeface="Cambria Math"/>
                          </a:rPr>
                          <m:t>𝑛</m:t>
                        </m:r>
                      </m:sup>
                    </m:sSup>
                  </m:oMath>
                </a14:m>
                <a:r>
                  <a:rPr lang="en-US" dirty="0"/>
                  <a:t>, or</a:t>
                </a:r>
              </a:p>
              <a:p>
                <a:pPr lvl="1"/>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a:rPr>
                          <m:t>2</m:t>
                        </m:r>
                      </m:e>
                      <m:sup>
                        <m:r>
                          <a:rPr lang="en-US" i="1" dirty="0" smtClean="0">
                            <a:latin typeface="Cambria Math"/>
                          </a:rPr>
                          <m:t>𝑛</m:t>
                        </m:r>
                      </m:sup>
                    </m:sSup>
                    <m:r>
                      <a:rPr lang="en-US" i="1" dirty="0" smtClean="0">
                        <a:latin typeface="Cambria Math"/>
                      </a:rPr>
                      <m:t>(1+</m:t>
                    </m:r>
                    <m:func>
                      <m:funcPr>
                        <m:ctrlPr>
                          <a:rPr lang="en-US" i="1" dirty="0" smtClean="0">
                            <a:latin typeface="Cambria Math" panose="02040503050406030204" pitchFamily="18" charset="0"/>
                          </a:rPr>
                        </m:ctrlPr>
                      </m:funcPr>
                      <m:fName>
                        <m:sSup>
                          <m:sSupPr>
                            <m:ctrlPr>
                              <a:rPr lang="en-US" i="1" dirty="0" smtClean="0">
                                <a:latin typeface="Cambria Math" panose="02040503050406030204" pitchFamily="18" charset="0"/>
                              </a:rPr>
                            </m:ctrlPr>
                          </m:sSupPr>
                          <m:e>
                            <m:r>
                              <m:rPr>
                                <m:sty m:val="p"/>
                              </m:rPr>
                              <a:rPr lang="en-US" i="1" dirty="0" smtClean="0">
                                <a:latin typeface="Cambria Math"/>
                              </a:rPr>
                              <m:t>sin</m:t>
                            </m:r>
                          </m:e>
                          <m:sup>
                            <m:r>
                              <a:rPr lang="en-US" i="1" dirty="0" smtClean="0">
                                <a:latin typeface="Cambria Math"/>
                              </a:rPr>
                              <m:t>2</m:t>
                            </m:r>
                          </m:sup>
                        </m:sSup>
                      </m:fName>
                      <m:e>
                        <m:r>
                          <a:rPr lang="en-US" i="1" dirty="0" smtClean="0">
                            <a:latin typeface="Cambria Math"/>
                          </a:rPr>
                          <m:t>𝑛</m:t>
                        </m:r>
                      </m:e>
                    </m:func>
                    <m:r>
                      <a:rPr lang="en-US" i="1" dirty="0" smtClean="0">
                        <a:latin typeface="Cambria Math"/>
                      </a:rPr>
                      <m:t>)</m:t>
                    </m:r>
                  </m:oMath>
                </a14:m>
                <a:endParaRPr lang="en-US" dirty="0"/>
              </a:p>
              <a:p>
                <a:pPr lvl="1"/>
                <a:endParaRPr lang="en-US" dirty="0"/>
              </a:p>
              <a:p>
                <a:r>
                  <a:rPr lang="en-US" dirty="0"/>
                  <a:t>Intuitively, we want to say they grow at the </a:t>
                </a:r>
                <a:r>
                  <a:rPr lang="en-US" b="1" dirty="0">
                    <a:solidFill>
                      <a:schemeClr val="accent6">
                        <a:lumMod val="50000"/>
                      </a:schemeClr>
                    </a:solidFill>
                  </a:rPr>
                  <a:t>same rate</a:t>
                </a:r>
              </a:p>
              <a:p>
                <a:r>
                  <a:rPr lang="en-US" dirty="0"/>
                  <a:t>But </a:t>
                </a:r>
                <a14:m>
                  <m:oMath xmlns:m="http://schemas.openxmlformats.org/officeDocument/2006/math">
                    <m:func>
                      <m:funcPr>
                        <m:ctrlPr>
                          <a:rPr lang="en-US" i="1" dirty="0" smtClean="0">
                            <a:latin typeface="Cambria Math" panose="02040503050406030204" pitchFamily="18" charset="0"/>
                          </a:rPr>
                        </m:ctrlPr>
                      </m:funcPr>
                      <m:fName>
                        <m:limLow>
                          <m:limLowPr>
                            <m:ctrlPr>
                              <a:rPr lang="en-US" i="1" dirty="0" smtClean="0">
                                <a:latin typeface="Cambria Math" panose="02040503050406030204" pitchFamily="18" charset="0"/>
                              </a:rPr>
                            </m:ctrlPr>
                          </m:limLowPr>
                          <m:e>
                            <m:r>
                              <m:rPr>
                                <m:sty m:val="p"/>
                              </m:rPr>
                              <a:rPr lang="en-US" i="1" dirty="0" smtClean="0">
                                <a:latin typeface="Cambria Math"/>
                              </a:rPr>
                              <m:t>lim</m:t>
                            </m:r>
                          </m:e>
                          <m:lim>
                            <m:r>
                              <a:rPr lang="en-US" i="1" dirty="0" smtClean="0">
                                <a:latin typeface="Cambria Math"/>
                              </a:rPr>
                              <m:t>𝑛</m:t>
                            </m:r>
                            <m:r>
                              <a:rPr lang="en-US" i="1" dirty="0" smtClean="0">
                                <a:latin typeface="Cambria Math"/>
                              </a:rPr>
                              <m:t>→∞</m:t>
                            </m:r>
                          </m:lim>
                        </m:limLow>
                      </m:fName>
                      <m:e>
                        <m:f>
                          <m:fPr>
                            <m:ctrlPr>
                              <a:rPr lang="en-US" i="1" dirty="0" smtClean="0">
                                <a:latin typeface="Cambria Math" panose="02040503050406030204" pitchFamily="18" charset="0"/>
                              </a:rPr>
                            </m:ctrlPr>
                          </m:fPr>
                          <m:num>
                            <m:sSup>
                              <m:sSupPr>
                                <m:ctrlPr>
                                  <a:rPr lang="en-US" i="1" dirty="0" smtClean="0">
                                    <a:latin typeface="Cambria Math" panose="02040503050406030204" pitchFamily="18" charset="0"/>
                                  </a:rPr>
                                </m:ctrlPr>
                              </m:sSupPr>
                              <m:e>
                                <m:r>
                                  <a:rPr lang="en-US" i="1" dirty="0" smtClean="0">
                                    <a:latin typeface="Cambria Math"/>
                                  </a:rPr>
                                  <m:t>2</m:t>
                                </m:r>
                              </m:e>
                              <m:sup>
                                <m:r>
                                  <a:rPr lang="en-US" i="1" dirty="0" smtClean="0">
                                    <a:latin typeface="Cambria Math"/>
                                  </a:rPr>
                                  <m:t>𝑛</m:t>
                                </m:r>
                              </m:sup>
                            </m:sSup>
                            <m:d>
                              <m:dPr>
                                <m:endChr m:val="〗"/>
                                <m:ctrlPr>
                                  <a:rPr lang="en-US" i="1" dirty="0" smtClean="0">
                                    <a:latin typeface="Cambria Math" panose="02040503050406030204" pitchFamily="18" charset="0"/>
                                  </a:rPr>
                                </m:ctrlPr>
                              </m:dPr>
                              <m:e>
                                <m:r>
                                  <a:rPr lang="en-US" i="1" dirty="0">
                                    <a:latin typeface="Cambria Math"/>
                                  </a:rPr>
                                  <m:t>1+</m:t>
                                </m:r>
                                <m:func>
                                  <m:funcPr>
                                    <m:ctrlPr>
                                      <a:rPr lang="en-US" i="1" dirty="0">
                                        <a:latin typeface="Cambria Math" panose="02040503050406030204" pitchFamily="18" charset="0"/>
                                      </a:rPr>
                                    </m:ctrlPr>
                                  </m:funcPr>
                                  <m:fName>
                                    <m:sSup>
                                      <m:sSupPr>
                                        <m:ctrlPr>
                                          <a:rPr lang="en-US" i="1" dirty="0">
                                            <a:latin typeface="Cambria Math" panose="02040503050406030204" pitchFamily="18" charset="0"/>
                                          </a:rPr>
                                        </m:ctrlPr>
                                      </m:sSupPr>
                                      <m:e>
                                        <m:r>
                                          <m:rPr>
                                            <m:sty m:val="p"/>
                                          </m:rPr>
                                          <a:rPr lang="en-US" i="1" dirty="0">
                                            <a:latin typeface="Cambria Math"/>
                                          </a:rPr>
                                          <m:t>sin</m:t>
                                        </m:r>
                                      </m:e>
                                      <m:sup>
                                        <m:r>
                                          <a:rPr lang="en-US" i="1" dirty="0">
                                            <a:latin typeface="Cambria Math"/>
                                          </a:rPr>
                                          <m:t>2</m:t>
                                        </m:r>
                                      </m:sup>
                                    </m:sSup>
                                  </m:fName>
                                  <m:e>
                                    <m:d>
                                      <m:dPr>
                                        <m:begChr m:val="〖"/>
                                        <m:ctrlPr>
                                          <a:rPr lang="en-US" i="1" dirty="0">
                                            <a:latin typeface="Cambria Math" panose="02040503050406030204" pitchFamily="18" charset="0"/>
                                          </a:rPr>
                                        </m:ctrlPr>
                                      </m:dPr>
                                      <m:e>
                                        <m:r>
                                          <a:rPr lang="en-US" i="1" dirty="0">
                                            <a:latin typeface="Cambria Math"/>
                                          </a:rPr>
                                          <m:t>𝑛</m:t>
                                        </m:r>
                                      </m:e>
                                    </m:d>
                                  </m:e>
                                </m:func>
                              </m:e>
                            </m:d>
                          </m:num>
                          <m:den>
                            <m:sSup>
                              <m:sSupPr>
                                <m:ctrlPr>
                                  <a:rPr lang="en-US" i="1" dirty="0" smtClean="0">
                                    <a:latin typeface="Cambria Math" panose="02040503050406030204" pitchFamily="18" charset="0"/>
                                  </a:rPr>
                                </m:ctrlPr>
                              </m:sSupPr>
                              <m:e>
                                <m:r>
                                  <a:rPr lang="en-US" i="1" dirty="0" smtClean="0">
                                    <a:latin typeface="Cambria Math"/>
                                  </a:rPr>
                                  <m:t>2</m:t>
                                </m:r>
                              </m:e>
                              <m:sup>
                                <m:r>
                                  <a:rPr lang="en-US" i="1" dirty="0" smtClean="0">
                                    <a:latin typeface="Cambria Math"/>
                                  </a:rPr>
                                  <m:t>𝑛</m:t>
                                </m:r>
                              </m:sup>
                            </m:sSup>
                          </m:den>
                        </m:f>
                        <m:r>
                          <a:rPr lang="en-US" i="1" dirty="0" smtClean="0">
                            <a:latin typeface="Cambria Math"/>
                          </a:rPr>
                          <m:t>=</m:t>
                        </m:r>
                        <m:func>
                          <m:funcPr>
                            <m:ctrlPr>
                              <a:rPr lang="en-US" i="1" dirty="0" smtClean="0">
                                <a:latin typeface="Cambria Math" panose="02040503050406030204" pitchFamily="18" charset="0"/>
                              </a:rPr>
                            </m:ctrlPr>
                          </m:funcPr>
                          <m:fName>
                            <m:limLow>
                              <m:limLowPr>
                                <m:ctrlPr>
                                  <a:rPr lang="en-US" i="1" dirty="0" smtClean="0">
                                    <a:latin typeface="Cambria Math" panose="02040503050406030204" pitchFamily="18" charset="0"/>
                                  </a:rPr>
                                </m:ctrlPr>
                              </m:limLowPr>
                              <m:e>
                                <m:r>
                                  <m:rPr>
                                    <m:sty m:val="p"/>
                                  </m:rPr>
                                  <a:rPr lang="en-US" i="1" dirty="0" smtClean="0">
                                    <a:latin typeface="Cambria Math"/>
                                  </a:rPr>
                                  <m:t>lim</m:t>
                                </m:r>
                              </m:e>
                              <m:lim>
                                <m:r>
                                  <a:rPr lang="en-US" i="1" dirty="0" smtClean="0">
                                    <a:latin typeface="Cambria Math"/>
                                  </a:rPr>
                                  <m:t>𝑛</m:t>
                                </m:r>
                                <m:r>
                                  <a:rPr lang="en-US" i="1" dirty="0" smtClean="0">
                                    <a:latin typeface="Cambria Math"/>
                                  </a:rPr>
                                  <m:t>→∞</m:t>
                                </m:r>
                              </m:lim>
                            </m:limLow>
                          </m:fName>
                          <m:e>
                            <m:r>
                              <a:rPr lang="en-US" i="1" dirty="0" smtClean="0">
                                <a:latin typeface="Cambria Math"/>
                              </a:rPr>
                              <m:t>(1+</m:t>
                            </m:r>
                            <m:func>
                              <m:funcPr>
                                <m:ctrlPr>
                                  <a:rPr lang="en-US" i="1" dirty="0" smtClean="0">
                                    <a:latin typeface="Cambria Math" panose="02040503050406030204" pitchFamily="18" charset="0"/>
                                  </a:rPr>
                                </m:ctrlPr>
                              </m:funcPr>
                              <m:fName>
                                <m:sSup>
                                  <m:sSupPr>
                                    <m:ctrlPr>
                                      <a:rPr lang="en-US" i="1" dirty="0" smtClean="0">
                                        <a:latin typeface="Cambria Math" panose="02040503050406030204" pitchFamily="18" charset="0"/>
                                      </a:rPr>
                                    </m:ctrlPr>
                                  </m:sSupPr>
                                  <m:e>
                                    <m:r>
                                      <m:rPr>
                                        <m:sty m:val="p"/>
                                      </m:rPr>
                                      <a:rPr lang="en-US" i="1" dirty="0" smtClean="0">
                                        <a:latin typeface="Cambria Math"/>
                                      </a:rPr>
                                      <m:t>sin</m:t>
                                    </m:r>
                                  </m:e>
                                  <m:sup>
                                    <m:r>
                                      <a:rPr lang="en-US" i="1" dirty="0" smtClean="0">
                                        <a:latin typeface="Cambria Math"/>
                                      </a:rPr>
                                      <m:t>2</m:t>
                                    </m:r>
                                  </m:sup>
                                </m:sSup>
                              </m:fName>
                              <m:e>
                                <m:r>
                                  <a:rPr lang="en-US" i="1" dirty="0" smtClean="0">
                                    <a:latin typeface="Cambria Math"/>
                                  </a:rPr>
                                  <m:t>𝑛</m:t>
                                </m:r>
                              </m:e>
                            </m:func>
                            <m:r>
                              <a:rPr lang="en-US" i="1" dirty="0" smtClean="0">
                                <a:latin typeface="Cambria Math"/>
                              </a:rPr>
                              <m:t>)</m:t>
                            </m:r>
                          </m:e>
                        </m:func>
                      </m:e>
                    </m:func>
                  </m:oMath>
                </a14:m>
                <a:r>
                  <a:rPr lang="en-US" dirty="0"/>
                  <a:t> </a:t>
                </a:r>
                <a:r>
                  <a:rPr lang="en-US" b="1" dirty="0">
                    <a:solidFill>
                      <a:schemeClr val="accent6">
                        <a:lumMod val="50000"/>
                      </a:schemeClr>
                    </a:solidFill>
                  </a:rPr>
                  <a:t>doesn’t exist</a:t>
                </a:r>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2830"/>
                </a:stretch>
              </a:blipFill>
            </p:spPr>
            <p:txBody>
              <a:bodyPr/>
              <a:lstStyle/>
              <a:p>
                <a:r>
                  <a:rPr lang="en-US">
                    <a:noFill/>
                  </a:rPr>
                  <a:t> </a:t>
                </a:r>
              </a:p>
            </p:txBody>
          </p:sp>
        </mc:Fallback>
      </mc:AlternateContent>
    </p:spTree>
    <p:extLst>
      <p:ext uri="{BB962C8B-B14F-4D97-AF65-F5344CB8AC3E}">
        <p14:creationId xmlns:p14="http://schemas.microsoft.com/office/powerpoint/2010/main" val="29716442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Sometimes limits aren’t appropriate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US" dirty="0"/>
                  <a:t>Which function grows faster?</a:t>
                </a:r>
              </a:p>
              <a:p>
                <a:pPr lvl="1"/>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a:rPr>
                          <m:t>2</m:t>
                        </m:r>
                      </m:e>
                      <m:sup>
                        <m:r>
                          <a:rPr lang="en-US" i="1" dirty="0" smtClean="0">
                            <a:latin typeface="Cambria Math"/>
                          </a:rPr>
                          <m:t>𝑛</m:t>
                        </m:r>
                      </m:sup>
                    </m:sSup>
                  </m:oMath>
                </a14:m>
                <a:r>
                  <a:rPr lang="en-US" dirty="0"/>
                  <a:t>, or</a:t>
                </a:r>
              </a:p>
              <a:p>
                <a:pPr lvl="1"/>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a:rPr>
                          <m:t>2</m:t>
                        </m:r>
                      </m:e>
                      <m:sup>
                        <m:r>
                          <a:rPr lang="en-US" i="1" dirty="0" smtClean="0">
                            <a:latin typeface="Cambria Math"/>
                          </a:rPr>
                          <m:t>𝑛</m:t>
                        </m:r>
                      </m:sup>
                    </m:sSup>
                    <m:r>
                      <a:rPr lang="en-US" i="1" dirty="0" smtClean="0">
                        <a:latin typeface="Cambria Math"/>
                      </a:rPr>
                      <m:t>(1+</m:t>
                    </m:r>
                    <m:func>
                      <m:funcPr>
                        <m:ctrlPr>
                          <a:rPr lang="en-US" i="1" dirty="0" smtClean="0">
                            <a:latin typeface="Cambria Math" panose="02040503050406030204" pitchFamily="18" charset="0"/>
                          </a:rPr>
                        </m:ctrlPr>
                      </m:funcPr>
                      <m:fName>
                        <m:sSup>
                          <m:sSupPr>
                            <m:ctrlPr>
                              <a:rPr lang="en-US" i="1" dirty="0" smtClean="0">
                                <a:latin typeface="Cambria Math" panose="02040503050406030204" pitchFamily="18" charset="0"/>
                              </a:rPr>
                            </m:ctrlPr>
                          </m:sSupPr>
                          <m:e>
                            <m:r>
                              <m:rPr>
                                <m:sty m:val="p"/>
                              </m:rPr>
                              <a:rPr lang="en-US" i="1" dirty="0" smtClean="0">
                                <a:latin typeface="Cambria Math"/>
                              </a:rPr>
                              <m:t>sin</m:t>
                            </m:r>
                          </m:e>
                          <m:sup>
                            <m:r>
                              <a:rPr lang="en-US" i="1" dirty="0" smtClean="0">
                                <a:latin typeface="Cambria Math"/>
                              </a:rPr>
                              <m:t>2</m:t>
                            </m:r>
                          </m:sup>
                        </m:sSup>
                      </m:fName>
                      <m:e>
                        <m:r>
                          <a:rPr lang="en-US" i="1" dirty="0" smtClean="0">
                            <a:latin typeface="Cambria Math"/>
                          </a:rPr>
                          <m:t>𝑛</m:t>
                        </m:r>
                      </m:e>
                    </m:func>
                    <m:r>
                      <a:rPr lang="en-US" i="1" dirty="0" smtClean="0">
                        <a:latin typeface="Cambria Math"/>
                      </a:rPr>
                      <m:t>)</m:t>
                    </m:r>
                  </m:oMath>
                </a14:m>
                <a:endParaRPr lang="en-US" dirty="0"/>
              </a:p>
              <a:p>
                <a:pPr lvl="1"/>
                <a:endParaRPr lang="en-US" dirty="0"/>
              </a:p>
              <a:p>
                <a:r>
                  <a:rPr lang="en-US" dirty="0"/>
                  <a:t>Nevertheless, we can say that</a:t>
                </a:r>
              </a:p>
              <a:p>
                <a:pPr lvl="1"/>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a:rPr>
                          <m:t>2</m:t>
                        </m:r>
                      </m:e>
                      <m:sup>
                        <m:r>
                          <a:rPr lang="en-US" i="1" dirty="0" smtClean="0">
                            <a:latin typeface="Cambria Math"/>
                          </a:rPr>
                          <m:t>𝑛</m:t>
                        </m:r>
                      </m:sup>
                    </m:sSup>
                    <m:r>
                      <a:rPr lang="en-US" i="1" dirty="0" smtClean="0">
                        <a:latin typeface="Cambria Math"/>
                      </a:rPr>
                      <m:t>≤</m:t>
                    </m:r>
                    <m:sSup>
                      <m:sSupPr>
                        <m:ctrlPr>
                          <a:rPr lang="en-US" i="1" dirty="0" smtClean="0">
                            <a:latin typeface="Cambria Math" panose="02040503050406030204" pitchFamily="18" charset="0"/>
                          </a:rPr>
                        </m:ctrlPr>
                      </m:sSupPr>
                      <m:e>
                        <m:r>
                          <a:rPr lang="en-US" i="1" dirty="0" smtClean="0">
                            <a:latin typeface="Cambria Math"/>
                          </a:rPr>
                          <m:t>2</m:t>
                        </m:r>
                      </m:e>
                      <m:sup>
                        <m:r>
                          <a:rPr lang="en-US" i="1" dirty="0" smtClean="0">
                            <a:latin typeface="Cambria Math"/>
                          </a:rPr>
                          <m:t>𝑛</m:t>
                        </m:r>
                      </m:sup>
                    </m:sSup>
                    <m:r>
                      <a:rPr lang="en-US" i="1" dirty="0" smtClean="0">
                        <a:latin typeface="Cambria Math"/>
                      </a:rPr>
                      <m:t>(1+</m:t>
                    </m:r>
                    <m:func>
                      <m:funcPr>
                        <m:ctrlPr>
                          <a:rPr lang="en-US" i="1" dirty="0" smtClean="0">
                            <a:latin typeface="Cambria Math" panose="02040503050406030204" pitchFamily="18" charset="0"/>
                          </a:rPr>
                        </m:ctrlPr>
                      </m:funcPr>
                      <m:fName>
                        <m:sSup>
                          <m:sSupPr>
                            <m:ctrlPr>
                              <a:rPr lang="en-US" i="1" dirty="0" smtClean="0">
                                <a:latin typeface="Cambria Math" panose="02040503050406030204" pitchFamily="18" charset="0"/>
                              </a:rPr>
                            </m:ctrlPr>
                          </m:sSupPr>
                          <m:e>
                            <m:r>
                              <m:rPr>
                                <m:sty m:val="p"/>
                              </m:rPr>
                              <a:rPr lang="en-US" i="1" dirty="0" smtClean="0">
                                <a:latin typeface="Cambria Math"/>
                              </a:rPr>
                              <m:t>sin</m:t>
                            </m:r>
                          </m:e>
                          <m:sup>
                            <m:r>
                              <a:rPr lang="en-US" i="1" dirty="0" smtClean="0">
                                <a:latin typeface="Cambria Math"/>
                              </a:rPr>
                              <m:t>2</m:t>
                            </m:r>
                          </m:sup>
                        </m:sSup>
                      </m:fName>
                      <m:e>
                        <m:r>
                          <a:rPr lang="en-US" i="1" dirty="0" smtClean="0">
                            <a:latin typeface="Cambria Math"/>
                          </a:rPr>
                          <m:t>𝑛</m:t>
                        </m:r>
                        <m:r>
                          <a:rPr lang="en-US" i="1" dirty="0" smtClean="0">
                            <a:latin typeface="Cambria Math"/>
                          </a:rPr>
                          <m:t>)</m:t>
                        </m:r>
                      </m:e>
                    </m:func>
                  </m:oMath>
                </a14:m>
                <a:r>
                  <a:rPr lang="en-US" dirty="0"/>
                  <a:t> for all n</a:t>
                </a:r>
              </a:p>
              <a:p>
                <a:pPr lvl="1"/>
                <a14:m>
                  <m:oMath xmlns:m="http://schemas.openxmlformats.org/officeDocument/2006/math">
                    <m:sSup>
                      <m:sSupPr>
                        <m:ctrlPr>
                          <a:rPr lang="en-US" i="1" dirty="0">
                            <a:latin typeface="Cambria Math" panose="02040503050406030204" pitchFamily="18" charset="0"/>
                          </a:rPr>
                        </m:ctrlPr>
                      </m:sSupPr>
                      <m:e>
                        <m:r>
                          <a:rPr lang="en-US" i="1" dirty="0">
                            <a:latin typeface="Cambria Math"/>
                          </a:rPr>
                          <m:t>2</m:t>
                        </m:r>
                      </m:e>
                      <m:sup>
                        <m:r>
                          <a:rPr lang="en-US" i="1" dirty="0">
                            <a:latin typeface="Cambria Math"/>
                          </a:rPr>
                          <m:t>𝑛</m:t>
                        </m:r>
                      </m:sup>
                    </m:sSup>
                    <m:r>
                      <a:rPr lang="en-US" i="1" dirty="0" smtClean="0">
                        <a:latin typeface="Cambria Math"/>
                      </a:rPr>
                      <m:t> </m:t>
                    </m:r>
                    <m:r>
                      <a:rPr lang="en-US" i="1" dirty="0">
                        <a:latin typeface="Cambria Math"/>
                      </a:rPr>
                      <m:t>(1+</m:t>
                    </m:r>
                    <m:func>
                      <m:funcPr>
                        <m:ctrlPr>
                          <a:rPr lang="en-US" i="1" dirty="0">
                            <a:latin typeface="Cambria Math" panose="02040503050406030204" pitchFamily="18" charset="0"/>
                          </a:rPr>
                        </m:ctrlPr>
                      </m:funcPr>
                      <m:fName>
                        <m:sSup>
                          <m:sSupPr>
                            <m:ctrlPr>
                              <a:rPr lang="en-US" i="1" dirty="0">
                                <a:latin typeface="Cambria Math" panose="02040503050406030204" pitchFamily="18" charset="0"/>
                              </a:rPr>
                            </m:ctrlPr>
                          </m:sSupPr>
                          <m:e>
                            <m:r>
                              <m:rPr>
                                <m:sty m:val="p"/>
                              </m:rPr>
                              <a:rPr lang="en-US" i="1" dirty="0">
                                <a:latin typeface="Cambria Math"/>
                              </a:rPr>
                              <m:t>sin</m:t>
                            </m:r>
                          </m:e>
                          <m:sup>
                            <m:r>
                              <a:rPr lang="en-US" i="1" dirty="0">
                                <a:latin typeface="Cambria Math"/>
                              </a:rPr>
                              <m:t>2</m:t>
                            </m:r>
                          </m:sup>
                        </m:sSup>
                      </m:fName>
                      <m:e>
                        <m:r>
                          <a:rPr lang="en-US" i="1" dirty="0">
                            <a:latin typeface="Cambria Math"/>
                          </a:rPr>
                          <m:t>𝑛</m:t>
                        </m:r>
                        <m:r>
                          <a:rPr lang="en-US" i="1" dirty="0">
                            <a:latin typeface="Cambria Math"/>
                          </a:rPr>
                          <m:t>)</m:t>
                        </m:r>
                      </m:e>
                    </m:func>
                    <m:r>
                      <a:rPr lang="en-US" i="1" dirty="0">
                        <a:latin typeface="Cambria Math"/>
                      </a:rPr>
                      <m:t>≤</m:t>
                    </m:r>
                    <m:r>
                      <a:rPr lang="en-US" i="1" dirty="0" smtClean="0">
                        <a:latin typeface="Cambria Math"/>
                      </a:rPr>
                      <m:t>2(</m:t>
                    </m:r>
                    <m:sSup>
                      <m:sSupPr>
                        <m:ctrlPr>
                          <a:rPr lang="en-US" i="1" dirty="0">
                            <a:latin typeface="Cambria Math" panose="02040503050406030204" pitchFamily="18" charset="0"/>
                          </a:rPr>
                        </m:ctrlPr>
                      </m:sSupPr>
                      <m:e>
                        <m:r>
                          <a:rPr lang="en-US" i="1" dirty="0">
                            <a:latin typeface="Cambria Math"/>
                          </a:rPr>
                          <m:t>2</m:t>
                        </m:r>
                      </m:e>
                      <m:sup>
                        <m:r>
                          <a:rPr lang="en-US" i="1" dirty="0">
                            <a:latin typeface="Cambria Math"/>
                          </a:rPr>
                          <m:t>𝑛</m:t>
                        </m:r>
                      </m:sup>
                    </m:sSup>
                  </m:oMath>
                </a14:m>
                <a:r>
                  <a:rPr lang="en-US" dirty="0"/>
                  <a:t>) for all n</a:t>
                </a:r>
              </a:p>
              <a:p>
                <a:pPr lvl="1"/>
                <a:r>
                  <a:rPr lang="en-US" dirty="0"/>
                  <a:t>So one is </a:t>
                </a:r>
                <a:r>
                  <a:rPr lang="en-US" b="1" dirty="0">
                    <a:solidFill>
                      <a:schemeClr val="accent6">
                        <a:lumMod val="50000"/>
                      </a:schemeClr>
                    </a:solidFill>
                  </a:rPr>
                  <a:t>bounded by </a:t>
                </a:r>
                <a:r>
                  <a:rPr lang="en-US" dirty="0"/>
                  <a:t>a constant factor of the other </a:t>
                </a:r>
              </a:p>
              <a:p>
                <a:pPr lvl="1"/>
                <a:r>
                  <a:rPr lang="en-US" dirty="0"/>
                  <a:t>So it can’t grow any faster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481" t="-1617" b="-1213"/>
                </a:stretch>
              </a:blipFill>
            </p:spPr>
            <p:txBody>
              <a:bodyPr/>
              <a:lstStyle/>
              <a:p>
                <a:r>
                  <a:rPr lang="en-US">
                    <a:noFill/>
                  </a:rPr>
                  <a:t> </a:t>
                </a:r>
              </a:p>
            </p:txBody>
          </p:sp>
        </mc:Fallback>
      </mc:AlternateContent>
    </p:spTree>
    <p:extLst>
      <p:ext uri="{BB962C8B-B14F-4D97-AF65-F5344CB8AC3E}">
        <p14:creationId xmlns:p14="http://schemas.microsoft.com/office/powerpoint/2010/main" val="17381793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big O</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US" dirty="0"/>
                  <a:t>To say that something is </a:t>
                </a:r>
                <a14:m>
                  <m:oMath xmlns:m="http://schemas.openxmlformats.org/officeDocument/2006/math">
                    <m:r>
                      <a:rPr lang="en-US" i="1" dirty="0" smtClean="0">
                        <a:latin typeface="Cambria Math"/>
                      </a:rPr>
                      <m:t>𝑂</m:t>
                    </m:r>
                    <m:r>
                      <a:rPr lang="en-US" i="1" dirty="0" smtClean="0">
                        <a:latin typeface="Cambria Math"/>
                      </a:rPr>
                      <m:t>(</m:t>
                    </m:r>
                    <m:r>
                      <a:rPr lang="en-US" i="1" dirty="0" smtClean="0">
                        <a:latin typeface="Cambria Math"/>
                      </a:rPr>
                      <m:t>𝑛</m:t>
                    </m:r>
                    <m:r>
                      <a:rPr lang="en-US" i="1" dirty="0" smtClean="0">
                        <a:latin typeface="Cambria Math"/>
                      </a:rPr>
                      <m:t>)</m:t>
                    </m:r>
                  </m:oMath>
                </a14:m>
                <a:r>
                  <a:rPr lang="en-US" dirty="0"/>
                  <a:t> or </a:t>
                </a:r>
                <a14:m>
                  <m:oMath xmlns:m="http://schemas.openxmlformats.org/officeDocument/2006/math">
                    <m:r>
                      <a:rPr lang="en-US" i="1" dirty="0" smtClean="0">
                        <a:latin typeface="Cambria Math"/>
                      </a:rPr>
                      <m:t>𝑂</m:t>
                    </m:r>
                    <m:r>
                      <a:rPr lang="en-US" i="1" dirty="0" smtClean="0">
                        <a:latin typeface="Cambria Math"/>
                      </a:rPr>
                      <m:t>(</m:t>
                    </m:r>
                    <m:func>
                      <m:funcPr>
                        <m:ctrlPr>
                          <a:rPr lang="en-US" i="1" dirty="0" smtClean="0">
                            <a:latin typeface="Cambria Math" panose="02040503050406030204" pitchFamily="18" charset="0"/>
                          </a:rPr>
                        </m:ctrlPr>
                      </m:funcPr>
                      <m:fName>
                        <m:r>
                          <m:rPr>
                            <m:sty m:val="p"/>
                          </m:rPr>
                          <a:rPr lang="en-US" i="1" dirty="0" smtClean="0">
                            <a:latin typeface="Cambria Math"/>
                          </a:rPr>
                          <m:t>log</m:t>
                        </m:r>
                      </m:fName>
                      <m:e>
                        <m:r>
                          <a:rPr lang="en-US" i="1" dirty="0" smtClean="0">
                            <a:latin typeface="Cambria Math"/>
                          </a:rPr>
                          <m:t>𝑛</m:t>
                        </m:r>
                        <m:r>
                          <a:rPr lang="en-US" i="1" dirty="0" smtClean="0">
                            <a:latin typeface="Cambria Math"/>
                          </a:rPr>
                          <m:t>)</m:t>
                        </m:r>
                      </m:e>
                    </m:func>
                    <m:r>
                      <a:rPr lang="en-US" i="1" dirty="0" smtClean="0">
                        <a:latin typeface="Cambria Math"/>
                      </a:rPr>
                      <m:t> </m:t>
                    </m:r>
                  </m:oMath>
                </a14:m>
                <a:r>
                  <a:rPr lang="en-US" dirty="0"/>
                  <a:t>means that, asymptotically, </a:t>
                </a:r>
                <a:r>
                  <a:rPr lang="en-US" b="1" dirty="0">
                    <a:solidFill>
                      <a:schemeClr val="accent6">
                        <a:lumMod val="50000"/>
                      </a:schemeClr>
                    </a:solidFill>
                  </a:rPr>
                  <a:t>doesn’t grow any faster </a:t>
                </a:r>
                <a:r>
                  <a:rPr lang="en-US" dirty="0"/>
                  <a:t>than </a:t>
                </a:r>
                <a14:m>
                  <m:oMath xmlns:m="http://schemas.openxmlformats.org/officeDocument/2006/math">
                    <m:r>
                      <a:rPr lang="en-US" i="1" dirty="0" smtClean="0">
                        <a:latin typeface="Cambria Math"/>
                      </a:rPr>
                      <m:t>𝑛</m:t>
                    </m:r>
                  </m:oMath>
                </a14:m>
                <a:r>
                  <a:rPr lang="en-US" dirty="0"/>
                  <a:t> or </a:t>
                </a:r>
                <a14:m>
                  <m:oMath xmlns:m="http://schemas.openxmlformats.org/officeDocument/2006/math">
                    <m:func>
                      <m:funcPr>
                        <m:ctrlPr>
                          <a:rPr lang="en-US" i="1" dirty="0" smtClean="0">
                            <a:latin typeface="Cambria Math" panose="02040503050406030204" pitchFamily="18" charset="0"/>
                          </a:rPr>
                        </m:ctrlPr>
                      </m:funcPr>
                      <m:fName>
                        <m:r>
                          <m:rPr>
                            <m:sty m:val="p"/>
                          </m:rPr>
                          <a:rPr lang="en-US" i="1" dirty="0" smtClean="0">
                            <a:latin typeface="Cambria Math"/>
                          </a:rPr>
                          <m:t>log</m:t>
                        </m:r>
                      </m:fName>
                      <m:e>
                        <m:r>
                          <a:rPr lang="en-US" i="1" dirty="0" smtClean="0">
                            <a:latin typeface="Cambria Math"/>
                          </a:rPr>
                          <m:t>𝑛</m:t>
                        </m:r>
                      </m:e>
                    </m:func>
                  </m:oMath>
                </a14:m>
                <a:r>
                  <a:rPr lang="en-US" dirty="0"/>
                  <a:t>, or whatever function you’re comparing it to</a:t>
                </a:r>
              </a:p>
              <a:p>
                <a:endParaRPr lang="en-US" dirty="0"/>
              </a:p>
              <a:p>
                <a:r>
                  <a:rPr lang="en-US" dirty="0"/>
                  <a:t>For the reasons we just discussed, you generally don’t bother saying something is </a:t>
                </a:r>
                <a14:m>
                  <m:oMath xmlns:m="http://schemas.openxmlformats.org/officeDocument/2006/math">
                    <m:r>
                      <a:rPr lang="en-US" i="1" dirty="0" smtClean="0">
                        <a:latin typeface="Cambria Math"/>
                      </a:rPr>
                      <m:t>𝑂</m:t>
                    </m:r>
                    <m:d>
                      <m:dPr>
                        <m:ctrlPr>
                          <a:rPr lang="en-US" i="1" dirty="0" smtClean="0">
                            <a:latin typeface="Cambria Math" panose="02040503050406030204" pitchFamily="18" charset="0"/>
                          </a:rPr>
                        </m:ctrlPr>
                      </m:dPr>
                      <m:e>
                        <m:r>
                          <a:rPr lang="en-US" i="1" dirty="0" smtClean="0">
                            <a:latin typeface="Cambria Math"/>
                          </a:rPr>
                          <m:t>3</m:t>
                        </m:r>
                        <m:sSup>
                          <m:sSupPr>
                            <m:ctrlPr>
                              <a:rPr lang="en-US" i="1" dirty="0" smtClean="0">
                                <a:latin typeface="Cambria Math" panose="02040503050406030204" pitchFamily="18" charset="0"/>
                              </a:rPr>
                            </m:ctrlPr>
                          </m:sSupPr>
                          <m:e>
                            <m:r>
                              <a:rPr lang="en-US" i="1" dirty="0" smtClean="0">
                                <a:latin typeface="Cambria Math"/>
                              </a:rPr>
                              <m:t>𝑛</m:t>
                            </m:r>
                          </m:e>
                          <m:sup>
                            <m:r>
                              <a:rPr lang="en-US" i="1" dirty="0" smtClean="0">
                                <a:latin typeface="Cambria Math"/>
                              </a:rPr>
                              <m:t>2</m:t>
                            </m:r>
                          </m:sup>
                        </m:sSup>
                        <m:r>
                          <a:rPr lang="en-US" i="1" dirty="0" smtClean="0">
                            <a:latin typeface="Cambria Math"/>
                          </a:rPr>
                          <m:t>+2</m:t>
                        </m:r>
                        <m:r>
                          <a:rPr lang="en-US" i="1" dirty="0" smtClean="0">
                            <a:latin typeface="Cambria Math"/>
                          </a:rPr>
                          <m:t>𝑛</m:t>
                        </m:r>
                        <m:r>
                          <a:rPr lang="en-US" i="1" dirty="0" smtClean="0">
                            <a:latin typeface="Cambria Math"/>
                          </a:rPr>
                          <m:t>+7</m:t>
                        </m:r>
                      </m:e>
                    </m:d>
                  </m:oMath>
                </a14:m>
                <a:r>
                  <a:rPr lang="en-US" dirty="0"/>
                  <a:t>, you just say it’s </a:t>
                </a:r>
                <a14:m>
                  <m:oMath xmlns:m="http://schemas.openxmlformats.org/officeDocument/2006/math">
                    <m:r>
                      <a:rPr lang="en-US" i="1" dirty="0" smtClean="0">
                        <a:latin typeface="Cambria Math"/>
                      </a:rPr>
                      <m:t>𝑂</m:t>
                    </m:r>
                    <m:r>
                      <a:rPr lang="en-US" i="1" dirty="0" smtClean="0">
                        <a:latin typeface="Cambria Math"/>
                      </a:rPr>
                      <m:t>(</m:t>
                    </m:r>
                    <m:sSup>
                      <m:sSupPr>
                        <m:ctrlPr>
                          <a:rPr lang="en-US" i="1" dirty="0" smtClean="0">
                            <a:latin typeface="Cambria Math" panose="02040503050406030204" pitchFamily="18" charset="0"/>
                          </a:rPr>
                        </m:ctrlPr>
                      </m:sSupPr>
                      <m:e>
                        <m:r>
                          <a:rPr lang="en-US" i="1" dirty="0" smtClean="0">
                            <a:latin typeface="Cambria Math"/>
                          </a:rPr>
                          <m:t>𝑛</m:t>
                        </m:r>
                      </m:e>
                      <m:sup>
                        <m:r>
                          <a:rPr lang="en-US" i="1" dirty="0" smtClean="0">
                            <a:latin typeface="Cambria Math"/>
                          </a:rPr>
                          <m:t>2</m:t>
                        </m:r>
                      </m:sup>
                    </m:sSup>
                    <m:r>
                      <a:rPr lang="en-US" i="1" dirty="0" smtClean="0">
                        <a:latin typeface="Cambria Math"/>
                      </a:rPr>
                      <m:t>)</m:t>
                    </m:r>
                  </m:oMath>
                </a14:m>
                <a:r>
                  <a:rPr lang="en-US" dirty="0"/>
                  <a:t> because that communicates that it’s in the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a:rPr>
                          <m:t>𝑛</m:t>
                        </m:r>
                      </m:e>
                      <m:sup>
                        <m:r>
                          <a:rPr lang="en-US" i="1" dirty="0" smtClean="0">
                            <a:latin typeface="Cambria Math"/>
                          </a:rPr>
                          <m:t>2</m:t>
                        </m:r>
                      </m:sup>
                    </m:sSup>
                  </m:oMath>
                </a14:m>
                <a:r>
                  <a:rPr lang="en-US" dirty="0"/>
                  <a:t> </a:t>
                </a:r>
                <a:r>
                  <a:rPr lang="en-US" b="1" dirty="0">
                    <a:solidFill>
                      <a:schemeClr val="accent6">
                        <a:lumMod val="50000"/>
                      </a:schemeClr>
                    </a:solidFill>
                  </a:rPr>
                  <a:t>complexity class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481" t="-1617" r="-1185" b="-2561"/>
                </a:stretch>
              </a:blipFill>
            </p:spPr>
            <p:txBody>
              <a:bodyPr/>
              <a:lstStyle/>
              <a:p>
                <a:r>
                  <a:rPr lang="en-US">
                    <a:noFill/>
                  </a:rPr>
                  <a:t> </a:t>
                </a:r>
              </a:p>
            </p:txBody>
          </p:sp>
        </mc:Fallback>
      </mc:AlternateContent>
    </p:spTree>
    <p:extLst>
      <p:ext uri="{BB962C8B-B14F-4D97-AF65-F5344CB8AC3E}">
        <p14:creationId xmlns:p14="http://schemas.microsoft.com/office/powerpoint/2010/main" val="7892816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big O</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dirty="0"/>
                  <a:t>Formally, to say that </a:t>
                </a:r>
                <a14:m>
                  <m:oMath xmlns:m="http://schemas.openxmlformats.org/officeDocument/2006/math">
                    <m:r>
                      <m:rPr>
                        <m:nor/>
                      </m:rPr>
                      <a:rPr lang="en-US" i="0" dirty="0" smtClean="0">
                        <a:latin typeface="Cambria Math"/>
                      </a:rPr>
                      <m:t>f</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r>
                      <m:rPr>
                        <m:nor/>
                      </m:rPr>
                      <a:rPr lang="en-US" i="0" dirty="0" smtClean="0">
                        <a:latin typeface="Cambria Math"/>
                      </a:rPr>
                      <m:t>O</m:t>
                    </m:r>
                    <m:d>
                      <m:dPr>
                        <m:ctrlPr>
                          <a:rPr lang="en-US" i="1" dirty="0" smtClean="0">
                            <a:latin typeface="Cambria Math" panose="02040503050406030204" pitchFamily="18" charset="0"/>
                          </a:rPr>
                        </m:ctrlPr>
                      </m:dPr>
                      <m:e>
                        <m:r>
                          <m:rPr>
                            <m:nor/>
                          </m:rPr>
                          <a:rPr lang="en-US" i="0" dirty="0" smtClean="0">
                            <a:latin typeface="Cambria Math"/>
                          </a:rPr>
                          <m:t>g</m:t>
                        </m:r>
                        <m:d>
                          <m:dPr>
                            <m:ctrlPr>
                              <a:rPr lang="en-US" i="1" dirty="0" smtClean="0">
                                <a:latin typeface="Cambria Math" panose="02040503050406030204" pitchFamily="18" charset="0"/>
                              </a:rPr>
                            </m:ctrlPr>
                          </m:dPr>
                          <m:e>
                            <m:r>
                              <a:rPr lang="en-US" i="1" dirty="0" smtClean="0">
                                <a:latin typeface="Cambria Math"/>
                              </a:rPr>
                              <m:t>𝑛</m:t>
                            </m:r>
                          </m:e>
                        </m:d>
                      </m:e>
                    </m:d>
                  </m:oMath>
                </a14:m>
                <a:r>
                  <a:rPr lang="en-US" dirty="0"/>
                  <a:t> means that:</a:t>
                </a:r>
              </a:p>
              <a:p>
                <a:pPr lvl="1"/>
                <a:r>
                  <a:rPr lang="en-US" dirty="0"/>
                  <a:t>You can find some </a:t>
                </a:r>
                <a:r>
                  <a:rPr lang="en-US" b="1" dirty="0">
                    <a:solidFill>
                      <a:schemeClr val="accent6">
                        <a:lumMod val="50000"/>
                      </a:schemeClr>
                    </a:solidFill>
                  </a:rPr>
                  <a:t>starting value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𝑛</m:t>
                        </m:r>
                      </m:e>
                      <m:sub>
                        <m:r>
                          <a:rPr lang="en-US" i="1" dirty="0" smtClean="0">
                            <a:latin typeface="Cambria Math"/>
                          </a:rPr>
                          <m:t>0</m:t>
                        </m:r>
                      </m:sub>
                    </m:sSub>
                  </m:oMath>
                </a14:m>
                <a:r>
                  <a:rPr lang="en-US" dirty="0"/>
                  <a:t> and some </a:t>
                </a:r>
                <a:r>
                  <a:rPr lang="en-US" b="1" dirty="0" err="1">
                    <a:solidFill>
                      <a:schemeClr val="accent6">
                        <a:lumMod val="50000"/>
                      </a:schemeClr>
                    </a:solidFill>
                  </a:rPr>
                  <a:t>coefficent</a:t>
                </a:r>
                <a:r>
                  <a:rPr lang="en-US" b="1" dirty="0">
                    <a:solidFill>
                      <a:schemeClr val="accent6">
                        <a:lumMod val="50000"/>
                      </a:schemeClr>
                    </a:solidFill>
                  </a:rPr>
                  <a:t> </a:t>
                </a:r>
                <a14:m>
                  <m:oMath xmlns:m="http://schemas.openxmlformats.org/officeDocument/2006/math">
                    <m:r>
                      <a:rPr lang="en-US" i="1" dirty="0" smtClean="0">
                        <a:latin typeface="Cambria Math"/>
                      </a:rPr>
                      <m:t>𝑘</m:t>
                    </m:r>
                  </m:oMath>
                </a14:m>
                <a:r>
                  <a:rPr lang="en-US" dirty="0"/>
                  <a:t>, such that</a:t>
                </a:r>
              </a:p>
              <a:p>
                <a:pPr lvl="1"/>
                <a:r>
                  <a:rPr lang="en-US" dirty="0"/>
                  <a:t>For any </a:t>
                </a:r>
                <a14:m>
                  <m:oMath xmlns:m="http://schemas.openxmlformats.org/officeDocument/2006/math">
                    <m:r>
                      <a:rPr lang="en-US" i="1" dirty="0" smtClean="0">
                        <a:latin typeface="Cambria Math"/>
                      </a:rPr>
                      <m:t>𝑛</m:t>
                    </m:r>
                    <m:r>
                      <a:rPr lang="en-US" i="1" dirty="0" smtClean="0">
                        <a:latin typeface="Cambria Math"/>
                      </a:rPr>
                      <m:t>&gt;</m:t>
                    </m:r>
                    <m:sSub>
                      <m:sSubPr>
                        <m:ctrlPr>
                          <a:rPr lang="en-US" i="1" dirty="0" smtClean="0">
                            <a:latin typeface="Cambria Math" panose="02040503050406030204" pitchFamily="18" charset="0"/>
                          </a:rPr>
                        </m:ctrlPr>
                      </m:sSubPr>
                      <m:e>
                        <m:r>
                          <a:rPr lang="en-US" i="1" dirty="0" smtClean="0">
                            <a:latin typeface="Cambria Math"/>
                          </a:rPr>
                          <m:t>𝑛</m:t>
                        </m:r>
                      </m:e>
                      <m:sub>
                        <m:r>
                          <a:rPr lang="en-US" i="1" dirty="0" smtClean="0">
                            <a:latin typeface="Cambria Math"/>
                          </a:rPr>
                          <m:t>0</m:t>
                        </m:r>
                      </m:sub>
                    </m:sSub>
                  </m:oMath>
                </a14:m>
                <a:r>
                  <a:rPr lang="en-US" dirty="0"/>
                  <a:t>, </a:t>
                </a:r>
                <a14:m>
                  <m:oMath xmlns:m="http://schemas.openxmlformats.org/officeDocument/2006/math">
                    <m:r>
                      <a:rPr lang="en-US" i="1" dirty="0" smtClean="0">
                        <a:latin typeface="Cambria Math"/>
                      </a:rPr>
                      <m:t>0≤</m:t>
                    </m:r>
                    <m:r>
                      <m:rPr>
                        <m:nor/>
                      </m:rPr>
                      <a:rPr lang="en-US" i="0" dirty="0" smtClean="0">
                        <a:latin typeface="Cambria Math"/>
                      </a:rPr>
                      <m:t>f</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r>
                      <a:rPr lang="en-US" i="1" dirty="0" smtClean="0">
                        <a:latin typeface="Cambria Math"/>
                      </a:rPr>
                      <m:t>𝑘</m:t>
                    </m:r>
                    <m:r>
                      <m:rPr>
                        <m:nor/>
                      </m:rPr>
                      <a:rPr lang="en-US" i="0" dirty="0" smtClean="0">
                        <a:latin typeface="Cambria Math"/>
                      </a:rPr>
                      <m:t>g</m:t>
                    </m:r>
                    <m:r>
                      <a:rPr lang="en-US" i="1" dirty="0" smtClean="0">
                        <a:latin typeface="Cambria Math"/>
                      </a:rPr>
                      <m:t>(</m:t>
                    </m:r>
                    <m:r>
                      <a:rPr lang="en-US" i="1" dirty="0" smtClean="0">
                        <a:latin typeface="Cambria Math"/>
                      </a:rPr>
                      <m:t>𝑛</m:t>
                    </m:r>
                    <m:r>
                      <a:rPr lang="en-US" i="1" dirty="0" smtClean="0">
                        <a:latin typeface="Cambria Math"/>
                      </a:rPr>
                      <m:t>)</m:t>
                    </m:r>
                  </m:oMath>
                </a14:m>
                <a:endParaRPr lang="en-US" dirty="0"/>
              </a:p>
              <a:p>
                <a:pPr lvl="1"/>
                <a:endParaRPr lang="en-US" dirty="0"/>
              </a:p>
              <a:p>
                <a:r>
                  <a:rPr lang="en-US" dirty="0"/>
                  <a:t>Translation: </a:t>
                </a:r>
                <a:r>
                  <a:rPr lang="en-US" b="1" dirty="0">
                    <a:solidFill>
                      <a:schemeClr val="accent6">
                        <a:lumMod val="50000"/>
                      </a:schemeClr>
                    </a:solidFill>
                  </a:rPr>
                  <a:t>past some value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𝑛</m:t>
                        </m:r>
                      </m:e>
                      <m:sub>
                        <m:r>
                          <a:rPr lang="en-US" i="1" dirty="0" smtClean="0">
                            <a:latin typeface="Cambria Math"/>
                          </a:rPr>
                          <m:t>0</m:t>
                        </m:r>
                      </m:sub>
                    </m:sSub>
                  </m:oMath>
                </a14:m>
                <a:r>
                  <a:rPr lang="en-US" dirty="0"/>
                  <a:t>, </a:t>
                </a:r>
                <a14:m>
                  <m:oMath xmlns:m="http://schemas.openxmlformats.org/officeDocument/2006/math">
                    <m:r>
                      <m:rPr>
                        <m:nor/>
                      </m:rPr>
                      <a:rPr lang="en-US" i="0" dirty="0" smtClean="0">
                        <a:latin typeface="Cambria Math"/>
                      </a:rPr>
                      <m:t>f</m:t>
                    </m:r>
                  </m:oMath>
                </a14:m>
                <a:r>
                  <a:rPr lang="en-US" dirty="0"/>
                  <a:t> </a:t>
                </a:r>
                <a:r>
                  <a:rPr lang="en-US" b="1" dirty="0">
                    <a:solidFill>
                      <a:schemeClr val="accent6">
                        <a:lumMod val="50000"/>
                      </a:schemeClr>
                    </a:solidFill>
                  </a:rPr>
                  <a:t>will never be more than </a:t>
                </a:r>
                <a14:m>
                  <m:oMath xmlns:m="http://schemas.openxmlformats.org/officeDocument/2006/math">
                    <m:r>
                      <a:rPr lang="en-US" b="1" i="1" dirty="0" smtClean="0">
                        <a:solidFill>
                          <a:schemeClr val="accent6">
                            <a:lumMod val="50000"/>
                          </a:schemeClr>
                        </a:solidFill>
                        <a:latin typeface="Cambria Math"/>
                      </a:rPr>
                      <m:t>𝒌</m:t>
                    </m:r>
                  </m:oMath>
                </a14:m>
                <a:r>
                  <a:rPr lang="en-US" b="1" dirty="0">
                    <a:solidFill>
                      <a:schemeClr val="accent6">
                        <a:lumMod val="50000"/>
                      </a:schemeClr>
                    </a:solidFill>
                  </a:rPr>
                  <a:t> times </a:t>
                </a:r>
                <a:r>
                  <a:rPr lang="en-US" dirty="0"/>
                  <a:t>the value of </a:t>
                </a:r>
                <a14:m>
                  <m:oMath xmlns:m="http://schemas.openxmlformats.org/officeDocument/2006/math">
                    <m:r>
                      <m:rPr>
                        <m:sty m:val="p"/>
                      </m:rPr>
                      <a:rPr lang="en-US" i="0" dirty="0" smtClean="0">
                        <a:latin typeface="Cambria Math"/>
                      </a:rPr>
                      <m:t>g</m:t>
                    </m:r>
                  </m:oMath>
                </a14:m>
                <a:endParaRPr lang="en-US" dirty="0">
                  <a:latin typeface="Cambria Math"/>
                </a:endParaRPr>
              </a:p>
              <a:p>
                <a:endParaRPr lang="en-US" dirty="0"/>
              </a:p>
              <a:p>
                <a:r>
                  <a:rPr lang="en-US" dirty="0"/>
                  <a:t>Note: we generally don’t care what the values of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𝑛</m:t>
                        </m:r>
                      </m:e>
                      <m:sub>
                        <m:r>
                          <a:rPr lang="en-US" i="1" dirty="0" smtClean="0">
                            <a:latin typeface="Cambria Math"/>
                          </a:rPr>
                          <m:t>0</m:t>
                        </m:r>
                      </m:sub>
                    </m:sSub>
                  </m:oMath>
                </a14:m>
                <a:r>
                  <a:rPr lang="en-US" dirty="0"/>
                  <a:t> or </a:t>
                </a:r>
                <a14:m>
                  <m:oMath xmlns:m="http://schemas.openxmlformats.org/officeDocument/2006/math">
                    <m:r>
                      <a:rPr lang="en-US" i="1" dirty="0" smtClean="0">
                        <a:latin typeface="Cambria Math"/>
                      </a:rPr>
                      <m:t>𝑘</m:t>
                    </m:r>
                  </m:oMath>
                </a14:m>
                <a:r>
                  <a:rPr lang="en-US" dirty="0"/>
                  <a:t> are, we just want to know that past some point, </a:t>
                </a:r>
                <a14:m>
                  <m:oMath xmlns:m="http://schemas.openxmlformats.org/officeDocument/2006/math">
                    <m:r>
                      <m:rPr>
                        <m:sty m:val="p"/>
                      </m:rPr>
                      <a:rPr lang="en-US" i="0" dirty="0" smtClean="0">
                        <a:latin typeface="Cambria Math"/>
                      </a:rPr>
                      <m:t>f</m:t>
                    </m:r>
                  </m:oMath>
                </a14:m>
                <a:r>
                  <a:rPr lang="en-US" dirty="0"/>
                  <a:t> is bounded by some multiple of </a:t>
                </a:r>
                <a14:m>
                  <m:oMath xmlns:m="http://schemas.openxmlformats.org/officeDocument/2006/math">
                    <m:r>
                      <m:rPr>
                        <m:sty m:val="p"/>
                      </m:rPr>
                      <a:rPr lang="en-US" i="0" dirty="0" smtClean="0">
                        <a:latin typeface="Cambria Math"/>
                      </a:rPr>
                      <m:t>g</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481" t="-2695" r="-1333" b="-3369"/>
                </a:stretch>
              </a:blipFill>
            </p:spPr>
            <p:txBody>
              <a:bodyPr/>
              <a:lstStyle/>
              <a:p>
                <a:r>
                  <a:rPr lang="en-US">
                    <a:noFill/>
                  </a:rPr>
                  <a:t> </a:t>
                </a:r>
              </a:p>
            </p:txBody>
          </p:sp>
        </mc:Fallback>
      </mc:AlternateContent>
    </p:spTree>
    <p:extLst>
      <p:ext uri="{BB962C8B-B14F-4D97-AF65-F5344CB8AC3E}">
        <p14:creationId xmlns:p14="http://schemas.microsoft.com/office/powerpoint/2010/main" val="15582801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Big O is essentially a partial order</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p:txBody>
              <a:bodyPr>
                <a:normAutofit lnSpcReduction="10000"/>
              </a:bodyPr>
              <a:lstStyle/>
              <a:p>
                <a:r>
                  <a:rPr lang="en-US" b="1" dirty="0">
                    <a:solidFill>
                      <a:schemeClr val="accent6">
                        <a:lumMod val="50000"/>
                      </a:schemeClr>
                    </a:solidFill>
                  </a:rPr>
                  <a:t>Reflexivity</a:t>
                </a:r>
              </a:p>
              <a:p>
                <a:pPr lvl="1"/>
                <a14:m>
                  <m:oMath xmlns:m="http://schemas.openxmlformats.org/officeDocument/2006/math">
                    <m:r>
                      <m:rPr>
                        <m:sty m:val="p"/>
                      </m:rPr>
                      <a:rPr lang="en-US" i="0" dirty="0" smtClean="0">
                        <a:latin typeface="Cambria Math"/>
                      </a:rPr>
                      <m:t>f</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r>
                      <m:rPr>
                        <m:sty m:val="p"/>
                      </m:rPr>
                      <a:rPr lang="en-US" i="0" dirty="0" smtClean="0">
                        <a:latin typeface="Cambria Math"/>
                      </a:rPr>
                      <m:t>O</m:t>
                    </m:r>
                    <m:d>
                      <m:dPr>
                        <m:ctrlPr>
                          <a:rPr lang="en-US" i="1" dirty="0" smtClean="0">
                            <a:latin typeface="Cambria Math" panose="02040503050406030204" pitchFamily="18" charset="0"/>
                          </a:rPr>
                        </m:ctrlPr>
                      </m:dPr>
                      <m:e>
                        <m:r>
                          <m:rPr>
                            <m:sty m:val="p"/>
                          </m:rPr>
                          <a:rPr lang="en-US" i="0" dirty="0" smtClean="0">
                            <a:latin typeface="Cambria Math"/>
                          </a:rPr>
                          <m:t>f</m:t>
                        </m:r>
                        <m:d>
                          <m:dPr>
                            <m:ctrlPr>
                              <a:rPr lang="en-US" i="1" dirty="0" smtClean="0">
                                <a:latin typeface="Cambria Math" panose="02040503050406030204" pitchFamily="18" charset="0"/>
                              </a:rPr>
                            </m:ctrlPr>
                          </m:dPr>
                          <m:e>
                            <m:r>
                              <a:rPr lang="en-US" i="1" dirty="0" smtClean="0">
                                <a:latin typeface="Cambria Math"/>
                              </a:rPr>
                              <m:t>𝑛</m:t>
                            </m:r>
                          </m:e>
                        </m:d>
                      </m:e>
                    </m:d>
                  </m:oMath>
                </a14:m>
                <a:endParaRPr lang="en-US" i="1" dirty="0">
                  <a:latin typeface="Cambria Math"/>
                </a:endParaRPr>
              </a:p>
              <a:p>
                <a:r>
                  <a:rPr lang="en-US" b="1" dirty="0">
                    <a:solidFill>
                      <a:schemeClr val="accent6">
                        <a:lumMod val="50000"/>
                      </a:schemeClr>
                    </a:solidFill>
                  </a:rPr>
                  <a:t>Transitive</a:t>
                </a:r>
              </a:p>
              <a:p>
                <a:pPr lvl="1"/>
                <a:r>
                  <a:rPr lang="en-US" dirty="0"/>
                  <a:t>If </a:t>
                </a:r>
                <a14:m>
                  <m:oMath xmlns:m="http://schemas.openxmlformats.org/officeDocument/2006/math">
                    <m:r>
                      <m:rPr>
                        <m:sty m:val="p"/>
                      </m:rPr>
                      <a:rPr lang="en-US" i="0" dirty="0" smtClean="0">
                        <a:latin typeface="Cambria Math"/>
                      </a:rPr>
                      <m:t>f</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r>
                      <m:rPr>
                        <m:sty m:val="p"/>
                      </m:rPr>
                      <a:rPr lang="en-US" i="0" dirty="0" smtClean="0">
                        <a:latin typeface="Cambria Math"/>
                      </a:rPr>
                      <m:t>O</m:t>
                    </m:r>
                    <m:d>
                      <m:dPr>
                        <m:ctrlPr>
                          <a:rPr lang="en-US" i="1" dirty="0" smtClean="0">
                            <a:latin typeface="Cambria Math" panose="02040503050406030204" pitchFamily="18" charset="0"/>
                          </a:rPr>
                        </m:ctrlPr>
                      </m:dPr>
                      <m:e>
                        <m:r>
                          <m:rPr>
                            <m:sty m:val="p"/>
                          </m:rPr>
                          <a:rPr lang="en-US" i="0" dirty="0" smtClean="0">
                            <a:latin typeface="Cambria Math"/>
                          </a:rPr>
                          <m:t>g</m:t>
                        </m:r>
                        <m:d>
                          <m:dPr>
                            <m:ctrlPr>
                              <a:rPr lang="en-US" i="1" dirty="0" smtClean="0">
                                <a:latin typeface="Cambria Math" panose="02040503050406030204" pitchFamily="18" charset="0"/>
                              </a:rPr>
                            </m:ctrlPr>
                          </m:dPr>
                          <m:e>
                            <m:r>
                              <a:rPr lang="en-US" i="1" dirty="0" smtClean="0">
                                <a:latin typeface="Cambria Math"/>
                              </a:rPr>
                              <m:t>𝑛</m:t>
                            </m:r>
                          </m:e>
                        </m:d>
                      </m:e>
                    </m:d>
                  </m:oMath>
                </a14:m>
                <a:r>
                  <a:rPr lang="en-US" dirty="0"/>
                  <a:t> and </a:t>
                </a:r>
                <a14:m>
                  <m:oMath xmlns:m="http://schemas.openxmlformats.org/officeDocument/2006/math">
                    <m:r>
                      <m:rPr>
                        <m:sty m:val="p"/>
                      </m:rPr>
                      <a:rPr lang="en-US" i="0" dirty="0" smtClean="0">
                        <a:latin typeface="Cambria Math"/>
                      </a:rPr>
                      <m:t>g</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r>
                      <m:rPr>
                        <m:sty m:val="p"/>
                      </m:rPr>
                      <a:rPr lang="en-US" i="0" dirty="0" smtClean="0">
                        <a:latin typeface="Cambria Math"/>
                      </a:rPr>
                      <m:t>O</m:t>
                    </m:r>
                    <m:d>
                      <m:dPr>
                        <m:ctrlPr>
                          <a:rPr lang="en-US" i="1" dirty="0" smtClean="0">
                            <a:latin typeface="Cambria Math" panose="02040503050406030204" pitchFamily="18" charset="0"/>
                          </a:rPr>
                        </m:ctrlPr>
                      </m:dPr>
                      <m:e>
                        <m:r>
                          <m:rPr>
                            <m:sty m:val="p"/>
                          </m:rPr>
                          <a:rPr lang="en-US" i="0" dirty="0" smtClean="0">
                            <a:latin typeface="Cambria Math"/>
                          </a:rPr>
                          <m:t>h</m:t>
                        </m:r>
                        <m:d>
                          <m:dPr>
                            <m:ctrlPr>
                              <a:rPr lang="en-US" i="1" dirty="0" smtClean="0">
                                <a:latin typeface="Cambria Math" panose="02040503050406030204" pitchFamily="18" charset="0"/>
                              </a:rPr>
                            </m:ctrlPr>
                          </m:dPr>
                          <m:e>
                            <m:r>
                              <a:rPr lang="en-US" i="1" dirty="0" smtClean="0">
                                <a:latin typeface="Cambria Math"/>
                              </a:rPr>
                              <m:t>𝑛</m:t>
                            </m:r>
                          </m:e>
                        </m:d>
                      </m:e>
                    </m:d>
                  </m:oMath>
                </a14:m>
                <a:endParaRPr lang="en-US" i="1" dirty="0">
                  <a:latin typeface="Cambria Math"/>
                </a:endParaRPr>
              </a:p>
              <a:p>
                <a:pPr lvl="1"/>
                <a:r>
                  <a:rPr lang="en-US" dirty="0"/>
                  <a:t>Then </a:t>
                </a:r>
                <a14:m>
                  <m:oMath xmlns:m="http://schemas.openxmlformats.org/officeDocument/2006/math">
                    <m:r>
                      <m:rPr>
                        <m:sty m:val="p"/>
                      </m:rPr>
                      <a:rPr lang="en-US" i="0" dirty="0" smtClean="0">
                        <a:latin typeface="Cambria Math"/>
                      </a:rPr>
                      <m:t>f</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r>
                      <m:rPr>
                        <m:sty m:val="p"/>
                      </m:rPr>
                      <a:rPr lang="en-US" i="0" dirty="0" smtClean="0">
                        <a:latin typeface="Cambria Math"/>
                      </a:rPr>
                      <m:t>O</m:t>
                    </m:r>
                    <m:d>
                      <m:dPr>
                        <m:ctrlPr>
                          <a:rPr lang="en-US" i="1" dirty="0" smtClean="0">
                            <a:latin typeface="Cambria Math" panose="02040503050406030204" pitchFamily="18" charset="0"/>
                          </a:rPr>
                        </m:ctrlPr>
                      </m:dPr>
                      <m:e>
                        <m:r>
                          <m:rPr>
                            <m:sty m:val="p"/>
                          </m:rPr>
                          <a:rPr lang="en-US" i="0" dirty="0" smtClean="0">
                            <a:latin typeface="Cambria Math"/>
                          </a:rPr>
                          <m:t>h</m:t>
                        </m:r>
                        <m:d>
                          <m:dPr>
                            <m:ctrlPr>
                              <a:rPr lang="en-US" i="1" dirty="0" smtClean="0">
                                <a:latin typeface="Cambria Math" panose="02040503050406030204" pitchFamily="18" charset="0"/>
                              </a:rPr>
                            </m:ctrlPr>
                          </m:dPr>
                          <m:e>
                            <m:r>
                              <a:rPr lang="en-US" i="1" dirty="0" smtClean="0">
                                <a:latin typeface="Cambria Math"/>
                              </a:rPr>
                              <m:t>𝑛</m:t>
                            </m:r>
                          </m:e>
                        </m:d>
                      </m:e>
                    </m:d>
                  </m:oMath>
                </a14:m>
                <a:endParaRPr lang="en-US" dirty="0"/>
              </a:p>
              <a:p>
                <a:r>
                  <a:rPr lang="en-US" b="1" dirty="0" err="1">
                    <a:solidFill>
                      <a:schemeClr val="accent6">
                        <a:lumMod val="50000"/>
                      </a:schemeClr>
                    </a:solidFill>
                  </a:rPr>
                  <a:t>Antisymmetry</a:t>
                </a:r>
                <a:r>
                  <a:rPr lang="en-US" dirty="0">
                    <a:solidFill>
                      <a:schemeClr val="accent6">
                        <a:lumMod val="50000"/>
                      </a:schemeClr>
                    </a:solidFill>
                  </a:rPr>
                  <a:t> </a:t>
                </a:r>
                <a:r>
                  <a:rPr lang="en-US" dirty="0"/>
                  <a:t>(sort of)</a:t>
                </a:r>
              </a:p>
              <a:p>
                <a:pPr lvl="1"/>
                <a:r>
                  <a:rPr lang="en-US" dirty="0"/>
                  <a:t>If </a:t>
                </a:r>
                <a14:m>
                  <m:oMath xmlns:m="http://schemas.openxmlformats.org/officeDocument/2006/math">
                    <m:r>
                      <m:rPr>
                        <m:sty m:val="p"/>
                      </m:rPr>
                      <a:rPr lang="en-US" i="0" dirty="0" smtClean="0">
                        <a:latin typeface="Cambria Math"/>
                      </a:rPr>
                      <m:t>f</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r>
                      <m:rPr>
                        <m:sty m:val="p"/>
                      </m:rPr>
                      <a:rPr lang="en-US" i="0" dirty="0" smtClean="0">
                        <a:latin typeface="Cambria Math"/>
                      </a:rPr>
                      <m:t>O</m:t>
                    </m:r>
                    <m:d>
                      <m:dPr>
                        <m:ctrlPr>
                          <a:rPr lang="en-US" i="1" dirty="0" smtClean="0">
                            <a:latin typeface="Cambria Math" panose="02040503050406030204" pitchFamily="18" charset="0"/>
                          </a:rPr>
                        </m:ctrlPr>
                      </m:dPr>
                      <m:e>
                        <m:r>
                          <m:rPr>
                            <m:sty m:val="p"/>
                          </m:rPr>
                          <a:rPr lang="en-US" i="0" dirty="0" smtClean="0">
                            <a:latin typeface="Cambria Math"/>
                          </a:rPr>
                          <m:t>g</m:t>
                        </m:r>
                        <m:d>
                          <m:dPr>
                            <m:ctrlPr>
                              <a:rPr lang="en-US" i="1" dirty="0" smtClean="0">
                                <a:latin typeface="Cambria Math" panose="02040503050406030204" pitchFamily="18" charset="0"/>
                              </a:rPr>
                            </m:ctrlPr>
                          </m:dPr>
                          <m:e>
                            <m:r>
                              <a:rPr lang="en-US" i="1" dirty="0" smtClean="0">
                                <a:latin typeface="Cambria Math"/>
                              </a:rPr>
                              <m:t>𝑛</m:t>
                            </m:r>
                          </m:e>
                        </m:d>
                      </m:e>
                    </m:d>
                  </m:oMath>
                </a14:m>
                <a:r>
                  <a:rPr lang="en-US" dirty="0"/>
                  <a:t> and </a:t>
                </a:r>
                <a14:m>
                  <m:oMath xmlns:m="http://schemas.openxmlformats.org/officeDocument/2006/math">
                    <m:r>
                      <m:rPr>
                        <m:sty m:val="p"/>
                      </m:rPr>
                      <a:rPr lang="en-US" i="0" smtClean="0">
                        <a:latin typeface="Cambria Math"/>
                      </a:rPr>
                      <m:t>g</m:t>
                    </m:r>
                    <m:d>
                      <m:dPr>
                        <m:ctrlPr>
                          <a:rPr lang="en-US" i="1" smtClean="0">
                            <a:latin typeface="Cambria Math" panose="02040503050406030204" pitchFamily="18" charset="0"/>
                          </a:rPr>
                        </m:ctrlPr>
                      </m:dPr>
                      <m:e>
                        <m:r>
                          <a:rPr lang="en-US" i="1" smtClean="0">
                            <a:latin typeface="Cambria Math"/>
                          </a:rPr>
                          <m:t>𝑛</m:t>
                        </m:r>
                      </m:e>
                    </m:d>
                    <m:r>
                      <a:rPr lang="en-US" i="1" smtClean="0">
                        <a:latin typeface="Cambria Math"/>
                      </a:rPr>
                      <m:t>=</m:t>
                    </m:r>
                    <m:r>
                      <m:rPr>
                        <m:sty m:val="p"/>
                      </m:rPr>
                      <a:rPr lang="en-US" i="0" smtClean="0">
                        <a:latin typeface="Cambria Math"/>
                      </a:rPr>
                      <m:t>O</m:t>
                    </m:r>
                    <m:d>
                      <m:dPr>
                        <m:ctrlPr>
                          <a:rPr lang="en-US" i="1" smtClean="0">
                            <a:latin typeface="Cambria Math" panose="02040503050406030204" pitchFamily="18" charset="0"/>
                          </a:rPr>
                        </m:ctrlPr>
                      </m:dPr>
                      <m:e>
                        <m:r>
                          <m:rPr>
                            <m:sty m:val="p"/>
                          </m:rPr>
                          <a:rPr lang="en-US" i="0" smtClean="0">
                            <a:latin typeface="Cambria Math"/>
                          </a:rPr>
                          <m:t>f</m:t>
                        </m:r>
                        <m:d>
                          <m:dPr>
                            <m:ctrlPr>
                              <a:rPr lang="en-US" i="1" smtClean="0">
                                <a:latin typeface="Cambria Math" panose="02040503050406030204" pitchFamily="18" charset="0"/>
                              </a:rPr>
                            </m:ctrlPr>
                          </m:dPr>
                          <m:e>
                            <m:r>
                              <a:rPr lang="en-US" i="1" smtClean="0">
                                <a:latin typeface="Cambria Math"/>
                              </a:rPr>
                              <m:t>𝑛</m:t>
                            </m:r>
                          </m:e>
                        </m:d>
                      </m:e>
                    </m:d>
                  </m:oMath>
                </a14:m>
                <a:endParaRPr lang="en-US" i="1" dirty="0">
                  <a:latin typeface="Cambria Math"/>
                </a:endParaRPr>
              </a:p>
              <a:p>
                <a:pPr lvl="1"/>
                <a:r>
                  <a:rPr lang="en-US" dirty="0"/>
                  <a:t>Then </a:t>
                </a:r>
                <a14:m>
                  <m:oMath xmlns:m="http://schemas.openxmlformats.org/officeDocument/2006/math">
                    <m:r>
                      <m:rPr>
                        <m:sty m:val="p"/>
                      </m:rPr>
                      <a:rPr lang="en-US" i="0" dirty="0" smtClean="0">
                        <a:latin typeface="Cambria Math"/>
                      </a:rPr>
                      <m:t>f</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r>
                      <m:rPr>
                        <m:sty m:val="p"/>
                      </m:rPr>
                      <a:rPr lang="en-US" b="0" i="0" dirty="0" smtClean="0">
                        <a:latin typeface="Cambria Math"/>
                      </a:rPr>
                      <m:t>O</m:t>
                    </m:r>
                    <m:d>
                      <m:dPr>
                        <m:ctrlPr>
                          <a:rPr lang="en-US" i="1" dirty="0" smtClean="0">
                            <a:latin typeface="Cambria Math" panose="02040503050406030204" pitchFamily="18" charset="0"/>
                          </a:rPr>
                        </m:ctrlPr>
                      </m:dPr>
                      <m:e>
                        <m:r>
                          <m:rPr>
                            <m:sty m:val="p"/>
                          </m:rPr>
                          <a:rPr lang="en-US" i="0" dirty="0" smtClean="0">
                            <a:latin typeface="Cambria Math"/>
                          </a:rPr>
                          <m:t>g</m:t>
                        </m:r>
                        <m:d>
                          <m:dPr>
                            <m:ctrlPr>
                              <a:rPr lang="en-US" i="1" dirty="0" smtClean="0">
                                <a:latin typeface="Cambria Math" panose="02040503050406030204" pitchFamily="18" charset="0"/>
                              </a:rPr>
                            </m:ctrlPr>
                          </m:dPr>
                          <m:e>
                            <m:r>
                              <a:rPr lang="en-US" i="1" dirty="0" smtClean="0">
                                <a:latin typeface="Cambria Math"/>
                              </a:rPr>
                              <m:t>𝑛</m:t>
                            </m:r>
                          </m:e>
                        </m:d>
                      </m:e>
                    </m:d>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blipFill rotWithShape="1">
                <a:blip r:embed="rId2"/>
                <a:stretch>
                  <a:fillRect l="-2564" t="-2156" b="-1482"/>
                </a:stretch>
              </a:blipFill>
            </p:spPr>
            <p:txBody>
              <a:bodyPr/>
              <a:lstStyle/>
              <a:p>
                <a:r>
                  <a:rPr lang="en-US">
                    <a:noFill/>
                  </a:rPr>
                  <a:t> </a:t>
                </a:r>
              </a:p>
            </p:txBody>
          </p:sp>
        </mc:Fallback>
      </mc:AlternateContent>
      <p:sp>
        <p:nvSpPr>
          <p:cNvPr id="6" name="Oval 5"/>
          <p:cNvSpPr/>
          <p:nvPr/>
        </p:nvSpPr>
        <p:spPr>
          <a:xfrm>
            <a:off x="4800600" y="1752600"/>
            <a:ext cx="4267200" cy="426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dirty="0"/>
              <a:t>All functions</a:t>
            </a:r>
          </a:p>
        </p:txBody>
      </p:sp>
      <mc:AlternateContent xmlns:mc="http://schemas.openxmlformats.org/markup-compatibility/2006" xmlns:a14="http://schemas.microsoft.com/office/drawing/2010/main">
        <mc:Choice Requires="a14">
          <p:sp>
            <p:nvSpPr>
              <p:cNvPr id="7" name="Oval 6"/>
              <p:cNvSpPr/>
              <p:nvPr/>
            </p:nvSpPr>
            <p:spPr>
              <a:xfrm>
                <a:off x="5943600" y="2209800"/>
                <a:ext cx="2819400" cy="2667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14:m>
                  <m:oMathPara xmlns:m="http://schemas.openxmlformats.org/officeDocument/2006/math">
                    <m:oMathParaPr>
                      <m:jc m:val="centerGroup"/>
                    </m:oMathParaPr>
                    <m:oMath xmlns:m="http://schemas.openxmlformats.org/officeDocument/2006/math">
                      <m:r>
                        <a:rPr lang="en-US" sz="1400" i="1" dirty="0" smtClean="0">
                          <a:latin typeface="Cambria Math"/>
                        </a:rPr>
                        <m:t>𝑂</m:t>
                      </m:r>
                      <m:r>
                        <a:rPr lang="en-US" sz="1400" i="1" dirty="0" smtClean="0">
                          <a:latin typeface="Cambria Math"/>
                        </a:rPr>
                        <m:t>(</m:t>
                      </m:r>
                      <m:sSup>
                        <m:sSupPr>
                          <m:ctrlPr>
                            <a:rPr lang="en-US" sz="1400" i="1" dirty="0" smtClean="0">
                              <a:latin typeface="Cambria Math" panose="02040503050406030204" pitchFamily="18" charset="0"/>
                            </a:rPr>
                          </m:ctrlPr>
                        </m:sSupPr>
                        <m:e>
                          <m:r>
                            <a:rPr lang="en-US" sz="1400" i="1" dirty="0" smtClean="0">
                              <a:latin typeface="Cambria Math"/>
                            </a:rPr>
                            <m:t>2</m:t>
                          </m:r>
                        </m:e>
                        <m:sup>
                          <m:r>
                            <a:rPr lang="en-US" sz="1400" i="1" dirty="0" smtClean="0">
                              <a:latin typeface="Cambria Math"/>
                            </a:rPr>
                            <m:t>𝑛</m:t>
                          </m:r>
                        </m:sup>
                      </m:sSup>
                      <m:r>
                        <a:rPr lang="en-US" sz="1400" i="1" dirty="0" smtClean="0">
                          <a:latin typeface="Cambria Math"/>
                        </a:rPr>
                        <m:t>)</m:t>
                      </m:r>
                    </m:oMath>
                  </m:oMathPara>
                </a14:m>
                <a:endParaRPr lang="en-US" sz="1400" dirty="0"/>
              </a:p>
            </p:txBody>
          </p:sp>
        </mc:Choice>
        <mc:Fallback xmlns="">
          <p:sp>
            <p:nvSpPr>
              <p:cNvPr id="7" name="Oval 6"/>
              <p:cNvSpPr>
                <a:spLocks noRot="1" noChangeAspect="1" noMove="1" noResize="1" noEditPoints="1" noAdjustHandles="1" noChangeArrowheads="1" noChangeShapeType="1" noTextEdit="1"/>
              </p:cNvSpPr>
              <p:nvPr/>
            </p:nvSpPr>
            <p:spPr>
              <a:xfrm>
                <a:off x="5943600" y="2209800"/>
                <a:ext cx="2819400" cy="2667000"/>
              </a:xfrm>
              <a:prstGeom prst="ellipse">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6172200" y="2438400"/>
                <a:ext cx="1524000" cy="152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14:m>
                  <m:oMathPara xmlns:m="http://schemas.openxmlformats.org/officeDocument/2006/math">
                    <m:oMathParaPr>
                      <m:jc m:val="centerGroup"/>
                    </m:oMathParaPr>
                    <m:oMath xmlns:m="http://schemas.openxmlformats.org/officeDocument/2006/math">
                      <m:r>
                        <a:rPr lang="en-US" sz="1400" i="1" dirty="0" smtClean="0">
                          <a:latin typeface="Cambria Math"/>
                        </a:rPr>
                        <m:t>𝑂</m:t>
                      </m:r>
                      <m:r>
                        <a:rPr lang="en-US" sz="1400" i="1" dirty="0" smtClean="0">
                          <a:latin typeface="Cambria Math"/>
                        </a:rPr>
                        <m:t>(</m:t>
                      </m:r>
                      <m:r>
                        <m:rPr>
                          <m:nor/>
                        </m:rPr>
                        <a:rPr lang="en-US" sz="1400" i="0" dirty="0" smtClean="0">
                          <a:latin typeface="Cambria Math"/>
                        </a:rPr>
                        <m:t>polynomial</m:t>
                      </m:r>
                      <m:r>
                        <a:rPr lang="en-US" sz="1400" i="1" dirty="0" smtClean="0">
                          <a:latin typeface="Cambria Math"/>
                        </a:rPr>
                        <m:t>)</m:t>
                      </m:r>
                    </m:oMath>
                  </m:oMathPara>
                </a14:m>
                <a:endParaRPr lang="en-US" sz="1400" dirty="0"/>
              </a:p>
            </p:txBody>
          </p:sp>
        </mc:Choice>
        <mc:Fallback xmlns="">
          <p:sp>
            <p:nvSpPr>
              <p:cNvPr id="8" name="Oval 7"/>
              <p:cNvSpPr>
                <a:spLocks noRot="1" noChangeAspect="1" noMove="1" noResize="1" noEditPoints="1" noAdjustHandles="1" noChangeArrowheads="1" noChangeShapeType="1" noTextEdit="1"/>
              </p:cNvSpPr>
              <p:nvPr/>
            </p:nvSpPr>
            <p:spPr>
              <a:xfrm>
                <a:off x="6172200" y="2438400"/>
                <a:ext cx="1524000" cy="1524000"/>
              </a:xfrm>
              <a:prstGeom prst="ellipse">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6400800" y="2438400"/>
                <a:ext cx="952500" cy="952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14:m>
                  <m:oMathPara xmlns:m="http://schemas.openxmlformats.org/officeDocument/2006/math">
                    <m:oMathParaPr>
                      <m:jc m:val="centerGroup"/>
                    </m:oMathParaPr>
                    <m:oMath xmlns:m="http://schemas.openxmlformats.org/officeDocument/2006/math">
                      <m:r>
                        <a:rPr lang="en-US" sz="1400" i="1" dirty="0" smtClean="0">
                          <a:latin typeface="Cambria Math"/>
                        </a:rPr>
                        <m:t>𝑂</m:t>
                      </m:r>
                      <m:r>
                        <a:rPr lang="en-US" sz="1400" i="1" dirty="0" smtClean="0">
                          <a:latin typeface="Cambria Math"/>
                        </a:rPr>
                        <m:t>(</m:t>
                      </m:r>
                      <m:sSup>
                        <m:sSupPr>
                          <m:ctrlPr>
                            <a:rPr lang="en-US" sz="1400" i="1" dirty="0" smtClean="0">
                              <a:latin typeface="Cambria Math" panose="02040503050406030204" pitchFamily="18" charset="0"/>
                            </a:rPr>
                          </m:ctrlPr>
                        </m:sSupPr>
                        <m:e>
                          <m:r>
                            <a:rPr lang="en-US" sz="1400" i="1" dirty="0" smtClean="0">
                              <a:latin typeface="Cambria Math"/>
                            </a:rPr>
                            <m:t>𝑛</m:t>
                          </m:r>
                        </m:e>
                        <m:sup>
                          <m:r>
                            <a:rPr lang="en-US" sz="1400" i="1" dirty="0" smtClean="0">
                              <a:latin typeface="Cambria Math"/>
                            </a:rPr>
                            <m:t>2</m:t>
                          </m:r>
                        </m:sup>
                      </m:sSup>
                      <m:r>
                        <a:rPr lang="en-US" sz="1400" i="1" dirty="0" smtClean="0">
                          <a:latin typeface="Cambria Math"/>
                        </a:rPr>
                        <m:t>)</m:t>
                      </m:r>
                    </m:oMath>
                  </m:oMathPara>
                </a14:m>
                <a:endParaRPr lang="en-US" sz="1400" dirty="0"/>
              </a:p>
            </p:txBody>
          </p:sp>
        </mc:Choice>
        <mc:Fallback xmlns="">
          <p:sp>
            <p:nvSpPr>
              <p:cNvPr id="9" name="Oval 8"/>
              <p:cNvSpPr>
                <a:spLocks noRot="1" noChangeAspect="1" noMove="1" noResize="1" noEditPoints="1" noAdjustHandles="1" noChangeArrowheads="1" noChangeShapeType="1" noTextEdit="1"/>
              </p:cNvSpPr>
              <p:nvPr/>
            </p:nvSpPr>
            <p:spPr>
              <a:xfrm>
                <a:off x="6400800" y="2438400"/>
                <a:ext cx="952500" cy="952500"/>
              </a:xfrm>
              <a:prstGeom prst="ellipse">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6553200" y="25146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14:m>
                  <m:oMathPara xmlns:m="http://schemas.openxmlformats.org/officeDocument/2006/math">
                    <m:oMathParaPr>
                      <m:jc m:val="centerGroup"/>
                    </m:oMathParaPr>
                    <m:oMath xmlns:m="http://schemas.openxmlformats.org/officeDocument/2006/math">
                      <m:r>
                        <a:rPr lang="en-US" sz="1400" i="1" dirty="0" smtClean="0">
                          <a:latin typeface="Cambria Math"/>
                        </a:rPr>
                        <m:t>𝑂</m:t>
                      </m:r>
                      <m:r>
                        <a:rPr lang="en-US" sz="1400" i="1" dirty="0" smtClean="0">
                          <a:latin typeface="Cambria Math"/>
                        </a:rPr>
                        <m:t>(</m:t>
                      </m:r>
                      <m:r>
                        <a:rPr lang="en-US" sz="1400" i="1" dirty="0" smtClean="0">
                          <a:latin typeface="Cambria Math"/>
                        </a:rPr>
                        <m:t>𝑛</m:t>
                      </m:r>
                      <m:r>
                        <a:rPr lang="en-US" sz="1400" i="1" dirty="0" smtClean="0">
                          <a:latin typeface="Cambria Math"/>
                        </a:rPr>
                        <m:t>)</m:t>
                      </m:r>
                    </m:oMath>
                  </m:oMathPara>
                </a14:m>
                <a:endParaRPr lang="en-US" sz="1400" dirty="0"/>
              </a:p>
            </p:txBody>
          </p:sp>
        </mc:Choice>
        <mc:Fallback xmlns="">
          <p:sp>
            <p:nvSpPr>
              <p:cNvPr id="10" name="Oval 9"/>
              <p:cNvSpPr>
                <a:spLocks noRot="1" noChangeAspect="1" noMove="1" noResize="1" noEditPoints="1" noAdjustHandles="1" noChangeArrowheads="1" noChangeShapeType="1" noTextEdit="1"/>
              </p:cNvSpPr>
              <p:nvPr/>
            </p:nvSpPr>
            <p:spPr>
              <a:xfrm>
                <a:off x="6553200" y="2514600"/>
                <a:ext cx="457200" cy="457200"/>
              </a:xfrm>
              <a:prstGeom prst="ellipse">
                <a:avLst/>
              </a:prstGeom>
              <a:blipFill rotWithShape="1">
                <a:blip r:embed="rId6"/>
                <a:stretch>
                  <a:fillRect l="-5063" r="-17722"/>
                </a:stretch>
              </a:blipFill>
            </p:spPr>
            <p:txBody>
              <a:bodyPr/>
              <a:lstStyle/>
              <a:p>
                <a:r>
                  <a:rPr lang="en-US">
                    <a:noFill/>
                  </a:rPr>
                  <a:t> </a:t>
                </a:r>
              </a:p>
            </p:txBody>
          </p:sp>
        </mc:Fallback>
      </mc:AlternateContent>
    </p:spTree>
    <p:extLst>
      <p:ext uri="{BB962C8B-B14F-4D97-AF65-F5344CB8AC3E}">
        <p14:creationId xmlns:p14="http://schemas.microsoft.com/office/powerpoint/2010/main" val="3363982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But we use big O as if it were an equivalence relation</a:t>
            </a:r>
          </a:p>
        </p:txBody>
      </p:sp>
      <mc:AlternateContent xmlns:mc="http://schemas.openxmlformats.org/markup-compatibility/2006">
        <mc:Choice xmlns:a14="http://schemas.microsoft.com/office/drawing/2010/main" Requires="a14">
          <p:sp>
            <p:nvSpPr>
              <p:cNvPr id="4" name="Content Placeholder 3"/>
              <p:cNvSpPr>
                <a:spLocks noGrp="1"/>
              </p:cNvSpPr>
              <p:nvPr>
                <p:ph idx="1"/>
              </p:nvPr>
            </p:nvSpPr>
            <p:spPr/>
            <p:txBody>
              <a:bodyPr>
                <a:normAutofit fontScale="92500" lnSpcReduction="10000"/>
              </a:bodyPr>
              <a:lstStyle/>
              <a:p>
                <a:r>
                  <a:rPr lang="en-US" dirty="0"/>
                  <a:t>If </a:t>
                </a:r>
                <a14:m>
                  <m:oMath xmlns:m="http://schemas.openxmlformats.org/officeDocument/2006/math">
                    <m:r>
                      <m:rPr>
                        <m:sty m:val="p"/>
                      </m:rPr>
                      <a:rPr lang="en-US" i="0" dirty="0" smtClean="0">
                        <a:latin typeface="Cambria Math"/>
                      </a:rPr>
                      <m:t>f</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r>
                      <m:rPr>
                        <m:sty m:val="p"/>
                      </m:rPr>
                      <a:rPr lang="en-US" i="0" dirty="0" smtClean="0">
                        <a:latin typeface="Cambria Math"/>
                      </a:rPr>
                      <m:t>O</m:t>
                    </m:r>
                    <m:d>
                      <m:dPr>
                        <m:ctrlPr>
                          <a:rPr lang="en-US" i="1" dirty="0" smtClean="0">
                            <a:latin typeface="Cambria Math" panose="02040503050406030204" pitchFamily="18" charset="0"/>
                          </a:rPr>
                        </m:ctrlPr>
                      </m:dPr>
                      <m:e>
                        <m:sSup>
                          <m:sSupPr>
                            <m:ctrlPr>
                              <a:rPr lang="en-US" i="1" dirty="0" smtClean="0">
                                <a:latin typeface="Cambria Math" panose="02040503050406030204" pitchFamily="18" charset="0"/>
                              </a:rPr>
                            </m:ctrlPr>
                          </m:sSupPr>
                          <m:e>
                            <m:r>
                              <a:rPr lang="en-US" i="1" dirty="0" smtClean="0">
                                <a:latin typeface="Cambria Math"/>
                              </a:rPr>
                              <m:t>𝑛</m:t>
                            </m:r>
                          </m:e>
                          <m:sup>
                            <m:r>
                              <a:rPr lang="en-US" i="1" dirty="0" smtClean="0">
                                <a:latin typeface="Cambria Math"/>
                              </a:rPr>
                              <m:t>2</m:t>
                            </m:r>
                          </m:sup>
                        </m:sSup>
                      </m:e>
                    </m:d>
                  </m:oMath>
                </a14:m>
                <a:endParaRPr lang="en-US" i="1" dirty="0">
                  <a:latin typeface="Cambria Math"/>
                </a:endParaRPr>
              </a:p>
              <a:p>
                <a:r>
                  <a:rPr lang="en-US" dirty="0"/>
                  <a:t>Then </a:t>
                </a:r>
                <a:r>
                  <a:rPr lang="en-US" b="1" dirty="0">
                    <a:solidFill>
                      <a:schemeClr val="accent6">
                        <a:lumMod val="50000"/>
                      </a:schemeClr>
                    </a:solidFill>
                  </a:rPr>
                  <a:t>technically</a:t>
                </a:r>
                <a:r>
                  <a:rPr lang="en-US" dirty="0"/>
                  <a:t>, it’s also </a:t>
                </a:r>
                <a14:m>
                  <m:oMath xmlns:m="http://schemas.openxmlformats.org/officeDocument/2006/math">
                    <m:r>
                      <m:rPr>
                        <m:sty m:val="p"/>
                      </m:rPr>
                      <a:rPr lang="en-US" i="0" dirty="0" smtClean="0">
                        <a:latin typeface="Cambria Math"/>
                      </a:rPr>
                      <m:t>O</m:t>
                    </m:r>
                    <m:r>
                      <a:rPr lang="en-US" i="1" dirty="0" smtClean="0">
                        <a:latin typeface="Cambria Math"/>
                      </a:rPr>
                      <m:t>(</m:t>
                    </m:r>
                    <m:sSup>
                      <m:sSupPr>
                        <m:ctrlPr>
                          <a:rPr lang="en-US" i="1" dirty="0" smtClean="0">
                            <a:latin typeface="Cambria Math" panose="02040503050406030204" pitchFamily="18" charset="0"/>
                          </a:rPr>
                        </m:ctrlPr>
                      </m:sSupPr>
                      <m:e>
                        <m:r>
                          <a:rPr lang="en-US" i="1" dirty="0" smtClean="0">
                            <a:latin typeface="Cambria Math"/>
                          </a:rPr>
                          <m:t>𝑛</m:t>
                        </m:r>
                      </m:e>
                      <m:sup>
                        <m:r>
                          <a:rPr lang="en-US" i="1" dirty="0" smtClean="0">
                            <a:latin typeface="Cambria Math"/>
                          </a:rPr>
                          <m:t>3</m:t>
                        </m:r>
                      </m:sup>
                    </m:sSup>
                    <m:r>
                      <a:rPr lang="en-US" i="1" dirty="0" smtClean="0">
                        <a:latin typeface="Cambria Math"/>
                      </a:rPr>
                      <m:t>)</m:t>
                    </m:r>
                  </m:oMath>
                </a14:m>
                <a:r>
                  <a:rPr lang="en-US" dirty="0"/>
                  <a:t>, </a:t>
                </a:r>
                <a14:m>
                  <m:oMath xmlns:m="http://schemas.openxmlformats.org/officeDocument/2006/math">
                    <m:r>
                      <m:rPr>
                        <m:sty m:val="p"/>
                      </m:rPr>
                      <a:rPr lang="en-US" i="0" dirty="0" smtClean="0">
                        <a:latin typeface="Cambria Math"/>
                      </a:rPr>
                      <m:t>O</m:t>
                    </m:r>
                    <m:d>
                      <m:dPr>
                        <m:ctrlPr>
                          <a:rPr lang="en-US" i="1" dirty="0" smtClean="0">
                            <a:latin typeface="Cambria Math" panose="02040503050406030204" pitchFamily="18" charset="0"/>
                          </a:rPr>
                        </m:ctrlPr>
                      </m:dPr>
                      <m:e>
                        <m:sSup>
                          <m:sSupPr>
                            <m:ctrlPr>
                              <a:rPr lang="en-US" i="1" dirty="0" smtClean="0">
                                <a:latin typeface="Cambria Math" panose="02040503050406030204" pitchFamily="18" charset="0"/>
                              </a:rPr>
                            </m:ctrlPr>
                          </m:sSupPr>
                          <m:e>
                            <m:r>
                              <a:rPr lang="en-US" i="1" dirty="0" smtClean="0">
                                <a:latin typeface="Cambria Math"/>
                              </a:rPr>
                              <m:t>𝑛</m:t>
                            </m:r>
                          </m:e>
                          <m:sup>
                            <m:r>
                              <a:rPr lang="en-US" i="1" dirty="0" smtClean="0">
                                <a:latin typeface="Cambria Math"/>
                              </a:rPr>
                              <m:t>4</m:t>
                            </m:r>
                          </m:sup>
                        </m:sSup>
                      </m:e>
                    </m:d>
                  </m:oMath>
                </a14:m>
                <a:r>
                  <a:rPr lang="en-US" dirty="0"/>
                  <a:t>, etc.</a:t>
                </a:r>
              </a:p>
              <a:p>
                <a:pPr lvl="1"/>
                <a:r>
                  <a:rPr lang="en-US" dirty="0"/>
                  <a:t>But nobody would ever say that</a:t>
                </a:r>
              </a:p>
              <a:p>
                <a:r>
                  <a:rPr lang="en-US" dirty="0"/>
                  <a:t>So in practice, we use </a:t>
                </a:r>
                <a14:m>
                  <m:oMath xmlns:m="http://schemas.openxmlformats.org/officeDocument/2006/math">
                    <m:r>
                      <m:rPr>
                        <m:sty m:val="p"/>
                      </m:rPr>
                      <a:rPr lang="en-US" i="0" dirty="0" smtClean="0">
                        <a:latin typeface="Cambria Math"/>
                      </a:rPr>
                      <m:t>f</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r>
                      <m:rPr>
                        <m:sty m:val="p"/>
                      </m:rPr>
                      <a:rPr lang="en-US" i="0" dirty="0" smtClean="0">
                        <a:latin typeface="Cambria Math"/>
                      </a:rPr>
                      <m:t>O</m:t>
                    </m:r>
                    <m:d>
                      <m:dPr>
                        <m:ctrlPr>
                          <a:rPr lang="en-US" i="1" dirty="0" smtClean="0">
                            <a:latin typeface="Cambria Math" panose="02040503050406030204" pitchFamily="18" charset="0"/>
                          </a:rPr>
                        </m:ctrlPr>
                      </m:dPr>
                      <m:e>
                        <m:sSup>
                          <m:sSupPr>
                            <m:ctrlPr>
                              <a:rPr lang="en-US" i="1" dirty="0" smtClean="0">
                                <a:latin typeface="Cambria Math" panose="02040503050406030204" pitchFamily="18" charset="0"/>
                              </a:rPr>
                            </m:ctrlPr>
                          </m:sSupPr>
                          <m:e>
                            <m:r>
                              <a:rPr lang="en-US" i="1" dirty="0" smtClean="0">
                                <a:latin typeface="Cambria Math"/>
                              </a:rPr>
                              <m:t>𝑛</m:t>
                            </m:r>
                          </m:e>
                          <m:sup>
                            <m:r>
                              <a:rPr lang="en-US" i="1" dirty="0" smtClean="0">
                                <a:latin typeface="Cambria Math"/>
                              </a:rPr>
                              <m:t>2</m:t>
                            </m:r>
                          </m:sup>
                        </m:sSup>
                      </m:e>
                    </m:d>
                  </m:oMath>
                </a14:m>
                <a:r>
                  <a:rPr lang="en-US" dirty="0"/>
                  <a:t> to mean “</a:t>
                </a:r>
                <a14:m>
                  <m:oMath xmlns:m="http://schemas.openxmlformats.org/officeDocument/2006/math">
                    <m:r>
                      <m:rPr>
                        <m:sty m:val="p"/>
                      </m:rPr>
                      <a:rPr lang="en-US" i="0" dirty="0" smtClean="0">
                        <a:latin typeface="Cambria Math"/>
                      </a:rPr>
                      <m:t>f</m:t>
                    </m:r>
                  </m:oMath>
                </a14:m>
                <a:r>
                  <a:rPr lang="en-US" dirty="0"/>
                  <a:t> is </a:t>
                </a:r>
                <a14:m>
                  <m:oMath xmlns:m="http://schemas.openxmlformats.org/officeDocument/2006/math">
                    <m:r>
                      <m:rPr>
                        <m:sty m:val="p"/>
                      </m:rPr>
                      <a:rPr lang="en-US" i="0" dirty="0" smtClean="0">
                        <a:latin typeface="Cambria Math"/>
                      </a:rPr>
                      <m:t>O</m:t>
                    </m:r>
                    <m:r>
                      <a:rPr lang="en-US" i="1" dirty="0" smtClean="0">
                        <a:latin typeface="Cambria Math"/>
                      </a:rPr>
                      <m:t>(</m:t>
                    </m:r>
                    <m:sSup>
                      <m:sSupPr>
                        <m:ctrlPr>
                          <a:rPr lang="en-US" i="1" dirty="0" smtClean="0">
                            <a:latin typeface="Cambria Math" panose="02040503050406030204" pitchFamily="18" charset="0"/>
                          </a:rPr>
                        </m:ctrlPr>
                      </m:sSupPr>
                      <m:e>
                        <m:r>
                          <a:rPr lang="en-US" i="1" dirty="0" smtClean="0">
                            <a:latin typeface="Cambria Math"/>
                          </a:rPr>
                          <m:t>𝑛</m:t>
                        </m:r>
                      </m:e>
                      <m:sup>
                        <m:r>
                          <a:rPr lang="en-US" i="1" dirty="0" smtClean="0">
                            <a:latin typeface="Cambria Math"/>
                          </a:rPr>
                          <m:t>2</m:t>
                        </m:r>
                      </m:sup>
                    </m:sSup>
                    <m:r>
                      <a:rPr lang="en-US" i="1" dirty="0" smtClean="0">
                        <a:latin typeface="Cambria Math"/>
                      </a:rPr>
                      <m:t>)</m:t>
                    </m:r>
                  </m:oMath>
                </a14:m>
                <a:r>
                  <a:rPr lang="en-US" dirty="0"/>
                  <a:t> and it isn’t </a:t>
                </a:r>
                <a14:m>
                  <m:oMath xmlns:m="http://schemas.openxmlformats.org/officeDocument/2006/math">
                    <m:r>
                      <m:rPr>
                        <m:sty m:val="p"/>
                      </m:rPr>
                      <a:rPr lang="en-US" i="0" dirty="0" smtClean="0">
                        <a:latin typeface="Cambria Math"/>
                      </a:rPr>
                      <m:t>O</m:t>
                    </m:r>
                  </m:oMath>
                </a14:m>
                <a:r>
                  <a:rPr lang="en-US" dirty="0"/>
                  <a:t> of any slower growing polynomial”</a:t>
                </a:r>
              </a:p>
              <a:p>
                <a:pPr>
                  <a:spcBef>
                    <a:spcPts val="2000"/>
                  </a:spcBef>
                </a:pPr>
                <a:r>
                  <a:rPr lang="en-US" dirty="0"/>
                  <a:t>In other words: we use it as a tool for </a:t>
                </a:r>
                <a:r>
                  <a:rPr lang="en-US" b="1" dirty="0">
                    <a:solidFill>
                      <a:schemeClr val="accent6">
                        <a:lumMod val="50000"/>
                      </a:schemeClr>
                    </a:solidFill>
                  </a:rPr>
                  <a:t>classifying</a:t>
                </a:r>
                <a:r>
                  <a:rPr lang="en-US" dirty="0">
                    <a:solidFill>
                      <a:schemeClr val="accent6">
                        <a:lumMod val="50000"/>
                      </a:schemeClr>
                    </a:solidFill>
                  </a:rPr>
                  <a:t> </a:t>
                </a:r>
                <a:r>
                  <a:rPr lang="en-US" dirty="0"/>
                  <a:t>functions according to their growth rate (log, linear, quadratic, cubic, exponential, </a:t>
                </a:r>
                <a:r>
                  <a:rPr lang="en-US" dirty="0" err="1"/>
                  <a:t>etc</a:t>
                </a:r>
                <a:r>
                  <a:rPr lang="en-US" dirty="0"/>
                  <a:t>).</a:t>
                </a:r>
              </a:p>
            </p:txBody>
          </p:sp>
        </mc:Choice>
        <mc:Fallback>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1481" t="-1887" r="-1704" b="-809"/>
                </a:stretch>
              </a:blipFill>
            </p:spPr>
            <p:txBody>
              <a:bodyPr/>
              <a:lstStyle/>
              <a:p>
                <a:r>
                  <a:rPr lang="en-US">
                    <a:noFill/>
                  </a:rPr>
                  <a:t> </a:t>
                </a:r>
              </a:p>
            </p:txBody>
          </p:sp>
        </mc:Fallback>
      </mc:AlternateContent>
    </p:spTree>
    <p:extLst>
      <p:ext uri="{BB962C8B-B14F-4D97-AF65-F5344CB8AC3E}">
        <p14:creationId xmlns:p14="http://schemas.microsoft.com/office/powerpoint/2010/main" val="21651664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Omega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US" dirty="0"/>
                  <a:t>The same, but a </a:t>
                </a:r>
                <a:r>
                  <a:rPr lang="en-US" b="1" dirty="0">
                    <a:solidFill>
                      <a:schemeClr val="accent6">
                        <a:lumMod val="50000"/>
                      </a:schemeClr>
                    </a:solidFill>
                  </a:rPr>
                  <a:t>lower bound</a:t>
                </a:r>
                <a:r>
                  <a:rPr lang="en-US" dirty="0"/>
                  <a:t>, rather than an upper bound on a function</a:t>
                </a:r>
              </a:p>
              <a:p>
                <a:r>
                  <a:rPr lang="en-US" dirty="0"/>
                  <a:t>Formally, to say that </a:t>
                </a:r>
                <a14:m>
                  <m:oMath xmlns:m="http://schemas.openxmlformats.org/officeDocument/2006/math">
                    <m:r>
                      <m:rPr>
                        <m:sty m:val="p"/>
                      </m:rPr>
                      <a:rPr lang="en-US" i="0" dirty="0" smtClean="0">
                        <a:latin typeface="Cambria Math"/>
                      </a:rPr>
                      <m:t>f</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r>
                      <m:rPr>
                        <m:sty m:val="p"/>
                      </m:rPr>
                      <a:rPr lang="en-US" i="1" dirty="0" smtClean="0">
                        <a:latin typeface="Cambria Math"/>
                      </a:rPr>
                      <m:t>Ω</m:t>
                    </m:r>
                    <m:d>
                      <m:dPr>
                        <m:ctrlPr>
                          <a:rPr lang="en-US" i="1" dirty="0" smtClean="0">
                            <a:latin typeface="Cambria Math" panose="02040503050406030204" pitchFamily="18" charset="0"/>
                          </a:rPr>
                        </m:ctrlPr>
                      </m:dPr>
                      <m:e>
                        <m:r>
                          <m:rPr>
                            <m:sty m:val="p"/>
                          </m:rPr>
                          <a:rPr lang="en-US" i="0" dirty="0" smtClean="0">
                            <a:latin typeface="Cambria Math"/>
                          </a:rPr>
                          <m:t>g</m:t>
                        </m:r>
                        <m:d>
                          <m:dPr>
                            <m:ctrlPr>
                              <a:rPr lang="en-US" i="1" dirty="0" smtClean="0">
                                <a:latin typeface="Cambria Math" panose="02040503050406030204" pitchFamily="18" charset="0"/>
                              </a:rPr>
                            </m:ctrlPr>
                          </m:dPr>
                          <m:e>
                            <m:r>
                              <a:rPr lang="en-US" i="1" dirty="0" smtClean="0">
                                <a:latin typeface="Cambria Math"/>
                              </a:rPr>
                              <m:t>𝑛</m:t>
                            </m:r>
                          </m:e>
                        </m:d>
                      </m:e>
                    </m:d>
                  </m:oMath>
                </a14:m>
                <a:r>
                  <a:rPr lang="en-US" dirty="0"/>
                  <a:t> means that:</a:t>
                </a:r>
              </a:p>
              <a:p>
                <a:pPr lvl="1"/>
                <a:r>
                  <a:rPr lang="en-US" dirty="0"/>
                  <a:t>You can find some starting value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𝑛</m:t>
                        </m:r>
                      </m:e>
                      <m:sub>
                        <m:r>
                          <a:rPr lang="en-US" i="1" dirty="0" smtClean="0">
                            <a:latin typeface="Cambria Math"/>
                          </a:rPr>
                          <m:t>0</m:t>
                        </m:r>
                      </m:sub>
                    </m:sSub>
                  </m:oMath>
                </a14:m>
                <a:r>
                  <a:rPr lang="en-US" dirty="0"/>
                  <a:t> and some </a:t>
                </a:r>
                <a:r>
                  <a:rPr lang="en-US" dirty="0" err="1"/>
                  <a:t>coefficent</a:t>
                </a:r>
                <a:r>
                  <a:rPr lang="en-US" dirty="0"/>
                  <a:t> </a:t>
                </a:r>
                <a14:m>
                  <m:oMath xmlns:m="http://schemas.openxmlformats.org/officeDocument/2006/math">
                    <m:r>
                      <a:rPr lang="en-US" i="1" dirty="0" smtClean="0">
                        <a:latin typeface="Cambria Math"/>
                      </a:rPr>
                      <m:t>𝑘</m:t>
                    </m:r>
                  </m:oMath>
                </a14:m>
                <a:r>
                  <a:rPr lang="en-US" dirty="0"/>
                  <a:t>, such that</a:t>
                </a:r>
              </a:p>
              <a:p>
                <a:pPr lvl="1"/>
                <a:r>
                  <a:rPr lang="en-US" dirty="0"/>
                  <a:t>For any </a:t>
                </a:r>
                <a14:m>
                  <m:oMath xmlns:m="http://schemas.openxmlformats.org/officeDocument/2006/math">
                    <m:r>
                      <a:rPr lang="en-US" i="1" dirty="0" smtClean="0">
                        <a:latin typeface="Cambria Math"/>
                      </a:rPr>
                      <m:t>𝑛</m:t>
                    </m:r>
                    <m:r>
                      <a:rPr lang="en-US" i="1" dirty="0" smtClean="0">
                        <a:latin typeface="Cambria Math"/>
                      </a:rPr>
                      <m:t>&gt;</m:t>
                    </m:r>
                    <m:sSub>
                      <m:sSubPr>
                        <m:ctrlPr>
                          <a:rPr lang="en-US" i="1" dirty="0" smtClean="0">
                            <a:latin typeface="Cambria Math" panose="02040503050406030204" pitchFamily="18" charset="0"/>
                          </a:rPr>
                        </m:ctrlPr>
                      </m:sSubPr>
                      <m:e>
                        <m:r>
                          <a:rPr lang="en-US" i="1" dirty="0" smtClean="0">
                            <a:latin typeface="Cambria Math"/>
                          </a:rPr>
                          <m:t>𝑛</m:t>
                        </m:r>
                      </m:e>
                      <m:sub>
                        <m:r>
                          <a:rPr lang="en-US" i="1" dirty="0" smtClean="0">
                            <a:latin typeface="Cambria Math"/>
                          </a:rPr>
                          <m:t>0</m:t>
                        </m:r>
                      </m:sub>
                    </m:sSub>
                  </m:oMath>
                </a14:m>
                <a:r>
                  <a:rPr lang="en-US" dirty="0"/>
                  <a:t>, </a:t>
                </a:r>
                <a14:m>
                  <m:oMath xmlns:m="http://schemas.openxmlformats.org/officeDocument/2006/math">
                    <m:r>
                      <m:rPr>
                        <m:sty m:val="p"/>
                      </m:rPr>
                      <a:rPr lang="en-US" i="0" dirty="0" smtClean="0">
                        <a:latin typeface="Cambria Math"/>
                      </a:rPr>
                      <m:t>f</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r>
                      <a:rPr lang="en-US" i="1" dirty="0" smtClean="0">
                        <a:latin typeface="Cambria Math"/>
                      </a:rPr>
                      <m:t>𝑘</m:t>
                    </m:r>
                    <m:r>
                      <m:rPr>
                        <m:sty m:val="p"/>
                      </m:rPr>
                      <a:rPr lang="en-US" i="0" dirty="0" smtClean="0">
                        <a:latin typeface="Cambria Math"/>
                      </a:rPr>
                      <m:t>g</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≥0</m:t>
                    </m:r>
                  </m:oMath>
                </a14:m>
                <a:endParaRPr lang="en-US" dirty="0"/>
              </a:p>
              <a:p>
                <a:pPr lvl="1"/>
                <a:endParaRPr lang="en-US" dirty="0"/>
              </a:p>
              <a:p>
                <a:r>
                  <a:rPr lang="en-US" dirty="0"/>
                  <a:t>Translation: past some value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𝑛</m:t>
                        </m:r>
                      </m:e>
                      <m:sub>
                        <m:r>
                          <a:rPr lang="en-US" i="1" dirty="0" smtClean="0">
                            <a:latin typeface="Cambria Math"/>
                          </a:rPr>
                          <m:t>0</m:t>
                        </m:r>
                      </m:sub>
                    </m:sSub>
                  </m:oMath>
                </a14:m>
                <a:r>
                  <a:rPr lang="en-US" dirty="0"/>
                  <a:t>, </a:t>
                </a:r>
                <a14:m>
                  <m:oMath xmlns:m="http://schemas.openxmlformats.org/officeDocument/2006/math">
                    <m:r>
                      <m:rPr>
                        <m:sty m:val="p"/>
                      </m:rPr>
                      <a:rPr lang="en-US" i="0" dirty="0" smtClean="0">
                        <a:latin typeface="Cambria Math"/>
                      </a:rPr>
                      <m:t>f</m:t>
                    </m:r>
                  </m:oMath>
                </a14:m>
                <a:r>
                  <a:rPr lang="en-US" dirty="0"/>
                  <a:t> will </a:t>
                </a:r>
                <a:r>
                  <a:rPr lang="en-US" b="1" dirty="0">
                    <a:solidFill>
                      <a:schemeClr val="accent6">
                        <a:lumMod val="50000"/>
                      </a:schemeClr>
                    </a:solidFill>
                  </a:rPr>
                  <a:t>never be less than </a:t>
                </a:r>
                <a14:m>
                  <m:oMath xmlns:m="http://schemas.openxmlformats.org/officeDocument/2006/math">
                    <m:r>
                      <a:rPr lang="en-US" i="1" dirty="0" smtClean="0">
                        <a:latin typeface="Cambria Math"/>
                      </a:rPr>
                      <m:t>𝑘</m:t>
                    </m:r>
                  </m:oMath>
                </a14:m>
                <a:r>
                  <a:rPr lang="en-US" dirty="0"/>
                  <a:t> times the value of </a:t>
                </a:r>
                <a14:m>
                  <m:oMath xmlns:m="http://schemas.openxmlformats.org/officeDocument/2006/math">
                    <m:r>
                      <m:rPr>
                        <m:sty m:val="p"/>
                      </m:rPr>
                      <a:rPr lang="en-US" i="0" dirty="0" smtClean="0">
                        <a:latin typeface="Cambria Math"/>
                      </a:rPr>
                      <m:t>g</m:t>
                    </m:r>
                  </m:oMath>
                </a14:m>
                <a:endParaRPr lang="en-US" dirty="0">
                  <a:latin typeface="Cambria Math"/>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481" t="-1617" r="-741" b="-2695"/>
                </a:stretch>
              </a:blipFill>
            </p:spPr>
            <p:txBody>
              <a:bodyPr/>
              <a:lstStyle/>
              <a:p>
                <a:r>
                  <a:rPr lang="en-US">
                    <a:noFill/>
                  </a:rPr>
                  <a:t> </a:t>
                </a:r>
              </a:p>
            </p:txBody>
          </p:sp>
        </mc:Fallback>
      </mc:AlternateContent>
    </p:spTree>
    <p:extLst>
      <p:ext uri="{BB962C8B-B14F-4D97-AF65-F5344CB8AC3E}">
        <p14:creationId xmlns:p14="http://schemas.microsoft.com/office/powerpoint/2010/main" val="5600548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Big Theta (nice, but harder to prove)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A </a:t>
                </a:r>
                <a:r>
                  <a:rPr lang="en-US" b="1" dirty="0">
                    <a:solidFill>
                      <a:schemeClr val="accent6">
                        <a:lumMod val="50000"/>
                      </a:schemeClr>
                    </a:solidFill>
                  </a:rPr>
                  <a:t>tight bound</a:t>
                </a:r>
                <a:r>
                  <a:rPr lang="en-US" dirty="0">
                    <a:solidFill>
                      <a:schemeClr val="accent6">
                        <a:lumMod val="50000"/>
                      </a:schemeClr>
                    </a:solidFill>
                  </a:rPr>
                  <a:t> </a:t>
                </a:r>
                <a:r>
                  <a:rPr lang="en-US" dirty="0"/>
                  <a:t>(bounds </a:t>
                </a:r>
                <a14:m>
                  <m:oMath xmlns:m="http://schemas.openxmlformats.org/officeDocument/2006/math">
                    <m:r>
                      <m:rPr>
                        <m:sty m:val="p"/>
                      </m:rPr>
                      <a:rPr lang="en-US" i="0" dirty="0" smtClean="0">
                        <a:latin typeface="Cambria Math"/>
                      </a:rPr>
                      <m:t>f</m:t>
                    </m:r>
                  </m:oMath>
                </a14:m>
                <a:r>
                  <a:rPr lang="en-US" dirty="0"/>
                  <a:t> both above and below)</a:t>
                </a:r>
              </a:p>
              <a:p>
                <a:r>
                  <a:rPr lang="en-US" dirty="0"/>
                  <a:t>Formally, to say that </a:t>
                </a:r>
                <a14:m>
                  <m:oMath xmlns:m="http://schemas.openxmlformats.org/officeDocument/2006/math">
                    <m:r>
                      <m:rPr>
                        <m:sty m:val="p"/>
                      </m:rPr>
                      <a:rPr lang="en-US" i="0" dirty="0" smtClean="0">
                        <a:latin typeface="Cambria Math"/>
                      </a:rPr>
                      <m:t>f</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r>
                      <m:rPr>
                        <m:sty m:val="p"/>
                      </m:rPr>
                      <a:rPr lang="en-US" i="1" dirty="0" smtClean="0">
                        <a:latin typeface="Cambria Math"/>
                      </a:rPr>
                      <m:t>Θ</m:t>
                    </m:r>
                    <m:d>
                      <m:dPr>
                        <m:ctrlPr>
                          <a:rPr lang="en-US" i="1" dirty="0" smtClean="0">
                            <a:latin typeface="Cambria Math" panose="02040503050406030204" pitchFamily="18" charset="0"/>
                          </a:rPr>
                        </m:ctrlPr>
                      </m:dPr>
                      <m:e>
                        <m:r>
                          <m:rPr>
                            <m:sty m:val="p"/>
                          </m:rPr>
                          <a:rPr lang="en-US" i="0" dirty="0" smtClean="0">
                            <a:latin typeface="Cambria Math"/>
                          </a:rPr>
                          <m:t>g</m:t>
                        </m:r>
                        <m:d>
                          <m:dPr>
                            <m:ctrlPr>
                              <a:rPr lang="en-US" i="1" dirty="0" smtClean="0">
                                <a:latin typeface="Cambria Math" panose="02040503050406030204" pitchFamily="18" charset="0"/>
                              </a:rPr>
                            </m:ctrlPr>
                          </m:dPr>
                          <m:e>
                            <m:r>
                              <a:rPr lang="en-US" i="1" dirty="0" smtClean="0">
                                <a:latin typeface="Cambria Math"/>
                              </a:rPr>
                              <m:t>𝑛</m:t>
                            </m:r>
                          </m:e>
                        </m:d>
                      </m:e>
                    </m:d>
                  </m:oMath>
                </a14:m>
                <a:r>
                  <a:rPr lang="en-US" dirty="0"/>
                  <a:t> means that:</a:t>
                </a:r>
              </a:p>
              <a:p>
                <a:pPr lvl="1"/>
                <a:r>
                  <a:rPr lang="en-US" dirty="0"/>
                  <a:t>You can find some starting value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𝑛</m:t>
                        </m:r>
                      </m:e>
                      <m:sub>
                        <m:r>
                          <a:rPr lang="en-US" i="1" dirty="0" smtClean="0">
                            <a:latin typeface="Cambria Math"/>
                          </a:rPr>
                          <m:t>0</m:t>
                        </m:r>
                      </m:sub>
                    </m:sSub>
                  </m:oMath>
                </a14:m>
                <a:r>
                  <a:rPr lang="en-US" dirty="0"/>
                  <a:t> and some </a:t>
                </a:r>
                <a:r>
                  <a:rPr lang="en-US" dirty="0" err="1"/>
                  <a:t>coefficents</a:t>
                </a:r>
                <a:r>
                  <a:rPr lang="en-US"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𝑘</m:t>
                        </m:r>
                      </m:e>
                      <m:sub>
                        <m:r>
                          <a:rPr lang="en-US" i="1" dirty="0" smtClean="0">
                            <a:latin typeface="Cambria Math"/>
                          </a:rPr>
                          <m:t>1</m:t>
                        </m:r>
                      </m:sub>
                    </m:sSub>
                  </m:oMath>
                </a14:m>
                <a:r>
                  <a:rPr lang="en-US" dirty="0"/>
                  <a:t> 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𝑘</m:t>
                        </m:r>
                      </m:e>
                      <m:sub>
                        <m:r>
                          <a:rPr lang="en-US" i="1" dirty="0" smtClean="0">
                            <a:latin typeface="Cambria Math"/>
                          </a:rPr>
                          <m:t>2</m:t>
                        </m:r>
                      </m:sub>
                    </m:sSub>
                  </m:oMath>
                </a14:m>
                <a:r>
                  <a:rPr lang="en-US" dirty="0"/>
                  <a:t>, such that</a:t>
                </a:r>
              </a:p>
              <a:p>
                <a:pPr lvl="1"/>
                <a:r>
                  <a:rPr lang="en-US" dirty="0"/>
                  <a:t>For any </a:t>
                </a:r>
                <a14:m>
                  <m:oMath xmlns:m="http://schemas.openxmlformats.org/officeDocument/2006/math">
                    <m:r>
                      <a:rPr lang="en-US" i="1" dirty="0" smtClean="0">
                        <a:latin typeface="Cambria Math"/>
                      </a:rPr>
                      <m:t>𝑛</m:t>
                    </m:r>
                    <m:r>
                      <a:rPr lang="en-US" i="1" dirty="0" smtClean="0">
                        <a:latin typeface="Cambria Math"/>
                      </a:rPr>
                      <m:t>&gt;</m:t>
                    </m:r>
                    <m:sSub>
                      <m:sSubPr>
                        <m:ctrlPr>
                          <a:rPr lang="en-US" i="1" dirty="0" smtClean="0">
                            <a:latin typeface="Cambria Math" panose="02040503050406030204" pitchFamily="18" charset="0"/>
                          </a:rPr>
                        </m:ctrlPr>
                      </m:sSubPr>
                      <m:e>
                        <m:r>
                          <a:rPr lang="en-US" i="1" dirty="0" smtClean="0">
                            <a:latin typeface="Cambria Math"/>
                          </a:rPr>
                          <m:t>𝑛</m:t>
                        </m:r>
                      </m:e>
                      <m:sub>
                        <m:r>
                          <a:rPr lang="en-US" i="1" dirty="0" smtClean="0">
                            <a:latin typeface="Cambria Math"/>
                          </a:rPr>
                          <m:t>0</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a:rPr>
                          <m:t>0≤</m:t>
                        </m:r>
                        <m:r>
                          <a:rPr lang="en-US" i="1" dirty="0" smtClean="0">
                            <a:latin typeface="Cambria Math"/>
                          </a:rPr>
                          <m:t>𝑘</m:t>
                        </m:r>
                      </m:e>
                      <m:sub>
                        <m:r>
                          <a:rPr lang="en-US" i="1" dirty="0" smtClean="0">
                            <a:latin typeface="Cambria Math"/>
                          </a:rPr>
                          <m:t>1</m:t>
                        </m:r>
                      </m:sub>
                    </m:sSub>
                    <m:r>
                      <m:rPr>
                        <m:sty m:val="p"/>
                      </m:rPr>
                      <a:rPr lang="en-US" i="0" dirty="0" smtClean="0">
                        <a:latin typeface="Cambria Math"/>
                      </a:rPr>
                      <m:t>g</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r>
                      <m:rPr>
                        <m:sty m:val="p"/>
                      </m:rPr>
                      <a:rPr lang="en-US" i="0" dirty="0" smtClean="0">
                        <a:latin typeface="Cambria Math"/>
                      </a:rPr>
                      <m:t>f</m:t>
                    </m:r>
                    <m:d>
                      <m:dPr>
                        <m:ctrlPr>
                          <a:rPr lang="en-US" i="1" dirty="0" smtClean="0">
                            <a:latin typeface="Cambria Math" panose="02040503050406030204" pitchFamily="18" charset="0"/>
                          </a:rPr>
                        </m:ctrlPr>
                      </m:dPr>
                      <m:e>
                        <m:r>
                          <a:rPr lang="en-US" i="1" dirty="0" smtClean="0">
                            <a:latin typeface="Cambria Math"/>
                          </a:rPr>
                          <m:t>𝑛</m:t>
                        </m:r>
                      </m:e>
                    </m:d>
                    <m:r>
                      <a:rPr lang="en-US" i="1" dirty="0" smtClean="0">
                        <a:latin typeface="Cambria Math"/>
                      </a:rPr>
                      <m:t>≤</m:t>
                    </m:r>
                    <m:sSub>
                      <m:sSubPr>
                        <m:ctrlPr>
                          <a:rPr lang="en-US" i="1" dirty="0" smtClean="0">
                            <a:latin typeface="Cambria Math" panose="02040503050406030204" pitchFamily="18" charset="0"/>
                          </a:rPr>
                        </m:ctrlPr>
                      </m:sSubPr>
                      <m:e>
                        <m:r>
                          <a:rPr lang="en-US" i="1" dirty="0" smtClean="0">
                            <a:latin typeface="Cambria Math"/>
                          </a:rPr>
                          <m:t>𝑘</m:t>
                        </m:r>
                      </m:e>
                      <m:sub>
                        <m:r>
                          <a:rPr lang="en-US" i="1" dirty="0" smtClean="0">
                            <a:latin typeface="Cambria Math"/>
                          </a:rPr>
                          <m:t>2</m:t>
                        </m:r>
                      </m:sub>
                    </m:sSub>
                    <m:r>
                      <m:rPr>
                        <m:sty m:val="p"/>
                      </m:rPr>
                      <a:rPr lang="en-US" i="0" dirty="0" smtClean="0">
                        <a:latin typeface="Cambria Math"/>
                      </a:rPr>
                      <m:t>g</m:t>
                    </m:r>
                    <m:r>
                      <a:rPr lang="en-US" i="1" dirty="0" smtClean="0">
                        <a:latin typeface="Cambria Math"/>
                      </a:rPr>
                      <m:t>(</m:t>
                    </m:r>
                    <m:r>
                      <a:rPr lang="en-US" i="1" dirty="0" smtClean="0">
                        <a:latin typeface="Cambria Math"/>
                      </a:rPr>
                      <m:t>𝑛</m:t>
                    </m:r>
                    <m:r>
                      <a:rPr lang="en-US" i="1" dirty="0" smtClean="0">
                        <a:latin typeface="Cambria Math"/>
                      </a:rPr>
                      <m:t>)</m:t>
                    </m:r>
                  </m:oMath>
                </a14:m>
                <a:endParaRPr lang="en-US" dirty="0"/>
              </a:p>
              <a:p>
                <a:pPr lvl="1"/>
                <a:endParaRPr lang="en-US" dirty="0"/>
              </a:p>
              <a:p>
                <a:r>
                  <a:rPr lang="en-US" dirty="0"/>
                  <a:t>Translation: </a:t>
                </a:r>
                <a14:m>
                  <m:oMath xmlns:m="http://schemas.openxmlformats.org/officeDocument/2006/math">
                    <m:r>
                      <m:rPr>
                        <m:sty m:val="p"/>
                      </m:rPr>
                      <a:rPr lang="en-US" i="0" dirty="0" smtClean="0">
                        <a:latin typeface="Cambria Math"/>
                      </a:rPr>
                      <m:t>f</m:t>
                    </m:r>
                  </m:oMath>
                </a14:m>
                <a:r>
                  <a:rPr lang="en-US" dirty="0"/>
                  <a:t> is </a:t>
                </a:r>
                <a:r>
                  <a:rPr lang="en-US" b="1" dirty="0">
                    <a:solidFill>
                      <a:schemeClr val="accent6">
                        <a:lumMod val="50000"/>
                      </a:schemeClr>
                    </a:solidFill>
                  </a:rPr>
                  <a:t>both</a:t>
                </a:r>
                <a:r>
                  <a:rPr lang="en-US" dirty="0">
                    <a:solidFill>
                      <a:schemeClr val="accent6">
                        <a:lumMod val="50000"/>
                      </a:schemeClr>
                    </a:solidFill>
                  </a:rPr>
                  <a:t> </a:t>
                </a:r>
                <a14:m>
                  <m:oMath xmlns:m="http://schemas.openxmlformats.org/officeDocument/2006/math">
                    <m:r>
                      <a:rPr lang="en-US" i="1" dirty="0" smtClean="0">
                        <a:latin typeface="Cambria Math"/>
                      </a:rPr>
                      <m:t>𝑂</m:t>
                    </m:r>
                    <m:r>
                      <a:rPr lang="en-US" i="1" dirty="0" smtClean="0">
                        <a:latin typeface="Cambria Math"/>
                      </a:rPr>
                      <m:t>(</m:t>
                    </m:r>
                    <m:r>
                      <m:rPr>
                        <m:sty m:val="p"/>
                      </m:rPr>
                      <a:rPr lang="en-US" i="0" dirty="0" smtClean="0">
                        <a:latin typeface="Cambria Math"/>
                      </a:rPr>
                      <m:t>g</m:t>
                    </m:r>
                    <m:r>
                      <a:rPr lang="en-US" i="1" dirty="0" smtClean="0">
                        <a:latin typeface="Cambria Math"/>
                      </a:rPr>
                      <m:t>)</m:t>
                    </m:r>
                  </m:oMath>
                </a14:m>
                <a:r>
                  <a:rPr lang="en-US" dirty="0"/>
                  <a:t> and </a:t>
                </a:r>
                <a14:m>
                  <m:oMath xmlns:m="http://schemas.openxmlformats.org/officeDocument/2006/math">
                    <m:r>
                      <m:rPr>
                        <m:sty m:val="p"/>
                      </m:rPr>
                      <a:rPr lang="en-US" i="1" dirty="0" smtClean="0">
                        <a:latin typeface="Cambria Math"/>
                      </a:rPr>
                      <m:t>Ω</m:t>
                    </m:r>
                    <m:r>
                      <a:rPr lang="en-US" i="1" dirty="0" smtClean="0">
                        <a:latin typeface="Cambria Math"/>
                      </a:rPr>
                      <m:t>(</m:t>
                    </m:r>
                    <m:r>
                      <m:rPr>
                        <m:sty m:val="p"/>
                      </m:rPr>
                      <a:rPr lang="en-US" i="0" dirty="0" smtClean="0">
                        <a:latin typeface="Cambria Math"/>
                      </a:rPr>
                      <m:t>g</m:t>
                    </m:r>
                    <m:r>
                      <a:rPr lang="en-US" i="1" dirty="0" smtClean="0">
                        <a:latin typeface="Cambria Math"/>
                      </a:rPr>
                      <m:t>)</m:t>
                    </m:r>
                  </m:oMath>
                </a14:m>
                <a:endParaRPr lang="en-US" i="1" dirty="0">
                  <a:latin typeface="Cambria Math"/>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2695" b="-404"/>
                </a:stretch>
              </a:blipFill>
            </p:spPr>
            <p:txBody>
              <a:bodyPr/>
              <a:lstStyle/>
              <a:p>
                <a:r>
                  <a:rPr lang="en-US">
                    <a:noFill/>
                  </a:rPr>
                  <a:t> </a:t>
                </a:r>
              </a:p>
            </p:txBody>
          </p:sp>
        </mc:Fallback>
      </mc:AlternateContent>
    </p:spTree>
    <p:extLst>
      <p:ext uri="{BB962C8B-B14F-4D97-AF65-F5344CB8AC3E}">
        <p14:creationId xmlns:p14="http://schemas.microsoft.com/office/powerpoint/2010/main" val="29697045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Optional reading</a:t>
            </a:r>
          </a:p>
        </p:txBody>
      </p:sp>
      <p:sp>
        <p:nvSpPr>
          <p:cNvPr id="3" name="Content Placeholder 2"/>
          <p:cNvSpPr>
            <a:spLocks noGrp="1"/>
          </p:cNvSpPr>
          <p:nvPr>
            <p:ph idx="1"/>
          </p:nvPr>
        </p:nvSpPr>
        <p:spPr/>
        <p:txBody>
          <a:bodyPr/>
          <a:lstStyle/>
          <a:p>
            <a:r>
              <a:rPr lang="en-US" i="1" dirty="0"/>
              <a:t>Introduction to Algorithms</a:t>
            </a:r>
            <a:r>
              <a:rPr lang="en-US" dirty="0"/>
              <a:t>, chapter 3 (“Growth of functions”)</a:t>
            </a:r>
          </a:p>
        </p:txBody>
      </p:sp>
    </p:spTree>
    <p:extLst>
      <p:ext uri="{BB962C8B-B14F-4D97-AF65-F5344CB8AC3E}">
        <p14:creationId xmlns:p14="http://schemas.microsoft.com/office/powerpoint/2010/main" val="3600798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5899</TotalTime>
  <Words>3037</Words>
  <Application>Microsoft Office PowerPoint</Application>
  <PresentationFormat>On-screen Show (4:3)</PresentationFormat>
  <Paragraphs>421</Paragraphs>
  <Slides>59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Arial</vt:lpstr>
      <vt:lpstr>Calibri</vt:lpstr>
      <vt:lpstr>Cambria Math</vt:lpstr>
      <vt:lpstr>Office Theme</vt:lpstr>
      <vt:lpstr>Lecture 1 Mathematical preliminaries</vt:lpstr>
      <vt:lpstr>Sets</vt:lpstr>
      <vt:lpstr>Sets</vt:lpstr>
      <vt:lpstr>Basic concepts</vt:lpstr>
      <vt:lpstr>Set comprehensions</vt:lpstr>
      <vt:lpstr>Theoretical aside: set comprehensions can cause problems</vt:lpstr>
      <vt:lpstr>Basic operations on sets</vt:lpstr>
      <vt:lpstr>Building sequences from sets</vt:lpstr>
      <vt:lpstr>Relations</vt:lpstr>
      <vt:lpstr>Relations as sets</vt:lpstr>
      <vt:lpstr>Special kinds of relations</vt:lpstr>
      <vt:lpstr>Properties of relations</vt:lpstr>
      <vt:lpstr>Generalizing relations</vt:lpstr>
      <vt:lpstr>Examples of partial orderings</vt:lpstr>
      <vt:lpstr>Equivalence relations</vt:lpstr>
      <vt:lpstr>PowerPoint Presentation</vt:lpstr>
      <vt:lpstr>Functions</vt:lpstr>
      <vt:lpstr>Functions</vt:lpstr>
      <vt:lpstr>Functions</vt:lpstr>
      <vt:lpstr>Graphs</vt:lpstr>
      <vt:lpstr>Graphs</vt:lpstr>
      <vt:lpstr>Graphs</vt:lpstr>
      <vt:lpstr>Subgraphs</vt:lpstr>
      <vt:lpstr>Subgraphs</vt:lpstr>
      <vt:lpstr>Subgraphs</vt:lpstr>
      <vt:lpstr>Subgraphs</vt:lpstr>
      <vt:lpstr>Adjacency</vt:lpstr>
      <vt:lpstr>Paths</vt:lpstr>
      <vt:lpstr>Connectivity</vt:lpstr>
      <vt:lpstr>Connected components</vt:lpstr>
      <vt:lpstr>Connected components</vt:lpstr>
      <vt:lpstr>Cycles</vt:lpstr>
      <vt:lpstr>Cycles</vt:lpstr>
      <vt:lpstr>Trees</vt:lpstr>
      <vt:lpstr>Rooted trees</vt:lpstr>
      <vt:lpstr>Rooted trees</vt:lpstr>
      <vt:lpstr>Children</vt:lpstr>
      <vt:lpstr>Children</vt:lpstr>
      <vt:lpstr>Parents and ancestors</vt:lpstr>
      <vt:lpstr>DAGs</vt:lpstr>
      <vt:lpstr>DAGs</vt:lpstr>
      <vt:lpstr>DAGs</vt:lpstr>
      <vt:lpstr>Asymptotic analysis</vt:lpstr>
      <vt:lpstr>Asymptotic analysis</vt:lpstr>
      <vt:lpstr>Asymptotic analysis</vt:lpstr>
      <vt:lpstr>Comparing powers of n (how do they match up?)</vt:lpstr>
      <vt:lpstr>Comparing polynomials (how do they match up?)</vt:lpstr>
      <vt:lpstr>What does this mean?</vt:lpstr>
      <vt:lpstr>What does this mean?</vt:lpstr>
      <vt:lpstr>What does this mean?</vt:lpstr>
      <vt:lpstr>Sometimes limits aren’t appropriate</vt:lpstr>
      <vt:lpstr>Sometimes limits aren’t appropriate</vt:lpstr>
      <vt:lpstr>The big O</vt:lpstr>
      <vt:lpstr>The big O</vt:lpstr>
      <vt:lpstr>Big O is essentially a partial order</vt:lpstr>
      <vt:lpstr>But we use big O as if it were an equivalence relation</vt:lpstr>
      <vt:lpstr>Big Omega</vt:lpstr>
      <vt:lpstr>Big Theta (nice, but harder to prove)</vt:lpstr>
      <vt:lpstr>Optional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Structures and Algorithms</dc:title>
  <dc:creator>Ian Horswill</dc:creator>
  <cp:lastModifiedBy>Ian Horswill</cp:lastModifiedBy>
  <cp:revision>243</cp:revision>
  <dcterms:created xsi:type="dcterms:W3CDTF">2010-03-27T22:31:10Z</dcterms:created>
  <dcterms:modified xsi:type="dcterms:W3CDTF">2019-03-31T22:17:18Z</dcterms:modified>
</cp:coreProperties>
</file>