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309" r:id="rId3"/>
    <p:sldId id="257" r:id="rId4"/>
    <p:sldId id="306" r:id="rId5"/>
    <p:sldId id="307" r:id="rId6"/>
    <p:sldId id="259" r:id="rId7"/>
    <p:sldId id="260" r:id="rId8"/>
    <p:sldId id="261" r:id="rId9"/>
    <p:sldId id="262" r:id="rId10"/>
    <p:sldId id="263" r:id="rId11"/>
    <p:sldId id="264" r:id="rId12"/>
    <p:sldId id="258" r:id="rId13"/>
    <p:sldId id="280" r:id="rId14"/>
    <p:sldId id="265" r:id="rId15"/>
    <p:sldId id="266" r:id="rId16"/>
    <p:sldId id="267" r:id="rId17"/>
    <p:sldId id="268" r:id="rId18"/>
    <p:sldId id="269" r:id="rId19"/>
    <p:sldId id="271" r:id="rId20"/>
    <p:sldId id="272" r:id="rId21"/>
    <p:sldId id="278" r:id="rId22"/>
    <p:sldId id="273" r:id="rId23"/>
    <p:sldId id="274" r:id="rId24"/>
    <p:sldId id="276" r:id="rId25"/>
    <p:sldId id="275" r:id="rId26"/>
    <p:sldId id="277" r:id="rId27"/>
    <p:sldId id="279" r:id="rId28"/>
    <p:sldId id="281" r:id="rId29"/>
    <p:sldId id="282" r:id="rId30"/>
    <p:sldId id="283" r:id="rId31"/>
    <p:sldId id="284" r:id="rId32"/>
    <p:sldId id="308" r:id="rId33"/>
    <p:sldId id="287" r:id="rId34"/>
    <p:sldId id="285" r:id="rId35"/>
    <p:sldId id="310" r:id="rId36"/>
    <p:sldId id="311" r:id="rId37"/>
    <p:sldId id="286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12" r:id="rId50"/>
    <p:sldId id="301" r:id="rId51"/>
    <p:sldId id="299" r:id="rId52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98" d="100"/>
          <a:sy n="98" d="100"/>
        </p:scale>
        <p:origin x="57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4/22/2019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4/22/2019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4/22/2019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4/22/2019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Lecture 7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Binary search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Representing collections of objects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We’ve been looking at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collection classes</a:t>
                </a:r>
              </a:p>
              <a:p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Store </a:t>
                </a:r>
                <a:r>
                  <a:rPr lang="en-US" dirty="0"/>
                  <a:t>a bunch of objects</a:t>
                </a:r>
              </a:p>
              <a:p>
                <a:r>
                  <a:rPr lang="en-US" dirty="0"/>
                  <a:t>Different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flavors </a:t>
                </a:r>
                <a:r>
                  <a:rPr lang="en-US" dirty="0"/>
                  <a:t>support</a:t>
                </a:r>
              </a:p>
              <a:p>
                <a:pPr lvl="1"/>
                <a:r>
                  <a:rPr lang="en-US" dirty="0"/>
                  <a:t>Different kinds of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operations</a:t>
                </a:r>
              </a:p>
              <a:p>
                <a:pPr lvl="1"/>
                <a:r>
                  <a:rPr lang="en-US" dirty="0"/>
                  <a:t>With different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performance </a:t>
                </a:r>
                <a:r>
                  <a:rPr lang="en-US" dirty="0"/>
                  <a:t>trade-offs</a:t>
                </a:r>
              </a:p>
              <a:p>
                <a:endParaRPr lang="en-US" dirty="0"/>
              </a:p>
              <a:p>
                <a:r>
                  <a:rPr lang="en-US" dirty="0"/>
                  <a:t>Notice these are all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bad at searching</a:t>
                </a:r>
                <a:endParaRPr lang="en-US" dirty="0"/>
              </a:p>
              <a:p>
                <a:pPr lvl="1"/>
                <a:r>
                  <a:rPr lang="en-US" dirty="0"/>
                  <a:t>All take </a:t>
                </a:r>
              </a:p>
              <a:p>
                <a:pPr lvl="1"/>
                <a:r>
                  <a:rPr lang="en-US" dirty="0"/>
                  <a:t>Or don’t support it al all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Can we do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better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508"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Dynamic arrays</a:t>
                </a:r>
              </a:p>
              <a:p>
                <a:pPr lvl="1"/>
                <a:r>
                  <a:rPr lang="en-US" dirty="0"/>
                  <a:t>Get element at position: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and remove: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b="0" dirty="0"/>
                  <a:t> amortized time if implemented with doubling</a:t>
                </a:r>
              </a:p>
              <a:p>
                <a:pPr lvl="1"/>
                <a:r>
                  <a:rPr lang="en-US" dirty="0"/>
                  <a:t>Search for an element: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Linked lists</a:t>
                </a:r>
              </a:p>
              <a:p>
                <a:pPr lvl="1"/>
                <a:r>
                  <a:rPr lang="en-US" dirty="0"/>
                  <a:t>Get element at position: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and remove from beginning: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and remove from position specified by index: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Search for an element: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Stacks and queues</a:t>
                </a:r>
              </a:p>
              <a:p>
                <a:pPr lvl="1"/>
                <a:r>
                  <a:rPr lang="en-US" dirty="0"/>
                  <a:t>Add/remove element: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If implemented with array and array can be expanded dynamically,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/>
                  <a:t> amortized time (see lecture 17)</a:t>
                </a:r>
              </a:p>
              <a:p>
                <a:pPr lvl="1"/>
                <a:r>
                  <a:rPr lang="en-US" dirty="0"/>
                  <a:t>No other operations supported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057" t="-1887" r="-1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047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case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Fixed branching factor </a:t>
            </a:r>
            <a:r>
              <a:rPr lang="en-US" dirty="0"/>
              <a:t>of 2</a:t>
            </a:r>
          </a:p>
          <a:p>
            <a:pPr lvl="1"/>
            <a:r>
              <a:rPr lang="en-US" dirty="0"/>
              <a:t>Every node has at most 2 children</a:t>
            </a:r>
          </a:p>
          <a:p>
            <a:pPr lvl="1"/>
            <a:r>
              <a:rPr lang="en-US" dirty="0"/>
              <a:t>Referred to as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child 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right </a:t>
            </a:r>
            <a:r>
              <a:rPr lang="en-US" dirty="0"/>
              <a:t>child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79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Inorder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084711" y="4876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602106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5246511" y="59879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474956" y="5267045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636756" y="5267045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92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5"/>
            <a:endCxn id="5" idx="1"/>
          </p:cNvCxnSpPr>
          <p:nvPr/>
        </p:nvCxnSpPr>
        <p:spPr>
          <a:xfrm>
            <a:off x="5419445" y="1914245"/>
            <a:ext cx="732221" cy="73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474956" y="4059913"/>
            <a:ext cx="743510" cy="883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3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Inorder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1 3 2 6 5 7 4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084711" y="4876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602106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5246511" y="59879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474956" y="5267045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636756" y="5267045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92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5"/>
            <a:endCxn id="5" idx="1"/>
          </p:cNvCxnSpPr>
          <p:nvPr/>
        </p:nvCxnSpPr>
        <p:spPr>
          <a:xfrm>
            <a:off x="5419445" y="1914245"/>
            <a:ext cx="732221" cy="73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474956" y="4059913"/>
            <a:ext cx="743510" cy="883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10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b="1" dirty="0"/>
              <a:t>search </a:t>
            </a:r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8955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Binary tree</a:t>
            </a:r>
          </a:p>
          <a:p>
            <a:r>
              <a:rPr lang="en-US" dirty="0"/>
              <a:t>Each node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labeled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with a value</a:t>
            </a:r>
          </a:p>
          <a:p>
            <a:pPr lvl="1"/>
            <a:r>
              <a:rPr lang="en-US" dirty="0"/>
              <a:t>Number, string, or some other set that has a total order on it</a:t>
            </a:r>
          </a:p>
          <a:p>
            <a:pPr lvl="1"/>
            <a:endParaRPr lang="en-US" dirty="0"/>
          </a:p>
          <a:p>
            <a:r>
              <a:rPr lang="en-US" dirty="0"/>
              <a:t>Has the magic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search tree property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0" name="Straight Arrow Connector 19"/>
          <p:cNvCxnSpPr>
            <a:stCxn id="15" idx="5"/>
            <a:endCxn id="19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95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b="1" dirty="0"/>
              <a:t>search </a:t>
            </a:r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319115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Binary tree</a:t>
            </a:r>
          </a:p>
          <a:p>
            <a:r>
              <a:rPr lang="en-US" dirty="0"/>
              <a:t>Each node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labeled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a value</a:t>
            </a:r>
          </a:p>
          <a:p>
            <a:pPr lvl="1"/>
            <a:r>
              <a:rPr lang="en-US" dirty="0"/>
              <a:t>Number, string, or some other set that has a total order on it</a:t>
            </a:r>
          </a:p>
          <a:p>
            <a:pPr lvl="1"/>
            <a:endParaRPr lang="en-US" dirty="0"/>
          </a:p>
          <a:p>
            <a:r>
              <a:rPr lang="en-US" dirty="0"/>
              <a:t>Has the magic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search tree property</a:t>
            </a:r>
          </a:p>
          <a:p>
            <a:pPr lvl="1"/>
            <a:r>
              <a:rPr lang="en-US" dirty="0"/>
              <a:t>For any node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0" name="Straight Arrow Connector 19"/>
          <p:cNvCxnSpPr>
            <a:stCxn id="15" idx="5"/>
            <a:endCxn id="19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86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b="1" dirty="0"/>
              <a:t>search </a:t>
            </a:r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3962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Binary tree</a:t>
            </a:r>
          </a:p>
          <a:p>
            <a:r>
              <a:rPr lang="en-US" dirty="0"/>
              <a:t>Each node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labeled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a value</a:t>
            </a:r>
          </a:p>
          <a:p>
            <a:pPr lvl="1"/>
            <a:r>
              <a:rPr lang="en-US" dirty="0"/>
              <a:t>Number, string, or some other set that has a total order on it</a:t>
            </a:r>
          </a:p>
          <a:p>
            <a:pPr lvl="1"/>
            <a:endParaRPr lang="en-US" dirty="0"/>
          </a:p>
          <a:p>
            <a:r>
              <a:rPr lang="en-US" dirty="0"/>
              <a:t>Has the magic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search tree property</a:t>
            </a:r>
          </a:p>
          <a:p>
            <a:pPr lvl="1"/>
            <a:r>
              <a:rPr lang="en-US" dirty="0"/>
              <a:t>For any node</a:t>
            </a:r>
          </a:p>
          <a:p>
            <a:pPr lvl="2"/>
            <a:r>
              <a:rPr lang="en-US" dirty="0"/>
              <a:t>All the nodes in the left subtree have labels </a:t>
            </a:r>
            <a:r>
              <a:rPr lang="en-US" dirty="0">
                <a:sym typeface="Symbol"/>
              </a:rPr>
              <a:t> to its label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0" name="Straight Arrow Connector 19"/>
          <p:cNvCxnSpPr>
            <a:stCxn id="15" idx="5"/>
            <a:endCxn id="19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8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b="1" dirty="0"/>
              <a:t>search </a:t>
            </a:r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Binary tree</a:t>
            </a:r>
          </a:p>
          <a:p>
            <a:r>
              <a:rPr lang="en-US" dirty="0"/>
              <a:t>Each node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labeled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a value</a:t>
            </a:r>
          </a:p>
          <a:p>
            <a:pPr lvl="1"/>
            <a:r>
              <a:rPr lang="en-US" dirty="0"/>
              <a:t>Number, string, or some other set that has a total order on it</a:t>
            </a:r>
          </a:p>
          <a:p>
            <a:pPr lvl="1"/>
            <a:endParaRPr lang="en-US" dirty="0"/>
          </a:p>
          <a:p>
            <a:r>
              <a:rPr lang="en-US" dirty="0"/>
              <a:t>Has the magic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search tree property</a:t>
            </a:r>
          </a:p>
          <a:p>
            <a:pPr lvl="1"/>
            <a:r>
              <a:rPr lang="en-US" dirty="0"/>
              <a:t>For any node</a:t>
            </a:r>
          </a:p>
          <a:p>
            <a:pPr lvl="2"/>
            <a:r>
              <a:rPr lang="en-US" dirty="0"/>
              <a:t>All the nodes in the left subtree have labels </a:t>
            </a:r>
            <a:r>
              <a:rPr lang="en-US" dirty="0">
                <a:sym typeface="Symbol"/>
              </a:rPr>
              <a:t> to its label</a:t>
            </a:r>
          </a:p>
          <a:p>
            <a:pPr lvl="2"/>
            <a:r>
              <a:rPr lang="en-US" dirty="0"/>
              <a:t>All the nodes in the right subtree have labels </a:t>
            </a:r>
            <a:r>
              <a:rPr lang="en-US" dirty="0">
                <a:sym typeface="Symbol"/>
              </a:rPr>
              <a:t> to its label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0" name="Straight Arrow Connector 19"/>
          <p:cNvCxnSpPr>
            <a:stCxn id="15" idx="5"/>
            <a:endCxn id="19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29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in-order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traversal of a binary search tree prints the nodes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sorted order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0" name="Straight Arrow Connector 19"/>
          <p:cNvCxnSpPr>
            <a:stCxn id="15" idx="5"/>
            <a:endCxn id="19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72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ym typeface="Symbol"/>
              </a:rPr>
              <a:t>Proof </a:t>
            </a:r>
            <a:r>
              <a:rPr lang="en-US" sz="2300" dirty="0">
                <a:sym typeface="Symbol"/>
              </a:rPr>
              <a:t>(by </a:t>
            </a: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induction</a:t>
            </a:r>
            <a:r>
              <a:rPr lang="en-US" sz="2300" dirty="0">
                <a:sym typeface="Symbol"/>
              </a:rPr>
              <a:t>)</a:t>
            </a:r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Trivially true for trees of depth 1</a:t>
            </a:r>
          </a:p>
          <a:p>
            <a:r>
              <a:rPr lang="en-US" dirty="0">
                <a:sym typeface="Symbol"/>
              </a:rPr>
              <a:t>Assume it’s true for trees of depth n (for some n)</a:t>
            </a:r>
          </a:p>
          <a:p>
            <a:r>
              <a:rPr lang="en-US" dirty="0">
                <a:sym typeface="Symbol"/>
              </a:rPr>
              <a:t>Consider a tree of depth n+1</a:t>
            </a:r>
          </a:p>
          <a:p>
            <a:pPr lvl="1"/>
            <a:r>
              <a:rPr lang="en-US" dirty="0">
                <a:sym typeface="Symbol"/>
              </a:rPr>
              <a:t>A traversal of the tree will print:</a:t>
            </a:r>
          </a:p>
          <a:p>
            <a:pPr lvl="2"/>
            <a:r>
              <a:rPr lang="en-US" dirty="0">
                <a:sym typeface="Symbol"/>
              </a:rPr>
              <a:t>An in-order traversal of the left subtree</a:t>
            </a:r>
          </a:p>
          <a:p>
            <a:pPr lvl="2"/>
            <a:r>
              <a:rPr lang="en-US" dirty="0">
                <a:sym typeface="Symbol"/>
              </a:rPr>
              <a:t>The root</a:t>
            </a:r>
          </a:p>
          <a:p>
            <a:pPr lvl="2"/>
            <a:r>
              <a:rPr lang="en-US" dirty="0">
                <a:sym typeface="Symbol"/>
              </a:rPr>
              <a:t>An in-order traversal of the right subtree</a:t>
            </a:r>
          </a:p>
          <a:p>
            <a:pPr lvl="1"/>
            <a:r>
              <a:rPr lang="en-US" dirty="0">
                <a:sym typeface="Symbol"/>
              </a:rPr>
              <a:t>By assumption, the </a:t>
            </a:r>
            <a:r>
              <a:rPr lang="en-US" dirty="0" err="1">
                <a:sym typeface="Symbol"/>
              </a:rPr>
              <a:t>subtrees</a:t>
            </a:r>
            <a:r>
              <a:rPr lang="en-US" dirty="0">
                <a:sym typeface="Symbol"/>
              </a:rPr>
              <a:t> are printed in sorted order</a:t>
            </a:r>
          </a:p>
          <a:p>
            <a:pPr lvl="1"/>
            <a:r>
              <a:rPr lang="en-US" dirty="0">
                <a:sym typeface="Symbol"/>
              </a:rPr>
              <a:t>And the root is</a:t>
            </a:r>
          </a:p>
          <a:p>
            <a:pPr lvl="2"/>
            <a:r>
              <a:rPr lang="en-US" dirty="0">
                <a:sym typeface="Symbol"/>
              </a:rPr>
              <a:t> anything on the left</a:t>
            </a:r>
          </a:p>
          <a:p>
            <a:pPr lvl="2"/>
            <a:r>
              <a:rPr lang="en-US" dirty="0">
                <a:sym typeface="Symbol"/>
              </a:rPr>
              <a:t> any on the right</a:t>
            </a:r>
          </a:p>
          <a:p>
            <a:pPr lvl="1"/>
            <a:r>
              <a:rPr lang="en-US" dirty="0">
                <a:sym typeface="Symbol"/>
              </a:rPr>
              <a:t>So the whole thing is sorted</a:t>
            </a:r>
          </a:p>
          <a:p>
            <a:r>
              <a:rPr lang="en-US" dirty="0">
                <a:sym typeface="Symbol"/>
              </a:rPr>
              <a:t>So the proposition holds for a tree of any depth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0" name="Straight Arrow Connector 19"/>
          <p:cNvCxnSpPr>
            <a:stCxn id="15" idx="5"/>
            <a:endCxn id="19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5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Representing binary search 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key;</a:t>
            </a:r>
            <a:br>
              <a:rPr lang="en-US" dirty="0"/>
            </a:br>
            <a:r>
              <a:rPr lang="en-US" dirty="0"/>
              <a:t>   BST parent;</a:t>
            </a:r>
          </a:p>
          <a:p>
            <a:pPr marL="0" indent="0">
              <a:buNone/>
            </a:pPr>
            <a:r>
              <a:rPr lang="en-US" dirty="0"/>
              <a:t>   BST left;</a:t>
            </a:r>
            <a:br>
              <a:rPr lang="en-US" dirty="0"/>
            </a:br>
            <a:r>
              <a:rPr lang="en-US" dirty="0"/>
              <a:t>   BST right;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public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BST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k) {</a:t>
            </a:r>
            <a:br>
              <a:rPr lang="en-US" dirty="0"/>
            </a:br>
            <a:r>
              <a:rPr lang="en-US" dirty="0"/>
              <a:t>      key = k;</a:t>
            </a:r>
          </a:p>
          <a:p>
            <a:pPr marL="0" indent="0">
              <a:buNone/>
            </a:pPr>
            <a:r>
              <a:rPr lang="en-US" dirty="0"/>
              <a:t>      // other fields null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Straight Arrow Connector 26"/>
          <p:cNvCxnSpPr>
            <a:stCxn id="21" idx="5"/>
            <a:endCxn id="25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7"/>
            <a:endCxn id="21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7"/>
            <a:endCxn id="19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5"/>
            <a:endCxn id="24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2" name="Straight Connector 31"/>
          <p:cNvCxnSpPr>
            <a:stCxn id="31" idx="3"/>
            <a:endCxn id="19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4" idx="3"/>
            <a:endCxn id="21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35" name="Straight Arrow Connector 34"/>
          <p:cNvCxnSpPr>
            <a:stCxn id="24" idx="5"/>
            <a:endCxn id="34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7" name="Straight Arrow Connector 36"/>
          <p:cNvCxnSpPr>
            <a:stCxn id="31" idx="5"/>
            <a:endCxn id="36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965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 search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27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Searching a binary search tree</a:t>
            </a:r>
            <a:br>
              <a:rPr lang="en-US" sz="3600" dirty="0"/>
            </a:br>
            <a:r>
              <a:rPr lang="en-US" sz="2200" dirty="0"/>
              <a:t>(</a:t>
            </a:r>
            <a:r>
              <a:rPr lang="en-US" sz="2200" dirty="0" err="1"/>
              <a:t>pseudocode</a:t>
            </a:r>
            <a:r>
              <a:rPr lang="en-US" sz="2200" dirty="0"/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// Search tree starting at node</a:t>
            </a:r>
          </a:p>
          <a:p>
            <a:pPr marL="0" indent="0">
              <a:buNone/>
            </a:pPr>
            <a:r>
              <a:rPr lang="en-US" dirty="0"/>
              <a:t>// Return node containing key k</a:t>
            </a:r>
          </a:p>
          <a:p>
            <a:pPr marL="0" indent="0">
              <a:buNone/>
            </a:pPr>
            <a:r>
              <a:rPr lang="en-US" dirty="0"/>
              <a:t>// Or null if k missing from tree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n-US" dirty="0"/>
              <a:t>(node,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node == null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// Failure: not in tree</a:t>
            </a:r>
          </a:p>
          <a:p>
            <a:pPr marL="0" indent="0">
              <a:buNone/>
            </a:pPr>
            <a:r>
              <a:rPr lang="en-US" dirty="0"/>
              <a:t>       return null;</a:t>
            </a:r>
          </a:p>
          <a:p>
            <a:pPr marL="0" indent="0">
              <a:buNone/>
            </a:pPr>
            <a:r>
              <a:rPr lang="en-US" dirty="0"/>
              <a:t>    else if 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k ==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// Success: found it</a:t>
            </a:r>
          </a:p>
          <a:p>
            <a:pPr marL="0" indent="0">
              <a:buNone/>
            </a:pPr>
            <a:r>
              <a:rPr lang="en-US" dirty="0"/>
              <a:t>       return node;</a:t>
            </a:r>
          </a:p>
          <a:p>
            <a:pPr marL="0" indent="0">
              <a:buNone/>
            </a:pPr>
            <a:r>
              <a:rPr lang="en-US" dirty="0"/>
              <a:t>    else if (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k &lt;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Search(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node.left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k);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Search(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k);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/>
              <a:t>}</a:t>
            </a:r>
          </a:p>
        </p:txBody>
      </p:sp>
      <p:sp>
        <p:nvSpPr>
          <p:cNvPr id="19" name="Oval 18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Straight Arrow Connector 26"/>
          <p:cNvCxnSpPr>
            <a:stCxn id="21" idx="5"/>
            <a:endCxn id="25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7"/>
            <a:endCxn id="21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7"/>
            <a:endCxn id="19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5"/>
            <a:endCxn id="24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2" name="Straight Connector 31"/>
          <p:cNvCxnSpPr>
            <a:stCxn id="31" idx="3"/>
            <a:endCxn id="19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4" idx="3"/>
            <a:endCxn id="21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35" name="Straight Arrow Connector 34"/>
          <p:cNvCxnSpPr>
            <a:stCxn id="24" idx="5"/>
            <a:endCxn id="34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7" name="Straight Arrow Connector 36"/>
          <p:cNvCxnSpPr>
            <a:stCxn id="31" idx="5"/>
            <a:endCxn id="36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75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111 review:</a:t>
            </a:r>
            <a:br>
              <a:rPr lang="en-US" sz="3600" dirty="0"/>
            </a:br>
            <a:r>
              <a:rPr lang="en-US" sz="3600" dirty="0"/>
              <a:t>What do we call this kind of recursion?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n-US" dirty="0"/>
              <a:t>(node,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if (node == null)</a:t>
            </a:r>
          </a:p>
          <a:p>
            <a:pPr marL="0" indent="0">
              <a:buNone/>
            </a:pPr>
            <a:r>
              <a:rPr lang="en-US" dirty="0"/>
              <a:t>       // Failure: not in tree</a:t>
            </a:r>
          </a:p>
          <a:p>
            <a:pPr marL="0" indent="0">
              <a:buNone/>
            </a:pPr>
            <a:r>
              <a:rPr lang="en-US" dirty="0"/>
              <a:t>       return null;</a:t>
            </a:r>
          </a:p>
          <a:p>
            <a:pPr marL="0" indent="0">
              <a:buNone/>
            </a:pPr>
            <a:r>
              <a:rPr lang="en-US" dirty="0"/>
              <a:t>    else if (k ==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// Success: found it</a:t>
            </a:r>
          </a:p>
          <a:p>
            <a:pPr marL="0" indent="0">
              <a:buNone/>
            </a:pPr>
            <a:r>
              <a:rPr lang="en-US" dirty="0"/>
              <a:t>       return node;</a:t>
            </a:r>
          </a:p>
          <a:p>
            <a:pPr marL="0" indent="0">
              <a:buNone/>
            </a:pPr>
            <a:r>
              <a:rPr lang="en-US" dirty="0"/>
              <a:t>    else if (k &lt;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Search(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node.left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k);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Search(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k);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9" name="Oval 18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Straight Arrow Connector 26"/>
          <p:cNvCxnSpPr>
            <a:stCxn id="21" idx="5"/>
            <a:endCxn id="25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7"/>
            <a:endCxn id="21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7"/>
            <a:endCxn id="19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5"/>
            <a:endCxn id="24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2" name="Straight Connector 31"/>
          <p:cNvCxnSpPr>
            <a:stCxn id="31" idx="3"/>
            <a:endCxn id="19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4" idx="3"/>
            <a:endCxn id="21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35" name="Straight Arrow Connector 34"/>
          <p:cNvCxnSpPr>
            <a:stCxn id="24" idx="5"/>
            <a:endCxn id="34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7" name="Straight Arrow Connector 36"/>
          <p:cNvCxnSpPr>
            <a:stCxn id="31" idx="5"/>
            <a:endCxn id="36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96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Iterative recursion (aka tail recursion)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Tail recursions are where all the recursive calls are of the form “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return Search(…)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All the procedure will do when it gets the result</a:t>
            </a:r>
          </a:p>
          <a:p>
            <a:pPr lvl="1"/>
            <a:r>
              <a:rPr lang="en-US" dirty="0"/>
              <a:t>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forward it on </a:t>
            </a:r>
            <a:r>
              <a:rPr lang="en-US" dirty="0"/>
              <a:t>to its caller</a:t>
            </a:r>
          </a:p>
          <a:p>
            <a:pPr lvl="1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n-US" dirty="0"/>
              <a:t>(node,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if (node == null)</a:t>
            </a:r>
          </a:p>
          <a:p>
            <a:pPr marL="0" indent="0">
              <a:buNone/>
            </a:pPr>
            <a:r>
              <a:rPr lang="en-US" dirty="0"/>
              <a:t>       // Failure: not in tree</a:t>
            </a:r>
          </a:p>
          <a:p>
            <a:pPr marL="0" indent="0">
              <a:buNone/>
            </a:pPr>
            <a:r>
              <a:rPr lang="en-US" dirty="0"/>
              <a:t>       return null;</a:t>
            </a:r>
          </a:p>
          <a:p>
            <a:pPr marL="0" indent="0">
              <a:buNone/>
            </a:pPr>
            <a:r>
              <a:rPr lang="en-US" dirty="0"/>
              <a:t>    else if (k ==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// Success: found it</a:t>
            </a:r>
          </a:p>
          <a:p>
            <a:pPr marL="0" indent="0">
              <a:buNone/>
            </a:pPr>
            <a:r>
              <a:rPr lang="en-US" dirty="0"/>
              <a:t>       return node;</a:t>
            </a:r>
          </a:p>
          <a:p>
            <a:pPr marL="0" indent="0">
              <a:buNone/>
            </a:pPr>
            <a:r>
              <a:rPr lang="en-US" dirty="0"/>
              <a:t>    else if (k &lt;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Search(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node.left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k);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Search(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k);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5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Tail recursion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Tail recursions are where all the recursive calls are of the form “return Search()”</a:t>
            </a:r>
          </a:p>
          <a:p>
            <a:pPr lvl="1"/>
            <a:r>
              <a:rPr lang="en-US" dirty="0"/>
              <a:t>All the procedure will do when it gets the result</a:t>
            </a:r>
          </a:p>
          <a:p>
            <a:pPr lvl="1"/>
            <a:r>
              <a:rPr lang="en-US" dirty="0"/>
              <a:t>Is forward it on to its caller</a:t>
            </a:r>
          </a:p>
          <a:p>
            <a:pPr lvl="1"/>
            <a:endParaRPr lang="en-US" dirty="0"/>
          </a:p>
          <a:p>
            <a:r>
              <a:rPr lang="en-US" dirty="0"/>
              <a:t>Tail-call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optimization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Don’t bother </a:t>
            </a:r>
            <a:r>
              <a:rPr lang="en-US" dirty="0"/>
              <a:t>making a new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stack frame </a:t>
            </a:r>
            <a:r>
              <a:rPr lang="en-US" dirty="0"/>
              <a:t>for the new call</a:t>
            </a:r>
          </a:p>
          <a:p>
            <a:pPr lvl="1"/>
            <a:r>
              <a:rPr lang="en-US" dirty="0"/>
              <a:t>Just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reuse </a:t>
            </a:r>
            <a:r>
              <a:rPr lang="en-US" dirty="0"/>
              <a:t>the existing stack frame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jump back </a:t>
            </a:r>
            <a:r>
              <a:rPr lang="en-US" dirty="0"/>
              <a:t>to the beginning of the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Search</a:t>
            </a:r>
            <a:r>
              <a:rPr lang="en-US" dirty="0"/>
              <a:t>(node,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if (node == null)</a:t>
            </a:r>
          </a:p>
          <a:p>
            <a:pPr marL="0" indent="0">
              <a:buNone/>
            </a:pPr>
            <a:r>
              <a:rPr lang="en-US" dirty="0"/>
              <a:t>       // Failure: not in tree</a:t>
            </a:r>
          </a:p>
          <a:p>
            <a:pPr marL="0" indent="0">
              <a:buNone/>
            </a:pPr>
            <a:r>
              <a:rPr lang="en-US" dirty="0"/>
              <a:t>       return null;</a:t>
            </a:r>
          </a:p>
          <a:p>
            <a:pPr marL="0" indent="0">
              <a:buNone/>
            </a:pPr>
            <a:r>
              <a:rPr lang="en-US" dirty="0"/>
              <a:t>    else if (k ==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// Success: found it</a:t>
            </a:r>
          </a:p>
          <a:p>
            <a:pPr marL="0" indent="0">
              <a:buNone/>
            </a:pPr>
            <a:r>
              <a:rPr lang="en-US" dirty="0"/>
              <a:t>       return node;</a:t>
            </a:r>
          </a:p>
          <a:p>
            <a:pPr marL="0" indent="0">
              <a:buNone/>
            </a:pPr>
            <a:r>
              <a:rPr lang="en-US" dirty="0"/>
              <a:t>    else if (k &lt;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{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node = </a:t>
            </a:r>
            <a:r>
              <a:rPr lang="en-US" sz="2600" b="1" dirty="0" err="1">
                <a:solidFill>
                  <a:schemeClr val="accent6">
                    <a:lumMod val="75000"/>
                  </a:schemeClr>
                </a:solidFill>
              </a:rPr>
              <a:t>node.left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  <a:r>
              <a:rPr lang="en-US" sz="2600" b="1" dirty="0" err="1">
                <a:solidFill>
                  <a:schemeClr val="accent6">
                    <a:lumMod val="75000"/>
                  </a:schemeClr>
                </a:solidFill>
              </a:rPr>
              <a:t>goto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 start;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{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node = </a:t>
            </a:r>
            <a:r>
              <a:rPr lang="en-US" sz="2600" b="1" dirty="0" err="1">
                <a:solidFill>
                  <a:schemeClr val="accent6">
                    <a:lumMod val="75000"/>
                  </a:schemeClr>
                </a:solidFill>
              </a:rPr>
              <a:t>node.right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  <a:r>
              <a:rPr lang="en-US" sz="2600" b="1" dirty="0" err="1">
                <a:solidFill>
                  <a:schemeClr val="accent6">
                    <a:lumMod val="75000"/>
                  </a:schemeClr>
                </a:solidFill>
              </a:rPr>
              <a:t>goto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 start;</a:t>
            </a:r>
            <a:r>
              <a:rPr lang="en-US" dirty="0"/>
              <a:t>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581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Tail recursion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But of course, </a:t>
            </a:r>
            <a:r>
              <a:rPr lang="en-US" b="1" dirty="0" err="1">
                <a:solidFill>
                  <a:srgbClr val="FF0000"/>
                </a:solidFill>
              </a:rPr>
              <a:t>goto</a:t>
            </a:r>
            <a:r>
              <a:rPr lang="en-US" b="1" dirty="0">
                <a:solidFill>
                  <a:srgbClr val="FF0000"/>
                </a:solidFill>
              </a:rPr>
              <a:t> is evil</a:t>
            </a:r>
          </a:p>
          <a:p>
            <a:pPr lvl="1"/>
            <a:r>
              <a:rPr lang="en-US" dirty="0"/>
              <a:t>Makes code hard to read</a:t>
            </a:r>
          </a:p>
          <a:p>
            <a:pPr lvl="1"/>
            <a:r>
              <a:rPr lang="en-US" dirty="0"/>
              <a:t>Hard to maintain</a:t>
            </a:r>
          </a:p>
          <a:p>
            <a:pPr lvl="1"/>
            <a:r>
              <a:rPr lang="en-US" dirty="0"/>
              <a:t>Your coworkers will put not be pleased with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Search</a:t>
            </a:r>
            <a:r>
              <a:rPr lang="en-US" dirty="0"/>
              <a:t>(node,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if (node == null)</a:t>
            </a:r>
          </a:p>
          <a:p>
            <a:pPr marL="0" indent="0">
              <a:buNone/>
            </a:pPr>
            <a:r>
              <a:rPr lang="en-US" dirty="0"/>
              <a:t>       // Failure: not in tree</a:t>
            </a:r>
          </a:p>
          <a:p>
            <a:pPr marL="0" indent="0">
              <a:buNone/>
            </a:pPr>
            <a:r>
              <a:rPr lang="en-US" dirty="0"/>
              <a:t>       return null;</a:t>
            </a:r>
          </a:p>
          <a:p>
            <a:pPr marL="0" indent="0">
              <a:buNone/>
            </a:pPr>
            <a:r>
              <a:rPr lang="en-US" dirty="0"/>
              <a:t>    else if (k ==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// Success: found it</a:t>
            </a:r>
          </a:p>
          <a:p>
            <a:pPr marL="0" indent="0">
              <a:buNone/>
            </a:pPr>
            <a:r>
              <a:rPr lang="en-US" dirty="0"/>
              <a:t>       return node;</a:t>
            </a:r>
          </a:p>
          <a:p>
            <a:pPr marL="0" indent="0">
              <a:buNone/>
            </a:pPr>
            <a:r>
              <a:rPr lang="en-US" dirty="0"/>
              <a:t>    else if (k &lt;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{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node.left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  <a:r>
              <a:rPr lang="en-US" b="1" dirty="0" err="1">
                <a:solidFill>
                  <a:srgbClr val="FF0000"/>
                </a:solidFill>
              </a:rPr>
              <a:t>goto</a:t>
            </a:r>
            <a:r>
              <a:rPr lang="en-US" b="1" dirty="0">
                <a:solidFill>
                  <a:srgbClr val="FF0000"/>
                </a:solidFill>
              </a:rPr>
              <a:t> start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{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node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node.right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  <a:r>
              <a:rPr lang="en-US" b="1" dirty="0" err="1">
                <a:solidFill>
                  <a:srgbClr val="FF0000"/>
                </a:solidFill>
              </a:rPr>
              <a:t>goto</a:t>
            </a:r>
            <a:r>
              <a:rPr lang="en-US" b="1" dirty="0">
                <a:solidFill>
                  <a:srgbClr val="FF0000"/>
                </a:solidFill>
              </a:rPr>
              <a:t> start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  <a:r>
              <a:rPr lang="en-US" dirty="0"/>
              <a:t>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516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Tail recursion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But of course, </a:t>
            </a:r>
            <a:r>
              <a:rPr lang="en-US" dirty="0" err="1"/>
              <a:t>goto</a:t>
            </a:r>
            <a:r>
              <a:rPr lang="en-US" dirty="0"/>
              <a:t> is evil</a:t>
            </a:r>
          </a:p>
          <a:p>
            <a:pPr lvl="1"/>
            <a:r>
              <a:rPr lang="en-US" dirty="0"/>
              <a:t>Makes code hard to read</a:t>
            </a:r>
          </a:p>
          <a:p>
            <a:pPr lvl="1"/>
            <a:r>
              <a:rPr lang="en-US" dirty="0"/>
              <a:t>Hard to maintain</a:t>
            </a:r>
          </a:p>
          <a:p>
            <a:pPr lvl="1"/>
            <a:r>
              <a:rPr lang="en-US" dirty="0"/>
              <a:t>Your coworkers will put not be pleased with you</a:t>
            </a:r>
          </a:p>
          <a:p>
            <a:pPr lvl="1"/>
            <a:endParaRPr lang="en-US" dirty="0"/>
          </a:p>
          <a:p>
            <a:r>
              <a:rPr lang="en-US" dirty="0"/>
              <a:t>So we just rewrite it as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while loop</a:t>
            </a:r>
          </a:p>
          <a:p>
            <a:endParaRPr lang="en-US" dirty="0"/>
          </a:p>
          <a:p>
            <a:r>
              <a:rPr lang="en-US" dirty="0"/>
              <a:t>This is why 111 called tail recursions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iterations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They’re the set </a:t>
            </a:r>
            <a:r>
              <a:rPr lang="en-US"/>
              <a:t>of recursions </a:t>
            </a:r>
            <a:r>
              <a:rPr lang="en-US" dirty="0"/>
              <a:t>that can be rewritten as while loops</a:t>
            </a:r>
          </a:p>
          <a:p>
            <a:pPr lvl="1"/>
            <a:r>
              <a:rPr lang="en-US" dirty="0"/>
              <a:t>Good C compilers, like </a:t>
            </a:r>
            <a:r>
              <a:rPr lang="en-US" dirty="0" err="1"/>
              <a:t>gcc</a:t>
            </a:r>
            <a:r>
              <a:rPr lang="en-US" dirty="0"/>
              <a:t> do this automatically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Search</a:t>
            </a:r>
            <a:r>
              <a:rPr lang="en-US" dirty="0"/>
              <a:t>(node,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while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(node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en-US" dirty="0"/>
              <a:t>= null)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/>
              <a:t>       if (k ==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// Success: found it</a:t>
            </a:r>
          </a:p>
          <a:p>
            <a:pPr marL="0" indent="0">
              <a:buNone/>
            </a:pPr>
            <a:r>
              <a:rPr lang="en-US" dirty="0"/>
              <a:t>          return node;</a:t>
            </a:r>
          </a:p>
          <a:p>
            <a:pPr marL="0" indent="0">
              <a:buNone/>
            </a:pPr>
            <a:r>
              <a:rPr lang="en-US" dirty="0"/>
              <a:t>       else if (k &lt; </a:t>
            </a:r>
            <a:r>
              <a:rPr lang="en-US" dirty="0" err="1"/>
              <a:t>node.key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</a:t>
            </a:r>
            <a:r>
              <a:rPr lang="en-US" dirty="0">
                <a:solidFill>
                  <a:schemeClr val="tx1"/>
                </a:solidFill>
              </a:rPr>
              <a:t>     node = </a:t>
            </a:r>
            <a:r>
              <a:rPr lang="en-US" dirty="0" err="1">
                <a:solidFill>
                  <a:schemeClr val="tx1"/>
                </a:solidFill>
              </a:rPr>
              <a:t>node.left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</a:t>
            </a:r>
            <a:r>
              <a:rPr lang="en-US" dirty="0"/>
              <a:t> else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node = </a:t>
            </a:r>
            <a:r>
              <a:rPr lang="en-US" dirty="0" err="1">
                <a:solidFill>
                  <a:schemeClr val="tx1"/>
                </a:solidFill>
              </a:rPr>
              <a:t>node.right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   // Failure: not in tree</a:t>
            </a:r>
          </a:p>
          <a:p>
            <a:pPr marL="0" indent="0">
              <a:buNone/>
            </a:pPr>
            <a:r>
              <a:rPr lang="en-US" dirty="0"/>
              <a:t>   return null;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473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Tail recursion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/>
          </a:bodyPr>
          <a:lstStyle/>
          <a:p>
            <a:r>
              <a:rPr lang="en-US" dirty="0"/>
              <a:t>We can even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simplify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it a little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4958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Search</a:t>
            </a:r>
            <a:r>
              <a:rPr lang="en-US" sz="2400" dirty="0">
                <a:solidFill>
                  <a:schemeClr val="tx1"/>
                </a:solidFill>
              </a:rPr>
              <a:t>(node, </a:t>
            </a:r>
            <a:r>
              <a:rPr lang="en-US" sz="2400" dirty="0" err="1">
                <a:solidFill>
                  <a:schemeClr val="tx1"/>
                </a:solidFill>
              </a:rPr>
              <a:t>int</a:t>
            </a:r>
            <a:r>
              <a:rPr lang="en-US" sz="2400" dirty="0">
                <a:solidFill>
                  <a:schemeClr val="tx1"/>
                </a:solidFill>
              </a:rPr>
              <a:t> k)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 while (node != null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    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&amp;&amp;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node.key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!= k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if (k &lt; </a:t>
            </a:r>
            <a:r>
              <a:rPr lang="en-US" sz="2400" dirty="0" err="1">
                <a:solidFill>
                  <a:schemeClr val="tx1"/>
                </a:solidFill>
              </a:rPr>
              <a:t>node.key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node = </a:t>
            </a:r>
            <a:r>
              <a:rPr lang="en-US" sz="2400" dirty="0" err="1">
                <a:solidFill>
                  <a:schemeClr val="tx1"/>
                </a:solidFill>
              </a:rPr>
              <a:t>node.left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else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node = </a:t>
            </a:r>
            <a:r>
              <a:rPr lang="en-US" sz="2400" dirty="0" err="1">
                <a:solidFill>
                  <a:schemeClr val="tx1"/>
                </a:solidFill>
              </a:rPr>
              <a:t>node.right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return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123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65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/>
          </a:bodyPr>
          <a:lstStyle/>
          <a:p>
            <a:r>
              <a:rPr lang="en-US" dirty="0"/>
              <a:t>How do we analyze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running time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this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4958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Search</a:t>
            </a:r>
            <a:r>
              <a:rPr lang="en-US" sz="2400" dirty="0">
                <a:solidFill>
                  <a:schemeClr val="tx1"/>
                </a:solidFill>
              </a:rPr>
              <a:t>(node, </a:t>
            </a:r>
            <a:r>
              <a:rPr lang="en-US" sz="2400" dirty="0" err="1">
                <a:solidFill>
                  <a:schemeClr val="tx1"/>
                </a:solidFill>
              </a:rPr>
              <a:t>int</a:t>
            </a:r>
            <a:r>
              <a:rPr lang="en-US" sz="2400" dirty="0">
                <a:solidFill>
                  <a:schemeClr val="tx1"/>
                </a:solidFill>
              </a:rPr>
              <a:t> k)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 while (node != null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   &amp;&amp; </a:t>
            </a:r>
            <a:r>
              <a:rPr lang="en-US" sz="2400" dirty="0" err="1">
                <a:solidFill>
                  <a:schemeClr val="tx1"/>
                </a:solidFill>
              </a:rPr>
              <a:t>node.key</a:t>
            </a:r>
            <a:r>
              <a:rPr lang="en-US" sz="2400" dirty="0">
                <a:solidFill>
                  <a:schemeClr val="tx1"/>
                </a:solidFill>
              </a:rPr>
              <a:t> != k)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if (k &lt; </a:t>
            </a:r>
            <a:r>
              <a:rPr lang="en-US" sz="2400" dirty="0" err="1">
                <a:solidFill>
                  <a:schemeClr val="tx1"/>
                </a:solidFill>
              </a:rPr>
              <a:t>node.key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node = </a:t>
            </a:r>
            <a:r>
              <a:rPr lang="en-US" sz="2400" dirty="0" err="1">
                <a:solidFill>
                  <a:schemeClr val="tx1"/>
                </a:solidFill>
              </a:rPr>
              <a:t>node.left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else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node = </a:t>
            </a:r>
            <a:r>
              <a:rPr lang="en-US" sz="2400" dirty="0" err="1">
                <a:solidFill>
                  <a:schemeClr val="tx1"/>
                </a:solidFill>
              </a:rPr>
              <a:t>node.right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return node;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092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87680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How do we analyze the running time of this algorithm?</a:t>
                </a:r>
              </a:p>
              <a:p>
                <a:pPr lvl="1"/>
                <a:r>
                  <a:rPr lang="en-US" dirty="0"/>
                  <a:t>Each iteration replaces node with one of its children</a:t>
                </a:r>
              </a:p>
              <a:p>
                <a:pPr lvl="1"/>
                <a:r>
                  <a:rPr lang="en-US" dirty="0"/>
                  <a:t>So on each iteration,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depth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of node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increases by 1</a:t>
                </a:r>
              </a:p>
              <a:p>
                <a:pPr lvl="1"/>
                <a:r>
                  <a:rPr lang="en-US" dirty="0"/>
                  <a:t>But the depth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bounded by the height </a:t>
                </a:r>
                <a:r>
                  <a:rPr lang="en-US" dirty="0"/>
                  <a:t>of the tree (number of levels in the tree)</a:t>
                </a:r>
              </a:p>
              <a:p>
                <a:pPr lvl="1"/>
                <a:r>
                  <a:rPr lang="en-US" dirty="0"/>
                  <a:t>So the loop can’t run for more iterations than the height</a:t>
                </a:r>
              </a:p>
              <a:p>
                <a:endParaRPr lang="en-US" dirty="0"/>
              </a:p>
              <a:p>
                <a:r>
                  <a:rPr lang="en-US" dirty="0"/>
                  <a:t>So the running time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𝒉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height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the tree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876800"/>
              </a:xfrm>
              <a:blipFill rotWithShape="0">
                <a:blip r:embed="rId2"/>
                <a:stretch>
                  <a:fillRect l="-1961" t="-2375"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495800" cy="4343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n-US" sz="2400" dirty="0">
                <a:solidFill>
                  <a:schemeClr val="tx1"/>
                </a:solidFill>
              </a:rPr>
              <a:t>(node, </a:t>
            </a:r>
            <a:r>
              <a:rPr lang="en-US" sz="2400" dirty="0" err="1">
                <a:solidFill>
                  <a:schemeClr val="tx1"/>
                </a:solidFill>
              </a:rPr>
              <a:t>int</a:t>
            </a:r>
            <a:r>
              <a:rPr lang="en-US" sz="2400" dirty="0">
                <a:solidFill>
                  <a:schemeClr val="tx1"/>
                </a:solidFill>
              </a:rPr>
              <a:t> k) 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 while (node != null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   &amp;&amp; </a:t>
            </a:r>
            <a:r>
              <a:rPr lang="en-US" sz="2400" dirty="0" err="1">
                <a:solidFill>
                  <a:schemeClr val="tx1"/>
                </a:solidFill>
              </a:rPr>
              <a:t>node.key</a:t>
            </a:r>
            <a:r>
              <a:rPr lang="en-US" sz="2400" dirty="0">
                <a:solidFill>
                  <a:schemeClr val="tx1"/>
                </a:solidFill>
              </a:rPr>
              <a:t> != k)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if (k &lt; </a:t>
            </a:r>
            <a:r>
              <a:rPr lang="en-US" sz="2400" dirty="0" err="1">
                <a:solidFill>
                  <a:schemeClr val="tx1"/>
                </a:solidFill>
              </a:rPr>
              <a:t>node.key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node = </a:t>
            </a:r>
            <a:r>
              <a:rPr lang="en-US" sz="2400" dirty="0" err="1">
                <a:solidFill>
                  <a:schemeClr val="tx1"/>
                </a:solidFill>
              </a:rPr>
              <a:t>node.left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else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    node = </a:t>
            </a:r>
            <a:r>
              <a:rPr lang="en-US" sz="2400" dirty="0" err="1">
                <a:solidFill>
                  <a:schemeClr val="tx1"/>
                </a:solidFill>
              </a:rPr>
              <a:t>node.right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 return node;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26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tree to search</a:t>
            </a:r>
          </a:p>
        </p:txBody>
      </p:sp>
      <p:sp>
        <p:nvSpPr>
          <p:cNvPr id="5" name="Oval 4"/>
          <p:cNvSpPr/>
          <p:nvPr/>
        </p:nvSpPr>
        <p:spPr>
          <a:xfrm>
            <a:off x="6502400" y="506650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58004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5308600" y="433257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8" name="Straight Arrow Connector 7"/>
          <p:cNvCxnSpPr>
            <a:stCxn id="6" idx="0"/>
            <a:endCxn id="5" idx="5"/>
          </p:cNvCxnSpPr>
          <p:nvPr/>
        </p:nvCxnSpPr>
        <p:spPr>
          <a:xfrm flipH="1" flipV="1">
            <a:off x="6892645" y="5456752"/>
            <a:ext cx="1032155" cy="34369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3" idx="5"/>
            <a:endCxn id="7" idx="1"/>
          </p:cNvCxnSpPr>
          <p:nvPr/>
        </p:nvCxnSpPr>
        <p:spPr>
          <a:xfrm>
            <a:off x="4505045" y="3988880"/>
            <a:ext cx="870510" cy="4106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33400" y="139682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1" name="Straight Connector 10"/>
          <p:cNvCxnSpPr>
            <a:stCxn id="7" idx="5"/>
            <a:endCxn id="5" idx="1"/>
          </p:cNvCxnSpPr>
          <p:nvPr/>
        </p:nvCxnSpPr>
        <p:spPr>
          <a:xfrm>
            <a:off x="5698845" y="4722816"/>
            <a:ext cx="870510" cy="410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27200" y="2130763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35986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2921000" y="28646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5" name="Straight Arrow Connector 14"/>
          <p:cNvCxnSpPr>
            <a:stCxn id="13" idx="0"/>
            <a:endCxn id="14" idx="5"/>
          </p:cNvCxnSpPr>
          <p:nvPr/>
        </p:nvCxnSpPr>
        <p:spPr>
          <a:xfrm flipH="1" flipV="1">
            <a:off x="3311245" y="3254944"/>
            <a:ext cx="1032155" cy="3436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5"/>
            <a:endCxn id="14" idx="0"/>
          </p:cNvCxnSpPr>
          <p:nvPr/>
        </p:nvCxnSpPr>
        <p:spPr>
          <a:xfrm>
            <a:off x="2117445" y="2521008"/>
            <a:ext cx="1032155" cy="3436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5"/>
            <a:endCxn id="12" idx="1"/>
          </p:cNvCxnSpPr>
          <p:nvPr/>
        </p:nvCxnSpPr>
        <p:spPr>
          <a:xfrm>
            <a:off x="923645" y="1787072"/>
            <a:ext cx="870510" cy="410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5943600"/>
            <a:ext cx="5256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the worst case, a tree is effectively a linked list</a:t>
            </a:r>
          </a:p>
        </p:txBody>
      </p:sp>
    </p:spTree>
    <p:extLst>
      <p:ext uri="{BB962C8B-B14F-4D97-AF65-F5344CB8AC3E}">
        <p14:creationId xmlns:p14="http://schemas.microsoft.com/office/powerpoint/2010/main" val="1789375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good tree to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Informally,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balanced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binary tree is one where the different branches are the approximately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same depth</a:t>
                </a:r>
              </a:p>
              <a:p>
                <a:endParaRPr lang="en-US" dirty="0"/>
              </a:p>
              <a:p>
                <a:r>
                  <a:rPr lang="en-US" dirty="0"/>
                  <a:t>A balanced search tree has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small height </a:t>
                </a:r>
                <a:r>
                  <a:rPr lang="en-US" dirty="0"/>
                  <a:t>for its given number of nodes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:endParaRPr lang="en-US" dirty="0"/>
              </a:p>
              <a:p>
                <a:r>
                  <a:rPr lang="en-US" dirty="0"/>
                  <a:t>So tree search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runs fast </a:t>
                </a:r>
                <a:r>
                  <a:rPr lang="en-US" dirty="0"/>
                  <a:t>if the tree is balanced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0">
                <a:blip r:embed="rId2"/>
                <a:stretch>
                  <a:fillRect l="-2115" t="-1887" r="-3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1161734" y="291701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3958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676400" y="3958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3" name="Straight Arrow Connector 12"/>
          <p:cNvCxnSpPr>
            <a:stCxn id="6" idx="0"/>
            <a:endCxn id="5" idx="3"/>
          </p:cNvCxnSpPr>
          <p:nvPr/>
        </p:nvCxnSpPr>
        <p:spPr>
          <a:xfrm flipV="1">
            <a:off x="838200" y="3307255"/>
            <a:ext cx="390489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0"/>
          </p:cNvCxnSpPr>
          <p:nvPr/>
        </p:nvCxnSpPr>
        <p:spPr>
          <a:xfrm>
            <a:off x="1551979" y="3307255"/>
            <a:ext cx="353021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057400" y="193001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1551979" y="2320256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14334" y="292061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362200" y="3962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3962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7" name="Straight Arrow Connector 26"/>
          <p:cNvCxnSpPr>
            <a:stCxn id="25" idx="0"/>
            <a:endCxn id="24" idx="3"/>
          </p:cNvCxnSpPr>
          <p:nvPr/>
        </p:nvCxnSpPr>
        <p:spPr>
          <a:xfrm flipV="1">
            <a:off x="2590800" y="3310856"/>
            <a:ext cx="390489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4" idx="5"/>
            <a:endCxn id="26" idx="0"/>
          </p:cNvCxnSpPr>
          <p:nvPr/>
        </p:nvCxnSpPr>
        <p:spPr>
          <a:xfrm>
            <a:off x="3304579" y="3310856"/>
            <a:ext cx="353021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5"/>
            <a:endCxn id="24" idx="1"/>
          </p:cNvCxnSpPr>
          <p:nvPr/>
        </p:nvCxnSpPr>
        <p:spPr>
          <a:xfrm>
            <a:off x="2447645" y="2320256"/>
            <a:ext cx="533644" cy="667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996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good tree to search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most balanced tree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binary tree</a:t>
            </a:r>
          </a:p>
          <a:p>
            <a:pPr lvl="1"/>
            <a:r>
              <a:rPr lang="en-US" dirty="0"/>
              <a:t>All leaves at same depth</a:t>
            </a:r>
          </a:p>
          <a:p>
            <a:pPr lvl="1"/>
            <a:r>
              <a:rPr lang="en-US" dirty="0"/>
              <a:t>All other nodes have both left and right children</a:t>
            </a:r>
          </a:p>
          <a:p>
            <a:pPr lvl="1"/>
            <a:endParaRPr lang="en-US" dirty="0"/>
          </a:p>
          <a:p>
            <a:r>
              <a:rPr lang="en-US" dirty="0"/>
              <a:t>We’ll talk next time about strategies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self-balancing </a:t>
            </a:r>
            <a:r>
              <a:rPr lang="en-US" dirty="0"/>
              <a:t>trees</a:t>
            </a:r>
          </a:p>
        </p:txBody>
      </p:sp>
      <p:sp>
        <p:nvSpPr>
          <p:cNvPr id="5" name="Oval 4"/>
          <p:cNvSpPr/>
          <p:nvPr/>
        </p:nvSpPr>
        <p:spPr>
          <a:xfrm>
            <a:off x="1161734" y="291701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3958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676400" y="3958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3" name="Straight Arrow Connector 12"/>
          <p:cNvCxnSpPr>
            <a:stCxn id="6" idx="0"/>
            <a:endCxn id="5" idx="3"/>
          </p:cNvCxnSpPr>
          <p:nvPr/>
        </p:nvCxnSpPr>
        <p:spPr>
          <a:xfrm flipV="1">
            <a:off x="838200" y="3307255"/>
            <a:ext cx="390489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0"/>
          </p:cNvCxnSpPr>
          <p:nvPr/>
        </p:nvCxnSpPr>
        <p:spPr>
          <a:xfrm>
            <a:off x="1551979" y="3307255"/>
            <a:ext cx="353021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057400" y="193001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1551979" y="2320256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14334" y="292061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362200" y="3962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3962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7" name="Straight Arrow Connector 26"/>
          <p:cNvCxnSpPr>
            <a:stCxn id="25" idx="0"/>
            <a:endCxn id="24" idx="3"/>
          </p:cNvCxnSpPr>
          <p:nvPr/>
        </p:nvCxnSpPr>
        <p:spPr>
          <a:xfrm flipV="1">
            <a:off x="2590800" y="3310856"/>
            <a:ext cx="390489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4" idx="5"/>
            <a:endCxn id="26" idx="0"/>
          </p:cNvCxnSpPr>
          <p:nvPr/>
        </p:nvCxnSpPr>
        <p:spPr>
          <a:xfrm>
            <a:off x="3304579" y="3310856"/>
            <a:ext cx="353021" cy="6515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5" idx="5"/>
            <a:endCxn id="24" idx="1"/>
          </p:cNvCxnSpPr>
          <p:nvPr/>
        </p:nvCxnSpPr>
        <p:spPr>
          <a:xfrm>
            <a:off x="2447645" y="2320256"/>
            <a:ext cx="533644" cy="667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91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operations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68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Special-case searches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 Get the node holding</a:t>
            </a:r>
            <a:br>
              <a:rPr lang="en-US" dirty="0"/>
            </a:br>
            <a:r>
              <a:rPr lang="en-US" dirty="0"/>
              <a:t>// the minimum value</a:t>
            </a:r>
            <a:br>
              <a:rPr lang="en-US" dirty="0"/>
            </a:br>
            <a:r>
              <a:rPr lang="en-US" dirty="0"/>
              <a:t>// in the tree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Minimum</a:t>
            </a:r>
            <a:r>
              <a:rPr lang="en-US" dirty="0"/>
              <a:t>(n) {</a:t>
            </a:r>
          </a:p>
          <a:p>
            <a:pPr marL="0" indent="0">
              <a:buNone/>
            </a:pPr>
            <a:r>
              <a:rPr lang="en-US" dirty="0"/>
              <a:t>   while (</a:t>
            </a:r>
            <a:r>
              <a:rPr lang="en-US" dirty="0" err="1"/>
              <a:t>n.left</a:t>
            </a:r>
            <a:r>
              <a:rPr lang="en-US" dirty="0"/>
              <a:t> != null)</a:t>
            </a:r>
          </a:p>
          <a:p>
            <a:pPr marL="0" indent="0">
              <a:buNone/>
            </a:pPr>
            <a:r>
              <a:rPr lang="en-US" dirty="0"/>
              <a:t>      n = </a:t>
            </a:r>
            <a:r>
              <a:rPr lang="en-US" dirty="0" err="1"/>
              <a:t>n.left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return n;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 Get the node holding</a:t>
            </a:r>
            <a:br>
              <a:rPr lang="en-US" dirty="0"/>
            </a:br>
            <a:r>
              <a:rPr lang="en-US" dirty="0"/>
              <a:t>// the maximum value</a:t>
            </a:r>
            <a:br>
              <a:rPr lang="en-US" dirty="0"/>
            </a:br>
            <a:r>
              <a:rPr lang="en-US" dirty="0"/>
              <a:t>// in the tree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Maximum</a:t>
            </a:r>
            <a:r>
              <a:rPr lang="en-US" dirty="0"/>
              <a:t>(n) {</a:t>
            </a:r>
          </a:p>
          <a:p>
            <a:pPr marL="0" indent="0">
              <a:buNone/>
            </a:pPr>
            <a:r>
              <a:rPr lang="en-US" dirty="0"/>
              <a:t>   while (</a:t>
            </a:r>
            <a:r>
              <a:rPr lang="en-US" dirty="0" err="1"/>
              <a:t>n.right</a:t>
            </a:r>
            <a:r>
              <a:rPr lang="en-US" dirty="0"/>
              <a:t> != null)</a:t>
            </a:r>
          </a:p>
          <a:p>
            <a:pPr marL="0" indent="0">
              <a:buNone/>
            </a:pPr>
            <a:r>
              <a:rPr lang="en-US" dirty="0"/>
              <a:t>      n = </a:t>
            </a:r>
            <a:r>
              <a:rPr lang="en-US" dirty="0" err="1"/>
              <a:t>n.right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return n;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694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Sometimes you want to find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the node that would come after this one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in an in-order traversal</a:t>
            </a:r>
          </a:p>
          <a:p>
            <a:endParaRPr lang="en-US" dirty="0"/>
          </a:p>
          <a:p>
            <a:r>
              <a:rPr lang="en-US" dirty="0"/>
              <a:t>Simulate what an in-order walk would do at this point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Successor</a:t>
            </a:r>
            <a:r>
              <a:rPr lang="en-US" dirty="0"/>
              <a:t>(n) {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n.right</a:t>
            </a:r>
            <a:r>
              <a:rPr lang="en-US" dirty="0"/>
              <a:t> != null)</a:t>
            </a:r>
            <a:br>
              <a:rPr lang="en-US" dirty="0"/>
            </a:br>
            <a:r>
              <a:rPr lang="en-US" dirty="0"/>
              <a:t>      return Minimum(</a:t>
            </a:r>
            <a:r>
              <a:rPr lang="en-US" dirty="0" err="1"/>
              <a:t>n.right</a:t>
            </a:r>
            <a:r>
              <a:rPr lang="en-US" dirty="0"/>
              <a:t>);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p = </a:t>
            </a:r>
            <a:r>
              <a:rPr lang="en-US" dirty="0" err="1"/>
              <a:t>n.parent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while (p != null</a:t>
            </a:r>
            <a:br>
              <a:rPr lang="en-US" dirty="0"/>
            </a:br>
            <a:r>
              <a:rPr lang="en-US" dirty="0"/>
              <a:t>              &amp;&amp; n == </a:t>
            </a:r>
            <a:r>
              <a:rPr lang="en-US" dirty="0" err="1"/>
              <a:t>p.right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n = p;</a:t>
            </a:r>
          </a:p>
          <a:p>
            <a:pPr marL="0" indent="0">
              <a:buNone/>
            </a:pPr>
            <a:r>
              <a:rPr lang="en-US" dirty="0"/>
              <a:t>      p = </a:t>
            </a:r>
            <a:r>
              <a:rPr lang="en-US" dirty="0" err="1"/>
              <a:t>n.parent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}     </a:t>
            </a:r>
          </a:p>
          <a:p>
            <a:pPr marL="0" indent="0">
              <a:buNone/>
            </a:pPr>
            <a:r>
              <a:rPr lang="en-US" dirty="0"/>
              <a:t>   return p;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676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Two cases: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we have a right child</a:t>
            </a:r>
          </a:p>
          <a:p>
            <a:pPr lvl="1"/>
            <a:r>
              <a:rPr lang="en-US" dirty="0"/>
              <a:t>In-order would go to the right child</a:t>
            </a:r>
          </a:p>
          <a:p>
            <a:pPr lvl="1"/>
            <a:r>
              <a:rPr lang="en-US" dirty="0"/>
              <a:t>Which would go to its left child</a:t>
            </a:r>
          </a:p>
          <a:p>
            <a:pPr lvl="1"/>
            <a:r>
              <a:rPr lang="en-US" dirty="0"/>
              <a:t>Which would go to its left child</a:t>
            </a:r>
          </a:p>
          <a:p>
            <a:pPr lvl="1"/>
            <a:r>
              <a:rPr lang="en-US" dirty="0"/>
              <a:t>Etc., until we get to a leaf</a:t>
            </a:r>
          </a:p>
          <a:p>
            <a:pPr lvl="1"/>
            <a:r>
              <a:rPr lang="en-US" dirty="0"/>
              <a:t>We can do all the with Minimum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Successor</a:t>
            </a:r>
            <a:r>
              <a:rPr lang="en-US" dirty="0"/>
              <a:t>(n)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if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!= null)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return Minimum(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p = </a:t>
            </a:r>
            <a:r>
              <a:rPr lang="en-US" dirty="0" err="1"/>
              <a:t>n.parent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while (p != null</a:t>
            </a:r>
            <a:br>
              <a:rPr lang="en-US" dirty="0"/>
            </a:br>
            <a:r>
              <a:rPr lang="en-US" dirty="0"/>
              <a:t>              &amp;&amp; n = </a:t>
            </a:r>
            <a:r>
              <a:rPr lang="en-US" dirty="0" err="1"/>
              <a:t>p.right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n = p;</a:t>
            </a:r>
          </a:p>
          <a:p>
            <a:pPr marL="0" indent="0">
              <a:buNone/>
            </a:pPr>
            <a:r>
              <a:rPr lang="en-US" dirty="0"/>
              <a:t>      p = </a:t>
            </a:r>
            <a:r>
              <a:rPr lang="en-US" dirty="0" err="1"/>
              <a:t>n.parent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}     </a:t>
            </a:r>
          </a:p>
          <a:p>
            <a:pPr marL="0" indent="0">
              <a:buNone/>
            </a:pPr>
            <a:r>
              <a:rPr lang="en-US" dirty="0"/>
              <a:t>   return p;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2373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Two cases: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we have a right child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 right child</a:t>
            </a:r>
          </a:p>
          <a:p>
            <a:pPr marL="914400" lvl="1" indent="-514350"/>
            <a:r>
              <a:rPr lang="en-US" dirty="0"/>
              <a:t>Have to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move up</a:t>
            </a:r>
          </a:p>
          <a:p>
            <a:pPr marL="914400" lvl="1" indent="-514350"/>
            <a:r>
              <a:rPr lang="en-US" dirty="0"/>
              <a:t>But how far?</a:t>
            </a:r>
          </a:p>
          <a:p>
            <a:pPr marL="914400" lvl="1" indent="-514350"/>
            <a:r>
              <a:rPr lang="en-US" dirty="0"/>
              <a:t>Until we find an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ancestor </a:t>
            </a:r>
            <a:r>
              <a:rPr lang="en-US" dirty="0"/>
              <a:t>node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for whom we are a left descendant</a:t>
            </a:r>
            <a:r>
              <a:rPr lang="en-US" dirty="0"/>
              <a:t>, not a right descendant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Successor</a:t>
            </a:r>
            <a:r>
              <a:rPr lang="en-US" dirty="0"/>
              <a:t>(n) {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n.right</a:t>
            </a:r>
            <a:r>
              <a:rPr lang="en-US" dirty="0"/>
              <a:t> != null)</a:t>
            </a:r>
            <a:br>
              <a:rPr lang="en-US" dirty="0"/>
            </a:br>
            <a:r>
              <a:rPr lang="en-US" dirty="0"/>
              <a:t>      return Minimum(</a:t>
            </a:r>
            <a:r>
              <a:rPr lang="en-US" dirty="0" err="1"/>
              <a:t>n.right</a:t>
            </a:r>
            <a:r>
              <a:rPr lang="en-US" dirty="0"/>
              <a:t>);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n.parent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while (p != null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      &amp;&amp; n ==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p.right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n = p;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p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n.parent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} 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return p;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1749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binary search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So BSTs are good for searching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𝐥𝐨𝐠</m:t>
                        </m:r>
                      </m:fName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balanced trees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But how do 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add and delete </a:t>
                </a:r>
                <a:r>
                  <a:rPr lang="en-US" dirty="0"/>
                  <a:t>elements?</a:t>
                </a:r>
              </a:p>
              <a:p>
                <a:pPr lvl="1"/>
                <a:r>
                  <a:rPr lang="en-US" dirty="0"/>
                  <a:t>Today: adding without worry about balancing</a:t>
                </a:r>
              </a:p>
              <a:p>
                <a:pPr lvl="1"/>
                <a:r>
                  <a:rPr lang="en-US" dirty="0"/>
                  <a:t>Tomorrow: adding in self-balancing trees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2715" t="-2291" r="-3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5809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4876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876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4953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333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343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267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200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705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200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333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848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266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668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095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968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Two cases</a:t>
            </a:r>
          </a:p>
          <a:p>
            <a:r>
              <a:rPr lang="en-US" dirty="0"/>
              <a:t>Adding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empty tree</a:t>
            </a:r>
          </a:p>
          <a:p>
            <a:pPr lvl="1"/>
            <a:r>
              <a:rPr lang="en-US" dirty="0"/>
              <a:t>New node becomes root</a:t>
            </a:r>
          </a:p>
          <a:p>
            <a:r>
              <a:rPr lang="en-US" dirty="0"/>
              <a:t>Non-empty tree</a:t>
            </a:r>
          </a:p>
          <a:p>
            <a:pPr lvl="1"/>
            <a:r>
              <a:rPr lang="en-US" dirty="0"/>
              <a:t>Node added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child of some leaf node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Basic idea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Search for new key </a:t>
            </a:r>
            <a:r>
              <a:rPr lang="en-US" dirty="0"/>
              <a:t>as if you were expecting to find it</a:t>
            </a:r>
          </a:p>
          <a:p>
            <a:r>
              <a:rPr lang="en-US" dirty="0"/>
              <a:t>You’ll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fail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(if you don’t, no need to add it!)</a:t>
            </a:r>
          </a:p>
          <a:p>
            <a:r>
              <a:rPr lang="en-US" dirty="0"/>
              <a:t>Add the node as a leaf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 node examined </a:t>
            </a:r>
            <a:r>
              <a:rPr lang="en-US" dirty="0"/>
              <a:t>before failing</a:t>
            </a:r>
          </a:p>
        </p:txBody>
      </p:sp>
    </p:spTree>
    <p:extLst>
      <p:ext uri="{BB962C8B-B14F-4D97-AF65-F5344CB8AC3E}">
        <p14:creationId xmlns:p14="http://schemas.microsoft.com/office/powerpoint/2010/main" val="3136316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code </a:t>
            </a:r>
            <a:r>
              <a:rPr lang="en-US" sz="2800" dirty="0"/>
              <a:t>(returns root of 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4876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(root,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node = new BST(k);</a:t>
            </a:r>
          </a:p>
          <a:p>
            <a:pPr marL="0" indent="0">
              <a:buNone/>
            </a:pPr>
            <a:r>
              <a:rPr lang="en-US" dirty="0"/>
              <a:t>   if (root==null)</a:t>
            </a:r>
          </a:p>
          <a:p>
            <a:pPr marL="0" indent="0">
              <a:buNone/>
            </a:pPr>
            <a:r>
              <a:rPr lang="en-US" dirty="0"/>
              <a:t>      return node;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900" dirty="0"/>
              <a:t>   </a:t>
            </a:r>
            <a:r>
              <a:rPr lang="en-US" sz="2900" b="1" dirty="0">
                <a:solidFill>
                  <a:schemeClr val="accent6">
                    <a:lumMod val="75000"/>
                  </a:schemeClr>
                </a:solidFill>
              </a:rPr>
              <a:t>par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ent =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FindInsertionPoint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(root, k);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node.parent</a:t>
            </a:r>
            <a:r>
              <a:rPr lang="en-US" dirty="0"/>
              <a:t> = parent;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node.key</a:t>
            </a:r>
            <a:r>
              <a:rPr lang="en-US" dirty="0"/>
              <a:t>&lt;</a:t>
            </a:r>
            <a:r>
              <a:rPr lang="en-US" dirty="0" err="1"/>
              <a:t>parent.key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parent.left</a:t>
            </a:r>
            <a:r>
              <a:rPr lang="en-US" dirty="0"/>
              <a:t> = node;</a:t>
            </a:r>
          </a:p>
          <a:p>
            <a:pPr marL="0" indent="0">
              <a:buNone/>
            </a:pPr>
            <a:r>
              <a:rPr lang="en-US" dirty="0"/>
              <a:t>   else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parent.right</a:t>
            </a:r>
            <a:r>
              <a:rPr lang="en-US" dirty="0"/>
              <a:t> = node;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return root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FindInsertionPoint</a:t>
            </a:r>
            <a:r>
              <a:rPr lang="en-US" dirty="0"/>
              <a:t>(n,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parent = null;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while (n != null) {</a:t>
            </a:r>
          </a:p>
          <a:p>
            <a:pPr marL="0" indent="0">
              <a:buNone/>
            </a:pPr>
            <a:r>
              <a:rPr lang="en-US" dirty="0"/>
              <a:t>        parent = n;</a:t>
            </a:r>
          </a:p>
          <a:p>
            <a:pPr marL="0" indent="0">
              <a:buNone/>
            </a:pPr>
            <a:r>
              <a:rPr lang="en-US" dirty="0"/>
              <a:t>        if (k&lt;</a:t>
            </a:r>
            <a:r>
              <a:rPr lang="en-US" dirty="0" err="1"/>
              <a:t>n.key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n = </a:t>
            </a:r>
            <a:r>
              <a:rPr lang="en-US" dirty="0" err="1"/>
              <a:t>n.left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else</a:t>
            </a:r>
          </a:p>
          <a:p>
            <a:pPr marL="0" indent="0">
              <a:buNone/>
            </a:pPr>
            <a:r>
              <a:rPr lang="en-US" dirty="0"/>
              <a:t>           n = </a:t>
            </a:r>
            <a:r>
              <a:rPr lang="en-US" dirty="0" err="1"/>
              <a:t>n.right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return parent;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943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how long does it take?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4876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(root,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node = new BST(k);</a:t>
            </a:r>
          </a:p>
          <a:p>
            <a:pPr marL="0" indent="0">
              <a:buNone/>
            </a:pPr>
            <a:r>
              <a:rPr lang="en-US" dirty="0"/>
              <a:t>   if (root==null)</a:t>
            </a:r>
          </a:p>
          <a:p>
            <a:pPr marL="0" indent="0">
              <a:buNone/>
            </a:pPr>
            <a:r>
              <a:rPr lang="en-US" dirty="0"/>
              <a:t>      return node;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900" dirty="0"/>
              <a:t>   </a:t>
            </a:r>
            <a:r>
              <a:rPr lang="en-US" sz="2900" b="1" dirty="0">
                <a:solidFill>
                  <a:schemeClr val="accent6">
                    <a:lumMod val="75000"/>
                  </a:schemeClr>
                </a:solidFill>
              </a:rPr>
              <a:t>par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ent =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FindInsertionPoint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(root, k);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node.parent</a:t>
            </a:r>
            <a:r>
              <a:rPr lang="en-US" dirty="0"/>
              <a:t> = parent;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node.key</a:t>
            </a:r>
            <a:r>
              <a:rPr lang="en-US" dirty="0"/>
              <a:t>&lt;</a:t>
            </a:r>
            <a:r>
              <a:rPr lang="en-US" dirty="0" err="1"/>
              <a:t>parent.key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parent.left</a:t>
            </a:r>
            <a:r>
              <a:rPr lang="en-US" dirty="0"/>
              <a:t> = node;</a:t>
            </a:r>
          </a:p>
          <a:p>
            <a:pPr marL="0" indent="0">
              <a:buNone/>
            </a:pPr>
            <a:r>
              <a:rPr lang="en-US" dirty="0"/>
              <a:t>   else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parent.right</a:t>
            </a:r>
            <a:r>
              <a:rPr lang="en-US" dirty="0"/>
              <a:t> = node;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return root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FindInsertionPoint</a:t>
            </a:r>
            <a:r>
              <a:rPr lang="en-US" dirty="0"/>
              <a:t>(n,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/>
              <a:t>    parent = null;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while (n != null) {</a:t>
            </a:r>
          </a:p>
          <a:p>
            <a:pPr marL="0" indent="0">
              <a:buNone/>
            </a:pPr>
            <a:r>
              <a:rPr lang="en-US" dirty="0"/>
              <a:t>        parent = n;</a:t>
            </a:r>
          </a:p>
          <a:p>
            <a:pPr marL="0" indent="0">
              <a:buNone/>
            </a:pPr>
            <a:r>
              <a:rPr lang="en-US" dirty="0"/>
              <a:t>        if (k&lt;</a:t>
            </a:r>
            <a:r>
              <a:rPr lang="en-US" dirty="0" err="1"/>
              <a:t>n.key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n = </a:t>
            </a:r>
            <a:r>
              <a:rPr lang="en-US" dirty="0" err="1"/>
              <a:t>n.left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else</a:t>
            </a:r>
          </a:p>
          <a:p>
            <a:pPr marL="0" indent="0">
              <a:buNone/>
            </a:pPr>
            <a:r>
              <a:rPr lang="en-US" dirty="0"/>
              <a:t>           n = </a:t>
            </a:r>
            <a:r>
              <a:rPr lang="en-US" dirty="0" err="1"/>
              <a:t>n.right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return parent;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9912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how long does it take?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800600" cy="4876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(root,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node = new BST(k);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if (root==null)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return node;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900" dirty="0"/>
              <a:t>   </a:t>
            </a:r>
            <a:r>
              <a:rPr lang="en-US" sz="2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 =</a:t>
            </a:r>
            <a:b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FindInsertionPoint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(root, k);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node.parent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parent;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node.key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parent.key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)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parent.left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node;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parent.right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node;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return root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FindInsertionPoint</a:t>
            </a:r>
            <a:r>
              <a:rPr lang="en-US" dirty="0"/>
              <a:t>(n, </a:t>
            </a:r>
            <a:r>
              <a:rPr lang="en-US" dirty="0" err="1"/>
              <a:t>int</a:t>
            </a:r>
            <a:r>
              <a:rPr lang="en-US" dirty="0"/>
              <a:t> k)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parent = null;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while (n != null)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parent = n;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if (k&lt;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n.key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n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n.left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else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n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n.right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}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return parent;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05400" y="1915061"/>
                <a:ext cx="259487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i="1" dirty="0" smtClean="0">
                          <a:latin typeface="Cambria Math"/>
                        </a:rPr>
                        <m:t>𝑂</m:t>
                      </m:r>
                      <m:r>
                        <a:rPr lang="en-US" sz="8000" i="1" dirty="0" smtClean="0">
                          <a:latin typeface="Cambria Math"/>
                        </a:rPr>
                        <m:t>(</m:t>
                      </m:r>
                      <m:r>
                        <a:rPr lang="en-US" sz="8000" i="1" dirty="0" smtClean="0">
                          <a:latin typeface="Cambria Math"/>
                        </a:rPr>
                        <m:t>h</m:t>
                      </m:r>
                      <m:r>
                        <a:rPr lang="en-US" sz="8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915061"/>
                <a:ext cx="2594877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800" y="1915061"/>
                <a:ext cx="259487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i="1" dirty="0" smtClean="0">
                          <a:latin typeface="Cambria Math"/>
                        </a:rPr>
                        <m:t>𝑂</m:t>
                      </m:r>
                      <m:r>
                        <a:rPr lang="en-US" sz="8000" i="1" dirty="0" smtClean="0">
                          <a:latin typeface="Cambria Math"/>
                        </a:rPr>
                        <m:t>(</m:t>
                      </m:r>
                      <m:r>
                        <a:rPr lang="en-US" sz="8000" i="1" dirty="0" smtClean="0">
                          <a:latin typeface="Cambria Math"/>
                        </a:rPr>
                        <m:t>h</m:t>
                      </m:r>
                      <m:r>
                        <a:rPr lang="en-US" sz="8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15061"/>
                <a:ext cx="2594877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9757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Lots of </a:t>
            </a:r>
            <a:r>
              <a:rPr lang="en-US" b="1" dirty="0">
                <a:solidFill>
                  <a:schemeClr val="tx1"/>
                </a:solidFill>
              </a:rPr>
              <a:t>case analysis</a:t>
            </a:r>
          </a:p>
          <a:p>
            <a:r>
              <a:rPr lang="en-US" dirty="0"/>
              <a:t>Node has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 children</a:t>
            </a:r>
          </a:p>
          <a:p>
            <a:pPr lvl="1"/>
            <a:r>
              <a:rPr lang="en-US" dirty="0"/>
              <a:t>Set parent’s child pointer to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null</a:t>
            </a:r>
          </a:p>
          <a:p>
            <a:r>
              <a:rPr lang="en-US" dirty="0"/>
              <a:t>Node has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child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Replace </a:t>
            </a:r>
            <a:r>
              <a:rPr lang="en-US" dirty="0"/>
              <a:t>parent’s child pointer with node’s child pointer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Node has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two children</a:t>
            </a:r>
          </a:p>
          <a:p>
            <a:pPr lvl="1"/>
            <a:r>
              <a:rPr lang="en-US" dirty="0"/>
              <a:t>“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Replace</a:t>
            </a:r>
            <a:r>
              <a:rPr lang="en-US" dirty="0"/>
              <a:t>” node with its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successor</a:t>
            </a:r>
          </a:p>
          <a:p>
            <a:pPr lvl="2"/>
            <a:r>
              <a:rPr lang="en-US" dirty="0"/>
              <a:t>Find its successor</a:t>
            </a:r>
          </a:p>
          <a:p>
            <a:pPr lvl="2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 </a:t>
            </a:r>
            <a:r>
              <a:rPr lang="en-US" dirty="0"/>
              <a:t>its successor</a:t>
            </a:r>
          </a:p>
          <a:p>
            <a:pPr lvl="2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Change label </a:t>
            </a:r>
            <a:r>
              <a:rPr lang="en-US" dirty="0"/>
              <a:t>of node to label of old successor</a:t>
            </a:r>
          </a:p>
        </p:txBody>
      </p:sp>
    </p:spTree>
    <p:extLst>
      <p:ext uri="{BB962C8B-B14F-4D97-AF65-F5344CB8AC3E}">
        <p14:creationId xmlns:p14="http://schemas.microsoft.com/office/powerpoint/2010/main" val="1403651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1: Node has no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404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1: Node has no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388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1: Node has no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Set parent’s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child pointer to null</a:t>
            </a:r>
          </a:p>
          <a:p>
            <a:pPr lvl="1"/>
            <a:r>
              <a:rPr lang="en-US" dirty="0"/>
              <a:t>And call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</a:t>
            </a:r>
            <a:r>
              <a:rPr lang="en-US" dirty="0"/>
              <a:t> on node, if using C++</a:t>
            </a:r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754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2: Node has one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362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2: Node has one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/>
              <a:t>’s child pointer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point at orphaned grandchild</a:t>
            </a:r>
          </a:p>
          <a:p>
            <a:r>
              <a:rPr lang="en-US" dirty="0"/>
              <a:t>Update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grandchild’s parent</a:t>
            </a:r>
            <a:r>
              <a:rPr lang="en-US" dirty="0"/>
              <a:t> pointer </a:t>
            </a:r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2" idx="7"/>
            <a:endCxn id="5" idx="3"/>
          </p:cNvCxnSpPr>
          <p:nvPr/>
        </p:nvCxnSpPr>
        <p:spPr>
          <a:xfrm rot="5400000" flipH="1" flipV="1">
            <a:off x="4817412" y="2969878"/>
            <a:ext cx="1585311" cy="1448044"/>
          </a:xfrm>
          <a:prstGeom prst="curvedConnector3">
            <a:avLst>
              <a:gd name="adj1" fmla="val 87526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36851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2: Node has one 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/>
              <a:t>’s child pointer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point at orphaned grandchild</a:t>
            </a:r>
          </a:p>
          <a:p>
            <a:r>
              <a:rPr lang="en-US" dirty="0"/>
              <a:t>Update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grandchild’s parent</a:t>
            </a:r>
            <a:r>
              <a:rPr lang="en-US" dirty="0"/>
              <a:t> pointer </a:t>
            </a:r>
          </a:p>
          <a:p>
            <a:r>
              <a:rPr lang="en-US" dirty="0"/>
              <a:t>Call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on old node if using C++ </a:t>
            </a:r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2" idx="7"/>
            <a:endCxn id="5" idx="3"/>
          </p:cNvCxnSpPr>
          <p:nvPr/>
        </p:nvCxnSpPr>
        <p:spPr>
          <a:xfrm flipV="1">
            <a:off x="4886045" y="2901244"/>
            <a:ext cx="1448044" cy="15853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06027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3: Node has two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034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3: Node has two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05400"/>
          </a:xfrm>
        </p:spPr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successor node</a:t>
            </a:r>
          </a:p>
          <a:p>
            <a:pPr lvl="1"/>
            <a:r>
              <a:rPr lang="en-US" dirty="0"/>
              <a:t>Claim: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successor can have a most one child</a:t>
            </a:r>
          </a:p>
          <a:p>
            <a:pPr lvl="1"/>
            <a:r>
              <a:rPr lang="en-US" dirty="0"/>
              <a:t>Proof:</a:t>
            </a:r>
          </a:p>
          <a:p>
            <a:pPr lvl="2"/>
            <a:r>
              <a:rPr lang="en-US" dirty="0"/>
              <a:t>Successor is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minimum of the right subtree </a:t>
            </a:r>
            <a:r>
              <a:rPr lang="en-US" dirty="0"/>
              <a:t>(by definition)</a:t>
            </a:r>
          </a:p>
          <a:p>
            <a:pPr lvl="2"/>
            <a:r>
              <a:rPr lang="en-US" dirty="0"/>
              <a:t>The minimum of a tree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can’t have a left child</a:t>
            </a:r>
          </a:p>
          <a:p>
            <a:pPr lvl="3"/>
            <a:r>
              <a:rPr lang="en-US" dirty="0"/>
              <a:t>Or the child would be less than it</a:t>
            </a:r>
          </a:p>
          <a:p>
            <a:pPr lvl="3"/>
            <a:r>
              <a:rPr lang="en-US" dirty="0"/>
              <a:t>So it wouldn’t be minimal</a:t>
            </a:r>
          </a:p>
          <a:p>
            <a:pPr lvl="2"/>
            <a:r>
              <a:rPr lang="en-US" dirty="0"/>
              <a:t>So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at most a right child</a:t>
            </a:r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5943600"/>
            <a:ext cx="457200" cy="4572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8004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76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3: Node has two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successor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it</a:t>
            </a:r>
          </a:p>
          <a:p>
            <a:pPr lvl="1"/>
            <a:r>
              <a:rPr lang="en-US" dirty="0"/>
              <a:t>Easy, because it falls under case 1 or case 2</a:t>
            </a:r>
          </a:p>
          <a:p>
            <a:pPr lvl="1"/>
            <a:r>
              <a:rPr lang="en-US" dirty="0"/>
              <a:t>So at most one level of recursion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6402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3: Node has two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successor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it</a:t>
            </a:r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Relabel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node with label of successor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267134" y="25109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53340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3339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73914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7910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7242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6573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628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6573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7910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058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9" name="Straight Arrow Connector 18"/>
          <p:cNvCxnSpPr>
            <a:stCxn id="8" idx="5"/>
            <a:endCxn id="18" idx="1"/>
          </p:cNvCxnSpPr>
          <p:nvPr/>
        </p:nvCxnSpPr>
        <p:spPr>
          <a:xfrm>
            <a:off x="77241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254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5530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495800" y="4419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23" name="Straight Arrow Connector 22"/>
          <p:cNvCxnSpPr>
            <a:stCxn id="22" idx="7"/>
            <a:endCxn id="6" idx="3"/>
          </p:cNvCxnSpPr>
          <p:nvPr/>
        </p:nvCxnSpPr>
        <p:spPr>
          <a:xfrm flipV="1">
            <a:off x="4886045" y="3895445"/>
            <a:ext cx="514910" cy="59111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3395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Delete</a:t>
            </a:r>
            <a:r>
              <a:rPr lang="en-US" dirty="0"/>
              <a:t>(v) {  // v for “victim”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sz="2300" dirty="0" err="1"/>
              <a:t>v.left</a:t>
            </a:r>
            <a:r>
              <a:rPr lang="en-US" sz="2300" dirty="0"/>
              <a:t> != null &amp;&amp; </a:t>
            </a:r>
            <a:r>
              <a:rPr lang="en-US" sz="2300" dirty="0" err="1"/>
              <a:t>v.right</a:t>
            </a:r>
            <a:r>
              <a:rPr lang="en-US" sz="2300" dirty="0"/>
              <a:t> != null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Delete2children</a:t>
            </a:r>
            <a:r>
              <a:rPr lang="en-US" dirty="0"/>
              <a:t>(v);</a:t>
            </a:r>
          </a:p>
          <a:p>
            <a:pPr marL="0" indent="0">
              <a:buNone/>
            </a:pPr>
            <a:r>
              <a:rPr lang="en-US" dirty="0"/>
              <a:t>   else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Delete1or0children</a:t>
            </a:r>
            <a:r>
              <a:rPr lang="en-US" dirty="0"/>
              <a:t>(v);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Delete2children</a:t>
            </a:r>
            <a:r>
              <a:rPr lang="en-US" dirty="0"/>
              <a:t>(v) {</a:t>
            </a:r>
            <a:br>
              <a:rPr lang="en-US" dirty="0"/>
            </a:br>
            <a:r>
              <a:rPr lang="en-US" dirty="0"/>
              <a:t>   s = Successor(v);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Delete0or1Children</a:t>
            </a:r>
            <a:r>
              <a:rPr lang="en-US" dirty="0"/>
              <a:t>(s);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v.key</a:t>
            </a:r>
            <a:r>
              <a:rPr lang="en-US" dirty="0"/>
              <a:t> = </a:t>
            </a:r>
            <a:r>
              <a:rPr lang="en-US" dirty="0" err="1"/>
              <a:t>s.key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Delete1or0children</a:t>
            </a:r>
            <a:r>
              <a:rPr lang="en-US" dirty="0"/>
              <a:t>(v) {</a:t>
            </a:r>
          </a:p>
          <a:p>
            <a:pPr marL="0" indent="0">
              <a:buNone/>
            </a:pPr>
            <a:r>
              <a:rPr lang="en-US" dirty="0"/>
              <a:t>   child = </a:t>
            </a:r>
            <a:r>
              <a:rPr lang="en-US" dirty="0" err="1"/>
              <a:t>v.left</a:t>
            </a:r>
            <a:r>
              <a:rPr lang="en-US" dirty="0"/>
              <a:t>, if non-null,</a:t>
            </a:r>
          </a:p>
          <a:p>
            <a:pPr marL="0" indent="0">
              <a:buNone/>
            </a:pPr>
            <a:r>
              <a:rPr lang="en-US" dirty="0"/>
              <a:t>              else </a:t>
            </a:r>
            <a:r>
              <a:rPr lang="en-US" dirty="0" err="1"/>
              <a:t>v.right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(child != null)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child.parent</a:t>
            </a:r>
            <a:r>
              <a:rPr lang="en-US" dirty="0"/>
              <a:t> = </a:t>
            </a:r>
            <a:r>
              <a:rPr lang="en-US" dirty="0" err="1"/>
              <a:t>v.parent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v.parent</a:t>
            </a:r>
            <a:r>
              <a:rPr lang="en-US" dirty="0"/>
              <a:t> != null) {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v.parent.left</a:t>
            </a:r>
            <a:r>
              <a:rPr lang="en-US" dirty="0"/>
              <a:t> == v)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v.parent.left</a:t>
            </a:r>
            <a:r>
              <a:rPr lang="en-US" dirty="0"/>
              <a:t> = child;</a:t>
            </a:r>
          </a:p>
          <a:p>
            <a:pPr marL="0" indent="0">
              <a:buNone/>
            </a:pPr>
            <a:r>
              <a:rPr lang="en-US" dirty="0"/>
              <a:t>      else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v.parent.right</a:t>
            </a:r>
            <a:r>
              <a:rPr lang="en-US" dirty="0"/>
              <a:t> = child;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089" y="5983069"/>
            <a:ext cx="8309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</a:t>
            </a:r>
            <a:r>
              <a:rPr lang="en-US" dirty="0"/>
              <a:t>this code finesses the case where we delete the root of the tree, however it’s</a:t>
            </a:r>
            <a:br>
              <a:rPr lang="en-US" dirty="0"/>
            </a:br>
            <a:r>
              <a:rPr lang="en-US" dirty="0"/>
              <a:t>easier to read.  See the CLR book for (ugly) code that handles root deletion</a:t>
            </a:r>
          </a:p>
        </p:txBody>
      </p:sp>
    </p:spTree>
    <p:extLst>
      <p:ext uri="{BB962C8B-B14F-4D97-AF65-F5344CB8AC3E}">
        <p14:creationId xmlns:p14="http://schemas.microsoft.com/office/powerpoint/2010/main" val="3488591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how long do these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Delete</a:t>
            </a:r>
            <a:r>
              <a:rPr lang="en-US" dirty="0"/>
              <a:t>(v) {  // v for “victim”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sz="2300" dirty="0" err="1"/>
              <a:t>v.left</a:t>
            </a:r>
            <a:r>
              <a:rPr lang="en-US" sz="2300" dirty="0"/>
              <a:t> != null &amp;&amp; </a:t>
            </a:r>
            <a:r>
              <a:rPr lang="en-US" sz="2300" dirty="0" err="1"/>
              <a:t>v.right</a:t>
            </a:r>
            <a:r>
              <a:rPr lang="en-US" sz="2300" dirty="0"/>
              <a:t> != null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Delete2children</a:t>
            </a:r>
            <a:r>
              <a:rPr lang="en-US" dirty="0"/>
              <a:t>(v);</a:t>
            </a:r>
          </a:p>
          <a:p>
            <a:pPr marL="0" indent="0">
              <a:buNone/>
            </a:pPr>
            <a:r>
              <a:rPr lang="en-US" dirty="0"/>
              <a:t>   else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Delete1or0children</a:t>
            </a:r>
            <a:r>
              <a:rPr lang="en-US" dirty="0"/>
              <a:t>(v);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Delete2children</a:t>
            </a:r>
            <a:r>
              <a:rPr lang="en-US" dirty="0"/>
              <a:t>(v) {</a:t>
            </a:r>
            <a:br>
              <a:rPr lang="en-US" dirty="0"/>
            </a:br>
            <a:r>
              <a:rPr lang="en-US" dirty="0"/>
              <a:t>   s = Successor(v);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Delete0or1Children</a:t>
            </a:r>
            <a:r>
              <a:rPr lang="en-US" dirty="0"/>
              <a:t>(s);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v.key</a:t>
            </a:r>
            <a:r>
              <a:rPr lang="en-US" dirty="0"/>
              <a:t> = </a:t>
            </a:r>
            <a:r>
              <a:rPr lang="en-US" dirty="0" err="1"/>
              <a:t>s.key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Delete1or0children</a:t>
            </a:r>
            <a:r>
              <a:rPr lang="en-US" dirty="0"/>
              <a:t>(v) {</a:t>
            </a:r>
          </a:p>
          <a:p>
            <a:pPr marL="0" indent="0">
              <a:buNone/>
            </a:pPr>
            <a:r>
              <a:rPr lang="en-US" dirty="0"/>
              <a:t>   child = </a:t>
            </a:r>
            <a:r>
              <a:rPr lang="en-US" dirty="0" err="1"/>
              <a:t>v.left</a:t>
            </a:r>
            <a:r>
              <a:rPr lang="en-US" dirty="0"/>
              <a:t>, if non-null,</a:t>
            </a:r>
          </a:p>
          <a:p>
            <a:pPr marL="0" indent="0">
              <a:buNone/>
            </a:pPr>
            <a:r>
              <a:rPr lang="en-US" dirty="0"/>
              <a:t>              else </a:t>
            </a:r>
            <a:r>
              <a:rPr lang="en-US" dirty="0" err="1"/>
              <a:t>v.right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(child != null)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child.parent</a:t>
            </a:r>
            <a:r>
              <a:rPr lang="en-US" dirty="0"/>
              <a:t> = </a:t>
            </a:r>
            <a:r>
              <a:rPr lang="en-US" dirty="0" err="1"/>
              <a:t>v.parent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v.parent</a:t>
            </a:r>
            <a:r>
              <a:rPr lang="en-US" dirty="0"/>
              <a:t> != null) {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v.parent.left</a:t>
            </a:r>
            <a:r>
              <a:rPr lang="en-US" dirty="0"/>
              <a:t> == v)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v.parent.left</a:t>
            </a:r>
            <a:r>
              <a:rPr lang="en-US" dirty="0"/>
              <a:t> = child;</a:t>
            </a:r>
          </a:p>
          <a:p>
            <a:pPr marL="0" indent="0">
              <a:buNone/>
            </a:pPr>
            <a:r>
              <a:rPr lang="en-US" dirty="0"/>
              <a:t>      else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v.parent.right</a:t>
            </a:r>
            <a:r>
              <a:rPr lang="en-US" dirty="0"/>
              <a:t> = child;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089" y="5983069"/>
            <a:ext cx="8309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</a:t>
            </a:r>
            <a:r>
              <a:rPr lang="en-US" dirty="0"/>
              <a:t>this code finesses the case where we delete the root of the tree, however it’s</a:t>
            </a:r>
            <a:br>
              <a:rPr lang="en-US" dirty="0"/>
            </a:br>
            <a:r>
              <a:rPr lang="en-US" dirty="0"/>
              <a:t>easier to read.  See the CLR book for (ugly) code that handles root deletion</a:t>
            </a:r>
          </a:p>
        </p:txBody>
      </p:sp>
    </p:spTree>
    <p:extLst>
      <p:ext uri="{BB962C8B-B14F-4D97-AF65-F5344CB8AC3E}">
        <p14:creationId xmlns:p14="http://schemas.microsoft.com/office/powerpoint/2010/main" val="272530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Delete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(v) {  // v for “victim”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if (</a:t>
            </a:r>
            <a:r>
              <a:rPr lang="en-US" sz="2300" dirty="0" err="1">
                <a:solidFill>
                  <a:schemeClr val="bg1">
                    <a:lumMod val="75000"/>
                  </a:schemeClr>
                </a:solidFill>
              </a:rPr>
              <a:t>v.left</a:t>
            </a:r>
            <a:r>
              <a:rPr lang="en-US" sz="2300" dirty="0">
                <a:solidFill>
                  <a:schemeClr val="bg1">
                    <a:lumMod val="75000"/>
                  </a:schemeClr>
                </a:solidFill>
              </a:rPr>
              <a:t> != null &amp;&amp; </a:t>
            </a:r>
            <a:r>
              <a:rPr lang="en-US" sz="2300" dirty="0" err="1">
                <a:solidFill>
                  <a:schemeClr val="bg1">
                    <a:lumMod val="75000"/>
                  </a:schemeClr>
                </a:solidFill>
              </a:rPr>
              <a:t>v.right</a:t>
            </a:r>
            <a:r>
              <a:rPr lang="en-US" sz="2300" dirty="0">
                <a:solidFill>
                  <a:schemeClr val="bg1">
                    <a:lumMod val="75000"/>
                  </a:schemeClr>
                </a:solidFill>
              </a:rPr>
              <a:t> != null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Delete2children(v);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else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Delete1or0children(v);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Delete2children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(v) {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s = Successor(v);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Delete0or1Children(s);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v.key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s.key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Delete1or0children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(v)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child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v.left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if non-null,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  else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v.right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if (child != null)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child.parent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v.parent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v.parent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!= null)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v.parent.left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== v)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v.parent.left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child;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else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v.parent.right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child;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089" y="5983069"/>
            <a:ext cx="8309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</a:t>
            </a:r>
            <a:r>
              <a:rPr lang="en-US" dirty="0"/>
              <a:t>this code finesses the case where we delete the root of the tree, however it’s</a:t>
            </a:r>
            <a:br>
              <a:rPr lang="en-US" dirty="0"/>
            </a:br>
            <a:r>
              <a:rPr lang="en-US" dirty="0"/>
              <a:t>easier to read.  See the CLR book for (ugly) code that handles root deletion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05400" y="2590800"/>
                <a:ext cx="2556534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i="1" dirty="0" smtClean="0">
                          <a:latin typeface="Cambria Math"/>
                        </a:rPr>
                        <m:t>𝑂</m:t>
                      </m:r>
                      <m:r>
                        <a:rPr lang="en-US" sz="8000" i="1" dirty="0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590800"/>
                <a:ext cx="2556534" cy="1323439"/>
              </a:xfrm>
              <a:prstGeom prst="rect">
                <a:avLst/>
              </a:prstGeom>
              <a:blipFill rotWithShape="1">
                <a:blip r:embed="rId2"/>
                <a:stretch>
                  <a:fillRect t="-19355" r="-24582" b="-4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600" y="3810000"/>
                <a:ext cx="259487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i="1" dirty="0" smtClean="0">
                          <a:latin typeface="Cambria Math"/>
                        </a:rPr>
                        <m:t>𝑂</m:t>
                      </m:r>
                      <m:r>
                        <a:rPr lang="en-US" sz="8000" i="1" dirty="0" smtClean="0">
                          <a:latin typeface="Cambria Math"/>
                        </a:rPr>
                        <m:t>(</m:t>
                      </m:r>
                      <m:r>
                        <a:rPr lang="en-US" sz="8000" i="1" dirty="0" smtClean="0">
                          <a:latin typeface="Cambria Math"/>
                        </a:rPr>
                        <m:t>h</m:t>
                      </m:r>
                      <m:r>
                        <a:rPr lang="en-US" sz="8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0000"/>
                <a:ext cx="2594877" cy="1323439"/>
              </a:xfrm>
              <a:prstGeom prst="rect">
                <a:avLst/>
              </a:prstGeom>
              <a:blipFill rotWithShape="1">
                <a:blip r:embed="rId3"/>
                <a:stretch>
                  <a:fillRect t="-19355" r="-23474" b="-4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5800" y="1676400"/>
                <a:ext cx="2594877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i="1" dirty="0" smtClean="0">
                          <a:latin typeface="Cambria Math"/>
                        </a:rPr>
                        <m:t>𝑂</m:t>
                      </m:r>
                      <m:r>
                        <a:rPr lang="en-US" sz="8000" i="1" dirty="0" smtClean="0">
                          <a:latin typeface="Cambria Math"/>
                        </a:rPr>
                        <m:t>(</m:t>
                      </m:r>
                      <m:r>
                        <a:rPr lang="en-US" sz="8000" i="1" dirty="0" smtClean="0">
                          <a:latin typeface="Cambria Math"/>
                        </a:rPr>
                        <m:t>h</m:t>
                      </m:r>
                      <m:r>
                        <a:rPr lang="en-US" sz="80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76400"/>
                <a:ext cx="2594877" cy="1323439"/>
              </a:xfrm>
              <a:prstGeom prst="rect">
                <a:avLst/>
              </a:prstGeom>
              <a:blipFill rotWithShape="1">
                <a:blip r:embed="rId4"/>
                <a:stretch>
                  <a:fillRect t="-19355" r="-23765" b="-4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2073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Introduction to Algorithms </a:t>
            </a:r>
            <a:r>
              <a:rPr lang="en-US" dirty="0"/>
              <a:t>(“CLR book”)</a:t>
            </a:r>
          </a:p>
          <a:p>
            <a:pPr lvl="1"/>
            <a:r>
              <a:rPr lang="en-US" dirty="0"/>
              <a:t>Third edition: chapter 12</a:t>
            </a:r>
          </a:p>
          <a:p>
            <a:pPr lvl="1"/>
            <a:r>
              <a:rPr lang="en-US" dirty="0"/>
              <a:t>Second edition: chapter 13</a:t>
            </a:r>
          </a:p>
          <a:p>
            <a:pPr lvl="1"/>
            <a:r>
              <a:rPr lang="en-US" dirty="0"/>
              <a:t>Don’t need to read section on randomly built binary search trees</a:t>
            </a:r>
          </a:p>
        </p:txBody>
      </p:sp>
    </p:spTree>
    <p:extLst>
      <p:ext uri="{BB962C8B-B14F-4D97-AF65-F5344CB8AC3E}">
        <p14:creationId xmlns:p14="http://schemas.microsoft.com/office/powerpoint/2010/main" val="287867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4419</TotalTime>
  <Words>3023</Words>
  <Application>Microsoft Office PowerPoint</Application>
  <PresentationFormat>On-screen Show (4:3)</PresentationFormat>
  <Paragraphs>747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 Math</vt:lpstr>
      <vt:lpstr>Kootenay</vt:lpstr>
      <vt:lpstr>Office Theme</vt:lpstr>
      <vt:lpstr>Lecture 7 Binary search trees</vt:lpstr>
      <vt:lpstr>Representing collections of objects</vt:lpstr>
      <vt:lpstr>Binary trees</vt:lpstr>
      <vt:lpstr>Inorder traversal</vt:lpstr>
      <vt:lpstr>Inorder traversal</vt:lpstr>
      <vt:lpstr>Binary search trees</vt:lpstr>
      <vt:lpstr>Binary search trees</vt:lpstr>
      <vt:lpstr>Binary search trees</vt:lpstr>
      <vt:lpstr>Binary search trees</vt:lpstr>
      <vt:lpstr>Proposition</vt:lpstr>
      <vt:lpstr>Proposition</vt:lpstr>
      <vt:lpstr>Representing binary search trees</vt:lpstr>
      <vt:lpstr>tree search</vt:lpstr>
      <vt:lpstr>Searching a binary search tree (pseudocode)</vt:lpstr>
      <vt:lpstr>111 review: What do we call this kind of recursion?</vt:lpstr>
      <vt:lpstr>Iterative recursion (aka tail recursion)</vt:lpstr>
      <vt:lpstr>Tail recursion</vt:lpstr>
      <vt:lpstr>Tail recursion</vt:lpstr>
      <vt:lpstr>Tail recursion</vt:lpstr>
      <vt:lpstr>Tail recursion</vt:lpstr>
      <vt:lpstr>performance</vt:lpstr>
      <vt:lpstr>Analysis</vt:lpstr>
      <vt:lpstr>Analysis</vt:lpstr>
      <vt:lpstr>A bad tree to search</vt:lpstr>
      <vt:lpstr>A good tree to search</vt:lpstr>
      <vt:lpstr>A good tree to search</vt:lpstr>
      <vt:lpstr>other operations</vt:lpstr>
      <vt:lpstr>Special-case searches</vt:lpstr>
      <vt:lpstr>Successor</vt:lpstr>
      <vt:lpstr>Successor</vt:lpstr>
      <vt:lpstr>Successor</vt:lpstr>
      <vt:lpstr>Modifying binary search trees</vt:lpstr>
      <vt:lpstr>Insertion</vt:lpstr>
      <vt:lpstr>Insertion code (returns root of tree)</vt:lpstr>
      <vt:lpstr>Analysis: how long does it take?</vt:lpstr>
      <vt:lpstr>Analysis: how long does it take?</vt:lpstr>
      <vt:lpstr>Deletion</vt:lpstr>
      <vt:lpstr>Case 1: Node has no children</vt:lpstr>
      <vt:lpstr>Case 1: Node has no children</vt:lpstr>
      <vt:lpstr>Case 1: Node has no children</vt:lpstr>
      <vt:lpstr>Case 2: Node has one child</vt:lpstr>
      <vt:lpstr>Case 2: Node has one child</vt:lpstr>
      <vt:lpstr>Case 2: Node has one child</vt:lpstr>
      <vt:lpstr>Case 3: Node has two children</vt:lpstr>
      <vt:lpstr>Case 3: Node has two children</vt:lpstr>
      <vt:lpstr>Case 3: Node has two children</vt:lpstr>
      <vt:lpstr>Case 3: Node has two children</vt:lpstr>
      <vt:lpstr>Pseudocode</vt:lpstr>
      <vt:lpstr>Analysis: how long do these take?</vt:lpstr>
      <vt:lpstr>Analysis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MicrosoftAccount\ian@northwestern.edu</cp:lastModifiedBy>
  <cp:revision>372</cp:revision>
  <cp:lastPrinted>2015-04-25T19:46:11Z</cp:lastPrinted>
  <dcterms:created xsi:type="dcterms:W3CDTF">2010-03-27T22:31:10Z</dcterms:created>
  <dcterms:modified xsi:type="dcterms:W3CDTF">2019-04-22T17:42:28Z</dcterms:modified>
</cp:coreProperties>
</file>