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9" r:id="rId3"/>
    <p:sldId id="260" r:id="rId4"/>
    <p:sldId id="261" r:id="rId5"/>
    <p:sldId id="263" r:id="rId6"/>
    <p:sldId id="264" r:id="rId7"/>
    <p:sldId id="257" r:id="rId8"/>
    <p:sldId id="266" r:id="rId9"/>
    <p:sldId id="267" r:id="rId10"/>
    <p:sldId id="268" r:id="rId11"/>
    <p:sldId id="269" r:id="rId12"/>
    <p:sldId id="310" r:id="rId13"/>
    <p:sldId id="270" r:id="rId14"/>
    <p:sldId id="271" r:id="rId15"/>
    <p:sldId id="272" r:id="rId16"/>
    <p:sldId id="311" r:id="rId17"/>
    <p:sldId id="273" r:id="rId18"/>
    <p:sldId id="265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97" d="100"/>
          <a:sy n="97" d="100"/>
        </p:scale>
        <p:origin x="948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5/9/2018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>
                <a:ea typeface="Verdana" pitchFamily="34" charset="0"/>
                <a:cs typeface="Verdana" pitchFamily="34" charset="0"/>
              </a:rPr>
              <a:t>Lecture 10</a:t>
            </a:r>
            <a:br>
              <a:rPr lang="en-US" dirty="0">
                <a:ea typeface="Verdana" pitchFamily="34" charset="0"/>
                <a:cs typeface="Verdana" pitchFamily="34" charset="0"/>
              </a:rPr>
            </a:br>
            <a:r>
              <a:rPr lang="en-US" dirty="0">
                <a:ea typeface="Verdana" pitchFamily="34" charset="0"/>
                <a:cs typeface="Verdana" pitchFamily="34" charset="0"/>
              </a:rPr>
              <a:t>Sorting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EECS-214</a:t>
            </a:r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1900 US Census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Collect information about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every person </a:t>
            </a:r>
            <a:r>
              <a:rPr lang="en-US" dirty="0"/>
              <a:t>in the united states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Age</a:t>
            </a:r>
          </a:p>
          <a:p>
            <a:pPr lvl="1"/>
            <a:r>
              <a:rPr lang="en-US" dirty="0"/>
              <a:t>Sex</a:t>
            </a:r>
          </a:p>
          <a:p>
            <a:pPr lvl="1"/>
            <a:r>
              <a:rPr lang="en-US" dirty="0"/>
              <a:t>Address</a:t>
            </a:r>
          </a:p>
          <a:p>
            <a:pPr lvl="1"/>
            <a:r>
              <a:rPr lang="en-US" dirty="0"/>
              <a:t>Race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Write it all down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Generate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statistics</a:t>
            </a:r>
          </a:p>
          <a:p>
            <a:pPr lvl="1"/>
            <a:r>
              <a:rPr lang="en-US" dirty="0"/>
              <a:t>How many people live in each state?</a:t>
            </a:r>
          </a:p>
          <a:p>
            <a:pPr lvl="1"/>
            <a:r>
              <a:rPr lang="en-US" dirty="0"/>
              <a:t>How many elderly are there in a given neighborhood?</a:t>
            </a:r>
          </a:p>
          <a:p>
            <a:pPr lvl="1"/>
            <a:endParaRPr lang="en-US" dirty="0"/>
          </a:p>
          <a:p>
            <a:r>
              <a:rPr lang="en-US" dirty="0"/>
              <a:t>How do you tally that sort of data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automatically</a:t>
            </a:r>
            <a:r>
              <a:rPr lang="en-US" dirty="0"/>
              <a:t>?</a:t>
            </a:r>
          </a:p>
          <a:p>
            <a:pPr marL="457200" lvl="1" indent="0">
              <a:buNone/>
            </a:pPr>
            <a:r>
              <a:rPr lang="en-US" dirty="0"/>
              <a:t>(no computers in 1900)</a:t>
            </a:r>
          </a:p>
        </p:txBody>
      </p:sp>
    </p:spTree>
    <p:extLst>
      <p:ext uri="{BB962C8B-B14F-4D97-AF65-F5344CB8AC3E}">
        <p14:creationId xmlns:p14="http://schemas.microsoft.com/office/powerpoint/2010/main" val="540691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Herman Hollerith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Statistician and engineer working for the census bureau</a:t>
            </a:r>
          </a:p>
          <a:p>
            <a:pPr lvl="1"/>
            <a:r>
              <a:rPr lang="en-US" dirty="0"/>
              <a:t>Invented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punch cards</a:t>
            </a:r>
          </a:p>
          <a:p>
            <a:pPr lvl="1"/>
            <a:r>
              <a:rPr lang="en-US" dirty="0"/>
              <a:t>And the technology for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processing</a:t>
            </a:r>
            <a:r>
              <a:rPr lang="en-US" b="1" dirty="0"/>
              <a:t> </a:t>
            </a:r>
            <a:r>
              <a:rPr lang="en-US" dirty="0"/>
              <a:t>them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electronically</a:t>
            </a:r>
          </a:p>
          <a:p>
            <a:endParaRPr lang="en-US" dirty="0"/>
          </a:p>
          <a:p>
            <a:r>
              <a:rPr lang="en-US" dirty="0"/>
              <a:t>So 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started a company </a:t>
            </a:r>
            <a:r>
              <a:rPr lang="en-US" dirty="0"/>
              <a:t>to make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punch card machines </a:t>
            </a:r>
            <a:r>
              <a:rPr lang="en-US" dirty="0"/>
              <a:t>for the government</a:t>
            </a:r>
            <a:endParaRPr lang="en-US" b="1" dirty="0"/>
          </a:p>
        </p:txBody>
      </p:sp>
      <p:pic>
        <p:nvPicPr>
          <p:cNvPr id="2050" name="Picture 2" descr="File:Hollerith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499" y="1600200"/>
            <a:ext cx="3138001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03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Hollerith cards (later form)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card per record </a:t>
            </a:r>
            <a:r>
              <a:rPr lang="en-US" dirty="0"/>
              <a:t>in the database</a:t>
            </a:r>
          </a:p>
          <a:p>
            <a:endParaRPr lang="en-US" dirty="0"/>
          </a:p>
          <a:p>
            <a:r>
              <a:rPr lang="en-US" dirty="0"/>
              <a:t>80 columns per card</a:t>
            </a:r>
          </a:p>
          <a:p>
            <a:endParaRPr lang="en-US" dirty="0"/>
          </a:p>
          <a:p>
            <a:r>
              <a:rPr lang="en-US" dirty="0"/>
              <a:t>Each column can be punched in one of 12 places</a:t>
            </a:r>
          </a:p>
          <a:p>
            <a:pPr lvl="1"/>
            <a:r>
              <a:rPr lang="en-US" dirty="0"/>
              <a:t>But originally only one hole per column</a:t>
            </a:r>
          </a:p>
        </p:txBody>
      </p:sp>
      <p:pic>
        <p:nvPicPr>
          <p:cNvPr id="4100" name="Picture 4" descr="http://www.lamef.bordeaux.ensam.fr/~jlc/ASI/Historique/images/Hollerith_card_45_columns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227641"/>
            <a:ext cx="4038600" cy="181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00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://www.yourdictionary.com/images/computer/_PUNCHCD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23" y="914401"/>
            <a:ext cx="8643035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1000" y="5943600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3286" y="5943600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943600"/>
            <a:ext cx="1552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Street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71742" y="5943600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0916" y="5943600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9023" y="5943600"/>
            <a:ext cx="965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Invoice#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0314" y="5943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1108366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://www.ch300imp.com/images/punchca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590549"/>
            <a:ext cx="8572500" cy="535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67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Punch card sorters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Hollerith developed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tabulating machine </a:t>
            </a:r>
            <a:r>
              <a:rPr lang="en-US" dirty="0"/>
              <a:t>that would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Count</a:t>
            </a:r>
            <a:r>
              <a:rPr lang="en-US" b="1" dirty="0"/>
              <a:t> </a:t>
            </a:r>
            <a:r>
              <a:rPr lang="en-US" dirty="0"/>
              <a:t>the number of cards with a given pattern of holds in them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Sort</a:t>
            </a:r>
            <a:r>
              <a:rPr lang="en-US" b="1" dirty="0"/>
              <a:t> </a:t>
            </a:r>
            <a:r>
              <a:rPr lang="en-US" dirty="0"/>
              <a:t>the cards into bins based on which hole was punched in a given column</a:t>
            </a:r>
          </a:p>
        </p:txBody>
      </p:sp>
      <p:pic>
        <p:nvPicPr>
          <p:cNvPr id="1026" name="Picture 2" descr="File:Punch card sorter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95800" y="3600450"/>
            <a:ext cx="40386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www.columbia.edu/acis/history/hh-tabulator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1" y="1213412"/>
            <a:ext cx="2971799" cy="252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4934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Multi-digit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the #$% can you do with a machine that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sorts on just one column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What if you have a bunch of cards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3 digit numbers</a:t>
            </a:r>
            <a:r>
              <a:rPr lang="en-US" dirty="0"/>
              <a:t> punched on them and you want to sort them into order?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38800" y="1600200"/>
            <a:ext cx="30480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Unsorted numbers:</a:t>
            </a:r>
          </a:p>
          <a:p>
            <a:r>
              <a:rPr lang="en-US" dirty="0"/>
              <a:t>345</a:t>
            </a:r>
          </a:p>
          <a:p>
            <a:r>
              <a:rPr lang="en-US" dirty="0"/>
              <a:t>085</a:t>
            </a:r>
          </a:p>
          <a:p>
            <a:r>
              <a:rPr lang="en-US" dirty="0"/>
              <a:t>024</a:t>
            </a:r>
          </a:p>
          <a:p>
            <a:r>
              <a:rPr lang="en-US" dirty="0"/>
              <a:t>978</a:t>
            </a:r>
          </a:p>
          <a:p>
            <a:r>
              <a:rPr lang="en-US" dirty="0"/>
              <a:t>432</a:t>
            </a:r>
          </a:p>
          <a:p>
            <a:r>
              <a:rPr lang="en-US" dirty="0"/>
              <a:t>074</a:t>
            </a:r>
          </a:p>
          <a:p>
            <a:r>
              <a:rPr lang="en-US" dirty="0"/>
              <a:t>001</a:t>
            </a:r>
          </a:p>
          <a:p>
            <a:r>
              <a:rPr lang="en-US" dirty="0"/>
              <a:t>247</a:t>
            </a:r>
          </a:p>
          <a:p>
            <a:r>
              <a:rPr lang="en-US" dirty="0"/>
              <a:t>082</a:t>
            </a:r>
          </a:p>
        </p:txBody>
      </p:sp>
    </p:spTree>
    <p:extLst>
      <p:ext uri="{BB962C8B-B14F-4D97-AF65-F5344CB8AC3E}">
        <p14:creationId xmlns:p14="http://schemas.microsoft.com/office/powerpoint/2010/main" val="2234919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Radix sort:</a:t>
            </a:r>
            <a:br>
              <a:rPr lang="en-US" sz="3600" dirty="0"/>
            </a:br>
            <a:r>
              <a:rPr lang="en-US" sz="3600" dirty="0"/>
              <a:t>The (arguably) first cool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First sort them by their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last digit</a:t>
            </a:r>
          </a:p>
          <a:p>
            <a:pPr lvl="1"/>
            <a:r>
              <a:rPr lang="en-US" dirty="0"/>
              <a:t>This is the basic operation of the card sorter</a:t>
            </a:r>
          </a:p>
          <a:p>
            <a:pPr lvl="1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38800" y="1600200"/>
            <a:ext cx="30480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Unsorted numbers:</a:t>
            </a:r>
          </a:p>
          <a:p>
            <a:r>
              <a:rPr lang="en-US" dirty="0"/>
              <a:t>345</a:t>
            </a:r>
          </a:p>
          <a:p>
            <a:r>
              <a:rPr lang="en-US" dirty="0"/>
              <a:t>085</a:t>
            </a:r>
          </a:p>
          <a:p>
            <a:r>
              <a:rPr lang="en-US" dirty="0"/>
              <a:t>024</a:t>
            </a:r>
          </a:p>
          <a:p>
            <a:r>
              <a:rPr lang="en-US" dirty="0"/>
              <a:t>978</a:t>
            </a:r>
          </a:p>
          <a:p>
            <a:r>
              <a:rPr lang="en-US" dirty="0"/>
              <a:t>432</a:t>
            </a:r>
          </a:p>
          <a:p>
            <a:r>
              <a:rPr lang="en-US" dirty="0"/>
              <a:t>074</a:t>
            </a:r>
          </a:p>
          <a:p>
            <a:r>
              <a:rPr lang="en-US" dirty="0"/>
              <a:t>001</a:t>
            </a:r>
          </a:p>
          <a:p>
            <a:r>
              <a:rPr lang="en-US" dirty="0"/>
              <a:t>247</a:t>
            </a:r>
          </a:p>
          <a:p>
            <a:r>
              <a:rPr lang="en-US" dirty="0"/>
              <a:t>082</a:t>
            </a:r>
          </a:p>
        </p:txBody>
      </p:sp>
    </p:spTree>
    <p:extLst>
      <p:ext uri="{BB962C8B-B14F-4D97-AF65-F5344CB8AC3E}">
        <p14:creationId xmlns:p14="http://schemas.microsoft.com/office/powerpoint/2010/main" val="82137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Radix sort:</a:t>
            </a:r>
            <a:br>
              <a:rPr lang="en-US" sz="3600" dirty="0"/>
            </a:br>
            <a:r>
              <a:rPr lang="en-US" sz="3600" dirty="0"/>
              <a:t>The (arguably) first cool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First sort them by their last digit</a:t>
            </a:r>
          </a:p>
          <a:p>
            <a:pPr lvl="1"/>
            <a:r>
              <a:rPr lang="en-US" dirty="0"/>
              <a:t>Great.  They’re sorted by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last digit</a:t>
            </a:r>
            <a:r>
              <a:rPr lang="en-US" dirty="0"/>
              <a:t>.  Now what?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38800" y="1600200"/>
            <a:ext cx="30480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Sorted numbers:</a:t>
            </a:r>
          </a:p>
          <a:p>
            <a:r>
              <a:rPr lang="en-US" sz="2600" b="1" dirty="0">
                <a:solidFill>
                  <a:schemeClr val="accent5">
                    <a:lumMod val="50000"/>
                  </a:schemeClr>
                </a:solidFill>
              </a:rPr>
              <a:t>001</a:t>
            </a:r>
          </a:p>
          <a:p>
            <a:r>
              <a:rPr lang="en-US" sz="2600" b="1" dirty="0">
                <a:solidFill>
                  <a:srgbClr val="C00000"/>
                </a:solidFill>
              </a:rPr>
              <a:t>432</a:t>
            </a:r>
          </a:p>
          <a:p>
            <a:r>
              <a:rPr lang="en-US" sz="2600" b="1" dirty="0">
                <a:solidFill>
                  <a:srgbClr val="C00000"/>
                </a:solidFill>
              </a:rPr>
              <a:t>082</a:t>
            </a:r>
          </a:p>
          <a:p>
            <a:r>
              <a:rPr lang="en-US" sz="2600" b="1" dirty="0">
                <a:solidFill>
                  <a:schemeClr val="tx2"/>
                </a:solidFill>
              </a:rPr>
              <a:t>024</a:t>
            </a:r>
          </a:p>
          <a:p>
            <a:r>
              <a:rPr lang="en-US" sz="2600" b="1" dirty="0">
                <a:solidFill>
                  <a:schemeClr val="tx2"/>
                </a:solidFill>
              </a:rPr>
              <a:t>074</a:t>
            </a:r>
          </a:p>
          <a:p>
            <a:r>
              <a:rPr lang="en-US" sz="2600" b="1" dirty="0">
                <a:solidFill>
                  <a:schemeClr val="accent3">
                    <a:lumMod val="75000"/>
                  </a:schemeClr>
                </a:solidFill>
              </a:rPr>
              <a:t>345</a:t>
            </a:r>
          </a:p>
          <a:p>
            <a:r>
              <a:rPr lang="en-US" sz="2600" b="1" dirty="0">
                <a:solidFill>
                  <a:schemeClr val="accent3">
                    <a:lumMod val="75000"/>
                  </a:schemeClr>
                </a:solidFill>
              </a:rPr>
              <a:t>085</a:t>
            </a:r>
          </a:p>
          <a:p>
            <a:r>
              <a:rPr lang="en-US" sz="2600" b="1" dirty="0">
                <a:solidFill>
                  <a:schemeClr val="accent4"/>
                </a:solidFill>
              </a:rPr>
              <a:t>247</a:t>
            </a:r>
          </a:p>
          <a:p>
            <a:r>
              <a:rPr lang="en-US" sz="2600" b="1" dirty="0">
                <a:solidFill>
                  <a:schemeClr val="accent4"/>
                </a:solidFill>
              </a:rPr>
              <a:t>978</a:t>
            </a:r>
          </a:p>
        </p:txBody>
      </p:sp>
    </p:spTree>
    <p:extLst>
      <p:ext uri="{BB962C8B-B14F-4D97-AF65-F5344CB8AC3E}">
        <p14:creationId xmlns:p14="http://schemas.microsoft.com/office/powerpoint/2010/main" val="3421680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Radix sort:</a:t>
            </a:r>
            <a:br>
              <a:rPr lang="en-US" sz="3600" dirty="0"/>
            </a:br>
            <a:r>
              <a:rPr lang="en-US" sz="3600" dirty="0"/>
              <a:t>The (arguably) first cool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First sort them by their last digit</a:t>
            </a:r>
          </a:p>
          <a:p>
            <a:r>
              <a:rPr lang="en-US" dirty="0"/>
              <a:t>Now take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all the cards </a:t>
            </a:r>
            <a:r>
              <a:rPr lang="en-US" dirty="0"/>
              <a:t>from all the bins,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 order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38800" y="1600200"/>
            <a:ext cx="30480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Sorted numbers:</a:t>
            </a:r>
          </a:p>
          <a:p>
            <a:r>
              <a:rPr lang="en-US" dirty="0"/>
              <a:t>001</a:t>
            </a:r>
          </a:p>
          <a:p>
            <a:r>
              <a:rPr lang="en-US" dirty="0"/>
              <a:t>432</a:t>
            </a:r>
          </a:p>
          <a:p>
            <a:r>
              <a:rPr lang="en-US" dirty="0"/>
              <a:t>082</a:t>
            </a:r>
          </a:p>
          <a:p>
            <a:r>
              <a:rPr lang="en-US" dirty="0"/>
              <a:t>024</a:t>
            </a:r>
          </a:p>
          <a:p>
            <a:r>
              <a:rPr lang="en-US" dirty="0"/>
              <a:t>074</a:t>
            </a:r>
          </a:p>
          <a:p>
            <a:r>
              <a:rPr lang="en-US" dirty="0"/>
              <a:t>345</a:t>
            </a:r>
          </a:p>
          <a:p>
            <a:r>
              <a:rPr lang="en-US" dirty="0"/>
              <a:t>085</a:t>
            </a:r>
          </a:p>
          <a:p>
            <a:r>
              <a:rPr lang="en-US" dirty="0"/>
              <a:t>247</a:t>
            </a:r>
          </a:p>
          <a:p>
            <a:r>
              <a:rPr lang="en-US" dirty="0"/>
              <a:t>978</a:t>
            </a:r>
          </a:p>
        </p:txBody>
      </p:sp>
    </p:spTree>
    <p:extLst>
      <p:ext uri="{BB962C8B-B14F-4D97-AF65-F5344CB8AC3E}">
        <p14:creationId xmlns:p14="http://schemas.microsoft.com/office/powerpoint/2010/main" val="4073569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Radix sort:</a:t>
            </a:r>
            <a:br>
              <a:rPr lang="en-US" sz="3600" dirty="0"/>
            </a:br>
            <a:r>
              <a:rPr lang="en-US" sz="3600" dirty="0"/>
              <a:t>The (arguably) first cool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First sort them by their last digit</a:t>
            </a:r>
          </a:p>
          <a:p>
            <a:r>
              <a:rPr lang="en-US" dirty="0"/>
              <a:t>Now take all the cards from all the bins, in order</a:t>
            </a:r>
          </a:p>
          <a:p>
            <a:r>
              <a:rPr lang="en-US" dirty="0"/>
              <a:t>And sort them by their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middle digit</a:t>
            </a:r>
          </a:p>
          <a:p>
            <a:pPr lvl="1"/>
            <a:r>
              <a:rPr lang="en-US" dirty="0"/>
              <a:t>The card sorter preserves the order of cards with the same middle digit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38800" y="1600200"/>
            <a:ext cx="30480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Sorted numbers:</a:t>
            </a:r>
          </a:p>
          <a:p>
            <a:r>
              <a:rPr lang="en-US" dirty="0"/>
              <a:t>001</a:t>
            </a:r>
          </a:p>
          <a:p>
            <a:r>
              <a:rPr lang="en-US" dirty="0"/>
              <a:t>432</a:t>
            </a:r>
          </a:p>
          <a:p>
            <a:r>
              <a:rPr lang="en-US" dirty="0"/>
              <a:t>082</a:t>
            </a:r>
          </a:p>
          <a:p>
            <a:r>
              <a:rPr lang="en-US" dirty="0"/>
              <a:t>024</a:t>
            </a:r>
          </a:p>
          <a:p>
            <a:r>
              <a:rPr lang="en-US" dirty="0"/>
              <a:t>074</a:t>
            </a:r>
          </a:p>
          <a:p>
            <a:r>
              <a:rPr lang="en-US" dirty="0"/>
              <a:t>345</a:t>
            </a:r>
          </a:p>
          <a:p>
            <a:r>
              <a:rPr lang="en-US" dirty="0"/>
              <a:t>085</a:t>
            </a:r>
          </a:p>
          <a:p>
            <a:r>
              <a:rPr lang="en-US" dirty="0"/>
              <a:t>247</a:t>
            </a:r>
          </a:p>
          <a:p>
            <a:r>
              <a:rPr lang="en-US" dirty="0"/>
              <a:t>978</a:t>
            </a:r>
          </a:p>
        </p:txBody>
      </p:sp>
    </p:spTree>
    <p:extLst>
      <p:ext uri="{BB962C8B-B14F-4D97-AF65-F5344CB8AC3E}">
        <p14:creationId xmlns:p14="http://schemas.microsoft.com/office/powerpoint/2010/main" val="562291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Radix sort:</a:t>
            </a:r>
            <a:br>
              <a:rPr lang="en-US" sz="3600" dirty="0"/>
            </a:br>
            <a:r>
              <a:rPr lang="en-US" sz="3600" dirty="0"/>
              <a:t>The (arguably) first cool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First sort them by their last digit</a:t>
            </a:r>
          </a:p>
          <a:p>
            <a:r>
              <a:rPr lang="en-US" dirty="0"/>
              <a:t>Now take all the cards from all the bins, in order</a:t>
            </a:r>
          </a:p>
          <a:p>
            <a:r>
              <a:rPr lang="en-US" dirty="0"/>
              <a:t>And sort them by their middle digit</a:t>
            </a:r>
          </a:p>
          <a:p>
            <a:pPr lvl="1"/>
            <a:r>
              <a:rPr lang="en-US" dirty="0"/>
              <a:t>Presto!  The cards are now sorted by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last two </a:t>
            </a:r>
            <a:r>
              <a:rPr lang="en-US" dirty="0"/>
              <a:t>digits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38800" y="1600200"/>
            <a:ext cx="30480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Sorted numbers:</a:t>
            </a:r>
          </a:p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001</a:t>
            </a:r>
          </a:p>
          <a:p>
            <a:r>
              <a:rPr lang="en-US" b="1" dirty="0">
                <a:solidFill>
                  <a:srgbClr val="C00000"/>
                </a:solidFill>
              </a:rPr>
              <a:t>024</a:t>
            </a:r>
          </a:p>
          <a:p>
            <a:r>
              <a:rPr lang="en-US" b="1" dirty="0">
                <a:solidFill>
                  <a:schemeClr val="accent4"/>
                </a:solidFill>
              </a:rPr>
              <a:t>432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345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247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074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978</a:t>
            </a:r>
          </a:p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082</a:t>
            </a:r>
          </a:p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085</a:t>
            </a:r>
          </a:p>
        </p:txBody>
      </p:sp>
    </p:spTree>
    <p:extLst>
      <p:ext uri="{BB962C8B-B14F-4D97-AF65-F5344CB8AC3E}">
        <p14:creationId xmlns:p14="http://schemas.microsoft.com/office/powerpoint/2010/main" val="1636365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Radix sort:</a:t>
            </a:r>
            <a:br>
              <a:rPr lang="en-US" sz="3600" dirty="0"/>
            </a:br>
            <a:r>
              <a:rPr lang="en-US" sz="3600" dirty="0"/>
              <a:t>The (arguably) first cool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First sort them by their last digit</a:t>
            </a:r>
          </a:p>
          <a:p>
            <a:r>
              <a:rPr lang="en-US" dirty="0"/>
              <a:t>Now take all the cards from all the bins, in order</a:t>
            </a:r>
          </a:p>
          <a:p>
            <a:r>
              <a:rPr lang="en-US" dirty="0"/>
              <a:t>And sort them by their middle digit</a:t>
            </a:r>
          </a:p>
          <a:p>
            <a:r>
              <a:rPr lang="en-US" dirty="0"/>
              <a:t>And, finally, resort by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first digit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38800" y="1600200"/>
            <a:ext cx="30480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Sorted numbers:</a:t>
            </a:r>
          </a:p>
          <a:p>
            <a:r>
              <a:rPr lang="en-US" dirty="0"/>
              <a:t>001</a:t>
            </a:r>
          </a:p>
          <a:p>
            <a:r>
              <a:rPr lang="en-US" dirty="0"/>
              <a:t>024</a:t>
            </a:r>
          </a:p>
          <a:p>
            <a:r>
              <a:rPr lang="en-US" dirty="0"/>
              <a:t>432</a:t>
            </a:r>
          </a:p>
          <a:p>
            <a:r>
              <a:rPr lang="en-US" dirty="0"/>
              <a:t>345</a:t>
            </a:r>
          </a:p>
          <a:p>
            <a:r>
              <a:rPr lang="en-US" dirty="0"/>
              <a:t>247</a:t>
            </a:r>
          </a:p>
          <a:p>
            <a:r>
              <a:rPr lang="en-US" dirty="0"/>
              <a:t>074</a:t>
            </a:r>
          </a:p>
          <a:p>
            <a:r>
              <a:rPr lang="en-US" dirty="0"/>
              <a:t>978</a:t>
            </a:r>
          </a:p>
          <a:p>
            <a:r>
              <a:rPr lang="en-US" dirty="0"/>
              <a:t>082</a:t>
            </a:r>
          </a:p>
          <a:p>
            <a:r>
              <a:rPr lang="en-US" dirty="0"/>
              <a:t>085</a:t>
            </a:r>
          </a:p>
        </p:txBody>
      </p:sp>
    </p:spTree>
    <p:extLst>
      <p:ext uri="{BB962C8B-B14F-4D97-AF65-F5344CB8AC3E}">
        <p14:creationId xmlns:p14="http://schemas.microsoft.com/office/powerpoint/2010/main" val="2446175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Radix sort:</a:t>
            </a:r>
            <a:br>
              <a:rPr lang="en-US" sz="3600" dirty="0"/>
            </a:br>
            <a:r>
              <a:rPr lang="en-US" sz="3600" dirty="0"/>
              <a:t>The (arguably) first cool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First sort them by their last digit</a:t>
            </a:r>
          </a:p>
          <a:p>
            <a:r>
              <a:rPr lang="en-US" dirty="0"/>
              <a:t>Now take all the cards from all the bins, in order</a:t>
            </a:r>
          </a:p>
          <a:p>
            <a:r>
              <a:rPr lang="en-US" dirty="0"/>
              <a:t>And sort them by their middle digit</a:t>
            </a:r>
          </a:p>
          <a:p>
            <a:r>
              <a:rPr lang="en-US" dirty="0"/>
              <a:t>And, finally, resort by the first digit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38800" y="1600200"/>
            <a:ext cx="30480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Sorted numbers:</a:t>
            </a:r>
          </a:p>
          <a:p>
            <a:r>
              <a:rPr lang="en-US" b="1" dirty="0">
                <a:solidFill>
                  <a:srgbClr val="C00000"/>
                </a:solidFill>
              </a:rPr>
              <a:t>001</a:t>
            </a:r>
          </a:p>
          <a:p>
            <a:r>
              <a:rPr lang="en-US" b="1" dirty="0">
                <a:solidFill>
                  <a:srgbClr val="C00000"/>
                </a:solidFill>
              </a:rPr>
              <a:t>024</a:t>
            </a:r>
          </a:p>
          <a:p>
            <a:r>
              <a:rPr lang="en-US" b="1" dirty="0">
                <a:solidFill>
                  <a:srgbClr val="C00000"/>
                </a:solidFill>
              </a:rPr>
              <a:t>074</a:t>
            </a:r>
          </a:p>
          <a:p>
            <a:r>
              <a:rPr lang="en-US" b="1" dirty="0">
                <a:solidFill>
                  <a:srgbClr val="C00000"/>
                </a:solidFill>
              </a:rPr>
              <a:t>082</a:t>
            </a:r>
          </a:p>
          <a:p>
            <a:r>
              <a:rPr lang="en-US" b="1" dirty="0">
                <a:solidFill>
                  <a:srgbClr val="C00000"/>
                </a:solidFill>
              </a:rPr>
              <a:t>085</a:t>
            </a:r>
          </a:p>
          <a:p>
            <a:r>
              <a:rPr lang="en-US" b="1" dirty="0">
                <a:solidFill>
                  <a:schemeClr val="tx2"/>
                </a:solidFill>
              </a:rPr>
              <a:t>247</a:t>
            </a:r>
          </a:p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345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432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978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276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Radix sort:</a:t>
            </a:r>
            <a:br>
              <a:rPr lang="en-US" sz="3600" dirty="0"/>
            </a:br>
            <a:r>
              <a:rPr lang="en-US" sz="3600" dirty="0"/>
              <a:t>The (arguably) first cool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First sort them by their last digit</a:t>
            </a:r>
          </a:p>
          <a:p>
            <a:r>
              <a:rPr lang="en-US" dirty="0"/>
              <a:t>Now take all the cards from all the bins, in order</a:t>
            </a:r>
          </a:p>
          <a:p>
            <a:r>
              <a:rPr lang="en-US" dirty="0"/>
              <a:t>And sort them by their middle digit</a:t>
            </a:r>
          </a:p>
          <a:p>
            <a:r>
              <a:rPr lang="en-US" dirty="0"/>
              <a:t>And, finally, resort by the first digit</a:t>
            </a:r>
          </a:p>
          <a:p>
            <a:r>
              <a:rPr lang="en-US" dirty="0"/>
              <a:t>They’re now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properly sorted </a:t>
            </a:r>
            <a:r>
              <a:rPr lang="en-US" dirty="0"/>
              <a:t>by numerical value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38800" y="1600200"/>
            <a:ext cx="30480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Sorted numbers:</a:t>
            </a:r>
          </a:p>
          <a:p>
            <a:r>
              <a:rPr lang="en-US" dirty="0">
                <a:solidFill>
                  <a:schemeClr val="tx1"/>
                </a:solidFill>
              </a:rPr>
              <a:t>001</a:t>
            </a:r>
          </a:p>
          <a:p>
            <a:r>
              <a:rPr lang="en-US" dirty="0">
                <a:solidFill>
                  <a:schemeClr val="tx1"/>
                </a:solidFill>
              </a:rPr>
              <a:t>024</a:t>
            </a:r>
          </a:p>
          <a:p>
            <a:r>
              <a:rPr lang="en-US" dirty="0">
                <a:solidFill>
                  <a:schemeClr val="tx1"/>
                </a:solidFill>
              </a:rPr>
              <a:t>074</a:t>
            </a:r>
          </a:p>
          <a:p>
            <a:r>
              <a:rPr lang="en-US" dirty="0">
                <a:solidFill>
                  <a:schemeClr val="tx1"/>
                </a:solidFill>
              </a:rPr>
              <a:t>082</a:t>
            </a:r>
          </a:p>
          <a:p>
            <a:r>
              <a:rPr lang="en-US" dirty="0">
                <a:solidFill>
                  <a:schemeClr val="tx1"/>
                </a:solidFill>
              </a:rPr>
              <a:t>085</a:t>
            </a:r>
          </a:p>
          <a:p>
            <a:r>
              <a:rPr lang="en-US" dirty="0">
                <a:solidFill>
                  <a:schemeClr val="tx1"/>
                </a:solidFill>
              </a:rPr>
              <a:t>247</a:t>
            </a:r>
          </a:p>
          <a:p>
            <a:r>
              <a:rPr lang="en-US" dirty="0">
                <a:solidFill>
                  <a:schemeClr val="tx1"/>
                </a:solidFill>
              </a:rPr>
              <a:t>345</a:t>
            </a:r>
          </a:p>
          <a:p>
            <a:r>
              <a:rPr lang="en-US" dirty="0">
                <a:solidFill>
                  <a:schemeClr val="tx1"/>
                </a:solidFill>
              </a:rPr>
              <a:t>432</a:t>
            </a:r>
          </a:p>
          <a:p>
            <a:r>
              <a:rPr lang="en-US" dirty="0">
                <a:solidFill>
                  <a:schemeClr val="tx1"/>
                </a:solidFill>
              </a:rPr>
              <a:t>978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78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3810000" cy="452596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How long </a:t>
                </a:r>
                <a:r>
                  <a:rPr lang="en-US" dirty="0"/>
                  <a:t>does Hollerith’s algorithm take?</a:t>
                </a:r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cards</a:t>
                </a:r>
              </a:p>
              <a:p>
                <a:pPr lvl="1"/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 digit numbers</a:t>
                </a:r>
              </a:p>
              <a:p>
                <a:endParaRPr lang="en-US" dirty="0"/>
              </a:p>
              <a:p>
                <a:r>
                  <a:rPr lang="en-US" dirty="0"/>
                  <a:t>The loop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runs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times</a:t>
                </a:r>
                <a:endParaRPr lang="en-US" b="1" dirty="0"/>
              </a:p>
              <a:p>
                <a:pPr lvl="1"/>
                <a:r>
                  <a:rPr lang="en-US" dirty="0"/>
                  <a:t>Each iteration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processes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cards</a:t>
                </a:r>
              </a:p>
              <a:p>
                <a:pPr lvl="2"/>
                <a:r>
                  <a:rPr lang="en-US" dirty="0"/>
                  <a:t>Processing each card takes a constant amount of time</a:t>
                </a:r>
              </a:p>
              <a:p>
                <a:r>
                  <a:rPr lang="en-US" dirty="0"/>
                  <a:t>So the total time is </a:t>
                </a:r>
                <a:r>
                  <a:rPr lang="en-US" dirty="0" err="1"/>
                  <a:t>is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𝒎𝒏</m:t>
                        </m:r>
                      </m:e>
                    </m:d>
                  </m:oMath>
                </a14:m>
                <a:endParaRPr lang="en-US" b="1" i="1" dirty="0">
                  <a:latin typeface="Cambria Math"/>
                </a:endParaRPr>
              </a:p>
              <a:p>
                <a:pPr lvl="1"/>
                <a:r>
                  <a:rPr lang="en-US" dirty="0"/>
                  <a:t>For small values of m, this is really great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3810000" cy="4525963"/>
              </a:xfrm>
              <a:blipFill>
                <a:blip r:embed="rId2"/>
                <a:stretch>
                  <a:fillRect l="-2080" t="-2561" r="-2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600"/>
            <a:ext cx="4495800" cy="39925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For each digit (in reverse order):</a:t>
            </a:r>
          </a:p>
          <a:p>
            <a:pPr marL="0" indent="0">
              <a:buNone/>
            </a:pPr>
            <a:r>
              <a:rPr lang="en-US" dirty="0"/>
              <a:t>    Sort cards into bins</a:t>
            </a:r>
            <a:br>
              <a:rPr lang="en-US" dirty="0"/>
            </a:br>
            <a:r>
              <a:rPr lang="en-US" dirty="0"/>
              <a:t>       (based only on that digit)</a:t>
            </a:r>
          </a:p>
          <a:p>
            <a:pPr marL="0" indent="0">
              <a:buNone/>
            </a:pPr>
            <a:r>
              <a:rPr lang="en-US" dirty="0"/>
              <a:t>    Merge cards into one stack</a:t>
            </a:r>
          </a:p>
        </p:txBody>
      </p:sp>
    </p:spTree>
    <p:extLst>
      <p:ext uri="{BB962C8B-B14F-4D97-AF65-F5344CB8AC3E}">
        <p14:creationId xmlns:p14="http://schemas.microsoft.com/office/powerpoint/2010/main" val="186715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company built on card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Hollerith’s company was very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successful</a:t>
            </a:r>
          </a:p>
          <a:p>
            <a:endParaRPr lang="en-US" dirty="0"/>
          </a:p>
          <a:p>
            <a:r>
              <a:rPr lang="en-US" dirty="0"/>
              <a:t>It eventually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merged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with some other companies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File:Punch card sorter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8200" y="3600450"/>
            <a:ext cx="40386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www.columbia.edu/acis/history/hh-tabulator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1" y="1213412"/>
            <a:ext cx="2971799" cy="252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935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company built </a:t>
            </a:r>
            <a:r>
              <a:rPr lang="en-US"/>
              <a:t>on card </a:t>
            </a:r>
            <a:r>
              <a:rPr lang="en-US" dirty="0"/>
              <a:t>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Hollerith’s company was very successful</a:t>
            </a:r>
          </a:p>
          <a:p>
            <a:endParaRPr lang="en-US" dirty="0"/>
          </a:p>
          <a:p>
            <a:r>
              <a:rPr lang="en-US" dirty="0"/>
              <a:t>It eventually merged with some other companies and renamed itself 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International Business Machines</a:t>
            </a:r>
            <a:r>
              <a:rPr lang="en-US" b="1" dirty="0"/>
              <a:t>”</a:t>
            </a:r>
          </a:p>
        </p:txBody>
      </p:sp>
      <p:pic>
        <p:nvPicPr>
          <p:cNvPr id="7172" name="Picture 4" descr="http://willscullypower.files.wordpress.com/2009/07/ibm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241" y="2286000"/>
            <a:ext cx="3782518" cy="199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2431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sorting is kind of a big deal in computing …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12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Most of the time, radix sort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isn’t appropriate</a:t>
            </a:r>
          </a:p>
          <a:p>
            <a:pPr lvl="1"/>
            <a:r>
              <a:rPr lang="en-US" dirty="0"/>
              <a:t>Don’t know number of digits in advance</a:t>
            </a:r>
          </a:p>
          <a:p>
            <a:pPr lvl="1"/>
            <a:r>
              <a:rPr lang="en-US" dirty="0"/>
              <a:t>Sorting things that aren’t numbers to begin with</a:t>
            </a:r>
          </a:p>
          <a:p>
            <a:endParaRPr lang="en-US" dirty="0"/>
          </a:p>
          <a:p>
            <a:r>
              <a:rPr lang="en-US" dirty="0"/>
              <a:t>Sorting algorithms have been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extensively studied </a:t>
            </a:r>
            <a:r>
              <a:rPr lang="en-US" dirty="0"/>
              <a:t>in computer science</a:t>
            </a:r>
          </a:p>
          <a:p>
            <a:pPr lvl="1"/>
            <a:r>
              <a:rPr lang="en-US" dirty="0"/>
              <a:t>And now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you</a:t>
            </a:r>
            <a:r>
              <a:rPr lang="en-US" b="1" dirty="0"/>
              <a:t> </a:t>
            </a:r>
            <a:r>
              <a:rPr lang="en-US" dirty="0"/>
              <a:t>get to extensively study them too!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546899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Most sort algorithms</a:t>
            </a:r>
          </a:p>
          <a:p>
            <a:r>
              <a:rPr lang="en-US" dirty="0"/>
              <a:t>Take an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array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as input</a:t>
            </a:r>
          </a:p>
          <a:p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rewrite </a:t>
            </a:r>
            <a:r>
              <a:rPr lang="en-US" dirty="0"/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array in place</a:t>
            </a:r>
          </a:p>
          <a:p>
            <a:r>
              <a:rPr lang="en-US" dirty="0"/>
              <a:t>To produce a sorted array with the same data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trick is to design an algorithm that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scales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well as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size of the array </a:t>
            </a:r>
            <a:r>
              <a:rPr lang="en-US" dirty="0"/>
              <a:t>increases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90773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worst </a:t>
            </a:r>
            <a:r>
              <a:rPr lang="en-US" dirty="0"/>
              <a:t>possible sort algorithm not written for comedic effect</a:t>
            </a:r>
          </a:p>
          <a:p>
            <a:endParaRPr lang="en-US" dirty="0"/>
          </a:p>
          <a:p>
            <a:r>
              <a:rPr lang="en-US" dirty="0"/>
              <a:t>Find the smallest element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367796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worst possible sort algorithm</a:t>
            </a:r>
          </a:p>
          <a:p>
            <a:endParaRPr lang="en-US" dirty="0"/>
          </a:p>
          <a:p>
            <a:r>
              <a:rPr lang="en-US" dirty="0"/>
              <a:t>Find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smallest</a:t>
            </a:r>
            <a:r>
              <a:rPr lang="en-US" dirty="0"/>
              <a:t> element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Swap </a:t>
            </a:r>
            <a:r>
              <a:rPr lang="en-US" dirty="0"/>
              <a:t>it with the first element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051460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worst possible sort algorithm</a:t>
            </a:r>
          </a:p>
          <a:p>
            <a:endParaRPr lang="en-US" dirty="0"/>
          </a:p>
          <a:p>
            <a:r>
              <a:rPr lang="en-US" dirty="0"/>
              <a:t>Find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smallest </a:t>
            </a:r>
            <a:r>
              <a:rPr lang="en-US" dirty="0"/>
              <a:t>element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Swap</a:t>
            </a:r>
            <a:r>
              <a:rPr lang="en-US" dirty="0"/>
              <a:t> it with the first element</a:t>
            </a:r>
          </a:p>
          <a:p>
            <a:r>
              <a:rPr lang="en-US" dirty="0"/>
              <a:t>Find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next smallest </a:t>
            </a:r>
            <a:r>
              <a:rPr lang="en-US" dirty="0"/>
              <a:t>element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69130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worst possible sort algorithm</a:t>
            </a:r>
          </a:p>
          <a:p>
            <a:endParaRPr lang="en-US" dirty="0"/>
          </a:p>
          <a:p>
            <a:r>
              <a:rPr lang="en-US" dirty="0"/>
              <a:t>Find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smallest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element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Swap </a:t>
            </a:r>
            <a:r>
              <a:rPr lang="en-US" dirty="0"/>
              <a:t>it with the first element</a:t>
            </a:r>
          </a:p>
          <a:p>
            <a:r>
              <a:rPr lang="en-US" dirty="0"/>
              <a:t>Find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next smallest </a:t>
            </a:r>
            <a:r>
              <a:rPr lang="en-US" dirty="0"/>
              <a:t>element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Swap </a:t>
            </a:r>
            <a:r>
              <a:rPr lang="en-US" dirty="0"/>
              <a:t>it with the second element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92726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worst possible sort algorithm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Repeat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for the rest of the elements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258294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worst possible sort algorithm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Repeat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for the rest of the elements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63100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selection sort suck?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For an array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elements</a:t>
                </a:r>
              </a:p>
              <a:p>
                <a:r>
                  <a:rPr lang="en-US" dirty="0"/>
                  <a:t>The loop in selection sort runs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iterations</a:t>
                </a:r>
              </a:p>
              <a:p>
                <a:r>
                  <a:rPr lang="en-US" dirty="0"/>
                  <a:t>So it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calls </a:t>
                </a:r>
                <a:r>
                  <a:rPr lang="en-US" b="1" dirty="0" err="1">
                    <a:solidFill>
                      <a:schemeClr val="accent6">
                        <a:lumMod val="50000"/>
                      </a:schemeClr>
                    </a:solidFill>
                  </a:rPr>
                  <a:t>FindMin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times</a:t>
                </a:r>
                <a:endParaRPr lang="en-US" b="1" dirty="0"/>
              </a:p>
              <a:p>
                <a:r>
                  <a:rPr lang="en-US" dirty="0" err="1"/>
                  <a:t>FindMin</a:t>
                </a:r>
                <a:r>
                  <a:rPr lang="en-US" dirty="0"/>
                  <a:t> does an exhaustive search of the remainder of the array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3017" t="-2291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err="1"/>
              <a:t>SelectionSort</a:t>
            </a:r>
            <a:r>
              <a:rPr lang="en-US" sz="2000" dirty="0"/>
              <a:t>(a)</a:t>
            </a:r>
          </a:p>
          <a:p>
            <a:pPr marL="0" indent="0">
              <a:buNone/>
            </a:pPr>
            <a:r>
              <a:rPr lang="en-US" sz="2000" dirty="0"/>
              <a:t>  for (i=0; i&lt;</a:t>
            </a:r>
            <a:r>
              <a:rPr lang="en-US" sz="2000" dirty="0" err="1"/>
              <a:t>a.Length</a:t>
            </a:r>
            <a:r>
              <a:rPr lang="en-US" sz="2000" dirty="0"/>
              <a:t>; i++)</a:t>
            </a:r>
          </a:p>
          <a:p>
            <a:pPr marL="0" indent="0">
              <a:buNone/>
            </a:pPr>
            <a:r>
              <a:rPr lang="en-US" sz="2000" dirty="0"/>
              <a:t>     index = </a:t>
            </a:r>
            <a:r>
              <a:rPr lang="en-US" sz="2000" dirty="0" err="1"/>
              <a:t>FindMin</a:t>
            </a:r>
            <a:r>
              <a:rPr lang="en-US" sz="2000" dirty="0"/>
              <a:t>(a, i)</a:t>
            </a:r>
          </a:p>
          <a:p>
            <a:pPr marL="0" indent="0">
              <a:buNone/>
            </a:pPr>
            <a:r>
              <a:rPr lang="en-US" sz="2000" dirty="0"/>
              <a:t>     swap a[i] and a[index]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 err="1"/>
              <a:t>FindMin</a:t>
            </a:r>
            <a:r>
              <a:rPr lang="en-US" sz="2000" dirty="0"/>
              <a:t>(a, start)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minIndex</a:t>
            </a:r>
            <a:r>
              <a:rPr lang="en-US" sz="2000" dirty="0"/>
              <a:t> = start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minValue</a:t>
            </a:r>
            <a:r>
              <a:rPr lang="en-US" sz="2000" dirty="0"/>
              <a:t> = a[start]</a:t>
            </a:r>
          </a:p>
          <a:p>
            <a:pPr marL="0" indent="0">
              <a:buNone/>
            </a:pPr>
            <a:r>
              <a:rPr lang="en-US" sz="2000" dirty="0"/>
              <a:t>   for (i=start+1; i&lt;</a:t>
            </a:r>
            <a:r>
              <a:rPr lang="en-US" sz="2000" dirty="0" err="1"/>
              <a:t>a.Length</a:t>
            </a:r>
            <a:r>
              <a:rPr lang="en-US" sz="2000" dirty="0"/>
              <a:t>; i++)</a:t>
            </a:r>
          </a:p>
          <a:p>
            <a:pPr marL="0" indent="0">
              <a:buNone/>
            </a:pPr>
            <a:r>
              <a:rPr lang="en-US" sz="2000" dirty="0"/>
              <a:t>       if a[i]&lt;</a:t>
            </a:r>
            <a:r>
              <a:rPr lang="en-US" sz="2000" dirty="0" err="1"/>
              <a:t>minValue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</a:t>
            </a:r>
            <a:r>
              <a:rPr lang="en-US" sz="2000" dirty="0" err="1"/>
              <a:t>minValue</a:t>
            </a:r>
            <a:r>
              <a:rPr lang="en-US" sz="2000" dirty="0"/>
              <a:t> = a[i]</a:t>
            </a:r>
          </a:p>
          <a:p>
            <a:pPr marL="0" indent="0">
              <a:buNone/>
            </a:pPr>
            <a:r>
              <a:rPr lang="en-US" sz="2000" dirty="0"/>
              <a:t>          </a:t>
            </a:r>
            <a:r>
              <a:rPr lang="en-US" sz="2000" dirty="0" err="1"/>
              <a:t>minIndex</a:t>
            </a:r>
            <a:r>
              <a:rPr lang="en-US" sz="2000" dirty="0"/>
              <a:t> = I</a:t>
            </a:r>
          </a:p>
          <a:p>
            <a:pPr marL="0" indent="0">
              <a:buNone/>
            </a:pPr>
            <a:r>
              <a:rPr lang="en-US" sz="2000" dirty="0"/>
              <a:t>   return </a:t>
            </a:r>
            <a:r>
              <a:rPr lang="en-US" sz="2000" dirty="0" err="1"/>
              <a:t>minIndex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75386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selection sort suck?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first time </a:t>
                </a:r>
                <a:r>
                  <a:rPr lang="en-US" dirty="0" err="1"/>
                  <a:t>FindMin</a:t>
                </a:r>
                <a:r>
                  <a:rPr lang="en-US" dirty="0"/>
                  <a:t> is called, its loop runs for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iterations</a:t>
                </a:r>
                <a:endParaRPr lang="en-US" b="1" dirty="0"/>
              </a:p>
              <a:p>
                <a:r>
                  <a:rPr lang="en-US" dirty="0"/>
                  <a:t>The second time for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iterations</a:t>
                </a:r>
              </a:p>
              <a:p>
                <a:r>
                  <a:rPr lang="en-US" dirty="0"/>
                  <a:t>The third, for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iterations, etc.</a:t>
                </a:r>
              </a:p>
              <a:p>
                <a:r>
                  <a:rPr lang="en-US" dirty="0"/>
                  <a:t>And so on …</a:t>
                </a:r>
              </a:p>
              <a:p>
                <a:r>
                  <a:rPr lang="en-US" dirty="0"/>
                  <a:t>Until on the last call, it runs just once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2564" t="-2291" r="-3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err="1"/>
              <a:t>SelectionSort</a:t>
            </a:r>
            <a:r>
              <a:rPr lang="en-US" sz="2000" dirty="0"/>
              <a:t>(a)</a:t>
            </a:r>
          </a:p>
          <a:p>
            <a:pPr marL="0" indent="0">
              <a:buNone/>
            </a:pPr>
            <a:r>
              <a:rPr lang="en-US" sz="2000" dirty="0"/>
              <a:t>  for (i=0; i&lt;</a:t>
            </a:r>
            <a:r>
              <a:rPr lang="en-US" sz="2000" dirty="0" err="1"/>
              <a:t>a.Length</a:t>
            </a:r>
            <a:r>
              <a:rPr lang="en-US" sz="2000" dirty="0"/>
              <a:t>; i++)</a:t>
            </a:r>
          </a:p>
          <a:p>
            <a:pPr marL="0" indent="0">
              <a:buNone/>
            </a:pPr>
            <a:r>
              <a:rPr lang="en-US" sz="2000" dirty="0"/>
              <a:t>     index = </a:t>
            </a:r>
            <a:r>
              <a:rPr lang="en-US" sz="2000" dirty="0" err="1"/>
              <a:t>FindMin</a:t>
            </a:r>
            <a:r>
              <a:rPr lang="en-US" sz="2000" dirty="0"/>
              <a:t>(a, i)</a:t>
            </a:r>
          </a:p>
          <a:p>
            <a:pPr marL="0" indent="0">
              <a:buNone/>
            </a:pPr>
            <a:r>
              <a:rPr lang="en-US" sz="2000" dirty="0"/>
              <a:t>     swap a[i] and a[index]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 err="1"/>
              <a:t>FindMin</a:t>
            </a:r>
            <a:r>
              <a:rPr lang="en-US" sz="2000" dirty="0"/>
              <a:t>(a, start)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minIndex</a:t>
            </a:r>
            <a:r>
              <a:rPr lang="en-US" sz="2000" dirty="0"/>
              <a:t> = start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minValue</a:t>
            </a:r>
            <a:r>
              <a:rPr lang="en-US" sz="2000" dirty="0"/>
              <a:t> = a[start]</a:t>
            </a:r>
          </a:p>
          <a:p>
            <a:pPr marL="0" indent="0">
              <a:buNone/>
            </a:pPr>
            <a:r>
              <a:rPr lang="en-US" sz="2000" dirty="0"/>
              <a:t>   for (i=start+1; i&lt;</a:t>
            </a:r>
            <a:r>
              <a:rPr lang="en-US" sz="2000" dirty="0" err="1"/>
              <a:t>a.Length</a:t>
            </a:r>
            <a:r>
              <a:rPr lang="en-US" sz="2000" dirty="0"/>
              <a:t>; i++)</a:t>
            </a:r>
          </a:p>
          <a:p>
            <a:pPr marL="0" indent="0">
              <a:buNone/>
            </a:pPr>
            <a:r>
              <a:rPr lang="en-US" sz="2000" dirty="0"/>
              <a:t>       if a[i]&lt;</a:t>
            </a:r>
            <a:r>
              <a:rPr lang="en-US" sz="2000" dirty="0" err="1"/>
              <a:t>minValue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</a:t>
            </a:r>
            <a:r>
              <a:rPr lang="en-US" sz="2000" dirty="0" err="1"/>
              <a:t>minValue</a:t>
            </a:r>
            <a:r>
              <a:rPr lang="en-US" sz="2000" dirty="0"/>
              <a:t> = a[i]</a:t>
            </a:r>
          </a:p>
          <a:p>
            <a:pPr marL="0" indent="0">
              <a:buNone/>
            </a:pPr>
            <a:r>
              <a:rPr lang="en-US" sz="2000" dirty="0"/>
              <a:t>          </a:t>
            </a:r>
            <a:r>
              <a:rPr lang="en-US" sz="2000" dirty="0" err="1"/>
              <a:t>minIndex</a:t>
            </a:r>
            <a:r>
              <a:rPr lang="en-US" sz="2000" dirty="0"/>
              <a:t> = I</a:t>
            </a:r>
          </a:p>
          <a:p>
            <a:pPr marL="0" indent="0">
              <a:buNone/>
            </a:pPr>
            <a:r>
              <a:rPr lang="en-US" sz="2000" dirty="0"/>
              <a:t>   return </a:t>
            </a:r>
            <a:r>
              <a:rPr lang="en-US" sz="2000" dirty="0" err="1"/>
              <a:t>minIndex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63149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selection sort suck?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total time </a:t>
                </a:r>
                <a:r>
                  <a:rPr lang="en-US" dirty="0"/>
                  <a:t>that loop runs to sort an n element array is therefore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1+2+3+ …+</m:t>
                      </m:r>
                      <m:r>
                        <a:rPr lang="en-US" i="1" dirty="0">
                          <a:latin typeface="Cambria Math"/>
                        </a:rPr>
                        <m:t>𝑛</m:t>
                      </m:r>
                      <m:r>
                        <m:rPr>
                          <m:aln/>
                        </m:rPr>
                        <a:rPr lang="en-US" i="1" dirty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/>
                            </a:rPr>
                            <m:t>𝑖</m:t>
                          </m:r>
                          <m:r>
                            <a:rPr lang="en-US" i="1" dirty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 dirty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/>
                            </a:rPr>
                            <m:t>𝑛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i="1" dirty="0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 dirty="0">
                          <a:latin typeface="Cambria Math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𝑶</m:t>
                      </m:r>
                      <m:r>
                        <a:rPr lang="en-US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p>
                          <m:r>
                            <a:rPr lang="en-US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99561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selection sort suck?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Selection sort is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algorithm</a:t>
                </a:r>
              </a:p>
              <a:p>
                <a:r>
                  <a:rPr lang="en-US" dirty="0"/>
                  <a:t>In fact</a:t>
                </a:r>
              </a:p>
              <a:p>
                <a:pPr lvl="1"/>
                <a:r>
                  <a:rPr lang="en-US" dirty="0"/>
                  <a:t>It’s not only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𝑂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in the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worst case</a:t>
                </a:r>
              </a:p>
              <a:p>
                <a:pPr lvl="1"/>
                <a:r>
                  <a:rPr lang="en-US" dirty="0"/>
                  <a:t>It’s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𝑂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in the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best case</a:t>
                </a:r>
              </a:p>
              <a:p>
                <a:r>
                  <a:rPr lang="en-US" dirty="0"/>
                  <a:t>Now that’s one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crappy </a:t>
                </a:r>
                <a:r>
                  <a:rPr lang="en-US" dirty="0"/>
                  <a:t>sort algorithm!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2564" t="-1213" r="-3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err="1"/>
              <a:t>SelectionSort</a:t>
            </a:r>
            <a:r>
              <a:rPr lang="en-US" sz="2000" dirty="0"/>
              <a:t>(a)</a:t>
            </a:r>
          </a:p>
          <a:p>
            <a:pPr marL="0" indent="0">
              <a:buNone/>
            </a:pPr>
            <a:r>
              <a:rPr lang="en-US" sz="2000" dirty="0"/>
              <a:t>  for (i=0; i&lt;</a:t>
            </a:r>
            <a:r>
              <a:rPr lang="en-US" sz="2000" dirty="0" err="1"/>
              <a:t>a.Length</a:t>
            </a:r>
            <a:r>
              <a:rPr lang="en-US" sz="2000" dirty="0"/>
              <a:t>; i++)</a:t>
            </a:r>
          </a:p>
          <a:p>
            <a:pPr marL="0" indent="0">
              <a:buNone/>
            </a:pPr>
            <a:r>
              <a:rPr lang="en-US" sz="2000" dirty="0"/>
              <a:t>     index = </a:t>
            </a:r>
            <a:r>
              <a:rPr lang="en-US" sz="2000" dirty="0" err="1"/>
              <a:t>FindMin</a:t>
            </a:r>
            <a:r>
              <a:rPr lang="en-US" sz="2000" dirty="0"/>
              <a:t>(a, i)</a:t>
            </a:r>
          </a:p>
          <a:p>
            <a:pPr marL="0" indent="0">
              <a:buNone/>
            </a:pPr>
            <a:r>
              <a:rPr lang="en-US" sz="2000" dirty="0"/>
              <a:t>     swap a[i] and a[index]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 err="1"/>
              <a:t>FindMin</a:t>
            </a:r>
            <a:r>
              <a:rPr lang="en-US" sz="2000" dirty="0"/>
              <a:t>(a, start)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minIndex</a:t>
            </a:r>
            <a:r>
              <a:rPr lang="en-US" sz="2000" dirty="0"/>
              <a:t> = start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minValue</a:t>
            </a:r>
            <a:r>
              <a:rPr lang="en-US" sz="2000" dirty="0"/>
              <a:t> = a[start]</a:t>
            </a:r>
          </a:p>
          <a:p>
            <a:pPr marL="0" indent="0">
              <a:buNone/>
            </a:pPr>
            <a:r>
              <a:rPr lang="en-US" sz="2000" dirty="0"/>
              <a:t>   for (i=start+1; i&lt;</a:t>
            </a:r>
            <a:r>
              <a:rPr lang="en-US" sz="2000" dirty="0" err="1"/>
              <a:t>a.Length</a:t>
            </a:r>
            <a:r>
              <a:rPr lang="en-US" sz="2000" dirty="0"/>
              <a:t>; i++)</a:t>
            </a:r>
          </a:p>
          <a:p>
            <a:pPr marL="0" indent="0">
              <a:buNone/>
            </a:pPr>
            <a:r>
              <a:rPr lang="en-US" sz="2000" dirty="0"/>
              <a:t>       if a[i]&lt;</a:t>
            </a:r>
            <a:r>
              <a:rPr lang="en-US" sz="2000" dirty="0" err="1"/>
              <a:t>minValue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</a:t>
            </a:r>
            <a:r>
              <a:rPr lang="en-US" sz="2000" dirty="0" err="1"/>
              <a:t>minValue</a:t>
            </a:r>
            <a:r>
              <a:rPr lang="en-US" sz="2000" dirty="0"/>
              <a:t> = a[i]</a:t>
            </a:r>
          </a:p>
          <a:p>
            <a:pPr marL="0" indent="0">
              <a:buNone/>
            </a:pPr>
            <a:r>
              <a:rPr lang="en-US" sz="2000" dirty="0"/>
              <a:t>          </a:t>
            </a:r>
            <a:r>
              <a:rPr lang="en-US" sz="2000" dirty="0" err="1"/>
              <a:t>minIndex</a:t>
            </a:r>
            <a:r>
              <a:rPr lang="en-US" sz="2000" dirty="0"/>
              <a:t> = I</a:t>
            </a:r>
          </a:p>
          <a:p>
            <a:pPr marL="0" indent="0">
              <a:buNone/>
            </a:pPr>
            <a:r>
              <a:rPr lang="en-US" sz="2000" dirty="0"/>
              <a:t>   return </a:t>
            </a:r>
            <a:r>
              <a:rPr lang="en-US" sz="2000" dirty="0" err="1"/>
              <a:t>minIndex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29739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Insertion sort:</a:t>
            </a:r>
            <a:br>
              <a:rPr lang="en-US" sz="3600" dirty="0"/>
            </a:br>
            <a:r>
              <a:rPr lang="en-US" sz="3600" dirty="0"/>
              <a:t>A somewhat less crappy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05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Basic idea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Divide </a:t>
            </a:r>
            <a:r>
              <a:rPr lang="en-US" dirty="0"/>
              <a:t>the array into two parts</a:t>
            </a:r>
          </a:p>
          <a:p>
            <a:pPr lvl="1"/>
            <a:r>
              <a:rPr lang="en-US" dirty="0"/>
              <a:t>The beginning of the array is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sorted</a:t>
            </a:r>
          </a:p>
          <a:p>
            <a:pPr lvl="1"/>
            <a:r>
              <a:rPr lang="en-US" dirty="0"/>
              <a:t>The end of the array is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unsorted</a:t>
            </a:r>
          </a:p>
          <a:p>
            <a:pPr marL="514350" indent="-457200"/>
            <a:endParaRPr lang="en-US" dirty="0"/>
          </a:p>
          <a:p>
            <a:pPr marL="514350" indent="-457200"/>
            <a:r>
              <a:rPr lang="en-US" dirty="0"/>
              <a:t>Declare the first element of the array to be a one-element sorted section</a:t>
            </a:r>
          </a:p>
          <a:p>
            <a:pPr marL="514350" indent="-457200"/>
            <a:endParaRPr lang="en-US" dirty="0"/>
          </a:p>
          <a:p>
            <a:pPr marL="514350" indent="-457200"/>
            <a:r>
              <a:rPr lang="en-US" dirty="0"/>
              <a:t>Repeat until done</a:t>
            </a:r>
          </a:p>
          <a:p>
            <a:pPr marL="914400" lvl="1" indent="-457200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Move one element</a:t>
            </a:r>
          </a:p>
          <a:p>
            <a:pPr marL="914400" lvl="1" indent="-457200"/>
            <a:r>
              <a:rPr lang="en-US" dirty="0"/>
              <a:t>From the unsorted part</a:t>
            </a:r>
          </a:p>
          <a:p>
            <a:pPr marL="914400" lvl="1" indent="-457200"/>
            <a:r>
              <a:rPr lang="en-US" dirty="0"/>
              <a:t>To the sorted part</a:t>
            </a:r>
          </a:p>
          <a:p>
            <a:pPr marL="914400" lvl="1" indent="-457200"/>
            <a:r>
              <a:rPr lang="en-US" dirty="0"/>
              <a:t>Placing it in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correct location</a:t>
            </a:r>
          </a:p>
          <a:p>
            <a:pPr marL="914400" lvl="1" indent="-457200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324600" y="2971800"/>
            <a:ext cx="1981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57800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06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</p:spTree>
    <p:extLst>
      <p:ext uri="{BB962C8B-B14F-4D97-AF65-F5344CB8AC3E}">
        <p14:creationId xmlns:p14="http://schemas.microsoft.com/office/powerpoint/2010/main" val="3200513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Insertion sort:</a:t>
            </a:r>
            <a:br>
              <a:rPr lang="en-US" sz="3600" dirty="0"/>
            </a:br>
            <a:r>
              <a:rPr lang="en-US" sz="3600" dirty="0"/>
              <a:t>A somewhat less crappy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Insert</a:t>
            </a:r>
            <a:r>
              <a:rPr lang="en-US" dirty="0"/>
              <a:t>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Insert</a:t>
            </a:r>
            <a:r>
              <a:rPr lang="en-US" dirty="0"/>
              <a:t>(a, position, value)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(i=pos-1;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a[i]&gt;value; i--)</a:t>
            </a:r>
          </a:p>
          <a:p>
            <a:pPr marL="57150" indent="0">
              <a:buNone/>
            </a:pPr>
            <a:r>
              <a:rPr lang="en-US" dirty="0"/>
              <a:t>      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 dirty="0"/>
              <a:t>   a[i+1]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324600" y="2971800"/>
            <a:ext cx="1981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57800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06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</p:spTree>
    <p:extLst>
      <p:ext uri="{BB962C8B-B14F-4D97-AF65-F5344CB8AC3E}">
        <p14:creationId xmlns:p14="http://schemas.microsoft.com/office/powerpoint/2010/main" val="31296198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Inserting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dirty="0" err="1"/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Insert(a,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Insert(a, position,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value</a:t>
            </a:r>
            <a:r>
              <a:rPr lang="en-US" dirty="0"/>
              <a:t>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(i=pos-1;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a[i]&gt;value; i--)</a:t>
            </a:r>
          </a:p>
          <a:p>
            <a:pPr marL="57150" indent="0">
              <a:buNone/>
            </a:pPr>
            <a:r>
              <a:rPr lang="en-US" dirty="0"/>
              <a:t>      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 dirty="0"/>
              <a:t>   a[i+1]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19987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914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8899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2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2505" y="990600"/>
            <a:ext cx="150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value=36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7581900" y="1600200"/>
            <a:ext cx="0" cy="4572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489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Inserting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dirty="0" err="1"/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Insert(a,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Insert(a, position, value)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i=pos-1</a:t>
            </a:r>
            <a:r>
              <a:rPr lang="en-US" dirty="0"/>
              <a:t>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a[i]&gt;value; i--)</a:t>
            </a:r>
          </a:p>
          <a:p>
            <a:pPr marL="57150" indent="0">
              <a:buNone/>
            </a:pPr>
            <a:r>
              <a:rPr lang="en-US" dirty="0"/>
              <a:t>      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 dirty="0"/>
              <a:t>   a[i+1]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19987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914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8899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2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2505" y="990600"/>
            <a:ext cx="150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value=36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77000" y="1818620"/>
            <a:ext cx="381000" cy="23878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81600" y="1295400"/>
            <a:ext cx="16294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Start here</a:t>
            </a:r>
          </a:p>
        </p:txBody>
      </p:sp>
    </p:spTree>
    <p:extLst>
      <p:ext uri="{BB962C8B-B14F-4D97-AF65-F5344CB8AC3E}">
        <p14:creationId xmlns:p14="http://schemas.microsoft.com/office/powerpoint/2010/main" val="41879501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Inserting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dirty="0" err="1"/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Insert(a,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Insert(a, position, value)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(i=pos-1;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a[i]&gt;value</a:t>
            </a:r>
            <a:r>
              <a:rPr lang="en-US" dirty="0"/>
              <a:t>; i--)</a:t>
            </a:r>
          </a:p>
          <a:p>
            <a:pPr marL="57150" indent="0">
              <a:buNone/>
            </a:pPr>
            <a:r>
              <a:rPr lang="en-US" dirty="0"/>
              <a:t>      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 dirty="0"/>
              <a:t>   a[i+1]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19987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914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8899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2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2505" y="990600"/>
            <a:ext cx="150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value=36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77000" y="1818620"/>
            <a:ext cx="381000" cy="23878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81600" y="1295400"/>
            <a:ext cx="1226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Too big</a:t>
            </a:r>
          </a:p>
        </p:txBody>
      </p:sp>
    </p:spTree>
    <p:extLst>
      <p:ext uri="{BB962C8B-B14F-4D97-AF65-F5344CB8AC3E}">
        <p14:creationId xmlns:p14="http://schemas.microsoft.com/office/powerpoint/2010/main" val="13037622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Inserting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dirty="0" err="1"/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Insert(a,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Insert(a, position, value)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(i=pos-1;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a[i]&gt;value; i--)</a:t>
            </a:r>
          </a:p>
          <a:p>
            <a:pPr marL="57150" indent="0">
              <a:buNone/>
            </a:pPr>
            <a:r>
              <a:rPr lang="en-US" b="1" dirty="0"/>
              <a:t>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 dirty="0"/>
              <a:t>   a[i+1]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19987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914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8899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2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2505" y="848380"/>
            <a:ext cx="150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value=36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77000" y="1818620"/>
            <a:ext cx="381000" cy="23878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81600" y="1295400"/>
            <a:ext cx="2597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Copy to next cell</a:t>
            </a:r>
          </a:p>
        </p:txBody>
      </p:sp>
    </p:spTree>
    <p:extLst>
      <p:ext uri="{BB962C8B-B14F-4D97-AF65-F5344CB8AC3E}">
        <p14:creationId xmlns:p14="http://schemas.microsoft.com/office/powerpoint/2010/main" val="16031382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Inserting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dirty="0" err="1"/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Insert(a,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Insert(a, position, value)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(i=pos-1;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a[i]&gt;value; i--)</a:t>
            </a:r>
          </a:p>
          <a:p>
            <a:pPr marL="57150" indent="0">
              <a:buNone/>
            </a:pPr>
            <a:r>
              <a:rPr lang="en-US" b="1" dirty="0"/>
              <a:t>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 dirty="0"/>
              <a:t>   a[i+1]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19987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914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8899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2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2505" y="848380"/>
            <a:ext cx="150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value=36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77000" y="1818620"/>
            <a:ext cx="381000" cy="23878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81600" y="1295400"/>
            <a:ext cx="2597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Copy to next cell</a:t>
            </a:r>
          </a:p>
        </p:txBody>
      </p:sp>
    </p:spTree>
    <p:extLst>
      <p:ext uri="{BB962C8B-B14F-4D97-AF65-F5344CB8AC3E}">
        <p14:creationId xmlns:p14="http://schemas.microsoft.com/office/powerpoint/2010/main" val="22702967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Inserting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dirty="0" err="1"/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Insert(a,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Insert(a, position, value)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(i=pos-1;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a[i]&gt;value;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i--</a:t>
            </a:r>
            <a:r>
              <a:rPr lang="en-US" dirty="0"/>
              <a:t>)</a:t>
            </a:r>
          </a:p>
          <a:p>
            <a:pPr marL="57150" indent="0">
              <a:buNone/>
            </a:pPr>
            <a:r>
              <a:rPr lang="en-US" dirty="0"/>
              <a:t>      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 dirty="0"/>
              <a:t>   a[i+1]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77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19987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914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8899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2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2505" y="848380"/>
            <a:ext cx="150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value=36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77000" y="1818620"/>
            <a:ext cx="0" cy="23878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81600" y="1295400"/>
            <a:ext cx="3100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Try the previous cell</a:t>
            </a:r>
          </a:p>
        </p:txBody>
      </p:sp>
    </p:spTree>
    <p:extLst>
      <p:ext uri="{BB962C8B-B14F-4D97-AF65-F5344CB8AC3E}">
        <p14:creationId xmlns:p14="http://schemas.microsoft.com/office/powerpoint/2010/main" val="37653485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Inserting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dirty="0" err="1"/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Insert(a,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Insert(a, position, value)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(i=pos-1;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a[i]&gt;value</a:t>
            </a:r>
            <a:r>
              <a:rPr lang="en-US" dirty="0"/>
              <a:t>; i--)</a:t>
            </a:r>
          </a:p>
          <a:p>
            <a:pPr marL="57150" indent="0">
              <a:buNone/>
            </a:pPr>
            <a:r>
              <a:rPr lang="en-US" dirty="0"/>
              <a:t>      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 dirty="0"/>
              <a:t>   a[i+1]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77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19987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914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8899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2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2505" y="848380"/>
            <a:ext cx="150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value=36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77000" y="1818620"/>
            <a:ext cx="0" cy="23878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81600" y="1295400"/>
            <a:ext cx="1812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Still too big</a:t>
            </a:r>
          </a:p>
        </p:txBody>
      </p:sp>
    </p:spTree>
    <p:extLst>
      <p:ext uri="{BB962C8B-B14F-4D97-AF65-F5344CB8AC3E}">
        <p14:creationId xmlns:p14="http://schemas.microsoft.com/office/powerpoint/2010/main" val="9274930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Inserting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dirty="0" err="1"/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Insert(a,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Insert(a, position, value)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(i=pos-1;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a[i]&gt;value; i--)</a:t>
            </a:r>
          </a:p>
          <a:p>
            <a:pPr marL="57150" indent="0">
              <a:buNone/>
            </a:pPr>
            <a:r>
              <a:rPr lang="en-US" b="1" dirty="0"/>
              <a:t>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 dirty="0"/>
              <a:t>   a[i+1]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77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19987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914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8899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2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2505" y="848380"/>
            <a:ext cx="150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value=36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77000" y="1818620"/>
            <a:ext cx="0" cy="23878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81600" y="1295400"/>
            <a:ext cx="913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Copy</a:t>
            </a:r>
          </a:p>
        </p:txBody>
      </p:sp>
    </p:spTree>
    <p:extLst>
      <p:ext uri="{BB962C8B-B14F-4D97-AF65-F5344CB8AC3E}">
        <p14:creationId xmlns:p14="http://schemas.microsoft.com/office/powerpoint/2010/main" val="18965863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Inserting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dirty="0" err="1"/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Insert(a,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Insert(a, position, value)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(i=pos-1;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a[i]&gt;value; i--)</a:t>
            </a:r>
          </a:p>
          <a:p>
            <a:pPr marL="57150" indent="0">
              <a:buNone/>
            </a:pPr>
            <a:r>
              <a:rPr lang="en-US" b="1" dirty="0"/>
              <a:t>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/>
              <a:t>   a[i] </a:t>
            </a:r>
            <a:r>
              <a:rPr lang="en-US" dirty="0"/>
              <a:t>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77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19987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914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8899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2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2505" y="848380"/>
            <a:ext cx="150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value=36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77000" y="1818620"/>
            <a:ext cx="0" cy="23878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81600" y="1295400"/>
            <a:ext cx="913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Copy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806337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Inserting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dirty="0" err="1"/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Insert(a,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Insert(a, position, value)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(i=pos-1;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a[i]&gt;value;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i--</a:t>
            </a:r>
            <a:r>
              <a:rPr lang="en-US" dirty="0"/>
              <a:t>)</a:t>
            </a:r>
          </a:p>
          <a:p>
            <a:pPr marL="57150" indent="0">
              <a:buNone/>
            </a:pPr>
            <a:r>
              <a:rPr lang="en-US" dirty="0"/>
              <a:t>      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 dirty="0"/>
              <a:t>   a[i+1]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77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19987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914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8899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2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2505" y="848380"/>
            <a:ext cx="150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value=36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978236" y="1818620"/>
            <a:ext cx="0" cy="23878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81600" y="1295400"/>
            <a:ext cx="3100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Try the previous cell</a:t>
            </a:r>
          </a:p>
        </p:txBody>
      </p:sp>
    </p:spTree>
    <p:extLst>
      <p:ext uri="{BB962C8B-B14F-4D97-AF65-F5344CB8AC3E}">
        <p14:creationId xmlns:p14="http://schemas.microsoft.com/office/powerpoint/2010/main" val="42095452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Inserting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dirty="0" err="1"/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Insert(a,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Insert(a, position, value)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(i=pos-1;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a[i]&gt;value; i--)</a:t>
            </a:r>
          </a:p>
          <a:p>
            <a:pPr marL="57150" indent="0">
              <a:buNone/>
            </a:pPr>
            <a:r>
              <a:rPr lang="en-US" dirty="0"/>
              <a:t>      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 dirty="0"/>
              <a:t>   a[i+1]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77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19987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914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8899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2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2505" y="848380"/>
            <a:ext cx="150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value=36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978236" y="1818620"/>
            <a:ext cx="0" cy="23878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81600" y="1295400"/>
            <a:ext cx="3100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Try the previous cell</a:t>
            </a:r>
          </a:p>
        </p:txBody>
      </p:sp>
    </p:spTree>
    <p:extLst>
      <p:ext uri="{BB962C8B-B14F-4D97-AF65-F5344CB8AC3E}">
        <p14:creationId xmlns:p14="http://schemas.microsoft.com/office/powerpoint/2010/main" val="22996228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Inserting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dirty="0" err="1"/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Insert(a,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Insert(a, position, value)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(i=pos-1;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</a:t>
            </a:r>
            <a:r>
              <a:rPr lang="en-US" b="1" dirty="0">
                <a:solidFill>
                  <a:srgbClr val="FF0000"/>
                </a:solidFill>
              </a:rPr>
              <a:t>a[i]&gt;value</a:t>
            </a:r>
            <a:r>
              <a:rPr lang="en-US" dirty="0"/>
              <a:t>; i--)</a:t>
            </a:r>
          </a:p>
          <a:p>
            <a:pPr marL="57150" indent="0">
              <a:buNone/>
            </a:pPr>
            <a:r>
              <a:rPr lang="en-US" dirty="0"/>
              <a:t>      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 dirty="0"/>
              <a:t>   a[i+1]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77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19987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914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8899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2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2505" y="848380"/>
            <a:ext cx="150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value=36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978236" y="1818620"/>
            <a:ext cx="0" cy="23878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81600" y="1295400"/>
            <a:ext cx="18242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 too big</a:t>
            </a:r>
          </a:p>
        </p:txBody>
      </p:sp>
    </p:spTree>
    <p:extLst>
      <p:ext uri="{BB962C8B-B14F-4D97-AF65-F5344CB8AC3E}">
        <p14:creationId xmlns:p14="http://schemas.microsoft.com/office/powerpoint/2010/main" val="15413325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Inserting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dirty="0" err="1"/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Insert(a,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Insert(a, position, value)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(i=pos-1;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a[i]&gt;value; i--)</a:t>
            </a:r>
          </a:p>
          <a:p>
            <a:pPr marL="57150" indent="0">
              <a:buNone/>
            </a:pPr>
            <a:r>
              <a:rPr lang="en-US" dirty="0"/>
              <a:t>      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a[i+1]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77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19987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914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8899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2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2505" y="848380"/>
            <a:ext cx="150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value=36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97782" y="1818620"/>
            <a:ext cx="0" cy="23878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81600" y="1295400"/>
            <a:ext cx="346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Place value in </a:t>
            </a:r>
            <a:r>
              <a:rPr lang="en-US" sz="2800" b="1" dirty="0"/>
              <a:t>next </a:t>
            </a:r>
            <a:r>
              <a:rPr lang="en-US" sz="2800" dirty="0"/>
              <a:t>cell</a:t>
            </a:r>
          </a:p>
        </p:txBody>
      </p:sp>
    </p:spTree>
    <p:extLst>
      <p:ext uri="{BB962C8B-B14F-4D97-AF65-F5344CB8AC3E}">
        <p14:creationId xmlns:p14="http://schemas.microsoft.com/office/powerpoint/2010/main" val="26978156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Inserting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6705600" cy="4800600"/>
          </a:xfrm>
        </p:spPr>
        <p:txBody>
          <a:bodyPr>
            <a:normAutofit fontScale="92500" lnSpcReduction="20000"/>
          </a:bodyPr>
          <a:lstStyle/>
          <a:p>
            <a:pPr marL="57150" indent="0">
              <a:buNone/>
            </a:pPr>
            <a:r>
              <a:rPr lang="en-US" dirty="0" err="1"/>
              <a:t>InsertionSort</a:t>
            </a:r>
            <a:r>
              <a:rPr lang="en-US" dirty="0"/>
              <a:t>(a)</a:t>
            </a:r>
          </a:p>
          <a:p>
            <a:pPr marL="57150" indent="0">
              <a:buNone/>
            </a:pPr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i++)</a:t>
            </a:r>
          </a:p>
          <a:p>
            <a:pPr marL="57150" indent="0">
              <a:buNone/>
            </a:pPr>
            <a:r>
              <a:rPr lang="en-US" dirty="0"/>
              <a:t>       Insert(a, i, a[i])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Insert(a, position, value)</a:t>
            </a:r>
          </a:p>
          <a:p>
            <a:pPr marL="57150" indent="0">
              <a:buNone/>
            </a:pPr>
            <a:r>
              <a:rPr lang="en-US" dirty="0"/>
              <a:t>   // Copy elements forward</a:t>
            </a:r>
          </a:p>
          <a:p>
            <a:pPr marL="57150" indent="0">
              <a:buNone/>
            </a:pPr>
            <a:r>
              <a:rPr lang="en-US" dirty="0"/>
              <a:t>   // until you find one less than value</a:t>
            </a:r>
          </a:p>
          <a:p>
            <a:pPr marL="57150" indent="0">
              <a:buNone/>
            </a:pPr>
            <a:r>
              <a:rPr lang="en-US" dirty="0"/>
              <a:t>   for (i=pos-1; i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0 &amp;&amp; a[i]&gt;value; i--)</a:t>
            </a:r>
          </a:p>
          <a:p>
            <a:pPr marL="57150" indent="0">
              <a:buNone/>
            </a:pPr>
            <a:r>
              <a:rPr lang="en-US" dirty="0"/>
              <a:t>      a[i+1] = a[i]</a:t>
            </a:r>
          </a:p>
          <a:p>
            <a:pPr marL="57150" indent="0">
              <a:buNone/>
            </a:pPr>
            <a:r>
              <a:rPr lang="en-US" dirty="0"/>
              <a:t>   // Put value in the hole you created</a:t>
            </a:r>
          </a:p>
          <a:p>
            <a:pPr marL="57150" indent="0"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a[i+1] =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48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77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181600" y="22098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257800" y="2971800"/>
            <a:ext cx="19987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91400" y="2971800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8899" y="3124200"/>
            <a:ext cx="78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0243" y="3124200"/>
            <a:ext cx="103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2505" y="848380"/>
            <a:ext cx="150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value=36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97782" y="1818620"/>
            <a:ext cx="0" cy="23878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81600" y="1295400"/>
            <a:ext cx="2893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Finished insertion!</a:t>
            </a:r>
          </a:p>
        </p:txBody>
      </p:sp>
    </p:spTree>
    <p:extLst>
      <p:ext uri="{BB962C8B-B14F-4D97-AF65-F5344CB8AC3E}">
        <p14:creationId xmlns:p14="http://schemas.microsoft.com/office/powerpoint/2010/main" val="18071789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Worst-case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worst case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is when the array is in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reverse order</a:t>
                </a:r>
              </a:p>
              <a:p>
                <a:pPr lvl="1"/>
                <a:r>
                  <a:rPr lang="en-US" dirty="0"/>
                  <a:t>Last element should be first</a:t>
                </a:r>
              </a:p>
              <a:p>
                <a:pPr lvl="1"/>
                <a:r>
                  <a:rPr lang="en-US" dirty="0"/>
                  <a:t>First element should be last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Insert’s loop then runs</a:t>
                </a:r>
              </a:p>
              <a:p>
                <a:pPr lvl="1"/>
                <a:r>
                  <a:rPr lang="en-US" dirty="0"/>
                  <a:t>1 iteration the first time</a:t>
                </a:r>
              </a:p>
              <a:p>
                <a:pPr lvl="1"/>
                <a:r>
                  <a:rPr lang="en-US" dirty="0"/>
                  <a:t>2 iterations the second time</a:t>
                </a:r>
              </a:p>
              <a:p>
                <a:pPr lvl="1"/>
                <a:r>
                  <a:rPr lang="en-US" dirty="0"/>
                  <a:t>3 iterations the third time</a:t>
                </a:r>
              </a:p>
              <a:p>
                <a:pPr lvl="1"/>
                <a:r>
                  <a:rPr lang="en-US" dirty="0"/>
                  <a:t>Etc.</a:t>
                </a:r>
              </a:p>
              <a:p>
                <a:endParaRPr lang="en-US" dirty="0"/>
              </a:p>
              <a:p>
                <a:r>
                  <a:rPr lang="en-US" dirty="0"/>
                  <a:t>Execution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quadratic time</a:t>
                </a:r>
              </a:p>
              <a:p>
                <a:pPr lvl="1"/>
                <a:r>
                  <a:rPr lang="en-US" dirty="0"/>
                  <a:t>I.e.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61" t="-2561" r="-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4525963"/>
          </a:xfrm>
        </p:spPr>
        <p:txBody>
          <a:bodyPr>
            <a:noAutofit/>
          </a:bodyPr>
          <a:lstStyle/>
          <a:p>
            <a:pPr marL="57150" indent="0">
              <a:buNone/>
            </a:pPr>
            <a:r>
              <a:rPr lang="en-US" sz="2000" dirty="0" err="1"/>
              <a:t>InsertionSort</a:t>
            </a:r>
            <a:r>
              <a:rPr lang="en-US" sz="2000" dirty="0"/>
              <a:t>(a)</a:t>
            </a:r>
          </a:p>
          <a:p>
            <a:pPr marL="57150" indent="0">
              <a:buNone/>
            </a:pPr>
            <a:r>
              <a:rPr lang="en-US" sz="2000" dirty="0"/>
              <a:t>   for (</a:t>
            </a:r>
            <a:r>
              <a:rPr lang="en-US" sz="2000" dirty="0" err="1"/>
              <a:t>i</a:t>
            </a:r>
            <a:r>
              <a:rPr lang="en-US" sz="2000" dirty="0"/>
              <a:t>=1; </a:t>
            </a:r>
            <a:r>
              <a:rPr lang="en-US" sz="2000" dirty="0" err="1"/>
              <a:t>i</a:t>
            </a:r>
            <a:r>
              <a:rPr lang="en-US" sz="2000" dirty="0"/>
              <a:t>&lt;</a:t>
            </a:r>
            <a:r>
              <a:rPr lang="en-US" sz="2000" dirty="0" err="1"/>
              <a:t>a.length</a:t>
            </a:r>
            <a:r>
              <a:rPr lang="en-US" sz="2000" dirty="0"/>
              <a:t>; i++)</a:t>
            </a:r>
          </a:p>
          <a:p>
            <a:pPr marL="57150" indent="0">
              <a:buNone/>
            </a:pPr>
            <a:r>
              <a:rPr lang="en-US" sz="2000" dirty="0"/>
              <a:t>       Insert(a, i, a[i])</a:t>
            </a:r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r>
              <a:rPr lang="en-US" sz="2000" dirty="0"/>
              <a:t>Insert(a, position, value)</a:t>
            </a:r>
          </a:p>
          <a:p>
            <a:pPr marL="57150" indent="0">
              <a:buNone/>
            </a:pPr>
            <a:r>
              <a:rPr lang="en-US" sz="2000" dirty="0"/>
              <a:t>   for (i=pos-1; i</a:t>
            </a:r>
            <a:r>
              <a:rPr lang="en-US" sz="2000" dirty="0">
                <a:sym typeface="Symbol"/>
              </a:rPr>
              <a:t></a:t>
            </a:r>
            <a:r>
              <a:rPr lang="en-US" sz="2000" dirty="0"/>
              <a:t>0 &amp;&amp; a[i]&gt;value; i--)</a:t>
            </a:r>
          </a:p>
          <a:p>
            <a:pPr marL="57150" indent="0">
              <a:buNone/>
            </a:pPr>
            <a:r>
              <a:rPr lang="en-US" sz="2000" dirty="0"/>
              <a:t>      a[i+1] = a[i]</a:t>
            </a:r>
          </a:p>
          <a:p>
            <a:pPr marL="57150" indent="0">
              <a:buNone/>
            </a:pPr>
            <a:r>
              <a:rPr lang="en-US" sz="2000" dirty="0"/>
              <a:t>   a[i+1] = value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77543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Best-case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best case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is when the array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already sorted</a:t>
                </a:r>
              </a:p>
              <a:p>
                <a:pPr lvl="1"/>
                <a:r>
                  <a:rPr lang="en-US" dirty="0"/>
                  <a:t>Each element is already in its proper place</a:t>
                </a:r>
              </a:p>
              <a:p>
                <a:pPr lvl="1"/>
                <a:r>
                  <a:rPr lang="en-US" dirty="0"/>
                  <a:t>Insert’s loop runs for 0 iterations each time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Execution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linear time</a:t>
                </a:r>
              </a:p>
              <a:p>
                <a:pPr lvl="1"/>
                <a:r>
                  <a:rPr lang="en-US" dirty="0"/>
                  <a:t>i.e.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Yay!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715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4525963"/>
          </a:xfrm>
        </p:spPr>
        <p:txBody>
          <a:bodyPr>
            <a:noAutofit/>
          </a:bodyPr>
          <a:lstStyle/>
          <a:p>
            <a:pPr marL="57150" indent="0">
              <a:buNone/>
            </a:pPr>
            <a:r>
              <a:rPr lang="en-US" sz="2000" dirty="0" err="1"/>
              <a:t>InsertionSort</a:t>
            </a:r>
            <a:r>
              <a:rPr lang="en-US" sz="2000" dirty="0"/>
              <a:t>(a)</a:t>
            </a:r>
          </a:p>
          <a:p>
            <a:pPr marL="57150" indent="0">
              <a:buNone/>
            </a:pPr>
            <a:r>
              <a:rPr lang="en-US" sz="2000" dirty="0"/>
              <a:t>   for (</a:t>
            </a:r>
            <a:r>
              <a:rPr lang="en-US" sz="2000" dirty="0" err="1"/>
              <a:t>i</a:t>
            </a:r>
            <a:r>
              <a:rPr lang="en-US" sz="2000" dirty="0"/>
              <a:t>=1; </a:t>
            </a:r>
            <a:r>
              <a:rPr lang="en-US" sz="2000" dirty="0" err="1"/>
              <a:t>i</a:t>
            </a:r>
            <a:r>
              <a:rPr lang="en-US" sz="2000" dirty="0"/>
              <a:t>&lt;</a:t>
            </a:r>
            <a:r>
              <a:rPr lang="en-US" sz="2000" dirty="0" err="1"/>
              <a:t>a.length</a:t>
            </a:r>
            <a:r>
              <a:rPr lang="en-US" sz="2000" dirty="0"/>
              <a:t>; i++)</a:t>
            </a:r>
          </a:p>
          <a:p>
            <a:pPr marL="57150" indent="0">
              <a:buNone/>
            </a:pPr>
            <a:r>
              <a:rPr lang="en-US" sz="2000" dirty="0"/>
              <a:t>       Insert(a, i, a[i])</a:t>
            </a:r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r>
              <a:rPr lang="en-US" sz="2000" dirty="0"/>
              <a:t>Insert(a, position, value)</a:t>
            </a:r>
          </a:p>
          <a:p>
            <a:pPr marL="57150" indent="0">
              <a:buNone/>
            </a:pPr>
            <a:r>
              <a:rPr lang="en-US" sz="2000" dirty="0"/>
              <a:t>   for (i=pos-1; i</a:t>
            </a:r>
            <a:r>
              <a:rPr lang="en-US" sz="2000" dirty="0">
                <a:sym typeface="Symbol"/>
              </a:rPr>
              <a:t></a:t>
            </a:r>
            <a:r>
              <a:rPr lang="en-US" sz="2000" dirty="0"/>
              <a:t>0 &amp;&amp; a[i]&gt;value; i--)</a:t>
            </a:r>
          </a:p>
          <a:p>
            <a:pPr marL="57150" indent="0">
              <a:buNone/>
            </a:pPr>
            <a:r>
              <a:rPr lang="en-US" sz="2000" dirty="0"/>
              <a:t>      a[i+1] = a[i]</a:t>
            </a:r>
          </a:p>
          <a:p>
            <a:pPr marL="57150" indent="0">
              <a:buNone/>
            </a:pPr>
            <a:r>
              <a:rPr lang="en-US" sz="2000" dirty="0"/>
              <a:t>   a[i+1] = value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26490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Average-case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Sadly,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average-case</a:t>
                </a:r>
                <a:r>
                  <a:rPr lang="en-US" dirty="0"/>
                  <a:t> performance is </a:t>
                </a:r>
                <a:r>
                  <a:rPr lang="en-US" dirty="0">
                    <a:solidFill>
                      <a:schemeClr val="tx1"/>
                    </a:solidFill>
                  </a:rPr>
                  <a:t>still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quadratic </a:t>
                </a:r>
                <a:r>
                  <a:rPr lang="en-US" dirty="0"/>
                  <a:t>–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Although we won’t prove it in class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715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4525963"/>
          </a:xfrm>
        </p:spPr>
        <p:txBody>
          <a:bodyPr>
            <a:noAutofit/>
          </a:bodyPr>
          <a:lstStyle/>
          <a:p>
            <a:pPr marL="57150" indent="0">
              <a:buNone/>
            </a:pPr>
            <a:r>
              <a:rPr lang="en-US" sz="2000" dirty="0" err="1"/>
              <a:t>InsertionSort</a:t>
            </a:r>
            <a:r>
              <a:rPr lang="en-US" sz="2000" dirty="0"/>
              <a:t>(a)</a:t>
            </a:r>
          </a:p>
          <a:p>
            <a:pPr marL="57150" indent="0">
              <a:buNone/>
            </a:pPr>
            <a:r>
              <a:rPr lang="en-US" sz="2000" dirty="0"/>
              <a:t>   for (</a:t>
            </a:r>
            <a:r>
              <a:rPr lang="en-US" sz="2000" dirty="0" err="1"/>
              <a:t>i</a:t>
            </a:r>
            <a:r>
              <a:rPr lang="en-US" sz="2000" dirty="0"/>
              <a:t>=1; </a:t>
            </a:r>
            <a:r>
              <a:rPr lang="en-US" sz="2000" dirty="0" err="1"/>
              <a:t>i</a:t>
            </a:r>
            <a:r>
              <a:rPr lang="en-US" sz="2000" dirty="0"/>
              <a:t>&lt;</a:t>
            </a:r>
            <a:r>
              <a:rPr lang="en-US" sz="2000" dirty="0" err="1"/>
              <a:t>a.length</a:t>
            </a:r>
            <a:r>
              <a:rPr lang="en-US" sz="2000" dirty="0"/>
              <a:t>; i++)</a:t>
            </a:r>
          </a:p>
          <a:p>
            <a:pPr marL="57150" indent="0">
              <a:buNone/>
            </a:pPr>
            <a:r>
              <a:rPr lang="en-US" sz="2000" dirty="0"/>
              <a:t>       Insert(a, i, a[i])</a:t>
            </a:r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r>
              <a:rPr lang="en-US" sz="2000" dirty="0"/>
              <a:t>Insert(a, position, value)</a:t>
            </a:r>
          </a:p>
          <a:p>
            <a:pPr marL="57150" indent="0">
              <a:buNone/>
            </a:pPr>
            <a:r>
              <a:rPr lang="en-US" sz="2000" dirty="0"/>
              <a:t>   for (i=pos-1; i</a:t>
            </a:r>
            <a:r>
              <a:rPr lang="en-US" sz="2000" dirty="0">
                <a:sym typeface="Symbol"/>
              </a:rPr>
              <a:t></a:t>
            </a:r>
            <a:r>
              <a:rPr lang="en-US" sz="2000" dirty="0"/>
              <a:t>0 &amp;&amp; a[i]&gt;value; i--)</a:t>
            </a:r>
          </a:p>
          <a:p>
            <a:pPr marL="57150" indent="0">
              <a:buNone/>
            </a:pPr>
            <a:r>
              <a:rPr lang="en-US" sz="2000" dirty="0"/>
              <a:t>      a[i+1] = a[i]</a:t>
            </a:r>
          </a:p>
          <a:p>
            <a:pPr marL="57150" indent="0">
              <a:buNone/>
            </a:pPr>
            <a:r>
              <a:rPr lang="en-US" sz="2000" dirty="0"/>
              <a:t>   a[i+1] = value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873661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Insertion sort is usually a bad idea</a:t>
                </a:r>
              </a:p>
              <a:p>
                <a:endParaRPr lang="en-US" dirty="0"/>
              </a:p>
              <a:p>
                <a:r>
                  <a:rPr lang="en-US" dirty="0"/>
                  <a:t>However, its has its applications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is small</a:t>
                </a:r>
              </a:p>
              <a:p>
                <a:pPr lvl="2"/>
                <a:r>
                  <a:rPr lang="en-US" dirty="0"/>
                  <a:t>Easy to write</a:t>
                </a:r>
              </a:p>
              <a:p>
                <a:pPr lvl="2"/>
                <a:r>
                  <a:rPr lang="en-US" dirty="0"/>
                  <a:t>Pretty fast</a:t>
                </a:r>
              </a:p>
              <a:p>
                <a:pPr lvl="1"/>
                <a:r>
                  <a:rPr lang="en-US" dirty="0"/>
                  <a:t>If you know the data will already be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mostly sorted</a:t>
                </a:r>
              </a:p>
              <a:p>
                <a:pPr lvl="2"/>
                <a:r>
                  <a:rPr lang="en-US" dirty="0"/>
                  <a:t>Will run close to linear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62" t="-1213" r="-1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4525963"/>
          </a:xfrm>
        </p:spPr>
        <p:txBody>
          <a:bodyPr>
            <a:noAutofit/>
          </a:bodyPr>
          <a:lstStyle/>
          <a:p>
            <a:pPr marL="57150" indent="0">
              <a:buNone/>
            </a:pPr>
            <a:r>
              <a:rPr lang="en-US" sz="2000" dirty="0" err="1"/>
              <a:t>InsertionSort</a:t>
            </a:r>
            <a:r>
              <a:rPr lang="en-US" sz="2000" dirty="0"/>
              <a:t>(a)</a:t>
            </a:r>
          </a:p>
          <a:p>
            <a:pPr marL="57150" indent="0">
              <a:buNone/>
            </a:pPr>
            <a:r>
              <a:rPr lang="en-US" sz="2000" dirty="0"/>
              <a:t>   for (</a:t>
            </a:r>
            <a:r>
              <a:rPr lang="en-US" sz="2000" dirty="0" err="1"/>
              <a:t>i</a:t>
            </a:r>
            <a:r>
              <a:rPr lang="en-US" sz="2000" dirty="0"/>
              <a:t>=1; </a:t>
            </a:r>
            <a:r>
              <a:rPr lang="en-US" sz="2000" dirty="0" err="1"/>
              <a:t>i</a:t>
            </a:r>
            <a:r>
              <a:rPr lang="en-US" sz="2000" dirty="0"/>
              <a:t>&lt;</a:t>
            </a:r>
            <a:r>
              <a:rPr lang="en-US" sz="2000"/>
              <a:t>a.length; </a:t>
            </a:r>
            <a:r>
              <a:rPr lang="en-US" sz="2000" dirty="0"/>
              <a:t>i++)</a:t>
            </a:r>
          </a:p>
          <a:p>
            <a:pPr marL="57150" indent="0">
              <a:buNone/>
            </a:pPr>
            <a:r>
              <a:rPr lang="en-US" sz="2000" dirty="0"/>
              <a:t>       Insert(a, i, a[i])</a:t>
            </a:r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r>
              <a:rPr lang="en-US" sz="2000" dirty="0"/>
              <a:t>Insert(a, position, value)</a:t>
            </a:r>
          </a:p>
          <a:p>
            <a:pPr marL="57150" indent="0">
              <a:buNone/>
            </a:pPr>
            <a:r>
              <a:rPr lang="en-US" sz="2000" dirty="0"/>
              <a:t>   for (i=pos-1; i</a:t>
            </a:r>
            <a:r>
              <a:rPr lang="en-US" sz="2000" dirty="0">
                <a:sym typeface="Symbol"/>
              </a:rPr>
              <a:t></a:t>
            </a:r>
            <a:r>
              <a:rPr lang="en-US" sz="2000" dirty="0"/>
              <a:t>0 &amp;&amp; a[i]&gt;value; i--)</a:t>
            </a:r>
          </a:p>
          <a:p>
            <a:pPr marL="57150" indent="0">
              <a:buNone/>
            </a:pPr>
            <a:r>
              <a:rPr lang="en-US" sz="2000" dirty="0"/>
              <a:t>      a[i+1] = a[i]</a:t>
            </a:r>
          </a:p>
          <a:p>
            <a:pPr marL="57150" indent="0">
              <a:buNone/>
            </a:pPr>
            <a:r>
              <a:rPr lang="en-US" sz="2000" dirty="0"/>
              <a:t>   a[i+1] = value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396016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/>
              <a:t>Bubble sort:</a:t>
            </a:r>
            <a:br>
              <a:rPr lang="en-US" sz="3600" dirty="0"/>
            </a:br>
            <a:r>
              <a:rPr lang="en-US" sz="2400" dirty="0"/>
              <a:t>When you don’t care enough to send the very best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038600" cy="510540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Algorithm: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Scan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the array,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comparing adjacent </a:t>
                </a:r>
                <a:r>
                  <a:rPr lang="en-US" dirty="0"/>
                  <a:t>elements</a:t>
                </a:r>
              </a:p>
              <a:p>
                <a:pPr lvl="1"/>
                <a:r>
                  <a:rPr lang="en-US" dirty="0"/>
                  <a:t>If a pair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out of order swap them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Repeat </a:t>
                </a:r>
                <a:r>
                  <a:rPr lang="en-US" dirty="0"/>
                  <a:t>until you make a whole scan of the array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without swapping</a:t>
                </a:r>
              </a:p>
              <a:p>
                <a:endParaRPr lang="en-US" dirty="0"/>
              </a:p>
              <a:p>
                <a:r>
                  <a:rPr lang="en-US" dirty="0"/>
                  <a:t>Performance</a:t>
                </a:r>
              </a:p>
              <a:p>
                <a:pPr lvl="1"/>
                <a:r>
                  <a:rPr lang="en-US" dirty="0"/>
                  <a:t>Bad: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worst case </a:t>
                </a:r>
                <a:r>
                  <a:rPr lang="en-US" dirty="0"/>
                  <a:t>and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average case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best case</a:t>
                </a:r>
              </a:p>
              <a:p>
                <a:pPr lvl="2"/>
                <a:r>
                  <a:rPr lang="en-US" dirty="0"/>
                  <a:t>But generally  still slower than insertion sort in practice</a:t>
                </a:r>
              </a:p>
              <a:p>
                <a:endParaRPr lang="en-US" dirty="0"/>
              </a:p>
              <a:p>
                <a:r>
                  <a:rPr lang="en-US" dirty="0"/>
                  <a:t>Only saving grace is that it’s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easy to implement</a:t>
                </a:r>
              </a:p>
              <a:p>
                <a:pPr lvl="1"/>
                <a:r>
                  <a:rPr lang="en-US" dirty="0"/>
                  <a:t>So sometimes used for small values of n in performance non-critical situations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038600" cy="5105400"/>
              </a:xfrm>
              <a:blipFill>
                <a:blip r:embed="rId2"/>
                <a:stretch>
                  <a:fillRect l="-1357" t="-1792"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/>
              <a:t>BubbleSort</a:t>
            </a:r>
            <a:r>
              <a:rPr lang="en-US" sz="2400" dirty="0"/>
              <a:t>(a)</a:t>
            </a:r>
          </a:p>
          <a:p>
            <a:pPr marL="0" indent="0">
              <a:buNone/>
            </a:pPr>
            <a:r>
              <a:rPr lang="en-US" sz="2400" dirty="0"/>
              <a:t>  swapped = true</a:t>
            </a:r>
          </a:p>
          <a:p>
            <a:pPr marL="0" indent="0">
              <a:buNone/>
            </a:pPr>
            <a:r>
              <a:rPr lang="en-US" sz="2400" dirty="0"/>
              <a:t>  while swapped</a:t>
            </a:r>
          </a:p>
          <a:p>
            <a:pPr marL="0" indent="0">
              <a:buNone/>
            </a:pPr>
            <a:r>
              <a:rPr lang="en-US" sz="2400" dirty="0"/>
              <a:t>      swapped = false</a:t>
            </a:r>
          </a:p>
          <a:p>
            <a:pPr marL="0" indent="0">
              <a:buNone/>
            </a:pPr>
            <a:r>
              <a:rPr lang="en-US" sz="2400" dirty="0"/>
              <a:t>      for (i=0; i&lt;a.Length-1; i++)</a:t>
            </a:r>
          </a:p>
          <a:p>
            <a:pPr marL="0" indent="0">
              <a:buNone/>
            </a:pPr>
            <a:r>
              <a:rPr lang="en-US" sz="2400" dirty="0"/>
              <a:t>         if (a[i]&gt;a[i+1])</a:t>
            </a:r>
            <a:br>
              <a:rPr lang="en-US" sz="2400" dirty="0"/>
            </a:br>
            <a:r>
              <a:rPr lang="en-US" sz="2400" dirty="0"/>
              <a:t>            swap a[i] and a[i+1]</a:t>
            </a:r>
          </a:p>
          <a:p>
            <a:pPr marL="0" indent="0">
              <a:buNone/>
            </a:pPr>
            <a:r>
              <a:rPr lang="en-US" sz="2400" dirty="0"/>
              <a:t>            swapped = true</a:t>
            </a:r>
          </a:p>
        </p:txBody>
      </p:sp>
    </p:spTree>
    <p:extLst>
      <p:ext uri="{BB962C8B-B14F-4D97-AF65-F5344CB8AC3E}">
        <p14:creationId xmlns:p14="http://schemas.microsoft.com/office/powerpoint/2010/main" val="20187270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next: </a:t>
            </a:r>
            <a:r>
              <a:rPr lang="en-US" sz="4000" dirty="0"/>
              <a:t>sorts that don’t suck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10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6932</TotalTime>
  <Words>3824</Words>
  <Application>Microsoft Office PowerPoint</Application>
  <PresentationFormat>On-screen Show (4:3)</PresentationFormat>
  <Paragraphs>781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Cambria Math</vt:lpstr>
      <vt:lpstr>Symbol</vt:lpstr>
      <vt:lpstr>Verdana</vt:lpstr>
      <vt:lpstr>Office Theme</vt:lpstr>
      <vt:lpstr>Lecture 10 Sorting 1</vt:lpstr>
      <vt:lpstr>The 1900 US Census</vt:lpstr>
      <vt:lpstr>Herman Hollerith</vt:lpstr>
      <vt:lpstr>Hollerith cards (later form)</vt:lpstr>
      <vt:lpstr>PowerPoint Presentation</vt:lpstr>
      <vt:lpstr>PowerPoint Presentation</vt:lpstr>
      <vt:lpstr>Punch card sorters</vt:lpstr>
      <vt:lpstr>Multi-digit sorting</vt:lpstr>
      <vt:lpstr>Radix sort: The (arguably) first cool algorithm</vt:lpstr>
      <vt:lpstr>Radix sort: The (arguably) first cool algorithm</vt:lpstr>
      <vt:lpstr>Radix sort: The (arguably) first cool algorithm</vt:lpstr>
      <vt:lpstr>Radix sort: The (arguably) first cool algorithm</vt:lpstr>
      <vt:lpstr>Radix sort: The (arguably) first cool algorithm</vt:lpstr>
      <vt:lpstr>Radix sort: The (arguably) first cool algorithm</vt:lpstr>
      <vt:lpstr>Radix sort: The (arguably) first cool algorithm</vt:lpstr>
      <vt:lpstr>Radix sort: The (arguably) first cool algorithm</vt:lpstr>
      <vt:lpstr>Analysis</vt:lpstr>
      <vt:lpstr>A company built on card sorting</vt:lpstr>
      <vt:lpstr>A company built on card sorting</vt:lpstr>
      <vt:lpstr>sorting is kind of a big deal in computing …</vt:lpstr>
      <vt:lpstr>Sort algorithms</vt:lpstr>
      <vt:lpstr>Sort algorithms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Why does selection sort suck?</vt:lpstr>
      <vt:lpstr>Why does selection sort suck?</vt:lpstr>
      <vt:lpstr>Why does selection sort suck?</vt:lpstr>
      <vt:lpstr>Why does selection sort suck?</vt:lpstr>
      <vt:lpstr>Insertion sort: A somewhat less crappy algorithm</vt:lpstr>
      <vt:lpstr>Insertion sort: A somewhat less crappy algorithm</vt:lpstr>
      <vt:lpstr>Inserting an element</vt:lpstr>
      <vt:lpstr>Inserting an element</vt:lpstr>
      <vt:lpstr>Inserting an element</vt:lpstr>
      <vt:lpstr>Inserting an element</vt:lpstr>
      <vt:lpstr>Inserting an element</vt:lpstr>
      <vt:lpstr>Inserting an element</vt:lpstr>
      <vt:lpstr>Inserting an element</vt:lpstr>
      <vt:lpstr>Inserting an element</vt:lpstr>
      <vt:lpstr>Inserting an element</vt:lpstr>
      <vt:lpstr>Inserting an element</vt:lpstr>
      <vt:lpstr>Inserting an element</vt:lpstr>
      <vt:lpstr>Inserting an element</vt:lpstr>
      <vt:lpstr>Inserting an element</vt:lpstr>
      <vt:lpstr>Inserting an element</vt:lpstr>
      <vt:lpstr>Worst-case analysis</vt:lpstr>
      <vt:lpstr>Best-case analysis</vt:lpstr>
      <vt:lpstr>Average-case analysis</vt:lpstr>
      <vt:lpstr>Performance</vt:lpstr>
      <vt:lpstr>Bubble sort: When you don’t care enough to send the very best</vt:lpstr>
      <vt:lpstr>next: sorts that don’t suck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Ian Horswill</cp:lastModifiedBy>
  <cp:revision>156</cp:revision>
  <cp:lastPrinted>2011-05-18T13:58:26Z</cp:lastPrinted>
  <dcterms:created xsi:type="dcterms:W3CDTF">2010-03-27T22:31:10Z</dcterms:created>
  <dcterms:modified xsi:type="dcterms:W3CDTF">2018-05-09T16:54:26Z</dcterms:modified>
</cp:coreProperties>
</file>