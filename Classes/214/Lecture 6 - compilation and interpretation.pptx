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71"/>
  </p:notesMasterIdLst>
  <p:sldIdLst>
    <p:sldId id="256" r:id="rId2"/>
    <p:sldId id="323" r:id="rId3"/>
    <p:sldId id="267" r:id="rId4"/>
    <p:sldId id="269" r:id="rId5"/>
    <p:sldId id="268" r:id="rId6"/>
    <p:sldId id="270" r:id="rId7"/>
    <p:sldId id="271" r:id="rId8"/>
    <p:sldId id="272" r:id="rId9"/>
    <p:sldId id="273" r:id="rId10"/>
    <p:sldId id="274" r:id="rId11"/>
    <p:sldId id="259" r:id="rId12"/>
    <p:sldId id="264" r:id="rId13"/>
    <p:sldId id="277" r:id="rId14"/>
    <p:sldId id="278" r:id="rId15"/>
    <p:sldId id="275" r:id="rId16"/>
    <p:sldId id="279" r:id="rId17"/>
    <p:sldId id="280" r:id="rId18"/>
    <p:sldId id="281" r:id="rId19"/>
    <p:sldId id="282" r:id="rId20"/>
    <p:sldId id="283" r:id="rId21"/>
    <p:sldId id="300" r:id="rId22"/>
    <p:sldId id="286" r:id="rId23"/>
    <p:sldId id="293" r:id="rId24"/>
    <p:sldId id="292" r:id="rId25"/>
    <p:sldId id="291" r:id="rId26"/>
    <p:sldId id="290" r:id="rId27"/>
    <p:sldId id="294" r:id="rId28"/>
    <p:sldId id="289" r:id="rId29"/>
    <p:sldId id="295" r:id="rId30"/>
    <p:sldId id="288" r:id="rId31"/>
    <p:sldId id="287" r:id="rId32"/>
    <p:sldId id="284" r:id="rId33"/>
    <p:sldId id="276" r:id="rId34"/>
    <p:sldId id="261" r:id="rId35"/>
    <p:sldId id="297" r:id="rId36"/>
    <p:sldId id="265" r:id="rId37"/>
    <p:sldId id="266" r:id="rId38"/>
    <p:sldId id="298" r:id="rId39"/>
    <p:sldId id="299" r:id="rId40"/>
    <p:sldId id="301" r:id="rId41"/>
    <p:sldId id="324" r:id="rId42"/>
    <p:sldId id="325" r:id="rId43"/>
    <p:sldId id="262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2" r:id="rId64"/>
    <p:sldId id="343" r:id="rId65"/>
    <p:sldId id="328" r:id="rId66"/>
    <p:sldId id="330" r:id="rId67"/>
    <p:sldId id="331" r:id="rId68"/>
    <p:sldId id="341" r:id="rId69"/>
    <p:sldId id="321" r:id="rId7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6" autoAdjust="0"/>
    <p:restoredTop sz="94687" autoAdjust="0"/>
  </p:normalViewPr>
  <p:slideViewPr>
    <p:cSldViewPr>
      <p:cViewPr varScale="1">
        <p:scale>
          <a:sx n="99" d="100"/>
          <a:sy n="99" d="100"/>
        </p:scale>
        <p:origin x="1338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495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96D679-74C2-49C8-8F82-10B1F068EF19}" type="datetimeFigureOut">
              <a:rPr lang="en-US" smtClean="0"/>
              <a:t>4/19/2019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98775A-A0C3-4976-949B-ECA6E2B7B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504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98775A-A0C3-4976-949B-ECA6E2B7B35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794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98775A-A0C3-4976-949B-ECA6E2B7B35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21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86200"/>
            <a:ext cx="7772400" cy="1470025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5334000"/>
            <a:ext cx="6400800" cy="762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63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400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075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4/19/2019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83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4/19/2019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206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4/19/2019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800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4/19/2019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886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4/19/2019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203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4/19/2019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518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980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788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otenay" pitchFamily="2" charset="0"/>
              </a:defRPr>
            </a:lvl1pPr>
          </a:lstStyle>
          <a:p>
            <a:fld id="{78F7F9AA-A437-4C1D-B7A7-132C663DC277}" type="datetimeFigureOut">
              <a:rPr lang="en-US" smtClean="0"/>
              <a:pPr/>
              <a:t>4/19/2019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otenay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otenay" pitchFamily="2" charset="0"/>
              </a:defRPr>
            </a:lvl1pPr>
          </a:lstStyle>
          <a:p>
            <a:fld id="{54A6550D-5249-4695-AA6F-4029ECE97D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711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Kootenay" pitchFamily="2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>
              <a:lumMod val="75000"/>
              <a:lumOff val="25000"/>
            </a:schemeClr>
          </a:solidFill>
          <a:latin typeface="Kootenay" pitchFamily="2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>
              <a:lumMod val="75000"/>
              <a:lumOff val="25000"/>
            </a:schemeClr>
          </a:solidFill>
          <a:latin typeface="Kootenay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Kootenay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75000"/>
              <a:lumOff val="25000"/>
            </a:schemeClr>
          </a:solidFill>
          <a:latin typeface="Kootenay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75000"/>
              <a:lumOff val="25000"/>
            </a:schemeClr>
          </a:solidFill>
          <a:latin typeface="Kootenay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>
                <a:latin typeface="Kootenay" pitchFamily="2" charset="0"/>
                <a:ea typeface="Verdana" pitchFamily="34" charset="0"/>
                <a:cs typeface="Verdana" pitchFamily="34" charset="0"/>
              </a:rPr>
              <a:t>Lecture 6</a:t>
            </a:r>
            <a:br>
              <a:rPr lang="en-US" dirty="0">
                <a:latin typeface="Kootenay" pitchFamily="2" charset="0"/>
                <a:ea typeface="Verdana" pitchFamily="34" charset="0"/>
                <a:cs typeface="Verdana" pitchFamily="34" charset="0"/>
              </a:rPr>
            </a:br>
            <a:r>
              <a:rPr lang="en-US" dirty="0">
                <a:latin typeface="Kootenay" pitchFamily="2" charset="0"/>
                <a:ea typeface="Verdana" pitchFamily="34" charset="0"/>
                <a:cs typeface="Verdana" pitchFamily="34" charset="0"/>
              </a:rPr>
              <a:t>How does compilation and interpretation really work?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Kootenay" pitchFamily="2" charset="0"/>
              </a:rPr>
              <a:t>EECS-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214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Kooten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322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study programming languages?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1449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You may want to implement a </a:t>
            </a:r>
            <a:r>
              <a:rPr lang="en-US" b="1" dirty="0">
                <a:solidFill>
                  <a:srgbClr val="E46C0A"/>
                </a:solidFill>
              </a:rPr>
              <a:t>scripting language </a:t>
            </a:r>
            <a:r>
              <a:rPr lang="en-US" dirty="0"/>
              <a:t>or </a:t>
            </a:r>
            <a:r>
              <a:rPr lang="en-US" b="1" dirty="0">
                <a:solidFill>
                  <a:srgbClr val="E46C0A"/>
                </a:solidFill>
              </a:rPr>
              <a:t>macro language</a:t>
            </a:r>
            <a:r>
              <a:rPr lang="en-US" b="1" dirty="0"/>
              <a:t> </a:t>
            </a:r>
            <a:r>
              <a:rPr lang="en-US" dirty="0"/>
              <a:t>for an application you’re working on</a:t>
            </a:r>
          </a:p>
          <a:p>
            <a:pPr lvl="1"/>
            <a:r>
              <a:rPr lang="en-US" dirty="0"/>
              <a:t>Word, Excel, Web browsers, etc.</a:t>
            </a:r>
          </a:p>
          <a:p>
            <a:endParaRPr lang="en-US" dirty="0"/>
          </a:p>
          <a:p>
            <a:r>
              <a:rPr lang="en-US" dirty="0"/>
              <a:t>You may be working on a problem for which typical </a:t>
            </a:r>
            <a:r>
              <a:rPr lang="en-US" b="1" dirty="0">
                <a:solidFill>
                  <a:srgbClr val="E46C0A"/>
                </a:solidFill>
              </a:rPr>
              <a:t>programming paradigms are inappropriate</a:t>
            </a:r>
          </a:p>
          <a:p>
            <a:pPr lvl="1"/>
            <a:r>
              <a:rPr lang="en-US" dirty="0"/>
              <a:t>Make a new paradigm!</a:t>
            </a:r>
          </a:p>
          <a:p>
            <a:pPr lvl="1"/>
            <a:r>
              <a:rPr lang="en-US" dirty="0"/>
              <a:t>Design your own language</a:t>
            </a:r>
          </a:p>
          <a:p>
            <a:pPr lvl="1"/>
            <a:r>
              <a:rPr lang="en-US" dirty="0"/>
              <a:t>Make a simple interpreter for it</a:t>
            </a:r>
          </a:p>
          <a:p>
            <a:endParaRPr lang="en-US" dirty="0"/>
          </a:p>
          <a:p>
            <a:r>
              <a:rPr lang="en-US" dirty="0"/>
              <a:t>You’ll be making a simple interpreter for </a:t>
            </a:r>
            <a:r>
              <a:rPr lang="en-US" b="1" dirty="0">
                <a:solidFill>
                  <a:srgbClr val="E46C0A"/>
                </a:solidFill>
              </a:rPr>
              <a:t>assignment 2</a:t>
            </a:r>
          </a:p>
        </p:txBody>
      </p:sp>
    </p:spTree>
    <p:extLst>
      <p:ext uri="{BB962C8B-B14F-4D97-AF65-F5344CB8AC3E}">
        <p14:creationId xmlns:p14="http://schemas.microsoft.com/office/powerpoint/2010/main" val="760972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language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Computer </a:t>
            </a:r>
            <a:r>
              <a:rPr lang="en-US" b="1" dirty="0">
                <a:solidFill>
                  <a:srgbClr val="E46C0A"/>
                </a:solidFill>
              </a:rPr>
              <a:t>hardware</a:t>
            </a:r>
            <a:r>
              <a:rPr lang="en-US" dirty="0"/>
              <a:t> is designed to do</a:t>
            </a:r>
          </a:p>
          <a:p>
            <a:pPr lvl="1"/>
            <a:r>
              <a:rPr lang="en-US" dirty="0"/>
              <a:t>A very </a:t>
            </a:r>
            <a:r>
              <a:rPr lang="en-US" b="1" dirty="0">
                <a:solidFill>
                  <a:srgbClr val="E46C0A"/>
                </a:solidFill>
              </a:rPr>
              <a:t>limited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set of operations</a:t>
            </a:r>
          </a:p>
          <a:p>
            <a:pPr lvl="1"/>
            <a:r>
              <a:rPr lang="en-US" dirty="0"/>
              <a:t>Very </a:t>
            </a:r>
            <a:r>
              <a:rPr lang="en-US" b="1" dirty="0">
                <a:solidFill>
                  <a:srgbClr val="E46C0A"/>
                </a:solidFill>
              </a:rPr>
              <a:t>fast</a:t>
            </a:r>
          </a:p>
          <a:p>
            <a:pPr lvl="1"/>
            <a:r>
              <a:rPr lang="en-US" dirty="0"/>
              <a:t>Very </a:t>
            </a:r>
            <a:r>
              <a:rPr lang="en-US" b="1" dirty="0">
                <a:solidFill>
                  <a:srgbClr val="E46C0A"/>
                </a:solidFill>
              </a:rPr>
              <a:t>cheaply</a:t>
            </a:r>
          </a:p>
          <a:p>
            <a:pPr lvl="1"/>
            <a:endParaRPr lang="en-US" dirty="0"/>
          </a:p>
          <a:p>
            <a:r>
              <a:rPr lang="en-US" dirty="0"/>
              <a:t>Basically </a:t>
            </a:r>
            <a:r>
              <a:rPr lang="en-US" b="1" dirty="0">
                <a:solidFill>
                  <a:srgbClr val="E46C0A"/>
                </a:solidFill>
              </a:rPr>
              <a:t>simple operations </a:t>
            </a:r>
            <a:r>
              <a:rPr lang="en-US" dirty="0"/>
              <a:t>on elements of a big array (</a:t>
            </a:r>
            <a:r>
              <a:rPr lang="en-US" b="1" dirty="0">
                <a:solidFill>
                  <a:srgbClr val="E46C0A"/>
                </a:solidFill>
              </a:rPr>
              <a:t>memory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m[</a:t>
            </a:r>
            <a:r>
              <a:rPr lang="en-US" b="1" dirty="0"/>
              <a:t>a</a:t>
            </a:r>
            <a:r>
              <a:rPr lang="en-US" dirty="0"/>
              <a:t>] = m[</a:t>
            </a:r>
            <a:r>
              <a:rPr lang="en-US" b="1" dirty="0"/>
              <a:t>b</a:t>
            </a:r>
            <a:r>
              <a:rPr lang="en-US" dirty="0"/>
              <a:t>] op m[</a:t>
            </a:r>
            <a:r>
              <a:rPr lang="en-US" b="1" dirty="0"/>
              <a:t>c</a:t>
            </a:r>
            <a:r>
              <a:rPr lang="en-US" dirty="0"/>
              <a:t>]</a:t>
            </a:r>
          </a:p>
          <a:p>
            <a:pPr lvl="1"/>
            <a:r>
              <a:rPr lang="en-US" dirty="0"/>
              <a:t>An instruction specifies </a:t>
            </a:r>
            <a:r>
              <a:rPr lang="en-US" b="1" dirty="0"/>
              <a:t>a</a:t>
            </a:r>
            <a:r>
              <a:rPr lang="en-US" dirty="0"/>
              <a:t>, </a:t>
            </a:r>
            <a:r>
              <a:rPr lang="en-US" b="1" dirty="0"/>
              <a:t>b</a:t>
            </a:r>
            <a:r>
              <a:rPr lang="en-US" dirty="0"/>
              <a:t>, </a:t>
            </a:r>
            <a:r>
              <a:rPr lang="en-US" b="1" dirty="0"/>
              <a:t>c</a:t>
            </a:r>
            <a:r>
              <a:rPr lang="en-US" dirty="0"/>
              <a:t>, and the </a:t>
            </a:r>
            <a:r>
              <a:rPr lang="en-US" b="1" dirty="0"/>
              <a:t>op</a:t>
            </a:r>
            <a:r>
              <a:rPr lang="en-US" dirty="0"/>
              <a:t>eration</a:t>
            </a:r>
          </a:p>
          <a:p>
            <a:pPr lvl="1"/>
            <a:r>
              <a:rPr lang="en-US" dirty="0"/>
              <a:t>Instruction essentially encoded as obscure integers</a:t>
            </a:r>
          </a:p>
          <a:p>
            <a:endParaRPr lang="en-US" dirty="0"/>
          </a:p>
        </p:txBody>
      </p:sp>
      <p:pic>
        <p:nvPicPr>
          <p:cNvPr id="1031" name="Picture 7" descr="http://www.bitsavers.org/simh.trailing-edge.com/photos/pdp10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752600"/>
            <a:ext cx="3625495" cy="363458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7296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language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E46C0A"/>
                </a:solidFill>
              </a:rPr>
              <a:t>Good hardware </a:t>
            </a:r>
            <a:r>
              <a:rPr lang="en-US" dirty="0"/>
              <a:t>design</a:t>
            </a:r>
          </a:p>
          <a:p>
            <a:pPr>
              <a:spcBef>
                <a:spcPts val="1800"/>
              </a:spcBef>
            </a:pPr>
            <a:r>
              <a:rPr lang="en-US" b="1" dirty="0">
                <a:solidFill>
                  <a:srgbClr val="E46C0A"/>
                </a:solidFill>
              </a:rPr>
              <a:t>Bad</a:t>
            </a:r>
            <a:r>
              <a:rPr lang="en-US" dirty="0"/>
              <a:t> human </a:t>
            </a:r>
            <a:r>
              <a:rPr lang="en-US" b="1" dirty="0">
                <a:solidFill>
                  <a:srgbClr val="E46C0A"/>
                </a:solidFill>
              </a:rPr>
              <a:t>interface</a:t>
            </a:r>
          </a:p>
        </p:txBody>
      </p:sp>
      <p:pic>
        <p:nvPicPr>
          <p:cNvPr id="1031" name="Picture 7" descr="http://www.bitsavers.org/simh.trailing-edge.com/photos/pdp10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752600"/>
            <a:ext cx="3625495" cy="363458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6123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Higher-level languages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Let programmers work with </a:t>
            </a:r>
            <a:r>
              <a:rPr lang="en-US" b="1" dirty="0">
                <a:solidFill>
                  <a:srgbClr val="E46C0A"/>
                </a:solidFill>
              </a:rPr>
              <a:t>higher-level entities</a:t>
            </a:r>
          </a:p>
          <a:p>
            <a:pPr lvl="1"/>
            <a:r>
              <a:rPr lang="en-US" dirty="0"/>
              <a:t>Objects</a:t>
            </a:r>
          </a:p>
          <a:p>
            <a:pPr lvl="1"/>
            <a:r>
              <a:rPr lang="en-US" dirty="0"/>
              <a:t>Fields</a:t>
            </a:r>
          </a:p>
          <a:p>
            <a:endParaRPr lang="en-US" dirty="0"/>
          </a:p>
          <a:p>
            <a:r>
              <a:rPr lang="en-US" dirty="0"/>
              <a:t>Using </a:t>
            </a:r>
            <a:r>
              <a:rPr lang="en-US" b="1" dirty="0">
                <a:solidFill>
                  <a:srgbClr val="E46C0A"/>
                </a:solidFill>
              </a:rPr>
              <a:t>higher-level operations</a:t>
            </a:r>
          </a:p>
          <a:p>
            <a:pPr lvl="1"/>
            <a:r>
              <a:rPr lang="en-US" dirty="0"/>
              <a:t>Methods</a:t>
            </a:r>
          </a:p>
          <a:p>
            <a:pPr lvl="1"/>
            <a:r>
              <a:rPr lang="en-US" dirty="0"/>
              <a:t>Modules</a:t>
            </a:r>
          </a:p>
        </p:txBody>
      </p:sp>
      <p:pic>
        <p:nvPicPr>
          <p:cNvPr id="1028" name="Picture 4" descr="http://deanlm.com/current_projects/index_files/python_log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3048000"/>
            <a:ext cx="2114550" cy="287655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://blog.taragana.com/wp-content/uploads/2009/04/322px-java_logosvg.png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066800"/>
            <a:ext cx="1635594" cy="304261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4400550"/>
            <a:ext cx="1852917" cy="245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98724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Division of labor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8006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E46C0A"/>
                </a:solidFill>
              </a:rPr>
              <a:t>EEs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E46C0A"/>
                </a:solidFill>
              </a:rPr>
              <a:t>CEs</a:t>
            </a:r>
            <a:r>
              <a:rPr lang="en-US" b="1" dirty="0"/>
              <a:t> </a:t>
            </a:r>
            <a:r>
              <a:rPr lang="en-US" dirty="0"/>
              <a:t>build the fastest hardware they can to Run machine language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Optimize hardware efficiency</a:t>
            </a:r>
          </a:p>
          <a:p>
            <a:pPr>
              <a:lnSpc>
                <a:spcPct val="120000"/>
              </a:lnSpc>
              <a:spcBef>
                <a:spcPts val="1800"/>
              </a:spcBef>
            </a:pPr>
            <a:r>
              <a:rPr lang="en-US" b="1" dirty="0">
                <a:solidFill>
                  <a:srgbClr val="E46C0A"/>
                </a:solidFill>
              </a:rPr>
              <a:t>CS people </a:t>
            </a:r>
            <a:r>
              <a:rPr lang="en-US" dirty="0"/>
              <a:t>make the highest-level languages they can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Optimize human efficiency</a:t>
            </a:r>
          </a:p>
          <a:p>
            <a:pPr>
              <a:lnSpc>
                <a:spcPct val="120000"/>
              </a:lnSpc>
              <a:spcBef>
                <a:spcPts val="1800"/>
              </a:spcBef>
            </a:pPr>
            <a:r>
              <a:rPr lang="en-US" b="1" dirty="0">
                <a:solidFill>
                  <a:srgbClr val="E46C0A"/>
                </a:solidFill>
              </a:rPr>
              <a:t>Compilers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E46C0A"/>
                </a:solidFill>
              </a:rPr>
              <a:t>interpreters</a:t>
            </a:r>
            <a:r>
              <a:rPr lang="en-US" b="1" dirty="0"/>
              <a:t> </a:t>
            </a:r>
            <a:r>
              <a:rPr lang="en-US" dirty="0"/>
              <a:t>make higher-level languages Run on machine-language platforms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286000"/>
            <a:ext cx="4038600" cy="2225717"/>
          </a:xfrm>
        </p:spPr>
      </p:pic>
    </p:spTree>
    <p:extLst>
      <p:ext uri="{BB962C8B-B14F-4D97-AF65-F5344CB8AC3E}">
        <p14:creationId xmlns:p14="http://schemas.microsoft.com/office/powerpoint/2010/main" val="1855196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Compilers and interpreters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Compiler</a:t>
                </a:r>
              </a:p>
              <a:p>
                <a:pPr lvl="1"/>
                <a:r>
                  <a:rPr lang="en-US" dirty="0"/>
                  <a:t>Takes a program in one language and</a:t>
                </a:r>
              </a:p>
              <a:p>
                <a:pPr lvl="1"/>
                <a:r>
                  <a:rPr lang="en-US" b="1" dirty="0">
                    <a:solidFill>
                      <a:srgbClr val="E46C0A"/>
                    </a:solidFill>
                  </a:rPr>
                  <a:t>Translates</a:t>
                </a:r>
                <a:r>
                  <a:rPr lang="en-US" dirty="0">
                    <a:solidFill>
                      <a:srgbClr val="E46C0A"/>
                    </a:solidFill>
                  </a:rPr>
                  <a:t> </a:t>
                </a:r>
                <a:r>
                  <a:rPr lang="en-US" dirty="0"/>
                  <a:t>it into another</a:t>
                </a:r>
              </a:p>
              <a:p>
                <a:pPr lvl="1"/>
                <a:r>
                  <a:rPr lang="en-US" dirty="0"/>
                  <a:t>Usually high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dirty="0"/>
                  <a:t>low</a:t>
                </a:r>
              </a:p>
              <a:p>
                <a:endParaRPr lang="en-US" dirty="0"/>
              </a:p>
              <a:p>
                <a:r>
                  <a:rPr lang="en-US" dirty="0"/>
                  <a:t>Interpreter</a:t>
                </a:r>
              </a:p>
              <a:p>
                <a:pPr lvl="1"/>
                <a:r>
                  <a:rPr lang="en-US" dirty="0"/>
                  <a:t>Takes a program in a language</a:t>
                </a:r>
              </a:p>
              <a:p>
                <a:pPr lvl="1"/>
                <a:r>
                  <a:rPr lang="en-US" dirty="0"/>
                  <a:t>And </a:t>
                </a:r>
                <a:r>
                  <a:rPr lang="en-US" b="1" dirty="0">
                    <a:solidFill>
                      <a:srgbClr val="E46C0A"/>
                    </a:solidFill>
                  </a:rPr>
                  <a:t>Runs it directly</a:t>
                </a:r>
              </a:p>
              <a:p>
                <a:pPr lvl="1"/>
                <a:r>
                  <a:rPr lang="en-US" dirty="0"/>
                  <a:t>By stepping through it and </a:t>
                </a:r>
                <a:r>
                  <a:rPr lang="en-US" b="1" dirty="0">
                    <a:solidFill>
                      <a:srgbClr val="E46C0A"/>
                    </a:solidFill>
                  </a:rPr>
                  <a:t>performing the operations </a:t>
                </a:r>
                <a:r>
                  <a:rPr lang="en-US" dirty="0"/>
                  <a:t>it specifies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262" t="-2830" r="-22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4800600" y="3124200"/>
            <a:ext cx="1143000" cy="60960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source </a:t>
            </a:r>
          </a:p>
          <a:p>
            <a:pPr algn="ctr"/>
            <a:r>
              <a:rPr lang="en-US" dirty="0"/>
              <a:t>language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2133600"/>
            <a:ext cx="1143000" cy="60960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</a:t>
            </a:r>
          </a:p>
          <a:p>
            <a:pPr algn="ctr"/>
            <a:r>
              <a:rPr lang="en-US" dirty="0"/>
              <a:t>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0" y="4267200"/>
            <a:ext cx="1678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program output</a:t>
            </a:r>
          </a:p>
        </p:txBody>
      </p:sp>
      <p:cxnSp>
        <p:nvCxnSpPr>
          <p:cNvPr id="11" name="Straight Arrow Connector 10"/>
          <p:cNvCxnSpPr>
            <a:stCxn id="5" idx="3"/>
            <a:endCxn id="6" idx="1"/>
          </p:cNvCxnSpPr>
          <p:nvPr/>
        </p:nvCxnSpPr>
        <p:spPr>
          <a:xfrm flipV="1">
            <a:off x="5943600" y="2438400"/>
            <a:ext cx="1371600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3"/>
            <a:endCxn id="7" idx="1"/>
          </p:cNvCxnSpPr>
          <p:nvPr/>
        </p:nvCxnSpPr>
        <p:spPr>
          <a:xfrm>
            <a:off x="5943600" y="3429000"/>
            <a:ext cx="1295400" cy="102286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 rot="19407810">
            <a:off x="5982527" y="2600488"/>
            <a:ext cx="100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compiler</a:t>
            </a:r>
          </a:p>
        </p:txBody>
      </p:sp>
      <p:sp>
        <p:nvSpPr>
          <p:cNvPr id="16" name="TextBox 15"/>
          <p:cNvSpPr txBox="1"/>
          <p:nvPr/>
        </p:nvSpPr>
        <p:spPr>
          <a:xfrm rot="2332144">
            <a:off x="5877327" y="3935653"/>
            <a:ext cx="1210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interpreter</a:t>
            </a:r>
          </a:p>
        </p:txBody>
      </p:sp>
    </p:spTree>
    <p:extLst>
      <p:ext uri="{BB962C8B-B14F-4D97-AF65-F5344CB8AC3E}">
        <p14:creationId xmlns:p14="http://schemas.microsoft.com/office/powerpoint/2010/main" val="2074469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Anatomy</a:t>
            </a:r>
            <a:br>
              <a:rPr lang="en-US" dirty="0"/>
            </a:br>
            <a:r>
              <a:rPr lang="en-US" dirty="0"/>
              <a:t>of a programming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Programming languages are specified by </a:t>
            </a:r>
            <a:r>
              <a:rPr lang="en-US" b="1" dirty="0">
                <a:solidFill>
                  <a:srgbClr val="E46C0A"/>
                </a:solidFill>
              </a:rPr>
              <a:t>grammars</a:t>
            </a:r>
            <a:endParaRPr lang="en-US" dirty="0"/>
          </a:p>
          <a:p>
            <a:pPr>
              <a:spcBef>
                <a:spcPts val="1800"/>
              </a:spcBef>
            </a:pPr>
            <a:r>
              <a:rPr lang="en-US" dirty="0"/>
              <a:t>A grammar specifies how</a:t>
            </a:r>
          </a:p>
          <a:p>
            <a:pPr lvl="1"/>
            <a:r>
              <a:rPr lang="en-US" b="1" dirty="0">
                <a:solidFill>
                  <a:srgbClr val="E46C0A"/>
                </a:solidFill>
              </a:rPr>
              <a:t>expressions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(phrases) </a:t>
            </a:r>
          </a:p>
          <a:p>
            <a:pPr lvl="1"/>
            <a:r>
              <a:rPr lang="en-US" dirty="0"/>
              <a:t>are broken up into </a:t>
            </a:r>
            <a:r>
              <a:rPr lang="en-US" b="1" dirty="0" err="1">
                <a:solidFill>
                  <a:srgbClr val="E46C0A"/>
                </a:solidFill>
              </a:rPr>
              <a:t>subexpressions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(</a:t>
            </a:r>
            <a:r>
              <a:rPr lang="en-US" dirty="0" err="1"/>
              <a:t>subphrases</a:t>
            </a:r>
            <a:r>
              <a:rPr lang="en-US" dirty="0"/>
              <a:t>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64269"/>
            <a:ext cx="4038600" cy="3124200"/>
          </a:xfrm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Sentence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sym typeface="Symbol"/>
              </a:rPr>
              <a:t> NP VP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sym typeface="Symbol"/>
              </a:rPr>
              <a:t>NP  [Art] [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  <a:sym typeface="Symbol"/>
              </a:rPr>
              <a:t>Adj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sym typeface="Symbol"/>
              </a:rPr>
              <a:t>] Noun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sym typeface="Symbol"/>
              </a:rPr>
              <a:t>VP  Verb NP</a:t>
            </a:r>
          </a:p>
          <a:p>
            <a:pPr marL="0" indent="0">
              <a:buNone/>
            </a:pPr>
            <a:endParaRPr lang="en-US" sz="2000" b="1" dirty="0">
              <a:solidFill>
                <a:schemeClr val="accent6">
                  <a:lumMod val="50000"/>
                </a:schemeClr>
              </a:solidFill>
              <a:sym typeface="Symbol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sym typeface="Symbol"/>
              </a:rPr>
              <a:t>Art = { the, a, an, some, … }</a:t>
            </a:r>
          </a:p>
          <a:p>
            <a:pPr marL="0" indent="0">
              <a:buNone/>
            </a:pP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  <a:sym typeface="Symbol"/>
              </a:rPr>
              <a:t>Adj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sym typeface="Symbol"/>
              </a:rPr>
              <a:t> = { green, happy, big, … }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sym typeface="Symbol"/>
              </a:rPr>
              <a:t>Noun = { plate, president, cat, capitalism, … }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sym typeface="Symbol"/>
              </a:rPr>
              <a:t>Verb = { be, eat, Run, … }</a:t>
            </a:r>
            <a:endParaRPr lang="en-US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48200" y="4964668"/>
            <a:ext cx="3408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984807"/>
                </a:solidFill>
              </a:rPr>
              <a:t>A really lame grammar for English</a:t>
            </a:r>
          </a:p>
        </p:txBody>
      </p:sp>
    </p:spTree>
    <p:extLst>
      <p:ext uri="{BB962C8B-B14F-4D97-AF65-F5344CB8AC3E}">
        <p14:creationId xmlns:p14="http://schemas.microsoft.com/office/powerpoint/2010/main" val="1262667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Simplified grammar for Racket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Expression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>
                <a:sym typeface="Symbol"/>
              </a:rPr>
              <a:t> 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   </a:t>
            </a:r>
            <a:r>
              <a:rPr lang="en-US" dirty="0" err="1">
                <a:sym typeface="Symbol"/>
              </a:rPr>
              <a:t>ComplexExpression</a:t>
            </a:r>
            <a:r>
              <a:rPr lang="en-US" dirty="0">
                <a:sym typeface="Symbol"/>
              </a:rPr>
              <a:t> | </a:t>
            </a:r>
            <a:r>
              <a:rPr lang="en-US" dirty="0" err="1">
                <a:sym typeface="Symbol"/>
              </a:rPr>
              <a:t>SimpleExpression</a:t>
            </a: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b="1" dirty="0" err="1">
                <a:solidFill>
                  <a:srgbClr val="E46C0A"/>
                </a:solidFill>
                <a:sym typeface="Symbol"/>
              </a:rPr>
              <a:t>ComplexExpression</a:t>
            </a:r>
            <a:r>
              <a:rPr lang="en-US" dirty="0">
                <a:solidFill>
                  <a:srgbClr val="E46C0A"/>
                </a:solidFill>
                <a:sym typeface="Symbol"/>
              </a:rPr>
              <a:t> </a:t>
            </a:r>
            <a:r>
              <a:rPr lang="en-US" dirty="0">
                <a:sym typeface="Symbol"/>
              </a:rPr>
              <a:t>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   ‘(‘ Expressions … ‘)’</a:t>
            </a:r>
          </a:p>
          <a:p>
            <a:pPr marL="0" indent="0">
              <a:buNone/>
            </a:pPr>
            <a:r>
              <a:rPr lang="en-US" b="1" dirty="0" err="1">
                <a:solidFill>
                  <a:srgbClr val="E46C0A"/>
                </a:solidFill>
                <a:sym typeface="Symbol"/>
              </a:rPr>
              <a:t>SimpleExpression</a:t>
            </a:r>
            <a:r>
              <a:rPr lang="en-US" dirty="0">
                <a:solidFill>
                  <a:srgbClr val="E46C0A"/>
                </a:solidFill>
                <a:sym typeface="Symbol"/>
              </a:rPr>
              <a:t> </a:t>
            </a:r>
            <a:r>
              <a:rPr lang="en-US" dirty="0">
                <a:sym typeface="Symbol"/>
              </a:rPr>
              <a:t>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   Number | String  | Variable</a:t>
            </a:r>
          </a:p>
          <a:p>
            <a:pPr marL="0" indent="0">
              <a:buNone/>
            </a:pP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(note: the | means “or”)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403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(Over) simplified grammar</a:t>
            </a:r>
            <a:br>
              <a:rPr lang="en-US" dirty="0"/>
            </a:br>
            <a:r>
              <a:rPr lang="en-US" dirty="0"/>
              <a:t>for C-like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2973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E46C0A"/>
                </a:solidFill>
              </a:rPr>
              <a:t>Expression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>
                <a:sym typeface="Symbol"/>
              </a:rPr>
              <a:t>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    Constant | Variable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| Expression Op Expression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| ‘(‘ Expression ‘)’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| Expression ‘.’ </a:t>
            </a:r>
            <a:r>
              <a:rPr lang="en-US" dirty="0" err="1">
                <a:sym typeface="Symbol"/>
              </a:rPr>
              <a:t>MemberName</a:t>
            </a: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| Expression ‘.’ </a:t>
            </a:r>
            <a:r>
              <a:rPr lang="en-US" dirty="0" err="1">
                <a:sym typeface="Symbol"/>
              </a:rPr>
              <a:t>MethodName</a:t>
            </a:r>
            <a:r>
              <a:rPr lang="en-US" dirty="0">
                <a:sym typeface="Symbol"/>
              </a:rPr>
              <a:t> ‘(‘ Expression, … ‘)’</a:t>
            </a:r>
          </a:p>
          <a:p>
            <a:pPr marL="0" indent="0">
              <a:buNone/>
            </a:pP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E46C0A"/>
                </a:solidFill>
                <a:sym typeface="Symbol"/>
              </a:rPr>
              <a:t>Constant</a:t>
            </a:r>
            <a:r>
              <a:rPr lang="en-US" dirty="0">
                <a:solidFill>
                  <a:srgbClr val="E46C0A"/>
                </a:solidFill>
                <a:sym typeface="Symbol"/>
              </a:rPr>
              <a:t> </a:t>
            </a:r>
            <a:r>
              <a:rPr lang="en-US" dirty="0">
                <a:sym typeface="Symbol"/>
              </a:rPr>
              <a:t>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Number | ‘true’ | ‘false” | ‘null’ | String</a:t>
            </a:r>
          </a:p>
          <a:p>
            <a:pPr marL="0" indent="0">
              <a:buNone/>
            </a:pP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E46C0A"/>
                </a:solidFill>
                <a:sym typeface="Symbol"/>
              </a:rPr>
              <a:t>Op</a:t>
            </a:r>
            <a:r>
              <a:rPr lang="en-US" dirty="0">
                <a:solidFill>
                  <a:srgbClr val="E46C0A"/>
                </a:solidFill>
                <a:sym typeface="Symbol"/>
              </a:rPr>
              <a:t> </a:t>
            </a:r>
            <a:r>
              <a:rPr lang="en-US" dirty="0">
                <a:sym typeface="Symbol"/>
              </a:rPr>
              <a:t> ‘+’ | ‘-’ | ‘*’ | ‘=‘ | …              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907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Syntax trees </a:t>
            </a:r>
            <a:r>
              <a:rPr lang="en-US" sz="3600" dirty="0"/>
              <a:t>(aka parse trees)</a:t>
            </a:r>
            <a:br>
              <a:rPr lang="en-US" dirty="0"/>
            </a:br>
            <a:r>
              <a:rPr lang="en-US" sz="2200" dirty="0"/>
              <a:t>(You knew trees had to be coming here somewhere, right?)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Represent the </a:t>
            </a:r>
            <a:r>
              <a:rPr lang="en-US" b="1" dirty="0">
                <a:solidFill>
                  <a:srgbClr val="E46C0A"/>
                </a:solidFill>
              </a:rPr>
              <a:t>internal structure </a:t>
            </a:r>
            <a:r>
              <a:rPr lang="en-US" dirty="0"/>
              <a:t>of an </a:t>
            </a:r>
            <a:r>
              <a:rPr lang="en-US" b="1" dirty="0">
                <a:solidFill>
                  <a:srgbClr val="E46C0A"/>
                </a:solidFill>
              </a:rPr>
              <a:t>expression</a:t>
            </a:r>
            <a:endParaRPr lang="en-US" dirty="0"/>
          </a:p>
          <a:p>
            <a:pPr lvl="1"/>
            <a:r>
              <a:rPr lang="en-US" dirty="0"/>
              <a:t>Its </a:t>
            </a:r>
            <a:r>
              <a:rPr lang="en-US" dirty="0" err="1"/>
              <a:t>subexpressions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Tree structure (duh)</a:t>
            </a:r>
          </a:p>
          <a:p>
            <a:pPr lvl="1"/>
            <a:r>
              <a:rPr lang="en-US" b="1" dirty="0">
                <a:solidFill>
                  <a:srgbClr val="E46C0A"/>
                </a:solidFill>
              </a:rPr>
              <a:t>Nodes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labeled with </a:t>
            </a:r>
            <a:r>
              <a:rPr lang="en-US" b="1" dirty="0">
                <a:solidFill>
                  <a:srgbClr val="E46C0A"/>
                </a:solidFill>
              </a:rPr>
              <a:t>type of expression</a:t>
            </a:r>
          </a:p>
          <a:p>
            <a:pPr lvl="1"/>
            <a:r>
              <a:rPr lang="en-US" dirty="0"/>
              <a:t>Children are </a:t>
            </a:r>
            <a:r>
              <a:rPr lang="en-US" b="1" dirty="0" err="1">
                <a:solidFill>
                  <a:srgbClr val="E46C0A"/>
                </a:solidFill>
              </a:rPr>
              <a:t>subexpressions</a:t>
            </a:r>
            <a:endParaRPr lang="en-US" b="1" dirty="0">
              <a:solidFill>
                <a:srgbClr val="E46C0A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4953000"/>
            <a:ext cx="3810000" cy="609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(a-1)+b+2*c</a:t>
            </a:r>
          </a:p>
        </p:txBody>
      </p:sp>
      <p:sp>
        <p:nvSpPr>
          <p:cNvPr id="6" name="Oval 5"/>
          <p:cNvSpPr/>
          <p:nvPr/>
        </p:nvSpPr>
        <p:spPr>
          <a:xfrm>
            <a:off x="5943600" y="1808032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7" name="Oval 6"/>
          <p:cNvSpPr/>
          <p:nvPr/>
        </p:nvSpPr>
        <p:spPr>
          <a:xfrm>
            <a:off x="7017328" y="2959691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9" name="Oval 8"/>
          <p:cNvSpPr/>
          <p:nvPr/>
        </p:nvSpPr>
        <p:spPr>
          <a:xfrm>
            <a:off x="6401946" y="3679554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0" name="Oval 9"/>
          <p:cNvSpPr/>
          <p:nvPr/>
        </p:nvSpPr>
        <p:spPr>
          <a:xfrm>
            <a:off x="7656954" y="3679554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*</a:t>
            </a:r>
          </a:p>
        </p:txBody>
      </p:sp>
      <p:sp>
        <p:nvSpPr>
          <p:cNvPr id="11" name="Oval 10"/>
          <p:cNvSpPr/>
          <p:nvPr/>
        </p:nvSpPr>
        <p:spPr>
          <a:xfrm>
            <a:off x="6964228" y="44958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8382000" y="44958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14" name="Straight Arrow Connector 13"/>
          <p:cNvCxnSpPr>
            <a:stCxn id="6" idx="3"/>
            <a:endCxn id="34" idx="7"/>
          </p:cNvCxnSpPr>
          <p:nvPr/>
        </p:nvCxnSpPr>
        <p:spPr>
          <a:xfrm flipH="1">
            <a:off x="5257800" y="2198277"/>
            <a:ext cx="752755" cy="82836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6" idx="5"/>
            <a:endCxn id="7" idx="1"/>
          </p:cNvCxnSpPr>
          <p:nvPr/>
        </p:nvCxnSpPr>
        <p:spPr>
          <a:xfrm>
            <a:off x="6333845" y="2198277"/>
            <a:ext cx="750438" cy="82836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7" idx="3"/>
            <a:endCxn id="9" idx="7"/>
          </p:cNvCxnSpPr>
          <p:nvPr/>
        </p:nvCxnSpPr>
        <p:spPr>
          <a:xfrm flipH="1">
            <a:off x="6792191" y="3349936"/>
            <a:ext cx="292092" cy="39657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7" idx="5"/>
            <a:endCxn id="10" idx="1"/>
          </p:cNvCxnSpPr>
          <p:nvPr/>
        </p:nvCxnSpPr>
        <p:spPr>
          <a:xfrm>
            <a:off x="7407573" y="3349936"/>
            <a:ext cx="316336" cy="39657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0" idx="3"/>
            <a:endCxn id="11" idx="7"/>
          </p:cNvCxnSpPr>
          <p:nvPr/>
        </p:nvCxnSpPr>
        <p:spPr>
          <a:xfrm flipH="1">
            <a:off x="7354473" y="4069799"/>
            <a:ext cx="369436" cy="49295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0" idx="5"/>
            <a:endCxn id="12" idx="1"/>
          </p:cNvCxnSpPr>
          <p:nvPr/>
        </p:nvCxnSpPr>
        <p:spPr>
          <a:xfrm>
            <a:off x="8047199" y="4069799"/>
            <a:ext cx="401756" cy="49295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4867555" y="2959691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35" name="Oval 34"/>
          <p:cNvSpPr/>
          <p:nvPr/>
        </p:nvSpPr>
        <p:spPr>
          <a:xfrm>
            <a:off x="5549892" y="3679554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6" name="Oval 35"/>
          <p:cNvSpPr/>
          <p:nvPr/>
        </p:nvSpPr>
        <p:spPr>
          <a:xfrm>
            <a:off x="4191000" y="3679554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37" name="Straight Arrow Connector 36"/>
          <p:cNvCxnSpPr>
            <a:stCxn id="34" idx="3"/>
            <a:endCxn id="36" idx="7"/>
          </p:cNvCxnSpPr>
          <p:nvPr/>
        </p:nvCxnSpPr>
        <p:spPr>
          <a:xfrm flipH="1">
            <a:off x="4581245" y="3349936"/>
            <a:ext cx="353265" cy="39657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4" idx="5"/>
            <a:endCxn id="35" idx="1"/>
          </p:cNvCxnSpPr>
          <p:nvPr/>
        </p:nvCxnSpPr>
        <p:spPr>
          <a:xfrm>
            <a:off x="5257800" y="3349936"/>
            <a:ext cx="359047" cy="39657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8059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Breaking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expression into its constituent </a:t>
            </a:r>
            <a:r>
              <a:rPr lang="en-US" b="1" dirty="0">
                <a:solidFill>
                  <a:srgbClr val="E46C0A"/>
                </a:solidFill>
              </a:rPr>
              <a:t>parts</a:t>
            </a:r>
          </a:p>
          <a:p>
            <a:pPr lvl="1"/>
            <a:r>
              <a:rPr lang="en-US" dirty="0"/>
              <a:t>Creates parse tree from linear string of tokens</a:t>
            </a:r>
          </a:p>
          <a:p>
            <a:pPr lvl="1"/>
            <a:endParaRPr lang="en-US" dirty="0"/>
          </a:p>
          <a:p>
            <a:r>
              <a:rPr lang="en-US" dirty="0"/>
              <a:t>Software for parsing is called a </a:t>
            </a:r>
            <a:r>
              <a:rPr lang="en-US" b="1" dirty="0">
                <a:solidFill>
                  <a:srgbClr val="E46C0A"/>
                </a:solidFill>
              </a:rPr>
              <a:t>parser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4953000"/>
            <a:ext cx="3810000" cy="609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(a-1)+b+2*c</a:t>
            </a:r>
          </a:p>
        </p:txBody>
      </p:sp>
      <p:sp>
        <p:nvSpPr>
          <p:cNvPr id="7" name="Oval 6"/>
          <p:cNvSpPr/>
          <p:nvPr/>
        </p:nvSpPr>
        <p:spPr>
          <a:xfrm>
            <a:off x="5943600" y="1808032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8" name="Oval 7"/>
          <p:cNvSpPr/>
          <p:nvPr/>
        </p:nvSpPr>
        <p:spPr>
          <a:xfrm>
            <a:off x="7017328" y="2959691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9" name="Oval 8"/>
          <p:cNvSpPr/>
          <p:nvPr/>
        </p:nvSpPr>
        <p:spPr>
          <a:xfrm>
            <a:off x="6401946" y="3679554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0" name="Oval 9"/>
          <p:cNvSpPr/>
          <p:nvPr/>
        </p:nvSpPr>
        <p:spPr>
          <a:xfrm>
            <a:off x="7656954" y="3679554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*</a:t>
            </a:r>
          </a:p>
        </p:txBody>
      </p:sp>
      <p:sp>
        <p:nvSpPr>
          <p:cNvPr id="11" name="Oval 10"/>
          <p:cNvSpPr/>
          <p:nvPr/>
        </p:nvSpPr>
        <p:spPr>
          <a:xfrm>
            <a:off x="6964228" y="44958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8382000" y="44958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13" name="Straight Arrow Connector 12"/>
          <p:cNvCxnSpPr>
            <a:stCxn id="7" idx="3"/>
            <a:endCxn id="19" idx="7"/>
          </p:cNvCxnSpPr>
          <p:nvPr/>
        </p:nvCxnSpPr>
        <p:spPr>
          <a:xfrm flipH="1">
            <a:off x="5257800" y="2198277"/>
            <a:ext cx="752755" cy="82836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5"/>
            <a:endCxn id="8" idx="1"/>
          </p:cNvCxnSpPr>
          <p:nvPr/>
        </p:nvCxnSpPr>
        <p:spPr>
          <a:xfrm>
            <a:off x="6333845" y="2198277"/>
            <a:ext cx="750438" cy="82836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8" idx="3"/>
            <a:endCxn id="9" idx="7"/>
          </p:cNvCxnSpPr>
          <p:nvPr/>
        </p:nvCxnSpPr>
        <p:spPr>
          <a:xfrm flipH="1">
            <a:off x="6792191" y="3349936"/>
            <a:ext cx="292092" cy="39657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5"/>
            <a:endCxn id="10" idx="1"/>
          </p:cNvCxnSpPr>
          <p:nvPr/>
        </p:nvCxnSpPr>
        <p:spPr>
          <a:xfrm>
            <a:off x="7407573" y="3349936"/>
            <a:ext cx="316336" cy="39657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0" idx="3"/>
            <a:endCxn id="11" idx="7"/>
          </p:cNvCxnSpPr>
          <p:nvPr/>
        </p:nvCxnSpPr>
        <p:spPr>
          <a:xfrm flipH="1">
            <a:off x="7354473" y="4069799"/>
            <a:ext cx="369436" cy="49295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0" idx="5"/>
            <a:endCxn id="12" idx="1"/>
          </p:cNvCxnSpPr>
          <p:nvPr/>
        </p:nvCxnSpPr>
        <p:spPr>
          <a:xfrm>
            <a:off x="8047199" y="4069799"/>
            <a:ext cx="401756" cy="49295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867555" y="2959691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20" name="Oval 19"/>
          <p:cNvSpPr/>
          <p:nvPr/>
        </p:nvSpPr>
        <p:spPr>
          <a:xfrm>
            <a:off x="5549892" y="3679554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1" name="Oval 20"/>
          <p:cNvSpPr/>
          <p:nvPr/>
        </p:nvSpPr>
        <p:spPr>
          <a:xfrm>
            <a:off x="4191000" y="3679554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22" name="Straight Arrow Connector 21"/>
          <p:cNvCxnSpPr>
            <a:stCxn id="19" idx="3"/>
            <a:endCxn id="21" idx="7"/>
          </p:cNvCxnSpPr>
          <p:nvPr/>
        </p:nvCxnSpPr>
        <p:spPr>
          <a:xfrm flipH="1">
            <a:off x="4581245" y="3349936"/>
            <a:ext cx="353265" cy="39657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9" idx="5"/>
            <a:endCxn id="20" idx="1"/>
          </p:cNvCxnSpPr>
          <p:nvPr/>
        </p:nvCxnSpPr>
        <p:spPr>
          <a:xfrm>
            <a:off x="5257800" y="3349936"/>
            <a:ext cx="359047" cy="39657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9138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Algorithms for parsing</a:t>
            </a:r>
          </a:p>
          <a:p>
            <a:pPr lvl="1"/>
            <a:r>
              <a:rPr lang="en-US" dirty="0"/>
              <a:t>Extensively studied </a:t>
            </a:r>
          </a:p>
          <a:p>
            <a:pPr lvl="1"/>
            <a:r>
              <a:rPr lang="en-US" b="1" dirty="0">
                <a:solidFill>
                  <a:srgbClr val="E46C0A"/>
                </a:solidFill>
              </a:rPr>
              <a:t>Outside the scope </a:t>
            </a:r>
            <a:r>
              <a:rPr lang="en-US" dirty="0"/>
              <a:t>of this class</a:t>
            </a:r>
          </a:p>
          <a:p>
            <a:pPr lvl="1"/>
            <a:r>
              <a:rPr lang="en-US" dirty="0"/>
              <a:t>Cool at a high level</a:t>
            </a:r>
          </a:p>
          <a:p>
            <a:pPr lvl="1"/>
            <a:r>
              <a:rPr lang="en-US" dirty="0"/>
              <a:t>Very boring in the details</a:t>
            </a:r>
          </a:p>
          <a:p>
            <a:pPr lvl="1"/>
            <a:endParaRPr lang="en-US" dirty="0"/>
          </a:p>
          <a:p>
            <a:r>
              <a:rPr lang="en-US" dirty="0"/>
              <a:t>In practice, one usually uses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parser generator</a:t>
            </a:r>
            <a:r>
              <a:rPr lang="en-US" dirty="0"/>
              <a:t>,</a:t>
            </a:r>
          </a:p>
          <a:p>
            <a:pPr lvl="1"/>
            <a:r>
              <a:rPr lang="en-US" dirty="0"/>
              <a:t>Program that takes a grammar as input</a:t>
            </a:r>
          </a:p>
          <a:p>
            <a:pPr lvl="1"/>
            <a:r>
              <a:rPr lang="en-US" dirty="0"/>
              <a:t>Produces a parser as output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4953000"/>
            <a:ext cx="3810000" cy="6096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984807"/>
                </a:solidFill>
              </a:rPr>
              <a:t>(a-1)+b+2*c</a:t>
            </a:r>
          </a:p>
        </p:txBody>
      </p:sp>
      <p:sp>
        <p:nvSpPr>
          <p:cNvPr id="7" name="Oval 6"/>
          <p:cNvSpPr/>
          <p:nvPr/>
        </p:nvSpPr>
        <p:spPr>
          <a:xfrm>
            <a:off x="5943600" y="1808032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8" name="Oval 7"/>
          <p:cNvSpPr/>
          <p:nvPr/>
        </p:nvSpPr>
        <p:spPr>
          <a:xfrm>
            <a:off x="7017328" y="2959691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9" name="Oval 8"/>
          <p:cNvSpPr/>
          <p:nvPr/>
        </p:nvSpPr>
        <p:spPr>
          <a:xfrm>
            <a:off x="6401946" y="3679554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0" name="Oval 9"/>
          <p:cNvSpPr/>
          <p:nvPr/>
        </p:nvSpPr>
        <p:spPr>
          <a:xfrm>
            <a:off x="7656954" y="3679554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*</a:t>
            </a:r>
          </a:p>
        </p:txBody>
      </p:sp>
      <p:sp>
        <p:nvSpPr>
          <p:cNvPr id="11" name="Oval 10"/>
          <p:cNvSpPr/>
          <p:nvPr/>
        </p:nvSpPr>
        <p:spPr>
          <a:xfrm>
            <a:off x="6964228" y="44958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8382000" y="44958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13" name="Straight Arrow Connector 12"/>
          <p:cNvCxnSpPr>
            <a:stCxn id="7" idx="3"/>
            <a:endCxn id="19" idx="7"/>
          </p:cNvCxnSpPr>
          <p:nvPr/>
        </p:nvCxnSpPr>
        <p:spPr>
          <a:xfrm flipH="1">
            <a:off x="5257800" y="2198277"/>
            <a:ext cx="752755" cy="82836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5"/>
            <a:endCxn id="8" idx="1"/>
          </p:cNvCxnSpPr>
          <p:nvPr/>
        </p:nvCxnSpPr>
        <p:spPr>
          <a:xfrm>
            <a:off x="6333845" y="2198277"/>
            <a:ext cx="750438" cy="82836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8" idx="3"/>
            <a:endCxn id="9" idx="7"/>
          </p:cNvCxnSpPr>
          <p:nvPr/>
        </p:nvCxnSpPr>
        <p:spPr>
          <a:xfrm flipH="1">
            <a:off x="6792191" y="3349936"/>
            <a:ext cx="292092" cy="39657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5"/>
            <a:endCxn id="10" idx="1"/>
          </p:cNvCxnSpPr>
          <p:nvPr/>
        </p:nvCxnSpPr>
        <p:spPr>
          <a:xfrm>
            <a:off x="7407573" y="3349936"/>
            <a:ext cx="316336" cy="39657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0" idx="3"/>
            <a:endCxn id="11" idx="7"/>
          </p:cNvCxnSpPr>
          <p:nvPr/>
        </p:nvCxnSpPr>
        <p:spPr>
          <a:xfrm flipH="1">
            <a:off x="7354473" y="4069799"/>
            <a:ext cx="369436" cy="49295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0" idx="5"/>
            <a:endCxn id="12" idx="1"/>
          </p:cNvCxnSpPr>
          <p:nvPr/>
        </p:nvCxnSpPr>
        <p:spPr>
          <a:xfrm>
            <a:off x="8047199" y="4069799"/>
            <a:ext cx="401756" cy="49295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867555" y="2959691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20" name="Oval 19"/>
          <p:cNvSpPr/>
          <p:nvPr/>
        </p:nvSpPr>
        <p:spPr>
          <a:xfrm>
            <a:off x="5549892" y="3679554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1" name="Oval 20"/>
          <p:cNvSpPr/>
          <p:nvPr/>
        </p:nvSpPr>
        <p:spPr>
          <a:xfrm>
            <a:off x="4191000" y="3679554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22" name="Straight Arrow Connector 21"/>
          <p:cNvCxnSpPr>
            <a:stCxn id="19" idx="3"/>
            <a:endCxn id="21" idx="7"/>
          </p:cNvCxnSpPr>
          <p:nvPr/>
        </p:nvCxnSpPr>
        <p:spPr>
          <a:xfrm flipH="1">
            <a:off x="4581245" y="3349936"/>
            <a:ext cx="353265" cy="39657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9" idx="5"/>
            <a:endCxn id="20" idx="1"/>
          </p:cNvCxnSpPr>
          <p:nvPr/>
        </p:nvCxnSpPr>
        <p:spPr>
          <a:xfrm>
            <a:off x="5257800" y="3349936"/>
            <a:ext cx="359047" cy="39657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4673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That’s all we’re going to say about parsing …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4953000"/>
            <a:ext cx="3810000" cy="609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984807"/>
                </a:solidFill>
              </a:rPr>
              <a:t>(a-1)+b+2*c</a:t>
            </a:r>
          </a:p>
        </p:txBody>
      </p:sp>
      <p:sp>
        <p:nvSpPr>
          <p:cNvPr id="7" name="Oval 6"/>
          <p:cNvSpPr/>
          <p:nvPr/>
        </p:nvSpPr>
        <p:spPr>
          <a:xfrm>
            <a:off x="5943600" y="1808032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8" name="Oval 7"/>
          <p:cNvSpPr/>
          <p:nvPr/>
        </p:nvSpPr>
        <p:spPr>
          <a:xfrm>
            <a:off x="7017328" y="2959691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9" name="Oval 8"/>
          <p:cNvSpPr/>
          <p:nvPr/>
        </p:nvSpPr>
        <p:spPr>
          <a:xfrm>
            <a:off x="6401946" y="3679554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0" name="Oval 9"/>
          <p:cNvSpPr/>
          <p:nvPr/>
        </p:nvSpPr>
        <p:spPr>
          <a:xfrm>
            <a:off x="7656954" y="3679554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*</a:t>
            </a:r>
          </a:p>
        </p:txBody>
      </p:sp>
      <p:sp>
        <p:nvSpPr>
          <p:cNvPr id="11" name="Oval 10"/>
          <p:cNvSpPr/>
          <p:nvPr/>
        </p:nvSpPr>
        <p:spPr>
          <a:xfrm>
            <a:off x="6964228" y="44958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8382000" y="44958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13" name="Straight Arrow Connector 12"/>
          <p:cNvCxnSpPr>
            <a:stCxn id="7" idx="3"/>
            <a:endCxn id="19" idx="7"/>
          </p:cNvCxnSpPr>
          <p:nvPr/>
        </p:nvCxnSpPr>
        <p:spPr>
          <a:xfrm flipH="1">
            <a:off x="5257800" y="2198277"/>
            <a:ext cx="752755" cy="82836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5"/>
            <a:endCxn id="8" idx="1"/>
          </p:cNvCxnSpPr>
          <p:nvPr/>
        </p:nvCxnSpPr>
        <p:spPr>
          <a:xfrm>
            <a:off x="6333845" y="2198277"/>
            <a:ext cx="750438" cy="82836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8" idx="3"/>
            <a:endCxn id="9" idx="7"/>
          </p:cNvCxnSpPr>
          <p:nvPr/>
        </p:nvCxnSpPr>
        <p:spPr>
          <a:xfrm flipH="1">
            <a:off x="6792191" y="3349936"/>
            <a:ext cx="292092" cy="39657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5"/>
            <a:endCxn id="10" idx="1"/>
          </p:cNvCxnSpPr>
          <p:nvPr/>
        </p:nvCxnSpPr>
        <p:spPr>
          <a:xfrm>
            <a:off x="7407573" y="3349936"/>
            <a:ext cx="316336" cy="39657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0" idx="3"/>
            <a:endCxn id="11" idx="7"/>
          </p:cNvCxnSpPr>
          <p:nvPr/>
        </p:nvCxnSpPr>
        <p:spPr>
          <a:xfrm flipH="1">
            <a:off x="7354473" y="4069799"/>
            <a:ext cx="369436" cy="49295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0" idx="5"/>
            <a:endCxn id="12" idx="1"/>
          </p:cNvCxnSpPr>
          <p:nvPr/>
        </p:nvCxnSpPr>
        <p:spPr>
          <a:xfrm>
            <a:off x="8047199" y="4069799"/>
            <a:ext cx="401756" cy="49295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867555" y="2959691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20" name="Oval 19"/>
          <p:cNvSpPr/>
          <p:nvPr/>
        </p:nvSpPr>
        <p:spPr>
          <a:xfrm>
            <a:off x="5549892" y="3679554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1" name="Oval 20"/>
          <p:cNvSpPr/>
          <p:nvPr/>
        </p:nvSpPr>
        <p:spPr>
          <a:xfrm>
            <a:off x="4191000" y="3679554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22" name="Straight Arrow Connector 21"/>
          <p:cNvCxnSpPr>
            <a:stCxn id="19" idx="3"/>
            <a:endCxn id="21" idx="7"/>
          </p:cNvCxnSpPr>
          <p:nvPr/>
        </p:nvCxnSpPr>
        <p:spPr>
          <a:xfrm flipH="1">
            <a:off x="4581245" y="3349936"/>
            <a:ext cx="353265" cy="39657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9" idx="5"/>
            <a:endCxn id="20" idx="1"/>
          </p:cNvCxnSpPr>
          <p:nvPr/>
        </p:nvCxnSpPr>
        <p:spPr>
          <a:xfrm>
            <a:off x="5257800" y="3349936"/>
            <a:ext cx="359047" cy="39657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9256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Compositional semantics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711198" cy="4525963"/>
          </a:xfrm>
        </p:spPr>
        <p:txBody>
          <a:bodyPr>
            <a:normAutofit/>
          </a:bodyPr>
          <a:lstStyle/>
          <a:p>
            <a:r>
              <a:rPr lang="en-US" dirty="0"/>
              <a:t>An expression’s </a:t>
            </a:r>
            <a:r>
              <a:rPr lang="en-US" b="1" dirty="0">
                <a:solidFill>
                  <a:srgbClr val="E46C0A"/>
                </a:solidFill>
              </a:rPr>
              <a:t>meaning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is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Derived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from</a:t>
            </a:r>
          </a:p>
          <a:p>
            <a:pPr lvl="1"/>
            <a:r>
              <a:rPr lang="en-US" dirty="0"/>
              <a:t>The </a:t>
            </a:r>
            <a:r>
              <a:rPr lang="en-US" b="1" dirty="0">
                <a:solidFill>
                  <a:srgbClr val="E46C0A"/>
                </a:solidFill>
              </a:rPr>
              <a:t>meanings of its parts</a:t>
            </a:r>
          </a:p>
          <a:p>
            <a:pPr lvl="1"/>
            <a:r>
              <a:rPr lang="en-US" dirty="0"/>
              <a:t>In some systematic manner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4953000" y="2590800"/>
            <a:ext cx="3726843" cy="3048000"/>
            <a:chOff x="5563746" y="2133600"/>
            <a:chExt cx="2437254" cy="1993309"/>
          </a:xfrm>
        </p:grpSpPr>
        <p:sp>
          <p:nvSpPr>
            <p:cNvPr id="6" name="Oval 5"/>
            <p:cNvSpPr/>
            <p:nvPr/>
          </p:nvSpPr>
          <p:spPr>
            <a:xfrm>
              <a:off x="6179128" y="2133600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+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5563746" y="2853463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6818754" y="2853463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*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6126028" y="3669709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543800" y="3669709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3</a:t>
              </a:r>
            </a:p>
          </p:txBody>
        </p:sp>
        <p:cxnSp>
          <p:nvCxnSpPr>
            <p:cNvPr id="11" name="Straight Arrow Connector 10"/>
            <p:cNvCxnSpPr>
              <a:stCxn id="6" idx="3"/>
              <a:endCxn id="7" idx="7"/>
            </p:cNvCxnSpPr>
            <p:nvPr/>
          </p:nvCxnSpPr>
          <p:spPr>
            <a:xfrm flipH="1">
              <a:off x="5953991" y="2523845"/>
              <a:ext cx="292092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6" idx="5"/>
              <a:endCxn id="8" idx="1"/>
            </p:cNvCxnSpPr>
            <p:nvPr/>
          </p:nvCxnSpPr>
          <p:spPr>
            <a:xfrm>
              <a:off x="6569373" y="2523845"/>
              <a:ext cx="316336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8" idx="3"/>
              <a:endCxn id="9" idx="7"/>
            </p:cNvCxnSpPr>
            <p:nvPr/>
          </p:nvCxnSpPr>
          <p:spPr>
            <a:xfrm flipH="1">
              <a:off x="6516273" y="3243708"/>
              <a:ext cx="36943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8" idx="5"/>
              <a:endCxn id="10" idx="1"/>
            </p:cNvCxnSpPr>
            <p:nvPr/>
          </p:nvCxnSpPr>
          <p:spPr>
            <a:xfrm>
              <a:off x="7208999" y="3243708"/>
              <a:ext cx="40175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27487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Compositional semantics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E46C0A"/>
                </a:solidFill>
              </a:rPr>
              <a:t>value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(meaning) of a </a:t>
            </a:r>
            <a:r>
              <a:rPr lang="en-US" b="1" dirty="0">
                <a:solidFill>
                  <a:srgbClr val="E46C0A"/>
                </a:solidFill>
              </a:rPr>
              <a:t>sum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b="1" dirty="0">
                <a:solidFill>
                  <a:srgbClr val="E46C0A"/>
                </a:solidFill>
              </a:rPr>
              <a:t>expression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4953000" y="2133600"/>
            <a:ext cx="3726843" cy="3048000"/>
            <a:chOff x="5563746" y="2133600"/>
            <a:chExt cx="2437254" cy="1993309"/>
          </a:xfrm>
        </p:grpSpPr>
        <p:sp>
          <p:nvSpPr>
            <p:cNvPr id="6" name="Oval 5"/>
            <p:cNvSpPr/>
            <p:nvPr/>
          </p:nvSpPr>
          <p:spPr>
            <a:xfrm>
              <a:off x="6179128" y="2133600"/>
              <a:ext cx="457200" cy="457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+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5563746" y="2853463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6818754" y="2853463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*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6126028" y="3669709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543800" y="3669709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3</a:t>
              </a:r>
            </a:p>
          </p:txBody>
        </p:sp>
        <p:cxnSp>
          <p:nvCxnSpPr>
            <p:cNvPr id="11" name="Straight Arrow Connector 10"/>
            <p:cNvCxnSpPr>
              <a:stCxn id="6" idx="3"/>
              <a:endCxn id="7" idx="7"/>
            </p:cNvCxnSpPr>
            <p:nvPr/>
          </p:nvCxnSpPr>
          <p:spPr>
            <a:xfrm flipH="1">
              <a:off x="5953991" y="2523845"/>
              <a:ext cx="292092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6" idx="5"/>
              <a:endCxn id="8" idx="1"/>
            </p:cNvCxnSpPr>
            <p:nvPr/>
          </p:nvCxnSpPr>
          <p:spPr>
            <a:xfrm>
              <a:off x="6569373" y="2523845"/>
              <a:ext cx="316336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8" idx="3"/>
              <a:endCxn id="9" idx="7"/>
            </p:cNvCxnSpPr>
            <p:nvPr/>
          </p:nvCxnSpPr>
          <p:spPr>
            <a:xfrm flipH="1">
              <a:off x="6516273" y="3243708"/>
              <a:ext cx="36943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8" idx="5"/>
              <a:endCxn id="10" idx="1"/>
            </p:cNvCxnSpPr>
            <p:nvPr/>
          </p:nvCxnSpPr>
          <p:spPr>
            <a:xfrm>
              <a:off x="7208999" y="3243708"/>
              <a:ext cx="40175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57787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Compositional semantics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E46C0A"/>
                </a:solidFill>
              </a:rPr>
              <a:t>value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(meaning) of a </a:t>
            </a:r>
            <a:r>
              <a:rPr lang="en-US" b="1" dirty="0">
                <a:solidFill>
                  <a:srgbClr val="E46C0A"/>
                </a:solidFill>
              </a:rPr>
              <a:t>sum expression</a:t>
            </a:r>
          </a:p>
          <a:p>
            <a:r>
              <a:rPr lang="en-US" dirty="0"/>
              <a:t>Is the values of its </a:t>
            </a:r>
            <a:r>
              <a:rPr lang="en-US" b="1" dirty="0" err="1">
                <a:solidFill>
                  <a:srgbClr val="E46C0A"/>
                </a:solidFill>
              </a:rPr>
              <a:t>subexpressions</a:t>
            </a:r>
            <a:endParaRPr lang="en-US" b="1" dirty="0">
              <a:solidFill>
                <a:srgbClr val="E46C0A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5893990" y="2133600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+</a:t>
            </a:r>
          </a:p>
        </p:txBody>
      </p:sp>
      <p:sp>
        <p:nvSpPr>
          <p:cNvPr id="7" name="Oval 6"/>
          <p:cNvSpPr/>
          <p:nvPr/>
        </p:nvSpPr>
        <p:spPr>
          <a:xfrm>
            <a:off x="4953000" y="3234354"/>
            <a:ext cx="699112" cy="699112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872052" y="3234354"/>
            <a:ext cx="699112" cy="699112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*</a:t>
            </a:r>
          </a:p>
        </p:txBody>
      </p:sp>
      <p:sp>
        <p:nvSpPr>
          <p:cNvPr id="9" name="Oval 8"/>
          <p:cNvSpPr/>
          <p:nvPr/>
        </p:nvSpPr>
        <p:spPr>
          <a:xfrm>
            <a:off x="5812794" y="4482488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7980731" y="4482488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cxnSp>
        <p:nvCxnSpPr>
          <p:cNvPr id="11" name="Straight Arrow Connector 10"/>
          <p:cNvCxnSpPr>
            <a:stCxn id="6" idx="3"/>
            <a:endCxn id="7" idx="7"/>
          </p:cNvCxnSpPr>
          <p:nvPr/>
        </p:nvCxnSpPr>
        <p:spPr>
          <a:xfrm flipH="1">
            <a:off x="5549730" y="2730330"/>
            <a:ext cx="446642" cy="6064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5"/>
            <a:endCxn id="8" idx="1"/>
          </p:cNvCxnSpPr>
          <p:nvPr/>
        </p:nvCxnSpPr>
        <p:spPr>
          <a:xfrm>
            <a:off x="6490720" y="2730330"/>
            <a:ext cx="483714" cy="6064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8" idx="3"/>
            <a:endCxn id="9" idx="7"/>
          </p:cNvCxnSpPr>
          <p:nvPr/>
        </p:nvCxnSpPr>
        <p:spPr>
          <a:xfrm flipH="1">
            <a:off x="6409524" y="3831084"/>
            <a:ext cx="564910" cy="75378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8" idx="5"/>
            <a:endCxn id="10" idx="1"/>
          </p:cNvCxnSpPr>
          <p:nvPr/>
        </p:nvCxnSpPr>
        <p:spPr>
          <a:xfrm>
            <a:off x="7468782" y="3831084"/>
            <a:ext cx="614331" cy="75378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876800" y="281940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5042" y="281940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4799201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Compositional semantics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E46C0A"/>
                </a:solidFill>
              </a:rPr>
              <a:t>value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(meaning) of a </a:t>
            </a:r>
            <a:r>
              <a:rPr lang="en-US" b="1" dirty="0">
                <a:solidFill>
                  <a:srgbClr val="E46C0A"/>
                </a:solidFill>
              </a:rPr>
              <a:t>sum expression</a:t>
            </a:r>
          </a:p>
          <a:p>
            <a:r>
              <a:rPr lang="en-US" dirty="0"/>
              <a:t>Is the values of its </a:t>
            </a:r>
            <a:r>
              <a:rPr lang="en-US" b="1" dirty="0" err="1">
                <a:solidFill>
                  <a:srgbClr val="E46C0A"/>
                </a:solidFill>
              </a:rPr>
              <a:t>subexpressions</a:t>
            </a:r>
            <a:endParaRPr lang="en-US" b="1" dirty="0">
              <a:solidFill>
                <a:srgbClr val="E46C0A"/>
              </a:solidFill>
            </a:endParaRPr>
          </a:p>
          <a:p>
            <a:r>
              <a:rPr lang="en-US" b="1" dirty="0">
                <a:solidFill>
                  <a:srgbClr val="E46C0A"/>
                </a:solidFill>
              </a:rPr>
              <a:t>Added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together</a:t>
            </a:r>
          </a:p>
        </p:txBody>
      </p:sp>
      <p:sp>
        <p:nvSpPr>
          <p:cNvPr id="6" name="Oval 5"/>
          <p:cNvSpPr/>
          <p:nvPr/>
        </p:nvSpPr>
        <p:spPr>
          <a:xfrm>
            <a:off x="5893990" y="2133600"/>
            <a:ext cx="699112" cy="699112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+</a:t>
            </a:r>
          </a:p>
        </p:txBody>
      </p:sp>
      <p:sp>
        <p:nvSpPr>
          <p:cNvPr id="7" name="Oval 6"/>
          <p:cNvSpPr/>
          <p:nvPr/>
        </p:nvSpPr>
        <p:spPr>
          <a:xfrm>
            <a:off x="4953000" y="3234354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872052" y="3234354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*</a:t>
            </a:r>
          </a:p>
        </p:txBody>
      </p:sp>
      <p:sp>
        <p:nvSpPr>
          <p:cNvPr id="9" name="Oval 8"/>
          <p:cNvSpPr/>
          <p:nvPr/>
        </p:nvSpPr>
        <p:spPr>
          <a:xfrm>
            <a:off x="5812794" y="4482488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7980731" y="4482488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cxnSp>
        <p:nvCxnSpPr>
          <p:cNvPr id="11" name="Straight Arrow Connector 10"/>
          <p:cNvCxnSpPr>
            <a:stCxn id="6" idx="3"/>
            <a:endCxn id="7" idx="7"/>
          </p:cNvCxnSpPr>
          <p:nvPr/>
        </p:nvCxnSpPr>
        <p:spPr>
          <a:xfrm flipH="1">
            <a:off x="5549730" y="2730330"/>
            <a:ext cx="446642" cy="6064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5"/>
            <a:endCxn id="8" idx="1"/>
          </p:cNvCxnSpPr>
          <p:nvPr/>
        </p:nvCxnSpPr>
        <p:spPr>
          <a:xfrm>
            <a:off x="6490720" y="2730330"/>
            <a:ext cx="483714" cy="6064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8" idx="3"/>
            <a:endCxn id="9" idx="7"/>
          </p:cNvCxnSpPr>
          <p:nvPr/>
        </p:nvCxnSpPr>
        <p:spPr>
          <a:xfrm flipH="1">
            <a:off x="6409524" y="3831084"/>
            <a:ext cx="564910" cy="75378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8" idx="5"/>
            <a:endCxn id="10" idx="1"/>
          </p:cNvCxnSpPr>
          <p:nvPr/>
        </p:nvCxnSpPr>
        <p:spPr>
          <a:xfrm>
            <a:off x="7468782" y="3831084"/>
            <a:ext cx="614331" cy="75378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791200" y="175260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354706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Syntax-directed interpretation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An </a:t>
            </a:r>
            <a:r>
              <a:rPr lang="en-US" b="1" dirty="0">
                <a:solidFill>
                  <a:srgbClr val="E46C0A"/>
                </a:solidFill>
              </a:rPr>
              <a:t>interpreter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works by </a:t>
            </a:r>
            <a:r>
              <a:rPr lang="en-US" b="1" dirty="0">
                <a:solidFill>
                  <a:srgbClr val="E46C0A"/>
                </a:solidFill>
              </a:rPr>
              <a:t>following the structure </a:t>
            </a:r>
            <a:r>
              <a:rPr lang="en-US" dirty="0"/>
              <a:t>of the syntax tree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r>
              <a:rPr lang="en-US" dirty="0"/>
              <a:t>Arithmetic expressions: find the </a:t>
            </a:r>
            <a:r>
              <a:rPr lang="en-US" b="1" dirty="0">
                <a:solidFill>
                  <a:srgbClr val="E46C0A"/>
                </a:solidFill>
              </a:rPr>
              <a:t>value of a parent </a:t>
            </a:r>
            <a:r>
              <a:rPr lang="en-US" dirty="0"/>
              <a:t>node</a:t>
            </a:r>
          </a:p>
          <a:p>
            <a:pPr lvl="1"/>
            <a:r>
              <a:rPr lang="en-US" dirty="0"/>
              <a:t>By finding the </a:t>
            </a:r>
            <a:r>
              <a:rPr lang="en-US" b="1" dirty="0">
                <a:solidFill>
                  <a:srgbClr val="E46C0A"/>
                </a:solidFill>
              </a:rPr>
              <a:t>values of </a:t>
            </a:r>
            <a:r>
              <a:rPr lang="en-US" b="1" dirty="0" err="1">
                <a:solidFill>
                  <a:srgbClr val="E46C0A"/>
                </a:solidFill>
              </a:rPr>
              <a:t>subtrees</a:t>
            </a:r>
            <a:endParaRPr lang="en-US" b="1" dirty="0">
              <a:solidFill>
                <a:srgbClr val="E46C0A"/>
              </a:solidFill>
            </a:endParaRPr>
          </a:p>
          <a:p>
            <a:pPr lvl="1"/>
            <a:r>
              <a:rPr lang="en-US" dirty="0"/>
              <a:t>And using them as </a:t>
            </a:r>
            <a:r>
              <a:rPr lang="en-US" b="1" dirty="0">
                <a:solidFill>
                  <a:srgbClr val="E46C0A"/>
                </a:solidFill>
              </a:rPr>
              <a:t>arguments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to the function the parent node represents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4953000" y="2133600"/>
            <a:ext cx="3726843" cy="3048000"/>
            <a:chOff x="5563746" y="2133600"/>
            <a:chExt cx="2437254" cy="1993309"/>
          </a:xfrm>
        </p:grpSpPr>
        <p:sp>
          <p:nvSpPr>
            <p:cNvPr id="6" name="Oval 5"/>
            <p:cNvSpPr/>
            <p:nvPr/>
          </p:nvSpPr>
          <p:spPr>
            <a:xfrm>
              <a:off x="6179128" y="2133600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+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5563746" y="2853463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6818754" y="2853463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*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6126028" y="3669709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543800" y="3669709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3</a:t>
              </a:r>
            </a:p>
          </p:txBody>
        </p:sp>
        <p:cxnSp>
          <p:nvCxnSpPr>
            <p:cNvPr id="11" name="Straight Arrow Connector 10"/>
            <p:cNvCxnSpPr>
              <a:stCxn id="6" idx="3"/>
              <a:endCxn id="7" idx="7"/>
            </p:cNvCxnSpPr>
            <p:nvPr/>
          </p:nvCxnSpPr>
          <p:spPr>
            <a:xfrm flipH="1">
              <a:off x="5953991" y="2523845"/>
              <a:ext cx="292092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6" idx="5"/>
              <a:endCxn id="8" idx="1"/>
            </p:cNvCxnSpPr>
            <p:nvPr/>
          </p:nvCxnSpPr>
          <p:spPr>
            <a:xfrm>
              <a:off x="6569373" y="2523845"/>
              <a:ext cx="316336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8" idx="3"/>
              <a:endCxn id="9" idx="7"/>
            </p:cNvCxnSpPr>
            <p:nvPr/>
          </p:nvCxnSpPr>
          <p:spPr>
            <a:xfrm flipH="1">
              <a:off x="6516273" y="3243708"/>
              <a:ext cx="36943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8" idx="5"/>
              <a:endCxn id="10" idx="1"/>
            </p:cNvCxnSpPr>
            <p:nvPr/>
          </p:nvCxnSpPr>
          <p:spPr>
            <a:xfrm>
              <a:off x="7208999" y="3243708"/>
              <a:ext cx="40175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774767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Syntax-directed interpretation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6135902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Interpreter for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arithmetic expressions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Run</a:t>
            </a:r>
            <a:r>
              <a:rPr lang="en-US" sz="2000" dirty="0"/>
              <a:t>(</a:t>
            </a:r>
            <a:r>
              <a:rPr lang="en-US" sz="2000" dirty="0" err="1"/>
              <a:t>STNode</a:t>
            </a:r>
            <a:r>
              <a:rPr lang="en-US" sz="2000" dirty="0"/>
              <a:t>) {</a:t>
            </a:r>
          </a:p>
          <a:p>
            <a:pPr marL="0" indent="0">
              <a:buNone/>
            </a:pPr>
            <a:r>
              <a:rPr lang="en-US" sz="2000" dirty="0"/>
              <a:t>   </a:t>
            </a:r>
            <a:r>
              <a:rPr lang="en-US" sz="2000" dirty="0" err="1"/>
              <a:t>leftValue</a:t>
            </a:r>
            <a:r>
              <a:rPr lang="en-US" sz="2000" dirty="0"/>
              <a:t> =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Run</a:t>
            </a:r>
            <a:r>
              <a:rPr lang="en-US" sz="2000" dirty="0"/>
              <a:t>(</a:t>
            </a:r>
            <a:r>
              <a:rPr lang="en-US" sz="2000" dirty="0" err="1"/>
              <a:t>STNode.leftChild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   </a:t>
            </a:r>
            <a:r>
              <a:rPr lang="en-US" sz="2000" dirty="0" err="1"/>
              <a:t>rightValue</a:t>
            </a:r>
            <a:r>
              <a:rPr lang="en-US" sz="2000" dirty="0"/>
              <a:t> =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Run</a:t>
            </a:r>
            <a:r>
              <a:rPr lang="en-US" sz="2000" dirty="0"/>
              <a:t>(</a:t>
            </a:r>
            <a:r>
              <a:rPr lang="en-US" sz="2000" dirty="0" err="1"/>
              <a:t>STNode.rightChild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   return </a:t>
            </a:r>
            <a:r>
              <a:rPr lang="en-US" sz="2000" dirty="0" err="1"/>
              <a:t>DoTheMath</a:t>
            </a:r>
            <a:r>
              <a:rPr lang="en-US" sz="2000" dirty="0"/>
              <a:t>(</a:t>
            </a:r>
            <a:r>
              <a:rPr lang="en-US" sz="2000" dirty="0" err="1"/>
              <a:t>leftValue</a:t>
            </a:r>
            <a:r>
              <a:rPr lang="en-US" sz="2000" dirty="0"/>
              <a:t>, </a:t>
            </a:r>
            <a:r>
              <a:rPr lang="en-US" sz="2000" dirty="0" err="1"/>
              <a:t>rightValue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4953000" y="2133600"/>
            <a:ext cx="3726843" cy="3048000"/>
            <a:chOff x="5563746" y="2133600"/>
            <a:chExt cx="2437254" cy="1993309"/>
          </a:xfrm>
        </p:grpSpPr>
        <p:sp>
          <p:nvSpPr>
            <p:cNvPr id="6" name="Oval 5"/>
            <p:cNvSpPr/>
            <p:nvPr/>
          </p:nvSpPr>
          <p:spPr>
            <a:xfrm>
              <a:off x="6179128" y="2133600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+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5563746" y="2853463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6818754" y="2853463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*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6126028" y="3669709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543800" y="3669709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3</a:t>
              </a:r>
            </a:p>
          </p:txBody>
        </p:sp>
        <p:cxnSp>
          <p:nvCxnSpPr>
            <p:cNvPr id="11" name="Straight Arrow Connector 10"/>
            <p:cNvCxnSpPr>
              <a:stCxn id="6" idx="3"/>
              <a:endCxn id="7" idx="7"/>
            </p:cNvCxnSpPr>
            <p:nvPr/>
          </p:nvCxnSpPr>
          <p:spPr>
            <a:xfrm flipH="1">
              <a:off x="5953991" y="2523845"/>
              <a:ext cx="292092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6" idx="5"/>
              <a:endCxn id="8" idx="1"/>
            </p:cNvCxnSpPr>
            <p:nvPr/>
          </p:nvCxnSpPr>
          <p:spPr>
            <a:xfrm>
              <a:off x="6569373" y="2523845"/>
              <a:ext cx="316336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8" idx="3"/>
              <a:endCxn id="9" idx="7"/>
            </p:cNvCxnSpPr>
            <p:nvPr/>
          </p:nvCxnSpPr>
          <p:spPr>
            <a:xfrm flipH="1">
              <a:off x="6516273" y="3243708"/>
              <a:ext cx="36943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8" idx="5"/>
              <a:endCxn id="10" idx="1"/>
            </p:cNvCxnSpPr>
            <p:nvPr/>
          </p:nvCxnSpPr>
          <p:spPr>
            <a:xfrm>
              <a:off x="7208999" y="3243708"/>
              <a:ext cx="40175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/>
          <p:cNvSpPr txBox="1"/>
          <p:nvPr/>
        </p:nvSpPr>
        <p:spPr>
          <a:xfrm>
            <a:off x="2165439" y="6336268"/>
            <a:ext cx="6072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Assume this is some magic code that Runs the operator (+ or *)</a:t>
            </a:r>
          </a:p>
        </p:txBody>
      </p:sp>
      <p:sp>
        <p:nvSpPr>
          <p:cNvPr id="16" name="Right Brace 15"/>
          <p:cNvSpPr/>
          <p:nvPr/>
        </p:nvSpPr>
        <p:spPr>
          <a:xfrm rot="5400000">
            <a:off x="3531993" y="3935606"/>
            <a:ext cx="327415" cy="4343402"/>
          </a:xfrm>
          <a:prstGeom prst="rightBrac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7930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Syntax-directed interpretation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6135902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Okay, in reality, we have to handle</a:t>
            </a:r>
          </a:p>
          <a:p>
            <a:pPr marL="0" indent="0">
              <a:buNone/>
            </a:pPr>
            <a:r>
              <a:rPr lang="en-US" sz="2000" dirty="0"/>
              <a:t>the case where the node isn’t an operator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Run(</a:t>
            </a:r>
            <a:r>
              <a:rPr lang="en-US" sz="2000" dirty="0" err="1"/>
              <a:t>STNode</a:t>
            </a:r>
            <a:r>
              <a:rPr lang="en-US" sz="2000" dirty="0"/>
              <a:t>) {</a:t>
            </a:r>
          </a:p>
          <a:p>
            <a:pPr marL="0" indent="0">
              <a:buNone/>
            </a:pPr>
            <a:r>
              <a:rPr lang="en-US" sz="2000" dirty="0"/>
              <a:t>  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if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STNode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 is a constant</a:t>
            </a:r>
          </a:p>
          <a:p>
            <a:pPr marL="0" indent="0">
              <a:buNone/>
            </a:pPr>
            <a:r>
              <a:rPr lang="en-US" sz="2000" dirty="0"/>
              <a:t>     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return the constant</a:t>
            </a:r>
          </a:p>
          <a:p>
            <a:pPr marL="0" indent="0">
              <a:buNone/>
            </a:pPr>
            <a:r>
              <a:rPr lang="en-US" sz="2000" dirty="0"/>
              <a:t>   else</a:t>
            </a:r>
          </a:p>
          <a:p>
            <a:pPr marL="0" indent="0">
              <a:buNone/>
            </a:pPr>
            <a:r>
              <a:rPr lang="en-US" sz="2000" dirty="0"/>
              <a:t>      </a:t>
            </a:r>
            <a:r>
              <a:rPr lang="en-US" sz="2000" dirty="0" err="1"/>
              <a:t>leftValue</a:t>
            </a:r>
            <a:r>
              <a:rPr lang="en-US" sz="2000" dirty="0"/>
              <a:t> = Run(</a:t>
            </a:r>
            <a:r>
              <a:rPr lang="en-US" sz="2000" dirty="0" err="1"/>
              <a:t>STNode.leftChild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      </a:t>
            </a:r>
            <a:r>
              <a:rPr lang="en-US" sz="2000" dirty="0" err="1"/>
              <a:t>rightValue</a:t>
            </a:r>
            <a:r>
              <a:rPr lang="en-US" sz="2000" dirty="0"/>
              <a:t> = Run(</a:t>
            </a:r>
            <a:r>
              <a:rPr lang="en-US" sz="2000" dirty="0" err="1"/>
              <a:t>STNode.rightChild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      return </a:t>
            </a:r>
            <a:r>
              <a:rPr lang="en-US" sz="2000" dirty="0" err="1"/>
              <a:t>DoTheMath</a:t>
            </a:r>
            <a:r>
              <a:rPr lang="en-US" sz="2000" dirty="0"/>
              <a:t>(</a:t>
            </a:r>
            <a:r>
              <a:rPr lang="en-US" sz="2000" dirty="0" err="1"/>
              <a:t>leftValue</a:t>
            </a:r>
            <a:r>
              <a:rPr lang="en-US" sz="2000" dirty="0"/>
              <a:t>, </a:t>
            </a:r>
            <a:r>
              <a:rPr lang="en-US" sz="2000" dirty="0" err="1"/>
              <a:t>rightValue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4953000" y="2133600"/>
            <a:ext cx="3726843" cy="3048000"/>
            <a:chOff x="5563746" y="2133600"/>
            <a:chExt cx="2437254" cy="1993309"/>
          </a:xfrm>
        </p:grpSpPr>
        <p:sp>
          <p:nvSpPr>
            <p:cNvPr id="6" name="Oval 5"/>
            <p:cNvSpPr/>
            <p:nvPr/>
          </p:nvSpPr>
          <p:spPr>
            <a:xfrm>
              <a:off x="6179128" y="2133600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+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5563746" y="2853463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6818754" y="2853463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*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6126028" y="3669709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543800" y="3669709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3</a:t>
              </a:r>
            </a:p>
          </p:txBody>
        </p:sp>
        <p:cxnSp>
          <p:nvCxnSpPr>
            <p:cNvPr id="11" name="Straight Arrow Connector 10"/>
            <p:cNvCxnSpPr>
              <a:stCxn id="6" idx="3"/>
              <a:endCxn id="7" idx="7"/>
            </p:cNvCxnSpPr>
            <p:nvPr/>
          </p:nvCxnSpPr>
          <p:spPr>
            <a:xfrm flipH="1">
              <a:off x="5953991" y="2523845"/>
              <a:ext cx="292092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6" idx="5"/>
              <a:endCxn id="8" idx="1"/>
            </p:cNvCxnSpPr>
            <p:nvPr/>
          </p:nvCxnSpPr>
          <p:spPr>
            <a:xfrm>
              <a:off x="6569373" y="2523845"/>
              <a:ext cx="316336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8" idx="3"/>
              <a:endCxn id="9" idx="7"/>
            </p:cNvCxnSpPr>
            <p:nvPr/>
          </p:nvCxnSpPr>
          <p:spPr>
            <a:xfrm flipH="1">
              <a:off x="6516273" y="3243708"/>
              <a:ext cx="36943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8" idx="5"/>
              <a:endCxn id="10" idx="1"/>
            </p:cNvCxnSpPr>
            <p:nvPr/>
          </p:nvCxnSpPr>
          <p:spPr>
            <a:xfrm>
              <a:off x="7208999" y="3243708"/>
              <a:ext cx="40175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33233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Syntax-directed interpretation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352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Run(+)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6" name="Oval 5"/>
          <p:cNvSpPr/>
          <p:nvPr/>
        </p:nvSpPr>
        <p:spPr>
          <a:xfrm>
            <a:off x="5893990" y="2133600"/>
            <a:ext cx="699112" cy="699112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+</a:t>
            </a:r>
          </a:p>
        </p:txBody>
      </p:sp>
      <p:sp>
        <p:nvSpPr>
          <p:cNvPr id="7" name="Oval 6"/>
          <p:cNvSpPr/>
          <p:nvPr/>
        </p:nvSpPr>
        <p:spPr>
          <a:xfrm>
            <a:off x="4953000" y="3234354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872052" y="3234354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*</a:t>
            </a:r>
          </a:p>
        </p:txBody>
      </p:sp>
      <p:sp>
        <p:nvSpPr>
          <p:cNvPr id="9" name="Oval 8"/>
          <p:cNvSpPr/>
          <p:nvPr/>
        </p:nvSpPr>
        <p:spPr>
          <a:xfrm>
            <a:off x="5812794" y="4482488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7980731" y="4482488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cxnSp>
        <p:nvCxnSpPr>
          <p:cNvPr id="11" name="Straight Arrow Connector 10"/>
          <p:cNvCxnSpPr>
            <a:stCxn id="6" idx="3"/>
            <a:endCxn id="7" idx="7"/>
          </p:cNvCxnSpPr>
          <p:nvPr/>
        </p:nvCxnSpPr>
        <p:spPr>
          <a:xfrm flipH="1">
            <a:off x="5549730" y="2730330"/>
            <a:ext cx="446642" cy="6064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5"/>
            <a:endCxn id="8" idx="1"/>
          </p:cNvCxnSpPr>
          <p:nvPr/>
        </p:nvCxnSpPr>
        <p:spPr>
          <a:xfrm>
            <a:off x="6490720" y="2730330"/>
            <a:ext cx="483714" cy="6064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8" idx="3"/>
            <a:endCxn id="9" idx="7"/>
          </p:cNvCxnSpPr>
          <p:nvPr/>
        </p:nvCxnSpPr>
        <p:spPr>
          <a:xfrm flipH="1">
            <a:off x="6409524" y="3831084"/>
            <a:ext cx="564910" cy="75378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8" idx="5"/>
            <a:endCxn id="10" idx="1"/>
          </p:cNvCxnSpPr>
          <p:nvPr/>
        </p:nvCxnSpPr>
        <p:spPr>
          <a:xfrm>
            <a:off x="7468782" y="3831084"/>
            <a:ext cx="614331" cy="75378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5333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Syntax-directed interpretation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352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Run(+)</a:t>
            </a:r>
          </a:p>
          <a:p>
            <a:pPr marL="0" indent="0">
              <a:buNone/>
            </a:pPr>
            <a:r>
              <a:rPr lang="en-US" sz="2000" dirty="0"/>
              <a:t>    Run(1)</a:t>
            </a:r>
          </a:p>
          <a:p>
            <a:pPr marL="0" indent="0">
              <a:buNone/>
            </a:pPr>
            <a:br>
              <a:rPr lang="en-US" sz="2000" dirty="0"/>
            </a:br>
            <a:br>
              <a:rPr lang="en-US" sz="2000" dirty="0"/>
            </a:br>
            <a:endParaRPr lang="en-US" sz="2000" dirty="0"/>
          </a:p>
        </p:txBody>
      </p:sp>
      <p:sp>
        <p:nvSpPr>
          <p:cNvPr id="6" name="Oval 5"/>
          <p:cNvSpPr/>
          <p:nvPr/>
        </p:nvSpPr>
        <p:spPr>
          <a:xfrm>
            <a:off x="5893990" y="2133600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+</a:t>
            </a:r>
          </a:p>
        </p:txBody>
      </p:sp>
      <p:sp>
        <p:nvSpPr>
          <p:cNvPr id="7" name="Oval 6"/>
          <p:cNvSpPr/>
          <p:nvPr/>
        </p:nvSpPr>
        <p:spPr>
          <a:xfrm>
            <a:off x="4953000" y="3234354"/>
            <a:ext cx="699112" cy="699112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872052" y="3234354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*</a:t>
            </a:r>
          </a:p>
        </p:txBody>
      </p:sp>
      <p:sp>
        <p:nvSpPr>
          <p:cNvPr id="9" name="Oval 8"/>
          <p:cNvSpPr/>
          <p:nvPr/>
        </p:nvSpPr>
        <p:spPr>
          <a:xfrm>
            <a:off x="5812794" y="4482488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7980731" y="4482488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cxnSp>
        <p:nvCxnSpPr>
          <p:cNvPr id="11" name="Straight Arrow Connector 10"/>
          <p:cNvCxnSpPr>
            <a:stCxn id="6" idx="3"/>
            <a:endCxn id="7" idx="7"/>
          </p:cNvCxnSpPr>
          <p:nvPr/>
        </p:nvCxnSpPr>
        <p:spPr>
          <a:xfrm flipH="1">
            <a:off x="5549730" y="2730330"/>
            <a:ext cx="446642" cy="6064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5"/>
            <a:endCxn id="8" idx="1"/>
          </p:cNvCxnSpPr>
          <p:nvPr/>
        </p:nvCxnSpPr>
        <p:spPr>
          <a:xfrm>
            <a:off x="6490720" y="2730330"/>
            <a:ext cx="483714" cy="6064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8" idx="3"/>
            <a:endCxn id="9" idx="7"/>
          </p:cNvCxnSpPr>
          <p:nvPr/>
        </p:nvCxnSpPr>
        <p:spPr>
          <a:xfrm flipH="1">
            <a:off x="6409524" y="3831084"/>
            <a:ext cx="564910" cy="75378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8" idx="5"/>
            <a:endCxn id="10" idx="1"/>
          </p:cNvCxnSpPr>
          <p:nvPr/>
        </p:nvCxnSpPr>
        <p:spPr>
          <a:xfrm>
            <a:off x="7468782" y="3831084"/>
            <a:ext cx="614331" cy="75378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9361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Syntax-directed interpretation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352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Run(+)</a:t>
            </a:r>
          </a:p>
          <a:p>
            <a:pPr marL="0" indent="0">
              <a:buNone/>
            </a:pPr>
            <a:r>
              <a:rPr lang="en-US" sz="2000" dirty="0"/>
              <a:t>    Run(1)</a:t>
            </a:r>
          </a:p>
          <a:p>
            <a:pPr marL="0" indent="0">
              <a:buNone/>
            </a:pPr>
            <a:r>
              <a:rPr lang="en-US" sz="2000" dirty="0"/>
              <a:t>       return 1</a:t>
            </a:r>
            <a:br>
              <a:rPr lang="en-US" sz="2000" dirty="0"/>
            </a:br>
            <a:br>
              <a:rPr lang="en-US" sz="2000" dirty="0"/>
            </a:br>
            <a:endParaRPr lang="en-US" sz="2000" dirty="0"/>
          </a:p>
        </p:txBody>
      </p:sp>
      <p:sp>
        <p:nvSpPr>
          <p:cNvPr id="6" name="Oval 5"/>
          <p:cNvSpPr/>
          <p:nvPr/>
        </p:nvSpPr>
        <p:spPr>
          <a:xfrm>
            <a:off x="5893990" y="2133600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+</a:t>
            </a:r>
          </a:p>
        </p:txBody>
      </p:sp>
      <p:sp>
        <p:nvSpPr>
          <p:cNvPr id="7" name="Oval 6"/>
          <p:cNvSpPr/>
          <p:nvPr/>
        </p:nvSpPr>
        <p:spPr>
          <a:xfrm>
            <a:off x="4953000" y="3234354"/>
            <a:ext cx="699112" cy="699112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872052" y="3234354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*</a:t>
            </a:r>
          </a:p>
        </p:txBody>
      </p:sp>
      <p:sp>
        <p:nvSpPr>
          <p:cNvPr id="9" name="Oval 8"/>
          <p:cNvSpPr/>
          <p:nvPr/>
        </p:nvSpPr>
        <p:spPr>
          <a:xfrm>
            <a:off x="5812794" y="4482488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7980731" y="4482488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cxnSp>
        <p:nvCxnSpPr>
          <p:cNvPr id="11" name="Straight Arrow Connector 10"/>
          <p:cNvCxnSpPr>
            <a:stCxn id="6" idx="3"/>
            <a:endCxn id="7" idx="7"/>
          </p:cNvCxnSpPr>
          <p:nvPr/>
        </p:nvCxnSpPr>
        <p:spPr>
          <a:xfrm flipH="1">
            <a:off x="5549730" y="2730330"/>
            <a:ext cx="446642" cy="6064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5"/>
            <a:endCxn id="8" idx="1"/>
          </p:cNvCxnSpPr>
          <p:nvPr/>
        </p:nvCxnSpPr>
        <p:spPr>
          <a:xfrm>
            <a:off x="6490720" y="2730330"/>
            <a:ext cx="483714" cy="6064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8" idx="3"/>
            <a:endCxn id="9" idx="7"/>
          </p:cNvCxnSpPr>
          <p:nvPr/>
        </p:nvCxnSpPr>
        <p:spPr>
          <a:xfrm flipH="1">
            <a:off x="6409524" y="3831084"/>
            <a:ext cx="564910" cy="75378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8" idx="5"/>
            <a:endCxn id="10" idx="1"/>
          </p:cNvCxnSpPr>
          <p:nvPr/>
        </p:nvCxnSpPr>
        <p:spPr>
          <a:xfrm>
            <a:off x="7468782" y="3831084"/>
            <a:ext cx="614331" cy="75378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648200" y="262885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/>
              <a:t>1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4396332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Syntax-directed interpretation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352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Run(+)</a:t>
            </a:r>
          </a:p>
          <a:p>
            <a:pPr marL="0" indent="0">
              <a:buNone/>
            </a:pPr>
            <a:r>
              <a:rPr lang="en-US" sz="2000" dirty="0"/>
              <a:t>    Run(1)</a:t>
            </a:r>
          </a:p>
          <a:p>
            <a:pPr marL="0" indent="0">
              <a:buNone/>
            </a:pPr>
            <a:r>
              <a:rPr lang="en-US" sz="2000" dirty="0"/>
              <a:t>       return 1</a:t>
            </a:r>
          </a:p>
          <a:p>
            <a:pPr marL="0" indent="0">
              <a:buNone/>
            </a:pPr>
            <a:r>
              <a:rPr lang="en-US" sz="2000" dirty="0"/>
              <a:t>    Run(*)</a:t>
            </a:r>
            <a:br>
              <a:rPr lang="en-US" sz="2000" dirty="0"/>
            </a:br>
            <a:br>
              <a:rPr lang="en-US" sz="2000" dirty="0"/>
            </a:br>
            <a:endParaRPr lang="en-US" sz="2000" dirty="0"/>
          </a:p>
        </p:txBody>
      </p:sp>
      <p:sp>
        <p:nvSpPr>
          <p:cNvPr id="6" name="Oval 5"/>
          <p:cNvSpPr/>
          <p:nvPr/>
        </p:nvSpPr>
        <p:spPr>
          <a:xfrm>
            <a:off x="5893990" y="2133600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+</a:t>
            </a:r>
          </a:p>
        </p:txBody>
      </p:sp>
      <p:sp>
        <p:nvSpPr>
          <p:cNvPr id="7" name="Oval 6"/>
          <p:cNvSpPr/>
          <p:nvPr/>
        </p:nvSpPr>
        <p:spPr>
          <a:xfrm>
            <a:off x="4953000" y="3234354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872052" y="3234354"/>
            <a:ext cx="699112" cy="699112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*</a:t>
            </a:r>
          </a:p>
        </p:txBody>
      </p:sp>
      <p:sp>
        <p:nvSpPr>
          <p:cNvPr id="9" name="Oval 8"/>
          <p:cNvSpPr/>
          <p:nvPr/>
        </p:nvSpPr>
        <p:spPr>
          <a:xfrm>
            <a:off x="5812794" y="4482488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7980731" y="4482488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cxnSp>
        <p:nvCxnSpPr>
          <p:cNvPr id="11" name="Straight Arrow Connector 10"/>
          <p:cNvCxnSpPr>
            <a:stCxn id="6" idx="3"/>
            <a:endCxn id="7" idx="7"/>
          </p:cNvCxnSpPr>
          <p:nvPr/>
        </p:nvCxnSpPr>
        <p:spPr>
          <a:xfrm flipH="1">
            <a:off x="5549730" y="2730330"/>
            <a:ext cx="446642" cy="6064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5"/>
            <a:endCxn id="8" idx="1"/>
          </p:cNvCxnSpPr>
          <p:nvPr/>
        </p:nvCxnSpPr>
        <p:spPr>
          <a:xfrm>
            <a:off x="6490720" y="2730330"/>
            <a:ext cx="483714" cy="6064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8" idx="3"/>
            <a:endCxn id="9" idx="7"/>
          </p:cNvCxnSpPr>
          <p:nvPr/>
        </p:nvCxnSpPr>
        <p:spPr>
          <a:xfrm flipH="1">
            <a:off x="6409524" y="3831084"/>
            <a:ext cx="564910" cy="75378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8" idx="5"/>
            <a:endCxn id="10" idx="1"/>
          </p:cNvCxnSpPr>
          <p:nvPr/>
        </p:nvCxnSpPr>
        <p:spPr>
          <a:xfrm>
            <a:off x="7468782" y="3831084"/>
            <a:ext cx="614331" cy="75378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46047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Syntax-directed interpretation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352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Run(+)</a:t>
            </a:r>
          </a:p>
          <a:p>
            <a:pPr marL="0" indent="0">
              <a:buNone/>
            </a:pPr>
            <a:r>
              <a:rPr lang="en-US" sz="2000" dirty="0"/>
              <a:t>    Run(1)</a:t>
            </a:r>
          </a:p>
          <a:p>
            <a:pPr marL="0" indent="0">
              <a:buNone/>
            </a:pPr>
            <a:r>
              <a:rPr lang="en-US" sz="2000" dirty="0"/>
              <a:t>       return 1</a:t>
            </a:r>
          </a:p>
          <a:p>
            <a:pPr marL="0" indent="0">
              <a:buNone/>
            </a:pPr>
            <a:r>
              <a:rPr lang="en-US" sz="2000" dirty="0"/>
              <a:t>    Run(*)</a:t>
            </a:r>
            <a:br>
              <a:rPr lang="en-US" sz="2000" dirty="0"/>
            </a:br>
            <a:r>
              <a:rPr lang="en-US" sz="2000" dirty="0"/>
              <a:t>       Run(2)</a:t>
            </a:r>
            <a:br>
              <a:rPr lang="en-US" sz="2000" dirty="0"/>
            </a:br>
            <a:br>
              <a:rPr lang="en-US" sz="2000" dirty="0"/>
            </a:br>
            <a:endParaRPr lang="en-US" sz="2000" dirty="0"/>
          </a:p>
        </p:txBody>
      </p:sp>
      <p:sp>
        <p:nvSpPr>
          <p:cNvPr id="6" name="Oval 5"/>
          <p:cNvSpPr/>
          <p:nvPr/>
        </p:nvSpPr>
        <p:spPr>
          <a:xfrm>
            <a:off x="5893990" y="2133600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+</a:t>
            </a:r>
          </a:p>
        </p:txBody>
      </p:sp>
      <p:sp>
        <p:nvSpPr>
          <p:cNvPr id="7" name="Oval 6"/>
          <p:cNvSpPr/>
          <p:nvPr/>
        </p:nvSpPr>
        <p:spPr>
          <a:xfrm>
            <a:off x="4953000" y="3234354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872052" y="3234354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*</a:t>
            </a:r>
          </a:p>
        </p:txBody>
      </p:sp>
      <p:sp>
        <p:nvSpPr>
          <p:cNvPr id="9" name="Oval 8"/>
          <p:cNvSpPr/>
          <p:nvPr/>
        </p:nvSpPr>
        <p:spPr>
          <a:xfrm>
            <a:off x="5812794" y="4482488"/>
            <a:ext cx="699112" cy="699112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7980731" y="4482488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cxnSp>
        <p:nvCxnSpPr>
          <p:cNvPr id="11" name="Straight Arrow Connector 10"/>
          <p:cNvCxnSpPr>
            <a:stCxn id="6" idx="3"/>
            <a:endCxn id="7" idx="7"/>
          </p:cNvCxnSpPr>
          <p:nvPr/>
        </p:nvCxnSpPr>
        <p:spPr>
          <a:xfrm flipH="1">
            <a:off x="5549730" y="2730330"/>
            <a:ext cx="446642" cy="6064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5"/>
            <a:endCxn id="8" idx="1"/>
          </p:cNvCxnSpPr>
          <p:nvPr/>
        </p:nvCxnSpPr>
        <p:spPr>
          <a:xfrm>
            <a:off x="6490720" y="2730330"/>
            <a:ext cx="483714" cy="6064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8" idx="3"/>
            <a:endCxn id="9" idx="7"/>
          </p:cNvCxnSpPr>
          <p:nvPr/>
        </p:nvCxnSpPr>
        <p:spPr>
          <a:xfrm flipH="1">
            <a:off x="6409524" y="3831084"/>
            <a:ext cx="564910" cy="75378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8" idx="5"/>
            <a:endCxn id="10" idx="1"/>
          </p:cNvCxnSpPr>
          <p:nvPr/>
        </p:nvCxnSpPr>
        <p:spPr>
          <a:xfrm>
            <a:off x="7468782" y="3831084"/>
            <a:ext cx="614331" cy="75378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87810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Syntax-directed interpretation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352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Run(+)</a:t>
            </a:r>
          </a:p>
          <a:p>
            <a:pPr marL="0" indent="0">
              <a:buNone/>
            </a:pPr>
            <a:r>
              <a:rPr lang="en-US" sz="2000" dirty="0"/>
              <a:t>    Run(1)</a:t>
            </a:r>
          </a:p>
          <a:p>
            <a:pPr marL="0" indent="0">
              <a:buNone/>
            </a:pPr>
            <a:r>
              <a:rPr lang="en-US" sz="2000" dirty="0"/>
              <a:t>       return 1</a:t>
            </a:r>
          </a:p>
          <a:p>
            <a:pPr marL="0" indent="0">
              <a:buNone/>
            </a:pPr>
            <a:r>
              <a:rPr lang="en-US" sz="2000" dirty="0"/>
              <a:t>    Run(*)</a:t>
            </a:r>
            <a:br>
              <a:rPr lang="en-US" sz="2000" dirty="0"/>
            </a:br>
            <a:r>
              <a:rPr lang="en-US" sz="2000" dirty="0"/>
              <a:t>       Run(2)</a:t>
            </a:r>
            <a:br>
              <a:rPr lang="en-US" sz="2000" dirty="0"/>
            </a:br>
            <a:r>
              <a:rPr lang="en-US" sz="2000" dirty="0"/>
              <a:t>           return 2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6" name="Oval 5"/>
          <p:cNvSpPr/>
          <p:nvPr/>
        </p:nvSpPr>
        <p:spPr>
          <a:xfrm>
            <a:off x="5893990" y="2133600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+</a:t>
            </a:r>
          </a:p>
        </p:txBody>
      </p:sp>
      <p:sp>
        <p:nvSpPr>
          <p:cNvPr id="7" name="Oval 6"/>
          <p:cNvSpPr/>
          <p:nvPr/>
        </p:nvSpPr>
        <p:spPr>
          <a:xfrm>
            <a:off x="4953000" y="3234354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872052" y="3234354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*</a:t>
            </a:r>
          </a:p>
        </p:txBody>
      </p:sp>
      <p:sp>
        <p:nvSpPr>
          <p:cNvPr id="9" name="Oval 8"/>
          <p:cNvSpPr/>
          <p:nvPr/>
        </p:nvSpPr>
        <p:spPr>
          <a:xfrm>
            <a:off x="5812794" y="4482488"/>
            <a:ext cx="699112" cy="699112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7980731" y="4482488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cxnSp>
        <p:nvCxnSpPr>
          <p:cNvPr id="11" name="Straight Arrow Connector 10"/>
          <p:cNvCxnSpPr>
            <a:stCxn id="6" idx="3"/>
            <a:endCxn id="7" idx="7"/>
          </p:cNvCxnSpPr>
          <p:nvPr/>
        </p:nvCxnSpPr>
        <p:spPr>
          <a:xfrm flipH="1">
            <a:off x="5549730" y="2730330"/>
            <a:ext cx="446642" cy="6064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5"/>
            <a:endCxn id="8" idx="1"/>
          </p:cNvCxnSpPr>
          <p:nvPr/>
        </p:nvCxnSpPr>
        <p:spPr>
          <a:xfrm>
            <a:off x="6490720" y="2730330"/>
            <a:ext cx="483714" cy="6064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8" idx="3"/>
            <a:endCxn id="9" idx="7"/>
          </p:cNvCxnSpPr>
          <p:nvPr/>
        </p:nvCxnSpPr>
        <p:spPr>
          <a:xfrm flipH="1">
            <a:off x="6409524" y="3831084"/>
            <a:ext cx="564910" cy="75378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8" idx="5"/>
            <a:endCxn id="10" idx="1"/>
          </p:cNvCxnSpPr>
          <p:nvPr/>
        </p:nvCxnSpPr>
        <p:spPr>
          <a:xfrm>
            <a:off x="7468782" y="3831084"/>
            <a:ext cx="614331" cy="75378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68442" y="4124158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438893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Syntax-directed interpretation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352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Run(+)</a:t>
            </a:r>
          </a:p>
          <a:p>
            <a:pPr marL="0" indent="0">
              <a:buNone/>
            </a:pPr>
            <a:r>
              <a:rPr lang="en-US" sz="2000" dirty="0"/>
              <a:t>    Run(1)</a:t>
            </a:r>
          </a:p>
          <a:p>
            <a:pPr marL="0" indent="0">
              <a:buNone/>
            </a:pPr>
            <a:r>
              <a:rPr lang="en-US" sz="2000" dirty="0"/>
              <a:t>       return 1</a:t>
            </a:r>
          </a:p>
          <a:p>
            <a:pPr marL="0" indent="0">
              <a:buNone/>
            </a:pPr>
            <a:r>
              <a:rPr lang="en-US" sz="2000" dirty="0"/>
              <a:t>    Run(*)</a:t>
            </a:r>
            <a:br>
              <a:rPr lang="en-US" sz="2000" dirty="0"/>
            </a:br>
            <a:r>
              <a:rPr lang="en-US" sz="2000" dirty="0"/>
              <a:t>       Run(2)</a:t>
            </a:r>
            <a:br>
              <a:rPr lang="en-US" sz="2000" dirty="0"/>
            </a:br>
            <a:r>
              <a:rPr lang="en-US" sz="2000" dirty="0"/>
              <a:t>           return 2</a:t>
            </a:r>
            <a:br>
              <a:rPr lang="en-US" sz="2000" dirty="0"/>
            </a:br>
            <a:r>
              <a:rPr lang="en-US" sz="2000" dirty="0"/>
              <a:t>       Run(3)</a:t>
            </a:r>
          </a:p>
        </p:txBody>
      </p:sp>
      <p:sp>
        <p:nvSpPr>
          <p:cNvPr id="6" name="Oval 5"/>
          <p:cNvSpPr/>
          <p:nvPr/>
        </p:nvSpPr>
        <p:spPr>
          <a:xfrm>
            <a:off x="5893990" y="2133600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+</a:t>
            </a:r>
          </a:p>
        </p:txBody>
      </p:sp>
      <p:sp>
        <p:nvSpPr>
          <p:cNvPr id="7" name="Oval 6"/>
          <p:cNvSpPr/>
          <p:nvPr/>
        </p:nvSpPr>
        <p:spPr>
          <a:xfrm>
            <a:off x="4953000" y="3234354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872052" y="3234354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*</a:t>
            </a:r>
          </a:p>
        </p:txBody>
      </p:sp>
      <p:sp>
        <p:nvSpPr>
          <p:cNvPr id="9" name="Oval 8"/>
          <p:cNvSpPr/>
          <p:nvPr/>
        </p:nvSpPr>
        <p:spPr>
          <a:xfrm>
            <a:off x="5812794" y="4482488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7980731" y="4482488"/>
            <a:ext cx="699112" cy="699112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cxnSp>
        <p:nvCxnSpPr>
          <p:cNvPr id="11" name="Straight Arrow Connector 10"/>
          <p:cNvCxnSpPr>
            <a:stCxn id="6" idx="3"/>
            <a:endCxn id="7" idx="7"/>
          </p:cNvCxnSpPr>
          <p:nvPr/>
        </p:nvCxnSpPr>
        <p:spPr>
          <a:xfrm flipH="1">
            <a:off x="5549730" y="2730330"/>
            <a:ext cx="446642" cy="6064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5"/>
            <a:endCxn id="8" idx="1"/>
          </p:cNvCxnSpPr>
          <p:nvPr/>
        </p:nvCxnSpPr>
        <p:spPr>
          <a:xfrm>
            <a:off x="6490720" y="2730330"/>
            <a:ext cx="483714" cy="6064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8" idx="3"/>
            <a:endCxn id="9" idx="7"/>
          </p:cNvCxnSpPr>
          <p:nvPr/>
        </p:nvCxnSpPr>
        <p:spPr>
          <a:xfrm flipH="1">
            <a:off x="6409524" y="3831084"/>
            <a:ext cx="564910" cy="75378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8" idx="5"/>
            <a:endCxn id="10" idx="1"/>
          </p:cNvCxnSpPr>
          <p:nvPr/>
        </p:nvCxnSpPr>
        <p:spPr>
          <a:xfrm>
            <a:off x="7468782" y="3831084"/>
            <a:ext cx="614331" cy="75378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9808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Syntax-directed interpretation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352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Run(+)</a:t>
            </a:r>
          </a:p>
          <a:p>
            <a:pPr marL="0" indent="0">
              <a:buNone/>
            </a:pPr>
            <a:r>
              <a:rPr lang="en-US" sz="2000" dirty="0"/>
              <a:t>    Run(1)</a:t>
            </a:r>
          </a:p>
          <a:p>
            <a:pPr marL="0" indent="0">
              <a:buNone/>
            </a:pPr>
            <a:r>
              <a:rPr lang="en-US" sz="2000" dirty="0"/>
              <a:t>       return 1</a:t>
            </a:r>
          </a:p>
          <a:p>
            <a:pPr marL="0" indent="0">
              <a:buNone/>
            </a:pPr>
            <a:r>
              <a:rPr lang="en-US" sz="2000" dirty="0"/>
              <a:t>    Run(*)</a:t>
            </a:r>
            <a:br>
              <a:rPr lang="en-US" sz="2000" dirty="0"/>
            </a:br>
            <a:r>
              <a:rPr lang="en-US" sz="2000" dirty="0"/>
              <a:t>       Run(2)</a:t>
            </a:r>
            <a:br>
              <a:rPr lang="en-US" sz="2000" dirty="0"/>
            </a:br>
            <a:r>
              <a:rPr lang="en-US" sz="2000" dirty="0"/>
              <a:t>           return 2</a:t>
            </a:r>
            <a:br>
              <a:rPr lang="en-US" sz="2000" dirty="0"/>
            </a:br>
            <a:r>
              <a:rPr lang="en-US" sz="2000" dirty="0"/>
              <a:t>       Run(3)</a:t>
            </a:r>
          </a:p>
          <a:p>
            <a:pPr marL="0" indent="0">
              <a:buNone/>
            </a:pPr>
            <a:r>
              <a:rPr lang="en-US" sz="2000" dirty="0"/>
              <a:t>           return 3</a:t>
            </a:r>
          </a:p>
        </p:txBody>
      </p:sp>
      <p:sp>
        <p:nvSpPr>
          <p:cNvPr id="6" name="Oval 5"/>
          <p:cNvSpPr/>
          <p:nvPr/>
        </p:nvSpPr>
        <p:spPr>
          <a:xfrm>
            <a:off x="5893990" y="2133600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+</a:t>
            </a:r>
          </a:p>
        </p:txBody>
      </p:sp>
      <p:sp>
        <p:nvSpPr>
          <p:cNvPr id="7" name="Oval 6"/>
          <p:cNvSpPr/>
          <p:nvPr/>
        </p:nvSpPr>
        <p:spPr>
          <a:xfrm>
            <a:off x="4953000" y="3234354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872052" y="3234354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*</a:t>
            </a:r>
          </a:p>
        </p:txBody>
      </p:sp>
      <p:sp>
        <p:nvSpPr>
          <p:cNvPr id="9" name="Oval 8"/>
          <p:cNvSpPr/>
          <p:nvPr/>
        </p:nvSpPr>
        <p:spPr>
          <a:xfrm>
            <a:off x="5812794" y="4482488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7980731" y="4482488"/>
            <a:ext cx="699112" cy="699112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cxnSp>
        <p:nvCxnSpPr>
          <p:cNvPr id="11" name="Straight Arrow Connector 10"/>
          <p:cNvCxnSpPr>
            <a:stCxn id="6" idx="3"/>
            <a:endCxn id="7" idx="7"/>
          </p:cNvCxnSpPr>
          <p:nvPr/>
        </p:nvCxnSpPr>
        <p:spPr>
          <a:xfrm flipH="1">
            <a:off x="5549730" y="2730330"/>
            <a:ext cx="446642" cy="6064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5"/>
            <a:endCxn id="8" idx="1"/>
          </p:cNvCxnSpPr>
          <p:nvPr/>
        </p:nvCxnSpPr>
        <p:spPr>
          <a:xfrm>
            <a:off x="6490720" y="2730330"/>
            <a:ext cx="483714" cy="6064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8" idx="3"/>
            <a:endCxn id="9" idx="7"/>
          </p:cNvCxnSpPr>
          <p:nvPr/>
        </p:nvCxnSpPr>
        <p:spPr>
          <a:xfrm flipH="1">
            <a:off x="6409524" y="3831084"/>
            <a:ext cx="564910" cy="75378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8" idx="5"/>
            <a:endCxn id="10" idx="1"/>
          </p:cNvCxnSpPr>
          <p:nvPr/>
        </p:nvCxnSpPr>
        <p:spPr>
          <a:xfrm>
            <a:off x="7468782" y="3831084"/>
            <a:ext cx="614331" cy="75378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57667" y="3934348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850919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Syntax-directed interpretation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352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Run(+)</a:t>
            </a:r>
          </a:p>
          <a:p>
            <a:pPr marL="0" indent="0">
              <a:buNone/>
            </a:pPr>
            <a:r>
              <a:rPr lang="en-US" sz="2000" dirty="0"/>
              <a:t>    Run(1)</a:t>
            </a:r>
          </a:p>
          <a:p>
            <a:pPr marL="0" indent="0">
              <a:buNone/>
            </a:pPr>
            <a:r>
              <a:rPr lang="en-US" sz="2000" dirty="0"/>
              <a:t>       return 1</a:t>
            </a:r>
          </a:p>
          <a:p>
            <a:pPr marL="0" indent="0">
              <a:buNone/>
            </a:pPr>
            <a:r>
              <a:rPr lang="en-US" sz="2000" dirty="0"/>
              <a:t>    Run(*)</a:t>
            </a:r>
            <a:br>
              <a:rPr lang="en-US" sz="2000" dirty="0"/>
            </a:br>
            <a:r>
              <a:rPr lang="en-US" sz="2000" dirty="0"/>
              <a:t>       Run(2)</a:t>
            </a:r>
            <a:br>
              <a:rPr lang="en-US" sz="2000" dirty="0"/>
            </a:br>
            <a:r>
              <a:rPr lang="en-US" sz="2000" dirty="0"/>
              <a:t>           return 2</a:t>
            </a:r>
            <a:br>
              <a:rPr lang="en-US" sz="2000" dirty="0"/>
            </a:br>
            <a:r>
              <a:rPr lang="en-US" sz="2000" dirty="0"/>
              <a:t>       Run(3)</a:t>
            </a:r>
          </a:p>
          <a:p>
            <a:pPr marL="0" indent="0">
              <a:buNone/>
            </a:pPr>
            <a:r>
              <a:rPr lang="en-US" sz="2000" dirty="0"/>
              <a:t>           return 3</a:t>
            </a:r>
          </a:p>
          <a:p>
            <a:pPr marL="0" indent="0">
              <a:buNone/>
            </a:pPr>
            <a:r>
              <a:rPr lang="en-US" sz="2000" dirty="0"/>
              <a:t>       return 6</a:t>
            </a:r>
          </a:p>
        </p:txBody>
      </p:sp>
      <p:sp>
        <p:nvSpPr>
          <p:cNvPr id="6" name="Oval 5"/>
          <p:cNvSpPr/>
          <p:nvPr/>
        </p:nvSpPr>
        <p:spPr>
          <a:xfrm>
            <a:off x="5893990" y="2133600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+</a:t>
            </a:r>
          </a:p>
        </p:txBody>
      </p:sp>
      <p:sp>
        <p:nvSpPr>
          <p:cNvPr id="7" name="Oval 6"/>
          <p:cNvSpPr/>
          <p:nvPr/>
        </p:nvSpPr>
        <p:spPr>
          <a:xfrm>
            <a:off x="4953000" y="3234354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872052" y="3234354"/>
            <a:ext cx="699112" cy="699112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*</a:t>
            </a:r>
          </a:p>
        </p:txBody>
      </p:sp>
      <p:sp>
        <p:nvSpPr>
          <p:cNvPr id="9" name="Oval 8"/>
          <p:cNvSpPr/>
          <p:nvPr/>
        </p:nvSpPr>
        <p:spPr>
          <a:xfrm>
            <a:off x="5812794" y="4482488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7980731" y="4482488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cxnSp>
        <p:nvCxnSpPr>
          <p:cNvPr id="11" name="Straight Arrow Connector 10"/>
          <p:cNvCxnSpPr>
            <a:stCxn id="6" idx="3"/>
            <a:endCxn id="7" idx="7"/>
          </p:cNvCxnSpPr>
          <p:nvPr/>
        </p:nvCxnSpPr>
        <p:spPr>
          <a:xfrm flipH="1">
            <a:off x="5549730" y="2730330"/>
            <a:ext cx="446642" cy="6064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5"/>
            <a:endCxn id="8" idx="1"/>
          </p:cNvCxnSpPr>
          <p:nvPr/>
        </p:nvCxnSpPr>
        <p:spPr>
          <a:xfrm>
            <a:off x="6490720" y="2730330"/>
            <a:ext cx="483714" cy="6064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8" idx="3"/>
            <a:endCxn id="9" idx="7"/>
          </p:cNvCxnSpPr>
          <p:nvPr/>
        </p:nvCxnSpPr>
        <p:spPr>
          <a:xfrm flipH="1">
            <a:off x="6409524" y="3831084"/>
            <a:ext cx="564910" cy="75378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8" idx="5"/>
            <a:endCxn id="10" idx="1"/>
          </p:cNvCxnSpPr>
          <p:nvPr/>
        </p:nvCxnSpPr>
        <p:spPr>
          <a:xfrm>
            <a:off x="7468782" y="3831084"/>
            <a:ext cx="614331" cy="75378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574711" y="2747106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254090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Syntax-directed interpretation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352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Run(+)</a:t>
            </a:r>
          </a:p>
          <a:p>
            <a:pPr marL="0" indent="0">
              <a:buNone/>
            </a:pPr>
            <a:r>
              <a:rPr lang="en-US" sz="2000" dirty="0"/>
              <a:t>    Run(1)</a:t>
            </a:r>
          </a:p>
          <a:p>
            <a:pPr marL="0" indent="0">
              <a:buNone/>
            </a:pPr>
            <a:r>
              <a:rPr lang="en-US" sz="2000" dirty="0"/>
              <a:t>       return 1</a:t>
            </a:r>
          </a:p>
          <a:p>
            <a:pPr marL="0" indent="0">
              <a:buNone/>
            </a:pPr>
            <a:r>
              <a:rPr lang="en-US" sz="2000" dirty="0"/>
              <a:t>    Run(*)</a:t>
            </a:r>
            <a:br>
              <a:rPr lang="en-US" sz="2000" dirty="0"/>
            </a:br>
            <a:r>
              <a:rPr lang="en-US" sz="2000" dirty="0"/>
              <a:t>       Run(2)</a:t>
            </a:r>
            <a:br>
              <a:rPr lang="en-US" sz="2000" dirty="0"/>
            </a:br>
            <a:r>
              <a:rPr lang="en-US" sz="2000" dirty="0"/>
              <a:t>           return 2</a:t>
            </a:r>
            <a:br>
              <a:rPr lang="en-US" sz="2000" dirty="0"/>
            </a:br>
            <a:r>
              <a:rPr lang="en-US" sz="2000" dirty="0"/>
              <a:t>       Run(3)</a:t>
            </a:r>
          </a:p>
          <a:p>
            <a:pPr marL="0" indent="0">
              <a:buNone/>
            </a:pPr>
            <a:r>
              <a:rPr lang="en-US" sz="2000" dirty="0"/>
              <a:t>           return 3</a:t>
            </a:r>
          </a:p>
          <a:p>
            <a:pPr marL="0" indent="0">
              <a:buNone/>
            </a:pPr>
            <a:r>
              <a:rPr lang="en-US" sz="2000" dirty="0"/>
              <a:t>       return 6</a:t>
            </a:r>
          </a:p>
          <a:p>
            <a:pPr marL="0" indent="0">
              <a:buNone/>
            </a:pPr>
            <a:r>
              <a:rPr lang="en-US" sz="2000" dirty="0"/>
              <a:t>    return 7</a:t>
            </a:r>
          </a:p>
        </p:txBody>
      </p:sp>
      <p:sp>
        <p:nvSpPr>
          <p:cNvPr id="6" name="Oval 5"/>
          <p:cNvSpPr/>
          <p:nvPr/>
        </p:nvSpPr>
        <p:spPr>
          <a:xfrm>
            <a:off x="5893990" y="2133600"/>
            <a:ext cx="699112" cy="699112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+</a:t>
            </a:r>
          </a:p>
        </p:txBody>
      </p:sp>
      <p:sp>
        <p:nvSpPr>
          <p:cNvPr id="7" name="Oval 6"/>
          <p:cNvSpPr/>
          <p:nvPr/>
        </p:nvSpPr>
        <p:spPr>
          <a:xfrm>
            <a:off x="4953000" y="3234354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872052" y="3234354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*</a:t>
            </a:r>
          </a:p>
        </p:txBody>
      </p:sp>
      <p:sp>
        <p:nvSpPr>
          <p:cNvPr id="9" name="Oval 8"/>
          <p:cNvSpPr/>
          <p:nvPr/>
        </p:nvSpPr>
        <p:spPr>
          <a:xfrm>
            <a:off x="5812794" y="4482488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7980731" y="4482488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cxnSp>
        <p:nvCxnSpPr>
          <p:cNvPr id="11" name="Straight Arrow Connector 10"/>
          <p:cNvCxnSpPr>
            <a:stCxn id="6" idx="3"/>
            <a:endCxn id="7" idx="7"/>
          </p:cNvCxnSpPr>
          <p:nvPr/>
        </p:nvCxnSpPr>
        <p:spPr>
          <a:xfrm flipH="1">
            <a:off x="5549730" y="2730330"/>
            <a:ext cx="446642" cy="6064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5"/>
            <a:endCxn id="8" idx="1"/>
          </p:cNvCxnSpPr>
          <p:nvPr/>
        </p:nvCxnSpPr>
        <p:spPr>
          <a:xfrm>
            <a:off x="6490720" y="2730330"/>
            <a:ext cx="483714" cy="6064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8" idx="3"/>
            <a:endCxn id="9" idx="7"/>
          </p:cNvCxnSpPr>
          <p:nvPr/>
        </p:nvCxnSpPr>
        <p:spPr>
          <a:xfrm flipH="1">
            <a:off x="6409524" y="3831084"/>
            <a:ext cx="564910" cy="75378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8" idx="5"/>
            <a:endCxn id="10" idx="1"/>
          </p:cNvCxnSpPr>
          <p:nvPr/>
        </p:nvCxnSpPr>
        <p:spPr>
          <a:xfrm>
            <a:off x="7468782" y="3831084"/>
            <a:ext cx="614331" cy="75378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62168" y="1642646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7644720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Syntax-directed interpretation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6135902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Look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familiar</a:t>
            </a:r>
            <a:r>
              <a:rPr lang="en-US" sz="2000" dirty="0"/>
              <a:t>?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Run(</a:t>
            </a:r>
            <a:r>
              <a:rPr lang="en-US" sz="2000" dirty="0" err="1"/>
              <a:t>STNode</a:t>
            </a:r>
            <a:r>
              <a:rPr lang="en-US" sz="2000" dirty="0"/>
              <a:t>) {</a:t>
            </a:r>
          </a:p>
          <a:p>
            <a:pPr marL="0" indent="0">
              <a:buNone/>
            </a:pPr>
            <a:r>
              <a:rPr lang="en-US" sz="2000" dirty="0"/>
              <a:t>   </a:t>
            </a:r>
            <a:r>
              <a:rPr lang="en-US" sz="2000" dirty="0" err="1"/>
              <a:t>leftValue</a:t>
            </a:r>
            <a:r>
              <a:rPr lang="en-US" sz="2000" dirty="0"/>
              <a:t> = Run(</a:t>
            </a:r>
            <a:r>
              <a:rPr lang="en-US" sz="2000" dirty="0" err="1"/>
              <a:t>STNode.leftChild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   </a:t>
            </a:r>
            <a:r>
              <a:rPr lang="en-US" sz="2000" dirty="0" err="1"/>
              <a:t>rightValue</a:t>
            </a:r>
            <a:r>
              <a:rPr lang="en-US" sz="2000" dirty="0"/>
              <a:t> = Run(</a:t>
            </a:r>
            <a:r>
              <a:rPr lang="en-US" sz="2000" dirty="0" err="1"/>
              <a:t>STNode.rightChild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   return </a:t>
            </a:r>
            <a:r>
              <a:rPr lang="en-US" sz="2000" dirty="0" err="1"/>
              <a:t>DoTheMath</a:t>
            </a:r>
            <a:r>
              <a:rPr lang="en-US" sz="2000" dirty="0"/>
              <a:t>(</a:t>
            </a:r>
            <a:r>
              <a:rPr lang="en-US" sz="2000" dirty="0" err="1"/>
              <a:t>leftValue</a:t>
            </a:r>
            <a:r>
              <a:rPr lang="en-US" sz="2000" dirty="0"/>
              <a:t>, </a:t>
            </a:r>
            <a:r>
              <a:rPr lang="en-US" sz="2000" dirty="0" err="1"/>
              <a:t>rightValue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4953000" y="2133600"/>
            <a:ext cx="3726843" cy="3048000"/>
            <a:chOff x="5563746" y="2133600"/>
            <a:chExt cx="2437254" cy="1993309"/>
          </a:xfrm>
        </p:grpSpPr>
        <p:sp>
          <p:nvSpPr>
            <p:cNvPr id="6" name="Oval 5"/>
            <p:cNvSpPr/>
            <p:nvPr/>
          </p:nvSpPr>
          <p:spPr>
            <a:xfrm>
              <a:off x="6179128" y="2133600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+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5563746" y="2853463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6818754" y="2853463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*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6126028" y="3669709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543800" y="3669709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3</a:t>
              </a:r>
            </a:p>
          </p:txBody>
        </p:sp>
        <p:cxnSp>
          <p:nvCxnSpPr>
            <p:cNvPr id="11" name="Straight Arrow Connector 10"/>
            <p:cNvCxnSpPr>
              <a:stCxn id="6" idx="3"/>
              <a:endCxn id="7" idx="7"/>
            </p:cNvCxnSpPr>
            <p:nvPr/>
          </p:nvCxnSpPr>
          <p:spPr>
            <a:xfrm flipH="1">
              <a:off x="5953991" y="2523845"/>
              <a:ext cx="292092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6" idx="5"/>
              <a:endCxn id="8" idx="1"/>
            </p:cNvCxnSpPr>
            <p:nvPr/>
          </p:nvCxnSpPr>
          <p:spPr>
            <a:xfrm>
              <a:off x="6569373" y="2523845"/>
              <a:ext cx="316336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8" idx="3"/>
              <a:endCxn id="9" idx="7"/>
            </p:cNvCxnSpPr>
            <p:nvPr/>
          </p:nvCxnSpPr>
          <p:spPr>
            <a:xfrm flipH="1">
              <a:off x="6516273" y="3243708"/>
              <a:ext cx="36943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8" idx="5"/>
              <a:endCxn id="10" idx="1"/>
            </p:cNvCxnSpPr>
            <p:nvPr/>
          </p:nvCxnSpPr>
          <p:spPr>
            <a:xfrm>
              <a:off x="7208999" y="3243708"/>
              <a:ext cx="40175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645321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Post-order traversal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5194912" cy="4525963"/>
          </a:xfrm>
        </p:spPr>
        <p:txBody>
          <a:bodyPr>
            <a:normAutofit/>
          </a:bodyPr>
          <a:lstStyle/>
          <a:p>
            <a:r>
              <a:rPr lang="en-US" dirty="0"/>
              <a:t>This is just a </a:t>
            </a:r>
            <a:r>
              <a:rPr lang="en-US" b="1" dirty="0">
                <a:solidFill>
                  <a:srgbClr val="E46C0A"/>
                </a:solidFill>
              </a:rPr>
              <a:t>depth-first walk</a:t>
            </a:r>
          </a:p>
          <a:p>
            <a:pPr lvl="1"/>
            <a:r>
              <a:rPr lang="en-US" dirty="0"/>
              <a:t>In particular, a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post-order </a:t>
            </a:r>
            <a:r>
              <a:rPr lang="en-US" dirty="0"/>
              <a:t>walk</a:t>
            </a:r>
          </a:p>
          <a:p>
            <a:pPr lvl="1"/>
            <a:endParaRPr lang="en-US" dirty="0"/>
          </a:p>
          <a:p>
            <a:r>
              <a:rPr lang="en-US" dirty="0"/>
              <a:t>This is a super-</a:t>
            </a:r>
            <a:r>
              <a:rPr lang="en-US" b="1" dirty="0">
                <a:solidFill>
                  <a:srgbClr val="E46C0A"/>
                </a:solidFill>
              </a:rPr>
              <a:t>simplified case</a:t>
            </a:r>
          </a:p>
          <a:p>
            <a:pPr lvl="1"/>
            <a:r>
              <a:rPr lang="en-US" dirty="0"/>
              <a:t>Only arithmetic expressions</a:t>
            </a:r>
          </a:p>
          <a:p>
            <a:pPr lvl="1"/>
            <a:r>
              <a:rPr lang="en-US" dirty="0"/>
              <a:t>Only binary trees</a:t>
            </a:r>
          </a:p>
          <a:p>
            <a:endParaRPr lang="en-US" dirty="0"/>
          </a:p>
          <a:p>
            <a:r>
              <a:rPr lang="en-US" dirty="0"/>
              <a:t>But the idea is much the same for more complicated cases</a:t>
            </a:r>
          </a:p>
        </p:txBody>
      </p:sp>
      <p:sp>
        <p:nvSpPr>
          <p:cNvPr id="7" name="Oval 6"/>
          <p:cNvSpPr/>
          <p:nvPr/>
        </p:nvSpPr>
        <p:spPr>
          <a:xfrm>
            <a:off x="5893990" y="2514600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+</a:t>
            </a:r>
          </a:p>
        </p:txBody>
      </p:sp>
      <p:sp>
        <p:nvSpPr>
          <p:cNvPr id="8" name="Oval 7"/>
          <p:cNvSpPr/>
          <p:nvPr/>
        </p:nvSpPr>
        <p:spPr>
          <a:xfrm>
            <a:off x="4953000" y="3615354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6872052" y="3615354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*</a:t>
            </a:r>
          </a:p>
        </p:txBody>
      </p:sp>
      <p:sp>
        <p:nvSpPr>
          <p:cNvPr id="10" name="Oval 9"/>
          <p:cNvSpPr/>
          <p:nvPr/>
        </p:nvSpPr>
        <p:spPr>
          <a:xfrm>
            <a:off x="5812794" y="4863488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7980731" y="4863488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cxnSp>
        <p:nvCxnSpPr>
          <p:cNvPr id="12" name="Straight Arrow Connector 11"/>
          <p:cNvCxnSpPr>
            <a:stCxn id="7" idx="3"/>
            <a:endCxn id="8" idx="7"/>
          </p:cNvCxnSpPr>
          <p:nvPr/>
        </p:nvCxnSpPr>
        <p:spPr>
          <a:xfrm flipH="1">
            <a:off x="5549730" y="3111330"/>
            <a:ext cx="446642" cy="6064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7" idx="5"/>
            <a:endCxn id="9" idx="1"/>
          </p:cNvCxnSpPr>
          <p:nvPr/>
        </p:nvCxnSpPr>
        <p:spPr>
          <a:xfrm>
            <a:off x="6490720" y="3111330"/>
            <a:ext cx="483714" cy="6064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9" idx="3"/>
            <a:endCxn id="10" idx="7"/>
          </p:cNvCxnSpPr>
          <p:nvPr/>
        </p:nvCxnSpPr>
        <p:spPr>
          <a:xfrm flipH="1">
            <a:off x="6409524" y="4212084"/>
            <a:ext cx="564910" cy="75378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9" idx="5"/>
            <a:endCxn id="11" idx="1"/>
          </p:cNvCxnSpPr>
          <p:nvPr/>
        </p:nvCxnSpPr>
        <p:spPr>
          <a:xfrm>
            <a:off x="7468782" y="4212084"/>
            <a:ext cx="614331" cy="75378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61658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variable</a:t>
            </a:r>
            <a:r>
              <a:rPr lang="en-US" baseline="0" dirty="0"/>
              <a:t> 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That’s great!</a:t>
            </a:r>
          </a:p>
          <a:p>
            <a:r>
              <a:rPr lang="en-US" dirty="0"/>
              <a:t>But what do we do when we see a </a:t>
            </a:r>
            <a:r>
              <a:rPr lang="en-US" b="1" dirty="0">
                <a:solidFill>
                  <a:srgbClr val="E46C0A"/>
                </a:solidFill>
              </a:rPr>
              <a:t>variable</a:t>
            </a:r>
            <a:r>
              <a:rPr lang="en-US" dirty="0"/>
              <a:t>?</a:t>
            </a:r>
          </a:p>
        </p:txBody>
      </p:sp>
      <p:sp>
        <p:nvSpPr>
          <p:cNvPr id="5" name="Oval 4"/>
          <p:cNvSpPr/>
          <p:nvPr/>
        </p:nvSpPr>
        <p:spPr>
          <a:xfrm>
            <a:off x="5943600" y="1808032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6" name="Oval 5"/>
          <p:cNvSpPr/>
          <p:nvPr/>
        </p:nvSpPr>
        <p:spPr>
          <a:xfrm>
            <a:off x="7017328" y="2959691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7" name="Oval 6"/>
          <p:cNvSpPr/>
          <p:nvPr/>
        </p:nvSpPr>
        <p:spPr>
          <a:xfrm>
            <a:off x="6401946" y="3679554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Oval 7"/>
          <p:cNvSpPr/>
          <p:nvPr/>
        </p:nvSpPr>
        <p:spPr>
          <a:xfrm>
            <a:off x="7656954" y="3679554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*</a:t>
            </a:r>
          </a:p>
        </p:txBody>
      </p:sp>
      <p:sp>
        <p:nvSpPr>
          <p:cNvPr id="9" name="Oval 8"/>
          <p:cNvSpPr/>
          <p:nvPr/>
        </p:nvSpPr>
        <p:spPr>
          <a:xfrm>
            <a:off x="6964228" y="44958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8382000" y="44958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11" name="Straight Arrow Connector 10"/>
          <p:cNvCxnSpPr>
            <a:stCxn id="5" idx="3"/>
            <a:endCxn id="17" idx="7"/>
          </p:cNvCxnSpPr>
          <p:nvPr/>
        </p:nvCxnSpPr>
        <p:spPr>
          <a:xfrm flipH="1">
            <a:off x="5257800" y="2198277"/>
            <a:ext cx="752755" cy="82836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5"/>
            <a:endCxn id="6" idx="1"/>
          </p:cNvCxnSpPr>
          <p:nvPr/>
        </p:nvCxnSpPr>
        <p:spPr>
          <a:xfrm>
            <a:off x="6333845" y="2198277"/>
            <a:ext cx="750438" cy="82836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3"/>
            <a:endCxn id="7" idx="7"/>
          </p:cNvCxnSpPr>
          <p:nvPr/>
        </p:nvCxnSpPr>
        <p:spPr>
          <a:xfrm flipH="1">
            <a:off x="6792191" y="3349936"/>
            <a:ext cx="292092" cy="39657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5"/>
            <a:endCxn id="8" idx="1"/>
          </p:cNvCxnSpPr>
          <p:nvPr/>
        </p:nvCxnSpPr>
        <p:spPr>
          <a:xfrm>
            <a:off x="7407573" y="3349936"/>
            <a:ext cx="316336" cy="39657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8" idx="3"/>
            <a:endCxn id="9" idx="7"/>
          </p:cNvCxnSpPr>
          <p:nvPr/>
        </p:nvCxnSpPr>
        <p:spPr>
          <a:xfrm flipH="1">
            <a:off x="7354473" y="4069799"/>
            <a:ext cx="369436" cy="49295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5"/>
            <a:endCxn id="10" idx="1"/>
          </p:cNvCxnSpPr>
          <p:nvPr/>
        </p:nvCxnSpPr>
        <p:spPr>
          <a:xfrm>
            <a:off x="8047199" y="4069799"/>
            <a:ext cx="401756" cy="49295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867555" y="2959691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18" name="Oval 17"/>
          <p:cNvSpPr/>
          <p:nvPr/>
        </p:nvSpPr>
        <p:spPr>
          <a:xfrm>
            <a:off x="5549892" y="3679554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9" name="Oval 18"/>
          <p:cNvSpPr/>
          <p:nvPr/>
        </p:nvSpPr>
        <p:spPr>
          <a:xfrm>
            <a:off x="4191000" y="3679554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20" name="Straight Arrow Connector 19"/>
          <p:cNvCxnSpPr>
            <a:stCxn id="17" idx="3"/>
            <a:endCxn id="19" idx="7"/>
          </p:cNvCxnSpPr>
          <p:nvPr/>
        </p:nvCxnSpPr>
        <p:spPr>
          <a:xfrm flipH="1">
            <a:off x="4581245" y="3349936"/>
            <a:ext cx="353265" cy="39657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7" idx="5"/>
            <a:endCxn id="18" idx="1"/>
          </p:cNvCxnSpPr>
          <p:nvPr/>
        </p:nvCxnSpPr>
        <p:spPr>
          <a:xfrm>
            <a:off x="5257800" y="3349936"/>
            <a:ext cx="359047" cy="39657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14083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599" y="4562755"/>
            <a:ext cx="6093683" cy="1563408"/>
          </a:xfrm>
        </p:spPr>
        <p:txBody>
          <a:bodyPr>
            <a:normAutofit fontScale="92500"/>
          </a:bodyPr>
          <a:lstStyle/>
          <a:p>
            <a:r>
              <a:rPr lang="en-US" dirty="0"/>
              <a:t>Data structures that store the values of variables</a:t>
            </a:r>
          </a:p>
          <a:p>
            <a:r>
              <a:rPr lang="en-US" dirty="0"/>
              <a:t>We’ll implement these using dictionaries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5943600" y="1808032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6" name="Oval 5"/>
          <p:cNvSpPr/>
          <p:nvPr/>
        </p:nvSpPr>
        <p:spPr>
          <a:xfrm>
            <a:off x="7017328" y="2959691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7" name="Oval 6"/>
          <p:cNvSpPr/>
          <p:nvPr/>
        </p:nvSpPr>
        <p:spPr>
          <a:xfrm>
            <a:off x="6401946" y="3679554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Oval 7"/>
          <p:cNvSpPr/>
          <p:nvPr/>
        </p:nvSpPr>
        <p:spPr>
          <a:xfrm>
            <a:off x="7656954" y="3679554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*</a:t>
            </a:r>
          </a:p>
        </p:txBody>
      </p:sp>
      <p:sp>
        <p:nvSpPr>
          <p:cNvPr id="9" name="Oval 8"/>
          <p:cNvSpPr/>
          <p:nvPr/>
        </p:nvSpPr>
        <p:spPr>
          <a:xfrm>
            <a:off x="6964228" y="44958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8382000" y="44958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11" name="Straight Arrow Connector 10"/>
          <p:cNvCxnSpPr>
            <a:stCxn id="5" idx="3"/>
            <a:endCxn id="17" idx="7"/>
          </p:cNvCxnSpPr>
          <p:nvPr/>
        </p:nvCxnSpPr>
        <p:spPr>
          <a:xfrm flipH="1">
            <a:off x="5257800" y="2198277"/>
            <a:ext cx="752755" cy="82836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5"/>
            <a:endCxn id="6" idx="1"/>
          </p:cNvCxnSpPr>
          <p:nvPr/>
        </p:nvCxnSpPr>
        <p:spPr>
          <a:xfrm>
            <a:off x="6333845" y="2198277"/>
            <a:ext cx="750438" cy="82836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3"/>
            <a:endCxn id="7" idx="7"/>
          </p:cNvCxnSpPr>
          <p:nvPr/>
        </p:nvCxnSpPr>
        <p:spPr>
          <a:xfrm flipH="1">
            <a:off x="6792191" y="3349936"/>
            <a:ext cx="292092" cy="39657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5"/>
            <a:endCxn id="8" idx="1"/>
          </p:cNvCxnSpPr>
          <p:nvPr/>
        </p:nvCxnSpPr>
        <p:spPr>
          <a:xfrm>
            <a:off x="7407573" y="3349936"/>
            <a:ext cx="316336" cy="39657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8" idx="3"/>
            <a:endCxn id="9" idx="7"/>
          </p:cNvCxnSpPr>
          <p:nvPr/>
        </p:nvCxnSpPr>
        <p:spPr>
          <a:xfrm flipH="1">
            <a:off x="7354473" y="4069799"/>
            <a:ext cx="369436" cy="49295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5"/>
            <a:endCxn id="10" idx="1"/>
          </p:cNvCxnSpPr>
          <p:nvPr/>
        </p:nvCxnSpPr>
        <p:spPr>
          <a:xfrm>
            <a:off x="8047199" y="4069799"/>
            <a:ext cx="401756" cy="49295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867555" y="2959691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18" name="Oval 17"/>
          <p:cNvSpPr/>
          <p:nvPr/>
        </p:nvSpPr>
        <p:spPr>
          <a:xfrm>
            <a:off x="5549892" y="3679554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9" name="Oval 18"/>
          <p:cNvSpPr/>
          <p:nvPr/>
        </p:nvSpPr>
        <p:spPr>
          <a:xfrm>
            <a:off x="4191000" y="3679554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20" name="Straight Arrow Connector 19"/>
          <p:cNvCxnSpPr>
            <a:stCxn id="17" idx="3"/>
            <a:endCxn id="19" idx="7"/>
          </p:cNvCxnSpPr>
          <p:nvPr/>
        </p:nvCxnSpPr>
        <p:spPr>
          <a:xfrm flipH="1">
            <a:off x="4581245" y="3349936"/>
            <a:ext cx="353265" cy="39657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7" idx="5"/>
            <a:endCxn id="18" idx="1"/>
          </p:cNvCxnSpPr>
          <p:nvPr/>
        </p:nvCxnSpPr>
        <p:spPr>
          <a:xfrm>
            <a:off x="5257800" y="3349936"/>
            <a:ext cx="359047" cy="39657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3528984"/>
              </p:ext>
            </p:extLst>
          </p:nvPr>
        </p:nvGraphicFramePr>
        <p:xfrm>
          <a:off x="1600200" y="1764160"/>
          <a:ext cx="1600200" cy="158577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444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444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444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444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92349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Dictionaries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A.k.a. </a:t>
            </a:r>
            <a:r>
              <a:rPr lang="en-US" b="1" dirty="0">
                <a:solidFill>
                  <a:srgbClr val="E46C0A"/>
                </a:solidFill>
              </a:rPr>
              <a:t>associative array</a:t>
            </a:r>
            <a:r>
              <a:rPr lang="en-US" dirty="0"/>
              <a:t>, </a:t>
            </a:r>
            <a:r>
              <a:rPr lang="en-US" b="1" dirty="0">
                <a:solidFill>
                  <a:srgbClr val="E46C0A"/>
                </a:solidFill>
              </a:rPr>
              <a:t>map</a:t>
            </a:r>
            <a:r>
              <a:rPr lang="en-US" dirty="0"/>
              <a:t>, </a:t>
            </a:r>
            <a:r>
              <a:rPr lang="en-US" b="1" dirty="0">
                <a:solidFill>
                  <a:srgbClr val="E46C0A"/>
                </a:solidFill>
              </a:rPr>
              <a:t>mapping</a:t>
            </a:r>
          </a:p>
          <a:p>
            <a:endParaRPr lang="en-US" dirty="0"/>
          </a:p>
          <a:p>
            <a:r>
              <a:rPr lang="en-US" dirty="0"/>
              <a:t>Data structure that holds </a:t>
            </a:r>
            <a:r>
              <a:rPr lang="en-US" b="1" dirty="0">
                <a:solidFill>
                  <a:srgbClr val="E46C0A"/>
                </a:solidFill>
              </a:rPr>
              <a:t>associations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between pairs of objects called </a:t>
            </a:r>
            <a:r>
              <a:rPr lang="en-US" b="1" dirty="0">
                <a:solidFill>
                  <a:srgbClr val="E46C0A"/>
                </a:solidFill>
              </a:rPr>
              <a:t>keys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E46C0A"/>
                </a:solidFill>
              </a:rPr>
              <a:t>values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Simplified interface</a:t>
            </a:r>
            <a:br>
              <a:rPr lang="en-US" dirty="0"/>
            </a:br>
            <a:r>
              <a:rPr lang="en-US" dirty="0"/>
              <a:t>(we’ll talk more about dictionaries later):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dict.</a:t>
            </a:r>
            <a:r>
              <a:rPr lang="en-US" b="1" dirty="0" err="1">
                <a:solidFill>
                  <a:srgbClr val="E46C0A"/>
                </a:solidFill>
              </a:rPr>
              <a:t>Store</a:t>
            </a:r>
            <a:r>
              <a:rPr lang="en-US" dirty="0"/>
              <a:t>(key, value)</a:t>
            </a:r>
          </a:p>
          <a:p>
            <a:pPr lvl="1"/>
            <a:r>
              <a:rPr lang="en-US" b="1" dirty="0">
                <a:solidFill>
                  <a:srgbClr val="E46C0A"/>
                </a:solidFill>
              </a:rPr>
              <a:t>Adds key</a:t>
            </a:r>
            <a:r>
              <a:rPr lang="en-US" dirty="0"/>
              <a:t> to dictionary with associated value</a:t>
            </a:r>
          </a:p>
          <a:p>
            <a:pPr lvl="1"/>
            <a:r>
              <a:rPr lang="en-US" dirty="0"/>
              <a:t>We’ll assume that if the key is </a:t>
            </a:r>
            <a:r>
              <a:rPr lang="en-US" b="1" dirty="0">
                <a:solidFill>
                  <a:srgbClr val="E46C0A"/>
                </a:solidFill>
              </a:rPr>
              <a:t>already present</a:t>
            </a:r>
            <a:r>
              <a:rPr lang="en-US" dirty="0"/>
              <a:t>, this changes its value</a:t>
            </a:r>
          </a:p>
          <a:p>
            <a:r>
              <a:rPr lang="en-US" dirty="0" err="1"/>
              <a:t>dict.</a:t>
            </a:r>
            <a:r>
              <a:rPr lang="en-US" b="1" dirty="0" err="1">
                <a:solidFill>
                  <a:srgbClr val="E46C0A"/>
                </a:solidFill>
              </a:rPr>
              <a:t>Lookup</a:t>
            </a:r>
            <a:r>
              <a:rPr lang="en-US" dirty="0"/>
              <a:t>(key)</a:t>
            </a:r>
          </a:p>
          <a:p>
            <a:pPr lvl="1"/>
            <a:r>
              <a:rPr lang="en-US" dirty="0"/>
              <a:t>Returns value associated with key in </a:t>
            </a:r>
            <a:r>
              <a:rPr lang="en-US" dirty="0" err="1"/>
              <a:t>dict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54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</a:t>
            </a:r>
            <a:r>
              <a:rPr lang="en-US" baseline="0" dirty="0"/>
              <a:t> dictionaries with association lists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05000"/>
            <a:ext cx="4038600" cy="4221163"/>
          </a:xfrm>
        </p:spPr>
        <p:txBody>
          <a:bodyPr/>
          <a:lstStyle/>
          <a:p>
            <a:r>
              <a:rPr lang="en-US" dirty="0"/>
              <a:t>The simplest possible implementation of dictionaries is as a </a:t>
            </a:r>
            <a:r>
              <a:rPr lang="en-US" b="1" dirty="0">
                <a:solidFill>
                  <a:srgbClr val="E46C0A"/>
                </a:solidFill>
              </a:rPr>
              <a:t>linked list </a:t>
            </a:r>
            <a:r>
              <a:rPr lang="en-US" dirty="0"/>
              <a:t>of </a:t>
            </a:r>
            <a:r>
              <a:rPr lang="en-US" b="1" dirty="0">
                <a:solidFill>
                  <a:srgbClr val="E46C0A"/>
                </a:solidFill>
              </a:rPr>
              <a:t>key/value pairs</a:t>
            </a:r>
          </a:p>
        </p:txBody>
      </p:sp>
      <p:sp>
        <p:nvSpPr>
          <p:cNvPr id="21" name="Content Placeholder 20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038600" cy="4221163"/>
          </a:xfrm>
        </p:spPr>
        <p:txBody>
          <a:bodyPr/>
          <a:lstStyle/>
          <a:p>
            <a:r>
              <a:rPr lang="en-US" dirty="0"/>
              <a:t>Each cell has </a:t>
            </a:r>
            <a:r>
              <a:rPr lang="en-US" b="1" dirty="0">
                <a:solidFill>
                  <a:srgbClr val="E46C0A"/>
                </a:solidFill>
              </a:rPr>
              <a:t>three fields</a:t>
            </a:r>
          </a:p>
          <a:p>
            <a:pPr lvl="1"/>
            <a:r>
              <a:rPr lang="en-US" dirty="0"/>
              <a:t>Key</a:t>
            </a:r>
          </a:p>
          <a:p>
            <a:pPr lvl="1"/>
            <a:r>
              <a:rPr lang="en-US" dirty="0"/>
              <a:t>Value</a:t>
            </a:r>
          </a:p>
          <a:p>
            <a:pPr lvl="1"/>
            <a:r>
              <a:rPr lang="en-US" dirty="0"/>
              <a:t>Link to next cell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5029200"/>
            <a:ext cx="533400" cy="5334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76400" y="5029200"/>
            <a:ext cx="533400" cy="5334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2209800" y="5029200"/>
            <a:ext cx="533400" cy="5334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05200" y="5029200"/>
            <a:ext cx="533400" cy="5334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38600" y="5029200"/>
            <a:ext cx="533400" cy="5334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5029200"/>
            <a:ext cx="533400" cy="5334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791200" y="5029200"/>
            <a:ext cx="533400" cy="5334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24600" y="5029200"/>
            <a:ext cx="533400" cy="5334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4.2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5029200"/>
            <a:ext cx="533400" cy="5334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>
            <a:stCxn id="8" idx="3"/>
            <a:endCxn id="9" idx="1"/>
          </p:cNvCxnSpPr>
          <p:nvPr/>
        </p:nvCxnSpPr>
        <p:spPr>
          <a:xfrm>
            <a:off x="2743200" y="5295900"/>
            <a:ext cx="762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1" idx="3"/>
            <a:endCxn id="12" idx="1"/>
          </p:cNvCxnSpPr>
          <p:nvPr/>
        </p:nvCxnSpPr>
        <p:spPr>
          <a:xfrm>
            <a:off x="5105400" y="5295900"/>
            <a:ext cx="6858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4" idx="3"/>
          </p:cNvCxnSpPr>
          <p:nvPr/>
        </p:nvCxnSpPr>
        <p:spPr>
          <a:xfrm>
            <a:off x="7391400" y="5295900"/>
            <a:ext cx="6096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73605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</a:t>
            </a:r>
            <a:r>
              <a:rPr lang="en-US" baseline="0" dirty="0"/>
              <a:t> dictionaries with association lists</a:t>
            </a:r>
            <a:endParaRPr lang="en-US" dirty="0"/>
          </a:p>
        </p:txBody>
      </p:sp>
      <p:sp>
        <p:nvSpPr>
          <p:cNvPr id="21" name="Content Placeholder 20"/>
          <p:cNvSpPr>
            <a:spLocks noGrp="1"/>
          </p:cNvSpPr>
          <p:nvPr>
            <p:ph sz="half" idx="2"/>
          </p:nvPr>
        </p:nvSpPr>
        <p:spPr>
          <a:xfrm>
            <a:off x="4648200" y="1798637"/>
            <a:ext cx="4038600" cy="2590799"/>
          </a:xfrm>
        </p:spPr>
        <p:txBody>
          <a:bodyPr>
            <a:normAutofit/>
          </a:bodyPr>
          <a:lstStyle/>
          <a:p>
            <a:r>
              <a:rPr lang="en-US" dirty="0"/>
              <a:t>Next week, we’ll look at structures that can do lookup in </a:t>
            </a:r>
            <a:r>
              <a:rPr lang="en-US" b="1" dirty="0">
                <a:solidFill>
                  <a:srgbClr val="E46C0A"/>
                </a:solidFill>
              </a:rPr>
              <a:t>log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time</a:t>
            </a:r>
          </a:p>
          <a:p>
            <a:pPr lvl="1"/>
            <a:r>
              <a:rPr lang="en-US" dirty="0"/>
              <a:t>And after that, (near) </a:t>
            </a:r>
            <a:r>
              <a:rPr lang="en-US" b="1" dirty="0">
                <a:solidFill>
                  <a:srgbClr val="E46C0A"/>
                </a:solidFill>
              </a:rPr>
              <a:t>constant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5029200"/>
            <a:ext cx="533400" cy="5334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76400" y="5029200"/>
            <a:ext cx="533400" cy="5334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2209800" y="5029200"/>
            <a:ext cx="533400" cy="5334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05200" y="5029200"/>
            <a:ext cx="533400" cy="5334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38600" y="5029200"/>
            <a:ext cx="533400" cy="5334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5029200"/>
            <a:ext cx="533400" cy="5334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791200" y="5029200"/>
            <a:ext cx="533400" cy="5334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24600" y="5029200"/>
            <a:ext cx="533400" cy="5334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4.2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5029200"/>
            <a:ext cx="533400" cy="5334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>
            <a:stCxn id="8" idx="3"/>
            <a:endCxn id="9" idx="1"/>
          </p:cNvCxnSpPr>
          <p:nvPr/>
        </p:nvCxnSpPr>
        <p:spPr>
          <a:xfrm>
            <a:off x="2743200" y="5295900"/>
            <a:ext cx="762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1" idx="3"/>
            <a:endCxn id="12" idx="1"/>
          </p:cNvCxnSpPr>
          <p:nvPr/>
        </p:nvCxnSpPr>
        <p:spPr>
          <a:xfrm>
            <a:off x="5105400" y="5295900"/>
            <a:ext cx="6858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4" idx="3"/>
          </p:cNvCxnSpPr>
          <p:nvPr/>
        </p:nvCxnSpPr>
        <p:spPr>
          <a:xfrm>
            <a:off x="7391400" y="5295900"/>
            <a:ext cx="6096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98637"/>
            <a:ext cx="4038600" cy="4525963"/>
          </a:xfrm>
        </p:spPr>
        <p:txBody>
          <a:bodyPr/>
          <a:lstStyle/>
          <a:p>
            <a:r>
              <a:rPr lang="en-US" dirty="0"/>
              <a:t>This isn’t a great representation because lookup requires </a:t>
            </a:r>
            <a:r>
              <a:rPr lang="en-US" b="1" dirty="0">
                <a:solidFill>
                  <a:srgbClr val="E46C0A"/>
                </a:solidFill>
              </a:rPr>
              <a:t>linear time</a:t>
            </a:r>
          </a:p>
          <a:p>
            <a:pPr lvl="1"/>
            <a:r>
              <a:rPr lang="en-US" dirty="0"/>
              <a:t>i.e. O(n)</a:t>
            </a:r>
          </a:p>
        </p:txBody>
      </p:sp>
    </p:spTree>
    <p:extLst>
      <p:ext uri="{BB962C8B-B14F-4D97-AF65-F5344CB8AC3E}">
        <p14:creationId xmlns:p14="http://schemas.microsoft.com/office/powerpoint/2010/main" val="40322593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variable</a:t>
            </a:r>
            <a:r>
              <a:rPr lang="en-US" baseline="0" dirty="0"/>
              <a:t> 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380999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Now all we have to do is</a:t>
            </a:r>
          </a:p>
          <a:p>
            <a:r>
              <a:rPr lang="en-US" b="1" dirty="0">
                <a:solidFill>
                  <a:srgbClr val="E46C0A"/>
                </a:solidFill>
              </a:rPr>
              <a:t>Add a rule </a:t>
            </a:r>
            <a:r>
              <a:rPr lang="en-US" dirty="0"/>
              <a:t>for handling nodes that are </a:t>
            </a:r>
            <a:r>
              <a:rPr lang="en-US" b="1" dirty="0">
                <a:solidFill>
                  <a:srgbClr val="E46C0A"/>
                </a:solidFill>
              </a:rPr>
              <a:t>variable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references</a:t>
            </a:r>
          </a:p>
          <a:p>
            <a:pPr>
              <a:spcBef>
                <a:spcPts val="1800"/>
              </a:spcBef>
            </a:pPr>
            <a:r>
              <a:rPr lang="en-US" b="1" dirty="0">
                <a:solidFill>
                  <a:srgbClr val="E46C0A"/>
                </a:solidFill>
              </a:rPr>
              <a:t>Add a dictionary </a:t>
            </a:r>
            <a:r>
              <a:rPr lang="en-US" dirty="0"/>
              <a:t>argument to the Run procedure that holds the current </a:t>
            </a:r>
            <a:r>
              <a:rPr lang="en-US" b="1" dirty="0">
                <a:solidFill>
                  <a:srgbClr val="E46C0A"/>
                </a:solidFill>
              </a:rPr>
              <a:t>environment</a:t>
            </a:r>
          </a:p>
        </p:txBody>
      </p:sp>
      <p:sp>
        <p:nvSpPr>
          <p:cNvPr id="5" name="Oval 4"/>
          <p:cNvSpPr/>
          <p:nvPr/>
        </p:nvSpPr>
        <p:spPr>
          <a:xfrm>
            <a:off x="5943600" y="1808032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6" name="Oval 5"/>
          <p:cNvSpPr/>
          <p:nvPr/>
        </p:nvSpPr>
        <p:spPr>
          <a:xfrm>
            <a:off x="7017328" y="2959691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7" name="Oval 6"/>
          <p:cNvSpPr/>
          <p:nvPr/>
        </p:nvSpPr>
        <p:spPr>
          <a:xfrm>
            <a:off x="6401946" y="3679554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Oval 7"/>
          <p:cNvSpPr/>
          <p:nvPr/>
        </p:nvSpPr>
        <p:spPr>
          <a:xfrm>
            <a:off x="7656954" y="3679554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*</a:t>
            </a:r>
          </a:p>
        </p:txBody>
      </p:sp>
      <p:sp>
        <p:nvSpPr>
          <p:cNvPr id="9" name="Oval 8"/>
          <p:cNvSpPr/>
          <p:nvPr/>
        </p:nvSpPr>
        <p:spPr>
          <a:xfrm>
            <a:off x="6964228" y="44958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8382000" y="44958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11" name="Straight Arrow Connector 10"/>
          <p:cNvCxnSpPr>
            <a:stCxn id="5" idx="3"/>
            <a:endCxn id="17" idx="7"/>
          </p:cNvCxnSpPr>
          <p:nvPr/>
        </p:nvCxnSpPr>
        <p:spPr>
          <a:xfrm flipH="1">
            <a:off x="5257800" y="2198277"/>
            <a:ext cx="752755" cy="82836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5"/>
            <a:endCxn id="6" idx="1"/>
          </p:cNvCxnSpPr>
          <p:nvPr/>
        </p:nvCxnSpPr>
        <p:spPr>
          <a:xfrm>
            <a:off x="6333845" y="2198277"/>
            <a:ext cx="750438" cy="82836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3"/>
            <a:endCxn id="7" idx="7"/>
          </p:cNvCxnSpPr>
          <p:nvPr/>
        </p:nvCxnSpPr>
        <p:spPr>
          <a:xfrm flipH="1">
            <a:off x="6792191" y="3349936"/>
            <a:ext cx="292092" cy="39657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5"/>
            <a:endCxn id="8" idx="1"/>
          </p:cNvCxnSpPr>
          <p:nvPr/>
        </p:nvCxnSpPr>
        <p:spPr>
          <a:xfrm>
            <a:off x="7407573" y="3349936"/>
            <a:ext cx="316336" cy="39657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8" idx="3"/>
            <a:endCxn id="9" idx="7"/>
          </p:cNvCxnSpPr>
          <p:nvPr/>
        </p:nvCxnSpPr>
        <p:spPr>
          <a:xfrm flipH="1">
            <a:off x="7354473" y="4069799"/>
            <a:ext cx="369436" cy="49295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5"/>
            <a:endCxn id="10" idx="1"/>
          </p:cNvCxnSpPr>
          <p:nvPr/>
        </p:nvCxnSpPr>
        <p:spPr>
          <a:xfrm>
            <a:off x="8047199" y="4069799"/>
            <a:ext cx="401756" cy="49295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867555" y="2959691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18" name="Oval 17"/>
          <p:cNvSpPr/>
          <p:nvPr/>
        </p:nvSpPr>
        <p:spPr>
          <a:xfrm>
            <a:off x="5549892" y="3679554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9" name="Oval 18"/>
          <p:cNvSpPr/>
          <p:nvPr/>
        </p:nvSpPr>
        <p:spPr>
          <a:xfrm>
            <a:off x="4191000" y="3679554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20" name="Straight Arrow Connector 19"/>
          <p:cNvCxnSpPr>
            <a:stCxn id="17" idx="3"/>
            <a:endCxn id="19" idx="7"/>
          </p:cNvCxnSpPr>
          <p:nvPr/>
        </p:nvCxnSpPr>
        <p:spPr>
          <a:xfrm flipH="1">
            <a:off x="4581245" y="3349936"/>
            <a:ext cx="353265" cy="39657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7" idx="5"/>
            <a:endCxn id="18" idx="1"/>
          </p:cNvCxnSpPr>
          <p:nvPr/>
        </p:nvCxnSpPr>
        <p:spPr>
          <a:xfrm>
            <a:off x="5257800" y="3349936"/>
            <a:ext cx="359047" cy="39657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25528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variable</a:t>
            </a:r>
            <a:r>
              <a:rPr lang="en-US" baseline="0" dirty="0"/>
              <a:t> 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7790878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Run</a:t>
            </a:r>
            <a:r>
              <a:rPr lang="en-US" dirty="0"/>
              <a:t>(</a:t>
            </a:r>
            <a:r>
              <a:rPr lang="en-US" dirty="0" err="1"/>
              <a:t>STNode</a:t>
            </a:r>
            <a:r>
              <a:rPr lang="en-US" dirty="0"/>
              <a:t>, </a:t>
            </a:r>
            <a:r>
              <a:rPr lang="en-US" b="1" dirty="0" err="1">
                <a:solidFill>
                  <a:srgbClr val="E46C0A"/>
                </a:solidFill>
              </a:rPr>
              <a:t>dict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if </a:t>
            </a:r>
            <a:r>
              <a:rPr lang="en-US" dirty="0" err="1"/>
              <a:t>STNode</a:t>
            </a:r>
            <a:r>
              <a:rPr lang="en-US" dirty="0"/>
              <a:t> is a constant</a:t>
            </a:r>
          </a:p>
          <a:p>
            <a:pPr marL="0" indent="0">
              <a:buNone/>
            </a:pPr>
            <a:r>
              <a:rPr lang="en-US" dirty="0"/>
              <a:t>      return the constant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b="1" dirty="0">
                <a:solidFill>
                  <a:srgbClr val="E46C0A"/>
                </a:solidFill>
              </a:rPr>
              <a:t>else if </a:t>
            </a:r>
            <a:r>
              <a:rPr lang="en-US" b="1" dirty="0" err="1">
                <a:solidFill>
                  <a:srgbClr val="E46C0A"/>
                </a:solidFill>
              </a:rPr>
              <a:t>STNode</a:t>
            </a:r>
            <a:r>
              <a:rPr lang="en-US" b="1" dirty="0">
                <a:solidFill>
                  <a:srgbClr val="E46C0A"/>
                </a:solidFill>
              </a:rPr>
              <a:t> is a variable</a:t>
            </a:r>
          </a:p>
          <a:p>
            <a:pPr marL="0" indent="0">
              <a:buNone/>
            </a:pPr>
            <a:r>
              <a:rPr lang="en-US" b="1" dirty="0">
                <a:solidFill>
                  <a:srgbClr val="E46C0A"/>
                </a:solidFill>
              </a:rPr>
              <a:t>      return </a:t>
            </a:r>
            <a:r>
              <a:rPr lang="en-US" b="1" dirty="0" err="1">
                <a:solidFill>
                  <a:srgbClr val="E46C0A"/>
                </a:solidFill>
              </a:rPr>
              <a:t>dict.Lookup</a:t>
            </a:r>
            <a:r>
              <a:rPr lang="en-US" b="1" dirty="0">
                <a:solidFill>
                  <a:srgbClr val="E46C0A"/>
                </a:solidFill>
              </a:rPr>
              <a:t>(</a:t>
            </a:r>
            <a:r>
              <a:rPr lang="en-US" b="1" dirty="0" err="1">
                <a:solidFill>
                  <a:srgbClr val="E46C0A"/>
                </a:solidFill>
              </a:rPr>
              <a:t>STNode.variableName</a:t>
            </a:r>
            <a:r>
              <a:rPr lang="en-US" b="1" dirty="0">
                <a:solidFill>
                  <a:srgbClr val="E46C0A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/>
              <a:t>   else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leftValue</a:t>
            </a:r>
            <a:r>
              <a:rPr lang="en-US" dirty="0"/>
              <a:t> = Run(</a:t>
            </a:r>
            <a:r>
              <a:rPr lang="en-US" dirty="0" err="1"/>
              <a:t>STNode.leftChild</a:t>
            </a:r>
            <a:r>
              <a:rPr lang="en-US" dirty="0"/>
              <a:t>,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dict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rightValue</a:t>
            </a:r>
            <a:r>
              <a:rPr lang="en-US" dirty="0"/>
              <a:t> = Run(</a:t>
            </a:r>
            <a:r>
              <a:rPr lang="en-US" dirty="0" err="1"/>
              <a:t>STNode.rightChild</a:t>
            </a:r>
            <a:r>
              <a:rPr lang="en-US" dirty="0"/>
              <a:t>,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dict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return </a:t>
            </a:r>
            <a:r>
              <a:rPr lang="en-US" dirty="0" err="1"/>
              <a:t>DoTheMath</a:t>
            </a:r>
            <a:r>
              <a:rPr lang="en-US" dirty="0"/>
              <a:t>(</a:t>
            </a:r>
            <a:r>
              <a:rPr lang="en-US" dirty="0" err="1"/>
              <a:t>leftValue</a:t>
            </a:r>
            <a:r>
              <a:rPr lang="en-US" dirty="0"/>
              <a:t>, </a:t>
            </a:r>
            <a:r>
              <a:rPr lang="en-US" dirty="0" err="1"/>
              <a:t>rightValue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5400955" y="1524000"/>
            <a:ext cx="2828645" cy="1913859"/>
            <a:chOff x="4191000" y="1808032"/>
            <a:chExt cx="4648200" cy="3144968"/>
          </a:xfrm>
        </p:grpSpPr>
        <p:sp>
          <p:nvSpPr>
            <p:cNvPr id="5" name="Oval 4"/>
            <p:cNvSpPr/>
            <p:nvPr/>
          </p:nvSpPr>
          <p:spPr>
            <a:xfrm>
              <a:off x="5943600" y="18080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+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7017328" y="2959691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+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6401946" y="3679554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7656954" y="3679554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*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6964228" y="449580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2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8382000" y="449580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</a:t>
              </a:r>
            </a:p>
          </p:txBody>
        </p:sp>
        <p:cxnSp>
          <p:nvCxnSpPr>
            <p:cNvPr id="11" name="Straight Arrow Connector 10"/>
            <p:cNvCxnSpPr>
              <a:stCxn id="5" idx="3"/>
              <a:endCxn id="17" idx="7"/>
            </p:cNvCxnSpPr>
            <p:nvPr/>
          </p:nvCxnSpPr>
          <p:spPr>
            <a:xfrm flipH="1">
              <a:off x="5257800" y="2198277"/>
              <a:ext cx="752755" cy="82836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5" idx="5"/>
              <a:endCxn id="6" idx="1"/>
            </p:cNvCxnSpPr>
            <p:nvPr/>
          </p:nvCxnSpPr>
          <p:spPr>
            <a:xfrm>
              <a:off x="6333845" y="2198277"/>
              <a:ext cx="750438" cy="82836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6" idx="3"/>
              <a:endCxn id="7" idx="7"/>
            </p:cNvCxnSpPr>
            <p:nvPr/>
          </p:nvCxnSpPr>
          <p:spPr>
            <a:xfrm flipH="1">
              <a:off x="6792191" y="3349936"/>
              <a:ext cx="292092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6" idx="5"/>
              <a:endCxn id="8" idx="1"/>
            </p:cNvCxnSpPr>
            <p:nvPr/>
          </p:nvCxnSpPr>
          <p:spPr>
            <a:xfrm>
              <a:off x="7407573" y="3349936"/>
              <a:ext cx="316336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8" idx="3"/>
              <a:endCxn id="9" idx="7"/>
            </p:cNvCxnSpPr>
            <p:nvPr/>
          </p:nvCxnSpPr>
          <p:spPr>
            <a:xfrm flipH="1">
              <a:off x="7354473" y="4069799"/>
              <a:ext cx="36943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8" idx="5"/>
              <a:endCxn id="10" idx="1"/>
            </p:cNvCxnSpPr>
            <p:nvPr/>
          </p:nvCxnSpPr>
          <p:spPr>
            <a:xfrm>
              <a:off x="8047199" y="4069799"/>
              <a:ext cx="40175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/>
            <p:cNvSpPr/>
            <p:nvPr/>
          </p:nvSpPr>
          <p:spPr>
            <a:xfrm>
              <a:off x="4867555" y="2959691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-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5549892" y="3679554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4191000" y="3679554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</a:t>
              </a:r>
            </a:p>
          </p:txBody>
        </p:sp>
        <p:cxnSp>
          <p:nvCxnSpPr>
            <p:cNvPr id="20" name="Straight Arrow Connector 19"/>
            <p:cNvCxnSpPr>
              <a:stCxn id="17" idx="3"/>
              <a:endCxn id="19" idx="7"/>
            </p:cNvCxnSpPr>
            <p:nvPr/>
          </p:nvCxnSpPr>
          <p:spPr>
            <a:xfrm flipH="1">
              <a:off x="4581245" y="3349936"/>
              <a:ext cx="353265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17" idx="5"/>
              <a:endCxn id="18" idx="1"/>
            </p:cNvCxnSpPr>
            <p:nvPr/>
          </p:nvCxnSpPr>
          <p:spPr>
            <a:xfrm>
              <a:off x="5257800" y="3349936"/>
              <a:ext cx="359047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469878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Bleh</a:t>
            </a:r>
            <a:r>
              <a:rPr lang="en-US" dirty="0"/>
              <a:t>!  This is ugly!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7790878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Run</a:t>
            </a:r>
            <a:r>
              <a:rPr lang="en-US" dirty="0"/>
              <a:t>(</a:t>
            </a:r>
            <a:r>
              <a:rPr lang="en-US" dirty="0" err="1"/>
              <a:t>STNode</a:t>
            </a:r>
            <a:r>
              <a:rPr lang="en-US" dirty="0"/>
              <a:t>, </a:t>
            </a:r>
            <a:r>
              <a:rPr lang="en-US" dirty="0" err="1"/>
              <a:t>dict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if </a:t>
            </a:r>
            <a:r>
              <a:rPr lang="en-US" dirty="0" err="1"/>
              <a:t>STNode</a:t>
            </a:r>
            <a:r>
              <a:rPr lang="en-US" dirty="0"/>
              <a:t> is a constant</a:t>
            </a:r>
          </a:p>
          <a:p>
            <a:pPr marL="0" indent="0">
              <a:buNone/>
            </a:pPr>
            <a:r>
              <a:rPr lang="en-US" dirty="0"/>
              <a:t>      return the constant</a:t>
            </a:r>
          </a:p>
          <a:p>
            <a:pPr marL="0" indent="0">
              <a:buNone/>
            </a:pPr>
            <a:r>
              <a:rPr lang="en-US" dirty="0"/>
              <a:t>   else if </a:t>
            </a:r>
            <a:r>
              <a:rPr lang="en-US" dirty="0" err="1"/>
              <a:t>STNode</a:t>
            </a:r>
            <a:r>
              <a:rPr lang="en-US" dirty="0"/>
              <a:t> is a variable</a:t>
            </a:r>
          </a:p>
          <a:p>
            <a:pPr marL="0" indent="0">
              <a:buNone/>
            </a:pPr>
            <a:r>
              <a:rPr lang="en-US" dirty="0"/>
              <a:t>      return </a:t>
            </a:r>
            <a:r>
              <a:rPr lang="en-US" dirty="0" err="1"/>
              <a:t>dict.Lookup</a:t>
            </a:r>
            <a:r>
              <a:rPr lang="en-US" dirty="0"/>
              <a:t>(</a:t>
            </a:r>
            <a:r>
              <a:rPr lang="en-US" dirty="0" err="1"/>
              <a:t>STNode.variableName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else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leftValue</a:t>
            </a:r>
            <a:r>
              <a:rPr lang="en-US" dirty="0"/>
              <a:t> = Run(</a:t>
            </a:r>
            <a:r>
              <a:rPr lang="en-US" dirty="0" err="1"/>
              <a:t>STNode.leftChild</a:t>
            </a:r>
            <a:r>
              <a:rPr lang="en-US" dirty="0"/>
              <a:t>, </a:t>
            </a:r>
            <a:r>
              <a:rPr lang="en-US" dirty="0" err="1"/>
              <a:t>dict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rightValue</a:t>
            </a:r>
            <a:r>
              <a:rPr lang="en-US" dirty="0"/>
              <a:t> = Run(</a:t>
            </a:r>
            <a:r>
              <a:rPr lang="en-US" dirty="0" err="1"/>
              <a:t>STNode.rightChild</a:t>
            </a:r>
            <a:r>
              <a:rPr lang="en-US" dirty="0"/>
              <a:t>, </a:t>
            </a:r>
            <a:r>
              <a:rPr lang="en-US" dirty="0" err="1"/>
              <a:t>dict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return </a:t>
            </a:r>
            <a:r>
              <a:rPr lang="en-US" dirty="0" err="1"/>
              <a:t>DoTheMath</a:t>
            </a:r>
            <a:r>
              <a:rPr lang="en-US" dirty="0"/>
              <a:t>(</a:t>
            </a:r>
            <a:r>
              <a:rPr lang="en-US" dirty="0" err="1"/>
              <a:t>leftValue</a:t>
            </a:r>
            <a:r>
              <a:rPr lang="en-US" dirty="0"/>
              <a:t>, </a:t>
            </a:r>
            <a:r>
              <a:rPr lang="en-US" dirty="0" err="1"/>
              <a:t>rightValue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5400955" y="1524000"/>
            <a:ext cx="2828645" cy="1913859"/>
            <a:chOff x="4191000" y="1808032"/>
            <a:chExt cx="4648200" cy="3144968"/>
          </a:xfrm>
        </p:grpSpPr>
        <p:sp>
          <p:nvSpPr>
            <p:cNvPr id="5" name="Oval 4"/>
            <p:cNvSpPr/>
            <p:nvPr/>
          </p:nvSpPr>
          <p:spPr>
            <a:xfrm>
              <a:off x="5943600" y="18080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+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7017328" y="2959691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+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6401946" y="3679554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7656954" y="3679554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*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6964228" y="449580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2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8382000" y="449580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</a:t>
              </a:r>
            </a:p>
          </p:txBody>
        </p:sp>
        <p:cxnSp>
          <p:nvCxnSpPr>
            <p:cNvPr id="11" name="Straight Arrow Connector 10"/>
            <p:cNvCxnSpPr>
              <a:stCxn id="5" idx="3"/>
              <a:endCxn id="17" idx="7"/>
            </p:cNvCxnSpPr>
            <p:nvPr/>
          </p:nvCxnSpPr>
          <p:spPr>
            <a:xfrm flipH="1">
              <a:off x="5257800" y="2198277"/>
              <a:ext cx="752755" cy="82836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5" idx="5"/>
              <a:endCxn id="6" idx="1"/>
            </p:cNvCxnSpPr>
            <p:nvPr/>
          </p:nvCxnSpPr>
          <p:spPr>
            <a:xfrm>
              <a:off x="6333845" y="2198277"/>
              <a:ext cx="750438" cy="82836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6" idx="3"/>
              <a:endCxn id="7" idx="7"/>
            </p:cNvCxnSpPr>
            <p:nvPr/>
          </p:nvCxnSpPr>
          <p:spPr>
            <a:xfrm flipH="1">
              <a:off x="6792191" y="3349936"/>
              <a:ext cx="292092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6" idx="5"/>
              <a:endCxn id="8" idx="1"/>
            </p:cNvCxnSpPr>
            <p:nvPr/>
          </p:nvCxnSpPr>
          <p:spPr>
            <a:xfrm>
              <a:off x="7407573" y="3349936"/>
              <a:ext cx="316336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8" idx="3"/>
              <a:endCxn id="9" idx="7"/>
            </p:cNvCxnSpPr>
            <p:nvPr/>
          </p:nvCxnSpPr>
          <p:spPr>
            <a:xfrm flipH="1">
              <a:off x="7354473" y="4069799"/>
              <a:ext cx="36943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8" idx="5"/>
              <a:endCxn id="10" idx="1"/>
            </p:cNvCxnSpPr>
            <p:nvPr/>
          </p:nvCxnSpPr>
          <p:spPr>
            <a:xfrm>
              <a:off x="8047199" y="4069799"/>
              <a:ext cx="40175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/>
            <p:cNvSpPr/>
            <p:nvPr/>
          </p:nvSpPr>
          <p:spPr>
            <a:xfrm>
              <a:off x="4867555" y="2959691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-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5549892" y="3679554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4191000" y="3679554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</a:t>
              </a:r>
            </a:p>
          </p:txBody>
        </p:sp>
        <p:cxnSp>
          <p:nvCxnSpPr>
            <p:cNvPr id="20" name="Straight Arrow Connector 19"/>
            <p:cNvCxnSpPr>
              <a:stCxn id="17" idx="3"/>
              <a:endCxn id="19" idx="7"/>
            </p:cNvCxnSpPr>
            <p:nvPr/>
          </p:nvCxnSpPr>
          <p:spPr>
            <a:xfrm flipH="1">
              <a:off x="4581245" y="3349936"/>
              <a:ext cx="353265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17" idx="5"/>
              <a:endCxn id="18" idx="1"/>
            </p:cNvCxnSpPr>
            <p:nvPr/>
          </p:nvCxnSpPr>
          <p:spPr>
            <a:xfrm>
              <a:off x="5257800" y="3349936"/>
              <a:ext cx="359047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03663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to the rescue!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828800"/>
            <a:ext cx="4038600" cy="452596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abstract class </a:t>
            </a:r>
            <a:r>
              <a:rPr lang="en-US" b="1" dirty="0" err="1">
                <a:solidFill>
                  <a:srgbClr val="E46C0A"/>
                </a:solidFill>
              </a:rPr>
              <a:t>SyntaxTreeNode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  … </a:t>
            </a:r>
            <a:r>
              <a:rPr lang="en-US" i="1" dirty="0"/>
              <a:t>other stuff</a:t>
            </a:r>
            <a:r>
              <a:rPr lang="en-US" dirty="0"/>
              <a:t> …</a:t>
            </a:r>
          </a:p>
          <a:p>
            <a:pPr marL="0" indent="0">
              <a:buNone/>
            </a:pPr>
            <a:r>
              <a:rPr lang="en-US" dirty="0"/>
              <a:t>  abstract object Run(Dictionary d);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b="1" dirty="0">
                <a:solidFill>
                  <a:srgbClr val="E46C0A"/>
                </a:solidFill>
              </a:rPr>
              <a:t>Constant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: </a:t>
            </a:r>
            <a:r>
              <a:rPr lang="en-US" dirty="0" err="1"/>
              <a:t>SyntaxTreeNode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… </a:t>
            </a:r>
            <a:r>
              <a:rPr lang="en-US" i="1" dirty="0"/>
              <a:t>other stuff</a:t>
            </a:r>
            <a:r>
              <a:rPr lang="en-US" dirty="0"/>
              <a:t> …</a:t>
            </a:r>
          </a:p>
          <a:p>
            <a:pPr marL="0" indent="0">
              <a:buNone/>
            </a:pPr>
            <a:r>
              <a:rPr lang="en-US" dirty="0"/>
              <a:t>   override Run(Dictionary d) {</a:t>
            </a:r>
          </a:p>
          <a:p>
            <a:pPr marL="0" indent="0">
              <a:buNone/>
            </a:pPr>
            <a:r>
              <a:rPr lang="en-US" i="1" dirty="0"/>
              <a:t>      return the value of the constant</a:t>
            </a:r>
          </a:p>
          <a:p>
            <a:pPr marL="0" indent="0">
              <a:buNone/>
            </a:pPr>
            <a:r>
              <a:rPr lang="en-US" dirty="0"/>
              <a:t>   }</a:t>
            </a:r>
            <a:br>
              <a:rPr lang="en-US" dirty="0"/>
            </a:b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b="1" dirty="0" err="1">
                <a:solidFill>
                  <a:srgbClr val="E46C0A"/>
                </a:solidFill>
              </a:rPr>
              <a:t>VariableReference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: </a:t>
            </a:r>
            <a:r>
              <a:rPr lang="en-US" dirty="0" err="1"/>
              <a:t>SyntaxTreeNode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… </a:t>
            </a:r>
            <a:r>
              <a:rPr lang="en-US" i="1" dirty="0"/>
              <a:t>other stuff</a:t>
            </a:r>
            <a:r>
              <a:rPr lang="en-US" dirty="0"/>
              <a:t> …</a:t>
            </a:r>
          </a:p>
          <a:p>
            <a:pPr marL="0" indent="0">
              <a:buNone/>
            </a:pPr>
            <a:r>
              <a:rPr lang="en-US" dirty="0"/>
              <a:t>   override Run(Dictionary d) {</a:t>
            </a:r>
          </a:p>
          <a:p>
            <a:pPr marL="0" indent="0">
              <a:buNone/>
            </a:pPr>
            <a:r>
              <a:rPr lang="en-US" i="1" dirty="0"/>
              <a:t>      return look up variable name in d</a:t>
            </a:r>
          </a:p>
          <a:p>
            <a:pPr marL="0" indent="0">
              <a:buNone/>
            </a:pPr>
            <a:r>
              <a:rPr lang="en-US" dirty="0"/>
              <a:t>   }</a:t>
            </a:r>
            <a:br>
              <a:rPr lang="en-US" dirty="0"/>
            </a:b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2" name="Content Placeholder 21"/>
          <p:cNvSpPr>
            <a:spLocks noGrp="1"/>
          </p:cNvSpPr>
          <p:nvPr>
            <p:ph sz="half" idx="2"/>
          </p:nvPr>
        </p:nvSpPr>
        <p:spPr>
          <a:xfrm>
            <a:off x="4648200" y="3886200"/>
            <a:ext cx="4038600" cy="246856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b="1" dirty="0" err="1">
                <a:solidFill>
                  <a:srgbClr val="E46C0A"/>
                </a:solidFill>
              </a:rPr>
              <a:t>ArithmeticOperation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: </a:t>
            </a:r>
            <a:r>
              <a:rPr lang="en-US" dirty="0" err="1"/>
              <a:t>SyntaxTreeNode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… </a:t>
            </a:r>
            <a:r>
              <a:rPr lang="en-US" i="1" dirty="0"/>
              <a:t>other stuff</a:t>
            </a:r>
            <a:r>
              <a:rPr lang="en-US" dirty="0"/>
              <a:t> …</a:t>
            </a:r>
          </a:p>
          <a:p>
            <a:pPr marL="0" indent="0">
              <a:buNone/>
            </a:pPr>
            <a:r>
              <a:rPr lang="en-US" dirty="0"/>
              <a:t>   override Run(Dictionary d) {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i="1" dirty="0"/>
              <a:t>Call Run on the children to get</a:t>
            </a:r>
            <a:br>
              <a:rPr lang="en-US" i="1" dirty="0"/>
            </a:br>
            <a:r>
              <a:rPr lang="en-US" i="1" dirty="0"/>
              <a:t>         their values</a:t>
            </a:r>
          </a:p>
          <a:p>
            <a:pPr marL="0" indent="0">
              <a:buNone/>
            </a:pPr>
            <a:r>
              <a:rPr lang="en-US" i="1" dirty="0"/>
              <a:t>      Perform the math operation on the results</a:t>
            </a:r>
            <a:br>
              <a:rPr lang="en-US" i="1" dirty="0"/>
            </a:br>
            <a:r>
              <a:rPr lang="en-US" i="1" dirty="0"/>
              <a:t>   </a:t>
            </a: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</p:txBody>
      </p:sp>
      <p:grpSp>
        <p:nvGrpSpPr>
          <p:cNvPr id="23" name="Group 22"/>
          <p:cNvGrpSpPr/>
          <p:nvPr/>
        </p:nvGrpSpPr>
        <p:grpSpPr>
          <a:xfrm>
            <a:off x="5400955" y="1524000"/>
            <a:ext cx="2828645" cy="1913859"/>
            <a:chOff x="4191000" y="1808032"/>
            <a:chExt cx="4648200" cy="3144968"/>
          </a:xfrm>
        </p:grpSpPr>
        <p:sp>
          <p:nvSpPr>
            <p:cNvPr id="24" name="Oval 23"/>
            <p:cNvSpPr/>
            <p:nvPr/>
          </p:nvSpPr>
          <p:spPr>
            <a:xfrm>
              <a:off x="5943600" y="18080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+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7017328" y="2959691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+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6401946" y="3679554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27" name="Oval 26"/>
            <p:cNvSpPr/>
            <p:nvPr/>
          </p:nvSpPr>
          <p:spPr>
            <a:xfrm>
              <a:off x="7656954" y="3679554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*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6964228" y="449580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2</a:t>
              </a:r>
            </a:p>
          </p:txBody>
        </p:sp>
        <p:sp>
          <p:nvSpPr>
            <p:cNvPr id="29" name="Oval 28"/>
            <p:cNvSpPr/>
            <p:nvPr/>
          </p:nvSpPr>
          <p:spPr>
            <a:xfrm>
              <a:off x="8382000" y="449580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</a:t>
              </a:r>
            </a:p>
          </p:txBody>
        </p:sp>
        <p:cxnSp>
          <p:nvCxnSpPr>
            <p:cNvPr id="30" name="Straight Arrow Connector 29"/>
            <p:cNvCxnSpPr>
              <a:stCxn id="24" idx="3"/>
              <a:endCxn id="36" idx="7"/>
            </p:cNvCxnSpPr>
            <p:nvPr/>
          </p:nvCxnSpPr>
          <p:spPr>
            <a:xfrm flipH="1">
              <a:off x="5257800" y="2198277"/>
              <a:ext cx="752755" cy="82836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24" idx="5"/>
              <a:endCxn id="25" idx="1"/>
            </p:cNvCxnSpPr>
            <p:nvPr/>
          </p:nvCxnSpPr>
          <p:spPr>
            <a:xfrm>
              <a:off x="6333845" y="2198277"/>
              <a:ext cx="750438" cy="82836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25" idx="3"/>
              <a:endCxn id="26" idx="7"/>
            </p:cNvCxnSpPr>
            <p:nvPr/>
          </p:nvCxnSpPr>
          <p:spPr>
            <a:xfrm flipH="1">
              <a:off x="6792191" y="3349936"/>
              <a:ext cx="292092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25" idx="5"/>
              <a:endCxn id="27" idx="1"/>
            </p:cNvCxnSpPr>
            <p:nvPr/>
          </p:nvCxnSpPr>
          <p:spPr>
            <a:xfrm>
              <a:off x="7407573" y="3349936"/>
              <a:ext cx="316336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stCxn id="27" idx="3"/>
              <a:endCxn id="28" idx="7"/>
            </p:cNvCxnSpPr>
            <p:nvPr/>
          </p:nvCxnSpPr>
          <p:spPr>
            <a:xfrm flipH="1">
              <a:off x="7354473" y="4069799"/>
              <a:ext cx="36943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>
              <a:stCxn id="27" idx="5"/>
              <a:endCxn id="29" idx="1"/>
            </p:cNvCxnSpPr>
            <p:nvPr/>
          </p:nvCxnSpPr>
          <p:spPr>
            <a:xfrm>
              <a:off x="8047199" y="4069799"/>
              <a:ext cx="40175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Oval 35"/>
            <p:cNvSpPr/>
            <p:nvPr/>
          </p:nvSpPr>
          <p:spPr>
            <a:xfrm>
              <a:off x="4867555" y="2959691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-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5549892" y="3679554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38" name="Oval 37"/>
            <p:cNvSpPr/>
            <p:nvPr/>
          </p:nvSpPr>
          <p:spPr>
            <a:xfrm>
              <a:off x="4191000" y="3679554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</a:t>
              </a:r>
            </a:p>
          </p:txBody>
        </p:sp>
        <p:cxnSp>
          <p:nvCxnSpPr>
            <p:cNvPr id="39" name="Straight Arrow Connector 38"/>
            <p:cNvCxnSpPr>
              <a:stCxn id="36" idx="3"/>
              <a:endCxn id="38" idx="7"/>
            </p:cNvCxnSpPr>
            <p:nvPr/>
          </p:nvCxnSpPr>
          <p:spPr>
            <a:xfrm flipH="1">
              <a:off x="4581245" y="3349936"/>
              <a:ext cx="353265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36" idx="5"/>
              <a:endCxn id="37" idx="1"/>
            </p:cNvCxnSpPr>
            <p:nvPr/>
          </p:nvCxnSpPr>
          <p:spPr>
            <a:xfrm>
              <a:off x="5257800" y="3349936"/>
              <a:ext cx="359047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952462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Compilers are just </a:t>
            </a:r>
            <a:r>
              <a:rPr lang="en-US" b="1" dirty="0">
                <a:solidFill>
                  <a:srgbClr val="E46C0A"/>
                </a:solidFill>
              </a:rPr>
              <a:t>like interpreters</a:t>
            </a:r>
          </a:p>
          <a:p>
            <a:pPr lvl="1"/>
            <a:r>
              <a:rPr lang="en-US" b="1" dirty="0">
                <a:solidFill>
                  <a:srgbClr val="E46C0A"/>
                </a:solidFill>
              </a:rPr>
              <a:t>Depth-first traversal </a:t>
            </a:r>
            <a:r>
              <a:rPr lang="en-US" dirty="0"/>
              <a:t>of the syntax tree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Incrementally builds</a:t>
            </a:r>
            <a:r>
              <a:rPr lang="en-US" dirty="0"/>
              <a:t> up the output by finding the output for </a:t>
            </a:r>
            <a:r>
              <a:rPr lang="en-US" dirty="0" err="1"/>
              <a:t>subtrees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At least to a first approximation…</a:t>
            </a:r>
          </a:p>
        </p:txBody>
      </p:sp>
      <p:pic>
        <p:nvPicPr>
          <p:cNvPr id="5" name="Picture 7" descr="http://www.bitsavers.org/simh.trailing-edge.com/photos/pdp10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0224" y="1828800"/>
            <a:ext cx="3754552" cy="376396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11372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difference is that</a:t>
            </a:r>
          </a:p>
          <a:p>
            <a:pPr lvl="1"/>
            <a:r>
              <a:rPr lang="en-US" dirty="0"/>
              <a:t>When an interpreter sees +, it </a:t>
            </a:r>
            <a:r>
              <a:rPr lang="en-US" b="1" dirty="0">
                <a:solidFill>
                  <a:srgbClr val="E46C0A"/>
                </a:solidFill>
              </a:rPr>
              <a:t>outputs the sum</a:t>
            </a:r>
          </a:p>
          <a:p>
            <a:pPr lvl="1"/>
            <a:r>
              <a:rPr lang="en-US" dirty="0"/>
              <a:t>When a compilers sees +, it </a:t>
            </a:r>
            <a:r>
              <a:rPr lang="en-US" b="1" dirty="0">
                <a:solidFill>
                  <a:srgbClr val="E46C0A"/>
                </a:solidFill>
              </a:rPr>
              <a:t>outputs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b="1" dirty="0">
                <a:solidFill>
                  <a:srgbClr val="E46C0A"/>
                </a:solidFill>
              </a:rPr>
              <a:t>machine code </a:t>
            </a:r>
            <a:r>
              <a:rPr lang="en-US" dirty="0"/>
              <a:t>to compute the sum</a:t>
            </a:r>
          </a:p>
        </p:txBody>
      </p:sp>
      <p:pic>
        <p:nvPicPr>
          <p:cNvPr id="5" name="Picture 7" descr="http://www.bitsavers.org/simh.trailing-edge.com/photos/pdp10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0224" y="1828800"/>
            <a:ext cx="3754552" cy="376396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59881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Stack machines</a:t>
            </a:r>
            <a:br>
              <a:rPr lang="en-US" dirty="0"/>
            </a:br>
            <a:r>
              <a:rPr lang="en-US" sz="2200" dirty="0"/>
              <a:t>(you knew we had to get stacks in here too…)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52600"/>
            <a:ext cx="4038600" cy="4525963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Simple kind of machine code</a:t>
            </a:r>
          </a:p>
          <a:p>
            <a:pPr lvl="1"/>
            <a:r>
              <a:rPr lang="en-US" dirty="0"/>
              <a:t>No longer popular for hardware implementation</a:t>
            </a:r>
          </a:p>
          <a:p>
            <a:pPr lvl="1"/>
            <a:r>
              <a:rPr lang="en-US" dirty="0"/>
              <a:t>But still popular as an intermediate code for “</a:t>
            </a:r>
            <a:r>
              <a:rPr lang="en-US" b="1" dirty="0" err="1">
                <a:solidFill>
                  <a:srgbClr val="E46C0A"/>
                </a:solidFill>
              </a:rPr>
              <a:t>bytecoded</a:t>
            </a:r>
            <a:r>
              <a:rPr lang="en-US" dirty="0"/>
              <a:t>” languages like Java, C#, Python</a:t>
            </a:r>
          </a:p>
          <a:p>
            <a:endParaRPr lang="en-US" dirty="0"/>
          </a:p>
          <a:p>
            <a:r>
              <a:rPr lang="en-US" dirty="0"/>
              <a:t>Stores </a:t>
            </a:r>
            <a:r>
              <a:rPr lang="en-US" b="1" dirty="0">
                <a:solidFill>
                  <a:srgbClr val="E46C0A"/>
                </a:solidFill>
              </a:rPr>
              <a:t>intermediate results </a:t>
            </a:r>
            <a:r>
              <a:rPr lang="en-US" dirty="0"/>
              <a:t>on a stack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52600"/>
            <a:ext cx="4038600" cy="480060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Basic operations</a:t>
            </a:r>
          </a:p>
          <a:p>
            <a:r>
              <a:rPr lang="en-US" b="1" dirty="0">
                <a:solidFill>
                  <a:srgbClr val="E46C0A"/>
                </a:solidFill>
              </a:rPr>
              <a:t>Push</a:t>
            </a:r>
            <a:r>
              <a:rPr lang="en-US" dirty="0"/>
              <a:t>: pushes a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constant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on the stack</a:t>
            </a:r>
          </a:p>
          <a:p>
            <a:pPr>
              <a:spcBef>
                <a:spcPts val="120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Arithmetic</a:t>
            </a:r>
            <a:r>
              <a:rPr lang="en-US" dirty="0"/>
              <a:t> (e.g. +)</a:t>
            </a:r>
          </a:p>
          <a:p>
            <a:pPr lvl="1"/>
            <a:r>
              <a:rPr lang="en-US" dirty="0"/>
              <a:t>Pops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arguments from stack</a:t>
            </a:r>
          </a:p>
          <a:p>
            <a:pPr lvl="1"/>
            <a:r>
              <a:rPr lang="en-US" dirty="0"/>
              <a:t>Computes result</a:t>
            </a:r>
          </a:p>
          <a:p>
            <a:pPr lvl="1"/>
            <a:r>
              <a:rPr lang="en-US" dirty="0"/>
              <a:t>Pushes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result on stack</a:t>
            </a:r>
          </a:p>
          <a:p>
            <a:pPr>
              <a:spcBef>
                <a:spcPts val="120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Other</a:t>
            </a:r>
            <a:r>
              <a:rPr lang="en-US" dirty="0"/>
              <a:t> stuff</a:t>
            </a:r>
          </a:p>
          <a:p>
            <a:pPr lvl="1"/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Load/store</a:t>
            </a:r>
            <a:r>
              <a:rPr lang="en-US" b="1" dirty="0">
                <a:solidFill>
                  <a:srgbClr val="E46C0A"/>
                </a:solidFill>
              </a:rPr>
              <a:t> </a:t>
            </a:r>
            <a:r>
              <a:rPr lang="en-US" dirty="0"/>
              <a:t>for variables</a:t>
            </a:r>
          </a:p>
          <a:p>
            <a:pPr lvl="1"/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Procedure call</a:t>
            </a:r>
          </a:p>
          <a:p>
            <a:pPr lvl="1"/>
            <a:r>
              <a:rPr lang="en-US" dirty="0"/>
              <a:t>Other good stuff</a:t>
            </a:r>
          </a:p>
          <a:p>
            <a:pPr lvl="1"/>
            <a:r>
              <a:rPr lang="en-US" dirty="0"/>
              <a:t>But we don’t have time to talk about these</a:t>
            </a:r>
          </a:p>
        </p:txBody>
      </p:sp>
    </p:spTree>
    <p:extLst>
      <p:ext uri="{BB962C8B-B14F-4D97-AF65-F5344CB8AC3E}">
        <p14:creationId xmlns:p14="http://schemas.microsoft.com/office/powerpoint/2010/main" val="40285776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Computing 1+2*3 on a stack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Program:</a:t>
            </a:r>
          </a:p>
          <a:p>
            <a:pPr marL="0" indent="0">
              <a:buNone/>
            </a:pPr>
            <a:r>
              <a:rPr lang="en-US" dirty="0"/>
              <a:t>Push 1</a:t>
            </a:r>
          </a:p>
          <a:p>
            <a:pPr marL="0" indent="0">
              <a:buNone/>
            </a:pPr>
            <a:r>
              <a:rPr lang="en-US" dirty="0"/>
              <a:t>Push 2</a:t>
            </a:r>
          </a:p>
          <a:p>
            <a:pPr marL="0" indent="0">
              <a:buNone/>
            </a:pPr>
            <a:r>
              <a:rPr lang="en-US" dirty="0"/>
              <a:t>Push 3</a:t>
            </a:r>
          </a:p>
          <a:p>
            <a:pPr marL="0" indent="0">
              <a:buNone/>
            </a:pPr>
            <a:r>
              <a:rPr lang="en-US" dirty="0"/>
              <a:t>* </a:t>
            </a:r>
          </a:p>
          <a:p>
            <a:pPr marL="0" indent="0">
              <a:buNone/>
            </a:pPr>
            <a:r>
              <a:rPr lang="en-US" dirty="0"/>
              <a:t>+ </a:t>
            </a:r>
          </a:p>
        </p:txBody>
      </p:sp>
      <p:sp>
        <p:nvSpPr>
          <p:cNvPr id="5" name="Rectangle 4"/>
          <p:cNvSpPr/>
          <p:nvPr/>
        </p:nvSpPr>
        <p:spPr>
          <a:xfrm>
            <a:off x="5791200" y="1828800"/>
            <a:ext cx="838200" cy="2743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791200" y="4648200"/>
            <a:ext cx="677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0645720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Computing 1+2*3 on a stack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Program: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Push 1</a:t>
            </a:r>
          </a:p>
          <a:p>
            <a:pPr marL="0" indent="0">
              <a:buNone/>
            </a:pPr>
            <a:r>
              <a:rPr lang="en-US" dirty="0"/>
              <a:t>Push 2</a:t>
            </a:r>
          </a:p>
          <a:p>
            <a:pPr marL="0" indent="0">
              <a:buNone/>
            </a:pPr>
            <a:r>
              <a:rPr lang="en-US" dirty="0"/>
              <a:t>Push 3</a:t>
            </a:r>
          </a:p>
          <a:p>
            <a:pPr marL="0" indent="0">
              <a:buNone/>
            </a:pPr>
            <a:r>
              <a:rPr lang="en-US" dirty="0"/>
              <a:t>* </a:t>
            </a:r>
          </a:p>
          <a:p>
            <a:pPr marL="0" indent="0">
              <a:buNone/>
            </a:pPr>
            <a:r>
              <a:rPr lang="en-US" dirty="0"/>
              <a:t>+ </a:t>
            </a:r>
          </a:p>
        </p:txBody>
      </p:sp>
      <p:sp>
        <p:nvSpPr>
          <p:cNvPr id="5" name="Rectangle 4"/>
          <p:cNvSpPr/>
          <p:nvPr/>
        </p:nvSpPr>
        <p:spPr>
          <a:xfrm>
            <a:off x="5791200" y="1828800"/>
            <a:ext cx="838200" cy="2743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4000" dirty="0"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91200" y="4648200"/>
            <a:ext cx="677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619678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Computing 1+2*3 on a stack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Program:</a:t>
            </a:r>
          </a:p>
          <a:p>
            <a:pPr marL="0" indent="0">
              <a:buNone/>
            </a:pPr>
            <a:r>
              <a:rPr lang="en-US" dirty="0"/>
              <a:t>Push 1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Push 2</a:t>
            </a:r>
          </a:p>
          <a:p>
            <a:pPr marL="0" indent="0">
              <a:buNone/>
            </a:pPr>
            <a:r>
              <a:rPr lang="en-US" dirty="0"/>
              <a:t>Push 3</a:t>
            </a:r>
          </a:p>
          <a:p>
            <a:pPr marL="0" indent="0">
              <a:buNone/>
            </a:pPr>
            <a:r>
              <a:rPr lang="en-US" dirty="0"/>
              <a:t>* </a:t>
            </a:r>
          </a:p>
          <a:p>
            <a:pPr marL="0" indent="0">
              <a:buNone/>
            </a:pPr>
            <a:r>
              <a:rPr lang="en-US" dirty="0"/>
              <a:t>+ </a:t>
            </a:r>
          </a:p>
        </p:txBody>
      </p:sp>
      <p:sp>
        <p:nvSpPr>
          <p:cNvPr id="5" name="Rectangle 4"/>
          <p:cNvSpPr/>
          <p:nvPr/>
        </p:nvSpPr>
        <p:spPr>
          <a:xfrm>
            <a:off x="5791200" y="1828800"/>
            <a:ext cx="838200" cy="2743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4000" dirty="0"/>
              <a:t>2</a:t>
            </a:r>
          </a:p>
          <a:p>
            <a:pPr algn="ctr"/>
            <a:r>
              <a:rPr lang="en-US" sz="4000" dirty="0"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91200" y="4648200"/>
            <a:ext cx="677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3224703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Computing 1+2*3 on a stack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Program:</a:t>
            </a:r>
          </a:p>
          <a:p>
            <a:pPr marL="0" indent="0">
              <a:buNone/>
            </a:pPr>
            <a:r>
              <a:rPr lang="en-US" dirty="0"/>
              <a:t>Push 1</a:t>
            </a:r>
          </a:p>
          <a:p>
            <a:pPr marL="0" indent="0">
              <a:buNone/>
            </a:pPr>
            <a:r>
              <a:rPr lang="en-US" dirty="0"/>
              <a:t>Push 2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Push 3</a:t>
            </a:r>
          </a:p>
          <a:p>
            <a:pPr marL="0" indent="0">
              <a:buNone/>
            </a:pPr>
            <a:r>
              <a:rPr lang="en-US" dirty="0"/>
              <a:t>* </a:t>
            </a:r>
          </a:p>
          <a:p>
            <a:pPr marL="0" indent="0">
              <a:buNone/>
            </a:pPr>
            <a:r>
              <a:rPr lang="en-US" dirty="0"/>
              <a:t>+ </a:t>
            </a:r>
          </a:p>
        </p:txBody>
      </p:sp>
      <p:sp>
        <p:nvSpPr>
          <p:cNvPr id="5" name="Rectangle 4"/>
          <p:cNvSpPr/>
          <p:nvPr/>
        </p:nvSpPr>
        <p:spPr>
          <a:xfrm>
            <a:off x="5791200" y="1828800"/>
            <a:ext cx="838200" cy="2743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4000" dirty="0"/>
              <a:t>3</a:t>
            </a:r>
          </a:p>
          <a:p>
            <a:pPr algn="ctr"/>
            <a:r>
              <a:rPr lang="en-US" sz="4000" dirty="0"/>
              <a:t>2</a:t>
            </a:r>
          </a:p>
          <a:p>
            <a:pPr algn="ctr"/>
            <a:r>
              <a:rPr lang="en-US" sz="4000" dirty="0"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91200" y="4648200"/>
            <a:ext cx="677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41917411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Computing 1+2*3 on a stack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Program:</a:t>
            </a:r>
          </a:p>
          <a:p>
            <a:pPr marL="0" indent="0">
              <a:buNone/>
            </a:pPr>
            <a:r>
              <a:rPr lang="en-US" dirty="0"/>
              <a:t>Push 1</a:t>
            </a:r>
          </a:p>
          <a:p>
            <a:pPr marL="0" indent="0">
              <a:buNone/>
            </a:pPr>
            <a:r>
              <a:rPr lang="en-US" dirty="0"/>
              <a:t>Push 2</a:t>
            </a:r>
          </a:p>
          <a:p>
            <a:pPr marL="0" indent="0">
              <a:buNone/>
            </a:pPr>
            <a:r>
              <a:rPr lang="en-US" dirty="0"/>
              <a:t>Push 3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* </a:t>
            </a:r>
          </a:p>
          <a:p>
            <a:pPr marL="0" indent="0">
              <a:buNone/>
            </a:pPr>
            <a:r>
              <a:rPr lang="en-US" dirty="0"/>
              <a:t>+ </a:t>
            </a:r>
          </a:p>
        </p:txBody>
      </p:sp>
      <p:sp>
        <p:nvSpPr>
          <p:cNvPr id="5" name="Rectangle 4"/>
          <p:cNvSpPr/>
          <p:nvPr/>
        </p:nvSpPr>
        <p:spPr>
          <a:xfrm>
            <a:off x="5791200" y="1828800"/>
            <a:ext cx="838200" cy="2743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4000" dirty="0"/>
              <a:t>6</a:t>
            </a:r>
          </a:p>
          <a:p>
            <a:pPr algn="ctr"/>
            <a:r>
              <a:rPr lang="en-US" sz="4000" dirty="0"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91200" y="4648200"/>
            <a:ext cx="677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3221427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Computing 1+2*3 on a stack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Program:</a:t>
            </a:r>
          </a:p>
          <a:p>
            <a:pPr marL="0" indent="0">
              <a:buNone/>
            </a:pPr>
            <a:r>
              <a:rPr lang="en-US" dirty="0"/>
              <a:t>Push 1</a:t>
            </a:r>
          </a:p>
          <a:p>
            <a:pPr marL="0" indent="0">
              <a:buNone/>
            </a:pPr>
            <a:r>
              <a:rPr lang="en-US" dirty="0"/>
              <a:t>Push 2</a:t>
            </a:r>
          </a:p>
          <a:p>
            <a:pPr marL="0" indent="0">
              <a:buNone/>
            </a:pPr>
            <a:r>
              <a:rPr lang="en-US" dirty="0"/>
              <a:t>Push 3</a:t>
            </a:r>
          </a:p>
          <a:p>
            <a:pPr marL="0" indent="0">
              <a:buNone/>
            </a:pPr>
            <a:r>
              <a:rPr lang="en-US" dirty="0"/>
              <a:t>*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+</a:t>
            </a:r>
            <a:r>
              <a:rPr lang="en-US" b="1" dirty="0"/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5791200" y="1828800"/>
            <a:ext cx="838200" cy="2743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4000" dirty="0"/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91200" y="4648200"/>
            <a:ext cx="677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522605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Syntax-directed </a:t>
            </a:r>
            <a:r>
              <a:rPr lang="en-US" i="1" dirty="0"/>
              <a:t>compilation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6135902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Just change the code for Run so that</a:t>
            </a:r>
          </a:p>
          <a:p>
            <a:r>
              <a:rPr lang="en-US" sz="2000" dirty="0"/>
              <a:t>Instead of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performing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2000" dirty="0"/>
              <a:t>an operation</a:t>
            </a:r>
          </a:p>
          <a:p>
            <a:r>
              <a:rPr lang="en-US" sz="2000" dirty="0"/>
              <a:t>It outputs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code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2000" dirty="0"/>
              <a:t>that can perform it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Compile</a:t>
            </a:r>
            <a:r>
              <a:rPr lang="en-US" sz="2000" dirty="0"/>
              <a:t>(</a:t>
            </a:r>
            <a:r>
              <a:rPr lang="en-US" sz="2000" dirty="0" err="1"/>
              <a:t>STNode</a:t>
            </a:r>
            <a:r>
              <a:rPr lang="en-US" sz="2000" dirty="0"/>
              <a:t>) {</a:t>
            </a:r>
          </a:p>
          <a:p>
            <a:pPr marL="0" indent="0">
              <a:buNone/>
            </a:pPr>
            <a:r>
              <a:rPr lang="en-US" sz="2000" dirty="0"/>
              <a:t>   if </a:t>
            </a:r>
            <a:r>
              <a:rPr lang="en-US" sz="2000" dirty="0" err="1"/>
              <a:t>STNode</a:t>
            </a:r>
            <a:r>
              <a:rPr lang="en-US" sz="2000" dirty="0"/>
              <a:t> is a constant</a:t>
            </a:r>
          </a:p>
          <a:p>
            <a:pPr marL="0" indent="0">
              <a:buNone/>
            </a:pPr>
            <a:r>
              <a:rPr lang="en-US" sz="2000" dirty="0"/>
              <a:t>      add “push </a:t>
            </a:r>
            <a:r>
              <a:rPr lang="en-US" sz="2000" i="1" dirty="0"/>
              <a:t>constant</a:t>
            </a:r>
            <a:r>
              <a:rPr lang="en-US" sz="2000" dirty="0"/>
              <a:t>” to the code</a:t>
            </a:r>
          </a:p>
          <a:p>
            <a:pPr marL="0" indent="0">
              <a:buNone/>
            </a:pPr>
            <a:r>
              <a:rPr lang="en-US" sz="2000" dirty="0"/>
              <a:t>   else</a:t>
            </a:r>
          </a:p>
          <a:p>
            <a:pPr marL="0" indent="0">
              <a:buNone/>
            </a:pPr>
            <a:r>
              <a:rPr lang="en-US" sz="2000" dirty="0"/>
              <a:t>     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Compile</a:t>
            </a:r>
            <a:r>
              <a:rPr lang="en-US" sz="2000" dirty="0"/>
              <a:t>(</a:t>
            </a:r>
            <a:r>
              <a:rPr lang="en-US" sz="2000" dirty="0" err="1"/>
              <a:t>STNode.leftChild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     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Compile</a:t>
            </a:r>
            <a:r>
              <a:rPr lang="en-US" sz="2000" dirty="0"/>
              <a:t>(</a:t>
            </a:r>
            <a:r>
              <a:rPr lang="en-US" sz="2000" dirty="0" err="1"/>
              <a:t>STNode.rightChild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      add math operation to the compiled code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4953000" y="2133600"/>
            <a:ext cx="3726843" cy="3048000"/>
            <a:chOff x="5563746" y="2133600"/>
            <a:chExt cx="2437254" cy="1993309"/>
          </a:xfrm>
        </p:grpSpPr>
        <p:sp>
          <p:nvSpPr>
            <p:cNvPr id="6" name="Oval 5"/>
            <p:cNvSpPr/>
            <p:nvPr/>
          </p:nvSpPr>
          <p:spPr>
            <a:xfrm>
              <a:off x="6179128" y="2133600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+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5563746" y="2853463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6818754" y="2853463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*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6126028" y="3669709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543800" y="3669709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3</a:t>
              </a:r>
            </a:p>
          </p:txBody>
        </p:sp>
        <p:cxnSp>
          <p:nvCxnSpPr>
            <p:cNvPr id="11" name="Straight Arrow Connector 10"/>
            <p:cNvCxnSpPr>
              <a:stCxn id="6" idx="3"/>
              <a:endCxn id="7" idx="7"/>
            </p:cNvCxnSpPr>
            <p:nvPr/>
          </p:nvCxnSpPr>
          <p:spPr>
            <a:xfrm flipH="1">
              <a:off x="5953991" y="2523845"/>
              <a:ext cx="292092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6" idx="5"/>
              <a:endCxn id="8" idx="1"/>
            </p:cNvCxnSpPr>
            <p:nvPr/>
          </p:nvCxnSpPr>
          <p:spPr>
            <a:xfrm>
              <a:off x="6569373" y="2523845"/>
              <a:ext cx="316336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8" idx="3"/>
              <a:endCxn id="9" idx="7"/>
            </p:cNvCxnSpPr>
            <p:nvPr/>
          </p:nvCxnSpPr>
          <p:spPr>
            <a:xfrm flipH="1">
              <a:off x="6516273" y="3243708"/>
              <a:ext cx="36943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8" idx="5"/>
              <a:endCxn id="10" idx="1"/>
            </p:cNvCxnSpPr>
            <p:nvPr/>
          </p:nvCxnSpPr>
          <p:spPr>
            <a:xfrm>
              <a:off x="7208999" y="3243708"/>
              <a:ext cx="40175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619234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Syntax-directed </a:t>
            </a:r>
            <a:r>
              <a:rPr lang="en-US" i="1" dirty="0"/>
              <a:t>compilation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6135902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Generated code: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Compile(+)</a:t>
            </a:r>
          </a:p>
        </p:txBody>
      </p:sp>
      <p:sp>
        <p:nvSpPr>
          <p:cNvPr id="6" name="Oval 5"/>
          <p:cNvSpPr/>
          <p:nvPr/>
        </p:nvSpPr>
        <p:spPr>
          <a:xfrm>
            <a:off x="5893990" y="2133600"/>
            <a:ext cx="699112" cy="699112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+</a:t>
            </a:r>
          </a:p>
        </p:txBody>
      </p:sp>
      <p:sp>
        <p:nvSpPr>
          <p:cNvPr id="7" name="Oval 6"/>
          <p:cNvSpPr/>
          <p:nvPr/>
        </p:nvSpPr>
        <p:spPr>
          <a:xfrm>
            <a:off x="4953000" y="3234354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872052" y="3234354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*</a:t>
            </a:r>
          </a:p>
        </p:txBody>
      </p:sp>
      <p:sp>
        <p:nvSpPr>
          <p:cNvPr id="9" name="Oval 8"/>
          <p:cNvSpPr/>
          <p:nvPr/>
        </p:nvSpPr>
        <p:spPr>
          <a:xfrm>
            <a:off x="5812794" y="4482488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7980731" y="4482488"/>
            <a:ext cx="699112" cy="69911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cxnSp>
        <p:nvCxnSpPr>
          <p:cNvPr id="11" name="Straight Arrow Connector 10"/>
          <p:cNvCxnSpPr>
            <a:stCxn id="6" idx="3"/>
            <a:endCxn id="7" idx="7"/>
          </p:cNvCxnSpPr>
          <p:nvPr/>
        </p:nvCxnSpPr>
        <p:spPr>
          <a:xfrm flipH="1">
            <a:off x="5549730" y="2730330"/>
            <a:ext cx="446642" cy="6064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5"/>
            <a:endCxn id="8" idx="1"/>
          </p:cNvCxnSpPr>
          <p:nvPr/>
        </p:nvCxnSpPr>
        <p:spPr>
          <a:xfrm>
            <a:off x="6490720" y="2730330"/>
            <a:ext cx="483714" cy="6064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8" idx="3"/>
            <a:endCxn id="9" idx="7"/>
          </p:cNvCxnSpPr>
          <p:nvPr/>
        </p:nvCxnSpPr>
        <p:spPr>
          <a:xfrm flipH="1">
            <a:off x="6409524" y="3831084"/>
            <a:ext cx="564910" cy="75378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8" idx="5"/>
            <a:endCxn id="10" idx="1"/>
          </p:cNvCxnSpPr>
          <p:nvPr/>
        </p:nvCxnSpPr>
        <p:spPr>
          <a:xfrm>
            <a:off x="7468782" y="3831084"/>
            <a:ext cx="614331" cy="75378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5281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Syntax-directed </a:t>
            </a:r>
            <a:r>
              <a:rPr lang="en-US" i="1" dirty="0"/>
              <a:t>compilation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6135902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Generated code: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Compile(+)</a:t>
            </a:r>
          </a:p>
          <a:p>
            <a:pPr marL="0" indent="0">
              <a:buNone/>
            </a:pPr>
            <a:r>
              <a:rPr lang="en-US" sz="2000" dirty="0"/>
              <a:t>   Compile(1)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4953000" y="2133600"/>
            <a:ext cx="3726843" cy="3048000"/>
            <a:chOff x="5563746" y="2133600"/>
            <a:chExt cx="2437254" cy="1993309"/>
          </a:xfrm>
        </p:grpSpPr>
        <p:sp>
          <p:nvSpPr>
            <p:cNvPr id="6" name="Oval 5"/>
            <p:cNvSpPr/>
            <p:nvPr/>
          </p:nvSpPr>
          <p:spPr>
            <a:xfrm>
              <a:off x="6179128" y="2133600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+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5563746" y="2853463"/>
              <a:ext cx="457200" cy="457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6818754" y="2853463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*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6126028" y="3669709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543800" y="3669709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3</a:t>
              </a:r>
            </a:p>
          </p:txBody>
        </p:sp>
        <p:cxnSp>
          <p:nvCxnSpPr>
            <p:cNvPr id="11" name="Straight Arrow Connector 10"/>
            <p:cNvCxnSpPr>
              <a:stCxn id="6" idx="3"/>
              <a:endCxn id="7" idx="7"/>
            </p:cNvCxnSpPr>
            <p:nvPr/>
          </p:nvCxnSpPr>
          <p:spPr>
            <a:xfrm flipH="1">
              <a:off x="5953991" y="2523845"/>
              <a:ext cx="292092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6" idx="5"/>
              <a:endCxn id="8" idx="1"/>
            </p:cNvCxnSpPr>
            <p:nvPr/>
          </p:nvCxnSpPr>
          <p:spPr>
            <a:xfrm>
              <a:off x="6569373" y="2523845"/>
              <a:ext cx="316336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8" idx="3"/>
              <a:endCxn id="9" idx="7"/>
            </p:cNvCxnSpPr>
            <p:nvPr/>
          </p:nvCxnSpPr>
          <p:spPr>
            <a:xfrm flipH="1">
              <a:off x="6516273" y="3243708"/>
              <a:ext cx="36943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8" idx="5"/>
              <a:endCxn id="10" idx="1"/>
            </p:cNvCxnSpPr>
            <p:nvPr/>
          </p:nvCxnSpPr>
          <p:spPr>
            <a:xfrm>
              <a:off x="7208999" y="3243708"/>
              <a:ext cx="40175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298104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Syntax-directed </a:t>
            </a:r>
            <a:r>
              <a:rPr lang="en-US" i="1" dirty="0"/>
              <a:t>compilation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6135902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Generated code:</a:t>
            </a:r>
          </a:p>
          <a:p>
            <a:pPr marL="0" indent="0">
              <a:buNone/>
            </a:pPr>
            <a:r>
              <a:rPr lang="en-US" sz="2000" dirty="0"/>
              <a:t>Push 1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Compile(+)</a:t>
            </a:r>
          </a:p>
          <a:p>
            <a:pPr marL="0" indent="0">
              <a:buNone/>
            </a:pPr>
            <a:r>
              <a:rPr lang="en-US" sz="2000" dirty="0"/>
              <a:t>   Compile(1)</a:t>
            </a:r>
          </a:p>
          <a:p>
            <a:pPr marL="0" indent="0">
              <a:buNone/>
            </a:pPr>
            <a:r>
              <a:rPr lang="en-US" sz="2000" dirty="0"/>
              <a:t>      Emit “push 1”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4953000" y="2133600"/>
            <a:ext cx="3726843" cy="3048000"/>
            <a:chOff x="5563746" y="2133600"/>
            <a:chExt cx="2437254" cy="1993309"/>
          </a:xfrm>
        </p:grpSpPr>
        <p:sp>
          <p:nvSpPr>
            <p:cNvPr id="6" name="Oval 5"/>
            <p:cNvSpPr/>
            <p:nvPr/>
          </p:nvSpPr>
          <p:spPr>
            <a:xfrm>
              <a:off x="6179128" y="2133600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+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5563746" y="2853463"/>
              <a:ext cx="457200" cy="457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6818754" y="2853463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*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6126028" y="3669709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543800" y="3669709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3</a:t>
              </a:r>
            </a:p>
          </p:txBody>
        </p:sp>
        <p:cxnSp>
          <p:nvCxnSpPr>
            <p:cNvPr id="11" name="Straight Arrow Connector 10"/>
            <p:cNvCxnSpPr>
              <a:stCxn id="6" idx="3"/>
              <a:endCxn id="7" idx="7"/>
            </p:cNvCxnSpPr>
            <p:nvPr/>
          </p:nvCxnSpPr>
          <p:spPr>
            <a:xfrm flipH="1">
              <a:off x="5953991" y="2523845"/>
              <a:ext cx="292092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6" idx="5"/>
              <a:endCxn id="8" idx="1"/>
            </p:cNvCxnSpPr>
            <p:nvPr/>
          </p:nvCxnSpPr>
          <p:spPr>
            <a:xfrm>
              <a:off x="6569373" y="2523845"/>
              <a:ext cx="316336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8" idx="3"/>
              <a:endCxn id="9" idx="7"/>
            </p:cNvCxnSpPr>
            <p:nvPr/>
          </p:nvCxnSpPr>
          <p:spPr>
            <a:xfrm flipH="1">
              <a:off x="6516273" y="3243708"/>
              <a:ext cx="36943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8" idx="5"/>
              <a:endCxn id="10" idx="1"/>
            </p:cNvCxnSpPr>
            <p:nvPr/>
          </p:nvCxnSpPr>
          <p:spPr>
            <a:xfrm>
              <a:off x="7208999" y="3243708"/>
              <a:ext cx="40175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8637049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Syntax-directed </a:t>
            </a:r>
            <a:r>
              <a:rPr lang="en-US" i="1" dirty="0"/>
              <a:t>compilation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6135902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Generated code:</a:t>
            </a:r>
          </a:p>
          <a:p>
            <a:pPr marL="0" indent="0">
              <a:buNone/>
            </a:pPr>
            <a:r>
              <a:rPr lang="en-US" sz="2000" dirty="0"/>
              <a:t>Push 1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Compile(+)</a:t>
            </a:r>
          </a:p>
          <a:p>
            <a:pPr marL="0" indent="0">
              <a:buNone/>
            </a:pPr>
            <a:r>
              <a:rPr lang="en-US" sz="2000" dirty="0"/>
              <a:t>   Compile(1)</a:t>
            </a:r>
          </a:p>
          <a:p>
            <a:pPr marL="0" indent="0">
              <a:buNone/>
            </a:pPr>
            <a:r>
              <a:rPr lang="en-US" sz="2000" dirty="0"/>
              <a:t>      Emit “push 1”</a:t>
            </a:r>
          </a:p>
          <a:p>
            <a:pPr marL="0" indent="0">
              <a:buNone/>
            </a:pPr>
            <a:r>
              <a:rPr lang="en-US" sz="2000" dirty="0"/>
              <a:t>   Compile(*)</a:t>
            </a:r>
          </a:p>
          <a:p>
            <a:pPr marL="0" indent="0">
              <a:buNone/>
            </a:pPr>
            <a:endParaRPr lang="en-US" sz="2000" dirty="0"/>
          </a:p>
        </p:txBody>
      </p:sp>
      <p:grpSp>
        <p:nvGrpSpPr>
          <p:cNvPr id="15" name="Group 14"/>
          <p:cNvGrpSpPr/>
          <p:nvPr/>
        </p:nvGrpSpPr>
        <p:grpSpPr>
          <a:xfrm>
            <a:off x="4953000" y="2133600"/>
            <a:ext cx="3726843" cy="3048000"/>
            <a:chOff x="5563746" y="2133600"/>
            <a:chExt cx="2437254" cy="1993309"/>
          </a:xfrm>
        </p:grpSpPr>
        <p:sp>
          <p:nvSpPr>
            <p:cNvPr id="6" name="Oval 5"/>
            <p:cNvSpPr/>
            <p:nvPr/>
          </p:nvSpPr>
          <p:spPr>
            <a:xfrm>
              <a:off x="6179128" y="2133600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+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5563746" y="2853463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6818754" y="2853463"/>
              <a:ext cx="457200" cy="457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*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6126028" y="3669709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543800" y="3669709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3</a:t>
              </a:r>
            </a:p>
          </p:txBody>
        </p:sp>
        <p:cxnSp>
          <p:nvCxnSpPr>
            <p:cNvPr id="11" name="Straight Arrow Connector 10"/>
            <p:cNvCxnSpPr>
              <a:stCxn id="6" idx="3"/>
              <a:endCxn id="7" idx="7"/>
            </p:cNvCxnSpPr>
            <p:nvPr/>
          </p:nvCxnSpPr>
          <p:spPr>
            <a:xfrm flipH="1">
              <a:off x="5953991" y="2523845"/>
              <a:ext cx="292092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6" idx="5"/>
              <a:endCxn id="8" idx="1"/>
            </p:cNvCxnSpPr>
            <p:nvPr/>
          </p:nvCxnSpPr>
          <p:spPr>
            <a:xfrm>
              <a:off x="6569373" y="2523845"/>
              <a:ext cx="316336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8" idx="3"/>
              <a:endCxn id="9" idx="7"/>
            </p:cNvCxnSpPr>
            <p:nvPr/>
          </p:nvCxnSpPr>
          <p:spPr>
            <a:xfrm flipH="1">
              <a:off x="6516273" y="3243708"/>
              <a:ext cx="36943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8" idx="5"/>
              <a:endCxn id="10" idx="1"/>
            </p:cNvCxnSpPr>
            <p:nvPr/>
          </p:nvCxnSpPr>
          <p:spPr>
            <a:xfrm>
              <a:off x="7208999" y="3243708"/>
              <a:ext cx="40175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2296873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Syntax-directed </a:t>
            </a:r>
            <a:r>
              <a:rPr lang="en-US" i="1" dirty="0"/>
              <a:t>compilation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6135902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Generated code:</a:t>
            </a:r>
          </a:p>
          <a:p>
            <a:pPr marL="0" indent="0">
              <a:buNone/>
            </a:pPr>
            <a:r>
              <a:rPr lang="en-US" sz="2000" dirty="0"/>
              <a:t>Push 1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Compile(+)</a:t>
            </a:r>
          </a:p>
          <a:p>
            <a:pPr marL="0" indent="0">
              <a:buNone/>
            </a:pPr>
            <a:r>
              <a:rPr lang="en-US" sz="2000" dirty="0"/>
              <a:t>   Compile(1)</a:t>
            </a:r>
          </a:p>
          <a:p>
            <a:pPr marL="0" indent="0">
              <a:buNone/>
            </a:pPr>
            <a:r>
              <a:rPr lang="en-US" sz="2000" dirty="0"/>
              <a:t>      Emit “push 1”</a:t>
            </a:r>
          </a:p>
          <a:p>
            <a:pPr marL="0" indent="0">
              <a:buNone/>
            </a:pPr>
            <a:r>
              <a:rPr lang="en-US" sz="2000" dirty="0"/>
              <a:t>   Compile(*)</a:t>
            </a:r>
          </a:p>
          <a:p>
            <a:pPr marL="0" indent="0">
              <a:buNone/>
            </a:pPr>
            <a:r>
              <a:rPr lang="en-US" sz="2000" dirty="0"/>
              <a:t>      Compile(2)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4953000" y="2133600"/>
            <a:ext cx="3726843" cy="3048000"/>
            <a:chOff x="5563746" y="2133600"/>
            <a:chExt cx="2437254" cy="1993309"/>
          </a:xfrm>
        </p:grpSpPr>
        <p:sp>
          <p:nvSpPr>
            <p:cNvPr id="6" name="Oval 5"/>
            <p:cNvSpPr/>
            <p:nvPr/>
          </p:nvSpPr>
          <p:spPr>
            <a:xfrm>
              <a:off x="6179128" y="2133600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+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5563746" y="2853463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6818754" y="2853463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*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6126028" y="3669709"/>
              <a:ext cx="457200" cy="457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543800" y="3669709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3</a:t>
              </a:r>
            </a:p>
          </p:txBody>
        </p:sp>
        <p:cxnSp>
          <p:nvCxnSpPr>
            <p:cNvPr id="11" name="Straight Arrow Connector 10"/>
            <p:cNvCxnSpPr>
              <a:stCxn id="6" idx="3"/>
              <a:endCxn id="7" idx="7"/>
            </p:cNvCxnSpPr>
            <p:nvPr/>
          </p:nvCxnSpPr>
          <p:spPr>
            <a:xfrm flipH="1">
              <a:off x="5953991" y="2523845"/>
              <a:ext cx="292092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6" idx="5"/>
              <a:endCxn id="8" idx="1"/>
            </p:cNvCxnSpPr>
            <p:nvPr/>
          </p:nvCxnSpPr>
          <p:spPr>
            <a:xfrm>
              <a:off x="6569373" y="2523845"/>
              <a:ext cx="316336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8" idx="3"/>
              <a:endCxn id="9" idx="7"/>
            </p:cNvCxnSpPr>
            <p:nvPr/>
          </p:nvCxnSpPr>
          <p:spPr>
            <a:xfrm flipH="1">
              <a:off x="6516273" y="3243708"/>
              <a:ext cx="36943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8" idx="5"/>
              <a:endCxn id="10" idx="1"/>
            </p:cNvCxnSpPr>
            <p:nvPr/>
          </p:nvCxnSpPr>
          <p:spPr>
            <a:xfrm>
              <a:off x="7208999" y="3243708"/>
              <a:ext cx="40175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6302800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Syntax-directed </a:t>
            </a:r>
            <a:r>
              <a:rPr lang="en-US" i="1" dirty="0"/>
              <a:t>compilation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6135902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Generated code:</a:t>
            </a:r>
          </a:p>
          <a:p>
            <a:pPr marL="0" indent="0">
              <a:buNone/>
            </a:pPr>
            <a:r>
              <a:rPr lang="en-US" sz="2000" dirty="0"/>
              <a:t>Push 1 push 2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Compile(+)</a:t>
            </a:r>
          </a:p>
          <a:p>
            <a:pPr marL="0" indent="0">
              <a:buNone/>
            </a:pPr>
            <a:r>
              <a:rPr lang="en-US" sz="2000" dirty="0"/>
              <a:t>   Compile(1)</a:t>
            </a:r>
          </a:p>
          <a:p>
            <a:pPr marL="0" indent="0">
              <a:buNone/>
            </a:pPr>
            <a:r>
              <a:rPr lang="en-US" sz="2000" dirty="0"/>
              <a:t>      Emit “push 1”</a:t>
            </a:r>
          </a:p>
          <a:p>
            <a:pPr marL="0" indent="0">
              <a:buNone/>
            </a:pPr>
            <a:r>
              <a:rPr lang="en-US" sz="2000" dirty="0"/>
              <a:t>   Compile(*)</a:t>
            </a:r>
          </a:p>
          <a:p>
            <a:pPr marL="0" indent="0">
              <a:buNone/>
            </a:pPr>
            <a:r>
              <a:rPr lang="en-US" sz="2000" dirty="0"/>
              <a:t>      Compile(2)</a:t>
            </a:r>
          </a:p>
          <a:p>
            <a:pPr marL="0" indent="0">
              <a:buNone/>
            </a:pPr>
            <a:r>
              <a:rPr lang="en-US" sz="2000" dirty="0"/>
              <a:t>         Emit “push 2”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4953000" y="2133600"/>
            <a:ext cx="3726843" cy="3048000"/>
            <a:chOff x="5563746" y="2133600"/>
            <a:chExt cx="2437254" cy="1993309"/>
          </a:xfrm>
        </p:grpSpPr>
        <p:sp>
          <p:nvSpPr>
            <p:cNvPr id="6" name="Oval 5"/>
            <p:cNvSpPr/>
            <p:nvPr/>
          </p:nvSpPr>
          <p:spPr>
            <a:xfrm>
              <a:off x="6179128" y="2133600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+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5563746" y="2853463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6818754" y="2853463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*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6126028" y="3669709"/>
              <a:ext cx="457200" cy="457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543800" y="3669709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3</a:t>
              </a:r>
            </a:p>
          </p:txBody>
        </p:sp>
        <p:cxnSp>
          <p:nvCxnSpPr>
            <p:cNvPr id="11" name="Straight Arrow Connector 10"/>
            <p:cNvCxnSpPr>
              <a:stCxn id="6" idx="3"/>
              <a:endCxn id="7" idx="7"/>
            </p:cNvCxnSpPr>
            <p:nvPr/>
          </p:nvCxnSpPr>
          <p:spPr>
            <a:xfrm flipH="1">
              <a:off x="5953991" y="2523845"/>
              <a:ext cx="292092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6" idx="5"/>
              <a:endCxn id="8" idx="1"/>
            </p:cNvCxnSpPr>
            <p:nvPr/>
          </p:nvCxnSpPr>
          <p:spPr>
            <a:xfrm>
              <a:off x="6569373" y="2523845"/>
              <a:ext cx="316336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8" idx="3"/>
              <a:endCxn id="9" idx="7"/>
            </p:cNvCxnSpPr>
            <p:nvPr/>
          </p:nvCxnSpPr>
          <p:spPr>
            <a:xfrm flipH="1">
              <a:off x="6516273" y="3243708"/>
              <a:ext cx="36943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8" idx="5"/>
              <a:endCxn id="10" idx="1"/>
            </p:cNvCxnSpPr>
            <p:nvPr/>
          </p:nvCxnSpPr>
          <p:spPr>
            <a:xfrm>
              <a:off x="7208999" y="3243708"/>
              <a:ext cx="40175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7682373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Syntax-directed </a:t>
            </a:r>
            <a:r>
              <a:rPr lang="en-US" i="1" dirty="0"/>
              <a:t>compilation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6135902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Generated code:</a:t>
            </a:r>
          </a:p>
          <a:p>
            <a:pPr marL="0" indent="0">
              <a:buNone/>
            </a:pPr>
            <a:r>
              <a:rPr lang="en-US" sz="2000" dirty="0"/>
              <a:t>Push 1 push 2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Compile(+)</a:t>
            </a:r>
          </a:p>
          <a:p>
            <a:pPr marL="0" indent="0">
              <a:buNone/>
            </a:pPr>
            <a:r>
              <a:rPr lang="en-US" sz="2000" dirty="0"/>
              <a:t>   Compile(1)</a:t>
            </a:r>
          </a:p>
          <a:p>
            <a:pPr marL="0" indent="0">
              <a:buNone/>
            </a:pPr>
            <a:r>
              <a:rPr lang="en-US" sz="2000" dirty="0"/>
              <a:t>      Emit “push 1”</a:t>
            </a:r>
          </a:p>
          <a:p>
            <a:pPr marL="0" indent="0">
              <a:buNone/>
            </a:pPr>
            <a:r>
              <a:rPr lang="en-US" sz="2000" dirty="0"/>
              <a:t>   Compile(*)</a:t>
            </a:r>
          </a:p>
          <a:p>
            <a:pPr marL="0" indent="0">
              <a:buNone/>
            </a:pPr>
            <a:r>
              <a:rPr lang="en-US" sz="2000" dirty="0"/>
              <a:t>      Compile(2)</a:t>
            </a:r>
          </a:p>
          <a:p>
            <a:pPr marL="0" indent="0">
              <a:buNone/>
            </a:pPr>
            <a:r>
              <a:rPr lang="en-US" sz="2000" dirty="0"/>
              <a:t>         Emit “push 2”</a:t>
            </a:r>
          </a:p>
          <a:p>
            <a:pPr marL="0" indent="0">
              <a:buNone/>
            </a:pPr>
            <a:r>
              <a:rPr lang="en-US" sz="2000" dirty="0"/>
              <a:t>      Compile(3)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4953000" y="2133600"/>
            <a:ext cx="3726843" cy="3048000"/>
            <a:chOff x="5563746" y="2133600"/>
            <a:chExt cx="2437254" cy="1993309"/>
          </a:xfrm>
        </p:grpSpPr>
        <p:sp>
          <p:nvSpPr>
            <p:cNvPr id="6" name="Oval 5"/>
            <p:cNvSpPr/>
            <p:nvPr/>
          </p:nvSpPr>
          <p:spPr>
            <a:xfrm>
              <a:off x="6179128" y="2133600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+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5563746" y="2853463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6818754" y="2853463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*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6126028" y="3669709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543800" y="3669709"/>
              <a:ext cx="457200" cy="457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3</a:t>
              </a:r>
            </a:p>
          </p:txBody>
        </p:sp>
        <p:cxnSp>
          <p:nvCxnSpPr>
            <p:cNvPr id="11" name="Straight Arrow Connector 10"/>
            <p:cNvCxnSpPr>
              <a:stCxn id="6" idx="3"/>
              <a:endCxn id="7" idx="7"/>
            </p:cNvCxnSpPr>
            <p:nvPr/>
          </p:nvCxnSpPr>
          <p:spPr>
            <a:xfrm flipH="1">
              <a:off x="5953991" y="2523845"/>
              <a:ext cx="292092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6" idx="5"/>
              <a:endCxn id="8" idx="1"/>
            </p:cNvCxnSpPr>
            <p:nvPr/>
          </p:nvCxnSpPr>
          <p:spPr>
            <a:xfrm>
              <a:off x="6569373" y="2523845"/>
              <a:ext cx="316336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8" idx="3"/>
              <a:endCxn id="9" idx="7"/>
            </p:cNvCxnSpPr>
            <p:nvPr/>
          </p:nvCxnSpPr>
          <p:spPr>
            <a:xfrm flipH="1">
              <a:off x="6516273" y="3243708"/>
              <a:ext cx="36943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8" idx="5"/>
              <a:endCxn id="10" idx="1"/>
            </p:cNvCxnSpPr>
            <p:nvPr/>
          </p:nvCxnSpPr>
          <p:spPr>
            <a:xfrm>
              <a:off x="7208999" y="3243708"/>
              <a:ext cx="40175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5312304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Syntax-directed </a:t>
            </a:r>
            <a:r>
              <a:rPr lang="en-US" i="1" dirty="0"/>
              <a:t>compilation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6135902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Generated code:</a:t>
            </a:r>
          </a:p>
          <a:p>
            <a:pPr marL="0" indent="0">
              <a:buNone/>
            </a:pPr>
            <a:r>
              <a:rPr lang="en-US" sz="2000" dirty="0"/>
              <a:t>Push 1 push 2 push 3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Compile(+)</a:t>
            </a:r>
          </a:p>
          <a:p>
            <a:pPr marL="0" indent="0">
              <a:buNone/>
            </a:pPr>
            <a:r>
              <a:rPr lang="en-US" sz="2000" dirty="0"/>
              <a:t>   Compile(1)</a:t>
            </a:r>
          </a:p>
          <a:p>
            <a:pPr marL="0" indent="0">
              <a:buNone/>
            </a:pPr>
            <a:r>
              <a:rPr lang="en-US" sz="2000" dirty="0"/>
              <a:t>      Emit “push 1”</a:t>
            </a:r>
          </a:p>
          <a:p>
            <a:pPr marL="0" indent="0">
              <a:buNone/>
            </a:pPr>
            <a:r>
              <a:rPr lang="en-US" sz="2000" dirty="0"/>
              <a:t>   Compile(*)</a:t>
            </a:r>
          </a:p>
          <a:p>
            <a:pPr marL="0" indent="0">
              <a:buNone/>
            </a:pPr>
            <a:r>
              <a:rPr lang="en-US" sz="2000" dirty="0"/>
              <a:t>      Compile(2)</a:t>
            </a:r>
          </a:p>
          <a:p>
            <a:pPr marL="0" indent="0">
              <a:buNone/>
            </a:pPr>
            <a:r>
              <a:rPr lang="en-US" sz="2000" dirty="0"/>
              <a:t>         Emit “push 2”</a:t>
            </a:r>
          </a:p>
          <a:p>
            <a:pPr marL="0" indent="0">
              <a:buNone/>
            </a:pPr>
            <a:r>
              <a:rPr lang="en-US" sz="2000" dirty="0"/>
              <a:t>      Compile(3)</a:t>
            </a:r>
          </a:p>
          <a:p>
            <a:pPr marL="0" indent="0">
              <a:buNone/>
            </a:pPr>
            <a:r>
              <a:rPr lang="en-US" sz="2000" dirty="0"/>
              <a:t>         Emit “push 3”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4953000" y="2133600"/>
            <a:ext cx="3726843" cy="3048000"/>
            <a:chOff x="5563746" y="2133600"/>
            <a:chExt cx="2437254" cy="1993309"/>
          </a:xfrm>
        </p:grpSpPr>
        <p:sp>
          <p:nvSpPr>
            <p:cNvPr id="6" name="Oval 5"/>
            <p:cNvSpPr/>
            <p:nvPr/>
          </p:nvSpPr>
          <p:spPr>
            <a:xfrm>
              <a:off x="6179128" y="2133600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+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5563746" y="2853463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6818754" y="2853463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*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6126028" y="3669709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543800" y="3669709"/>
              <a:ext cx="457200" cy="457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3</a:t>
              </a:r>
            </a:p>
          </p:txBody>
        </p:sp>
        <p:cxnSp>
          <p:nvCxnSpPr>
            <p:cNvPr id="11" name="Straight Arrow Connector 10"/>
            <p:cNvCxnSpPr>
              <a:stCxn id="6" idx="3"/>
              <a:endCxn id="7" idx="7"/>
            </p:cNvCxnSpPr>
            <p:nvPr/>
          </p:nvCxnSpPr>
          <p:spPr>
            <a:xfrm flipH="1">
              <a:off x="5953991" y="2523845"/>
              <a:ext cx="292092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6" idx="5"/>
              <a:endCxn id="8" idx="1"/>
            </p:cNvCxnSpPr>
            <p:nvPr/>
          </p:nvCxnSpPr>
          <p:spPr>
            <a:xfrm>
              <a:off x="6569373" y="2523845"/>
              <a:ext cx="316336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8" idx="3"/>
              <a:endCxn id="9" idx="7"/>
            </p:cNvCxnSpPr>
            <p:nvPr/>
          </p:nvCxnSpPr>
          <p:spPr>
            <a:xfrm flipH="1">
              <a:off x="6516273" y="3243708"/>
              <a:ext cx="36943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8" idx="5"/>
              <a:endCxn id="10" idx="1"/>
            </p:cNvCxnSpPr>
            <p:nvPr/>
          </p:nvCxnSpPr>
          <p:spPr>
            <a:xfrm>
              <a:off x="7208999" y="3243708"/>
              <a:ext cx="40175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7532586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Syntax-directed </a:t>
            </a:r>
            <a:r>
              <a:rPr lang="en-US" i="1" dirty="0"/>
              <a:t>compilation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6135902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Generated code:</a:t>
            </a:r>
          </a:p>
          <a:p>
            <a:pPr marL="0" indent="0">
              <a:buNone/>
            </a:pPr>
            <a:r>
              <a:rPr lang="en-US" sz="2000" dirty="0"/>
              <a:t>Push 1 push 2 push 3 *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Compile(+)</a:t>
            </a:r>
          </a:p>
          <a:p>
            <a:pPr marL="0" indent="0">
              <a:buNone/>
            </a:pPr>
            <a:r>
              <a:rPr lang="en-US" sz="2000" dirty="0"/>
              <a:t>   Compile(1)</a:t>
            </a:r>
          </a:p>
          <a:p>
            <a:pPr marL="0" indent="0">
              <a:buNone/>
            </a:pPr>
            <a:r>
              <a:rPr lang="en-US" sz="2000" dirty="0"/>
              <a:t>      Emit “push 1”</a:t>
            </a:r>
          </a:p>
          <a:p>
            <a:pPr marL="0" indent="0">
              <a:buNone/>
            </a:pPr>
            <a:r>
              <a:rPr lang="en-US" sz="2000" dirty="0"/>
              <a:t>   Compile(*)</a:t>
            </a:r>
          </a:p>
          <a:p>
            <a:pPr marL="0" indent="0">
              <a:buNone/>
            </a:pPr>
            <a:r>
              <a:rPr lang="en-US" sz="2000" dirty="0"/>
              <a:t>      Compile(2)</a:t>
            </a:r>
          </a:p>
          <a:p>
            <a:pPr marL="0" indent="0">
              <a:buNone/>
            </a:pPr>
            <a:r>
              <a:rPr lang="en-US" sz="2000" dirty="0"/>
              <a:t>         Emit “push 2”</a:t>
            </a:r>
          </a:p>
          <a:p>
            <a:pPr marL="0" indent="0">
              <a:buNone/>
            </a:pPr>
            <a:r>
              <a:rPr lang="en-US" sz="2000" dirty="0"/>
              <a:t>      Compile(3)</a:t>
            </a:r>
          </a:p>
          <a:p>
            <a:pPr marL="0" indent="0">
              <a:buNone/>
            </a:pPr>
            <a:r>
              <a:rPr lang="en-US" sz="2000" dirty="0"/>
              <a:t>         Emit “push 3”</a:t>
            </a:r>
          </a:p>
          <a:p>
            <a:pPr marL="0" indent="0">
              <a:buNone/>
            </a:pPr>
            <a:r>
              <a:rPr lang="en-US" sz="2000" dirty="0"/>
              <a:t>      Emit *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4953000" y="2133600"/>
            <a:ext cx="3726843" cy="3048000"/>
            <a:chOff x="5563746" y="2133600"/>
            <a:chExt cx="2437254" cy="1993309"/>
          </a:xfrm>
        </p:grpSpPr>
        <p:sp>
          <p:nvSpPr>
            <p:cNvPr id="6" name="Oval 5"/>
            <p:cNvSpPr/>
            <p:nvPr/>
          </p:nvSpPr>
          <p:spPr>
            <a:xfrm>
              <a:off x="6179128" y="2133600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+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5563746" y="2853463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6818754" y="2853463"/>
              <a:ext cx="457200" cy="457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*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6126028" y="3669709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543800" y="3669709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3</a:t>
              </a:r>
            </a:p>
          </p:txBody>
        </p:sp>
        <p:cxnSp>
          <p:nvCxnSpPr>
            <p:cNvPr id="11" name="Straight Arrow Connector 10"/>
            <p:cNvCxnSpPr>
              <a:stCxn id="6" idx="3"/>
              <a:endCxn id="7" idx="7"/>
            </p:cNvCxnSpPr>
            <p:nvPr/>
          </p:nvCxnSpPr>
          <p:spPr>
            <a:xfrm flipH="1">
              <a:off x="5953991" y="2523845"/>
              <a:ext cx="292092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6" idx="5"/>
              <a:endCxn id="8" idx="1"/>
            </p:cNvCxnSpPr>
            <p:nvPr/>
          </p:nvCxnSpPr>
          <p:spPr>
            <a:xfrm>
              <a:off x="6569373" y="2523845"/>
              <a:ext cx="316336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8" idx="3"/>
              <a:endCxn id="9" idx="7"/>
            </p:cNvCxnSpPr>
            <p:nvPr/>
          </p:nvCxnSpPr>
          <p:spPr>
            <a:xfrm flipH="1">
              <a:off x="6516273" y="3243708"/>
              <a:ext cx="36943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8" idx="5"/>
              <a:endCxn id="10" idx="1"/>
            </p:cNvCxnSpPr>
            <p:nvPr/>
          </p:nvCxnSpPr>
          <p:spPr>
            <a:xfrm>
              <a:off x="7208999" y="3243708"/>
              <a:ext cx="40175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5866453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Syntax-directed </a:t>
            </a:r>
            <a:r>
              <a:rPr lang="en-US" i="1" dirty="0"/>
              <a:t>compilation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6135902" cy="4953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Generated code:</a:t>
            </a:r>
          </a:p>
          <a:p>
            <a:pPr marL="0" indent="0">
              <a:buNone/>
            </a:pPr>
            <a:r>
              <a:rPr lang="en-US" sz="2000" dirty="0"/>
              <a:t>Push 1 push 2 push 3 * +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Compile(+)</a:t>
            </a:r>
          </a:p>
          <a:p>
            <a:pPr marL="0" indent="0">
              <a:buNone/>
            </a:pPr>
            <a:r>
              <a:rPr lang="en-US" sz="2000" dirty="0"/>
              <a:t>   Compile(1)</a:t>
            </a:r>
          </a:p>
          <a:p>
            <a:pPr marL="0" indent="0">
              <a:buNone/>
            </a:pPr>
            <a:r>
              <a:rPr lang="en-US" sz="2000" dirty="0"/>
              <a:t>      Emit “push 1”</a:t>
            </a:r>
          </a:p>
          <a:p>
            <a:pPr marL="0" indent="0">
              <a:buNone/>
            </a:pPr>
            <a:r>
              <a:rPr lang="en-US" sz="2000" dirty="0"/>
              <a:t>   Compile(*)</a:t>
            </a:r>
          </a:p>
          <a:p>
            <a:pPr marL="0" indent="0">
              <a:buNone/>
            </a:pPr>
            <a:r>
              <a:rPr lang="en-US" sz="2000" dirty="0"/>
              <a:t>      Compile(2)</a:t>
            </a:r>
          </a:p>
          <a:p>
            <a:pPr marL="0" indent="0">
              <a:buNone/>
            </a:pPr>
            <a:r>
              <a:rPr lang="en-US" sz="2000" dirty="0"/>
              <a:t>         Emit “push 2”</a:t>
            </a:r>
          </a:p>
          <a:p>
            <a:pPr marL="0" indent="0">
              <a:buNone/>
            </a:pPr>
            <a:r>
              <a:rPr lang="en-US" sz="2000" dirty="0"/>
              <a:t>      Compile(3)</a:t>
            </a:r>
          </a:p>
          <a:p>
            <a:pPr marL="0" indent="0">
              <a:buNone/>
            </a:pPr>
            <a:r>
              <a:rPr lang="en-US" sz="2000" dirty="0"/>
              <a:t>         Emit “push 3”</a:t>
            </a:r>
          </a:p>
          <a:p>
            <a:pPr marL="0" indent="0">
              <a:buNone/>
            </a:pPr>
            <a:r>
              <a:rPr lang="en-US" sz="2000" dirty="0"/>
              <a:t>      Emit *</a:t>
            </a:r>
          </a:p>
          <a:p>
            <a:pPr marL="0" indent="0">
              <a:buNone/>
            </a:pPr>
            <a:r>
              <a:rPr lang="en-US" sz="2000" dirty="0"/>
              <a:t>    Emit +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4953000" y="2133600"/>
            <a:ext cx="3726843" cy="3048000"/>
            <a:chOff x="5563746" y="2133600"/>
            <a:chExt cx="2437254" cy="1993309"/>
          </a:xfrm>
        </p:grpSpPr>
        <p:sp>
          <p:nvSpPr>
            <p:cNvPr id="6" name="Oval 5"/>
            <p:cNvSpPr/>
            <p:nvPr/>
          </p:nvSpPr>
          <p:spPr>
            <a:xfrm>
              <a:off x="6179128" y="2133600"/>
              <a:ext cx="457200" cy="457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+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5563746" y="2853463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6818754" y="2853463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*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6126028" y="3669709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543800" y="3669709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3</a:t>
              </a:r>
            </a:p>
          </p:txBody>
        </p:sp>
        <p:cxnSp>
          <p:nvCxnSpPr>
            <p:cNvPr id="11" name="Straight Arrow Connector 10"/>
            <p:cNvCxnSpPr>
              <a:stCxn id="6" idx="3"/>
              <a:endCxn id="7" idx="7"/>
            </p:cNvCxnSpPr>
            <p:nvPr/>
          </p:nvCxnSpPr>
          <p:spPr>
            <a:xfrm flipH="1">
              <a:off x="5953991" y="2523845"/>
              <a:ext cx="292092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6" idx="5"/>
              <a:endCxn id="8" idx="1"/>
            </p:cNvCxnSpPr>
            <p:nvPr/>
          </p:nvCxnSpPr>
          <p:spPr>
            <a:xfrm>
              <a:off x="6569373" y="2523845"/>
              <a:ext cx="316336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8" idx="3"/>
              <a:endCxn id="9" idx="7"/>
            </p:cNvCxnSpPr>
            <p:nvPr/>
          </p:nvCxnSpPr>
          <p:spPr>
            <a:xfrm flipH="1">
              <a:off x="6516273" y="3243708"/>
              <a:ext cx="36943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8" idx="5"/>
              <a:endCxn id="10" idx="1"/>
            </p:cNvCxnSpPr>
            <p:nvPr/>
          </p:nvCxnSpPr>
          <p:spPr>
            <a:xfrm>
              <a:off x="7208999" y="3243708"/>
              <a:ext cx="40175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2868748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trees rock!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13572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Out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Monday 4/22</a:t>
            </a:r>
          </a:p>
          <a:p>
            <a:pPr lvl="1"/>
            <a:r>
              <a:rPr lang="en-US" dirty="0"/>
              <a:t>Due following Monday 4/29</a:t>
            </a:r>
          </a:p>
          <a:p>
            <a:pPr>
              <a:spcBef>
                <a:spcPts val="1800"/>
              </a:spcBef>
            </a:pPr>
            <a:r>
              <a:rPr lang="en-US" dirty="0"/>
              <a:t>Implement interpreter for simple arithmetic expression</a:t>
            </a:r>
          </a:p>
          <a:p>
            <a:pPr>
              <a:spcBef>
                <a:spcPts val="1800"/>
              </a:spcBef>
            </a:pPr>
            <a:r>
              <a:rPr lang="en-US" dirty="0">
                <a:solidFill>
                  <a:schemeClr val="tx1"/>
                </a:solidFill>
              </a:rPr>
              <a:t>We’ve implemented most of it, but you should fill in the parts we haven’t done yet 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Create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ListDictionary</a:t>
            </a:r>
            <a:r>
              <a:rPr lang="en-US" dirty="0"/>
              <a:t> class for representing environments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Fill in the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SyntaxTreeNode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classes</a:t>
            </a:r>
            <a:r>
              <a:rPr lang="en-US" dirty="0"/>
              <a:t> we haven’t implemented already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Write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unit tests</a:t>
            </a:r>
            <a:r>
              <a:rPr lang="en-US" dirty="0"/>
              <a:t> for the parts you write</a:t>
            </a:r>
          </a:p>
        </p:txBody>
      </p:sp>
    </p:spTree>
    <p:extLst>
      <p:ext uri="{BB962C8B-B14F-4D97-AF65-F5344CB8AC3E}">
        <p14:creationId xmlns:p14="http://schemas.microsoft.com/office/powerpoint/2010/main" val="30106718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SyntaxTreeNode</a:t>
            </a:r>
            <a:r>
              <a:rPr lang="en-US" dirty="0"/>
              <a:t>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Abstract class for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parse tree nodes </a:t>
            </a:r>
            <a:r>
              <a:rPr lang="en-US" dirty="0"/>
              <a:t>(aka syntax tree nodes)</a:t>
            </a:r>
          </a:p>
          <a:p>
            <a:endParaRPr lang="en-US" dirty="0"/>
          </a:p>
          <a:p>
            <a:r>
              <a:rPr lang="en-US" dirty="0"/>
              <a:t>Defines an abstract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Run</a:t>
            </a:r>
            <a:r>
              <a:rPr lang="en-US" dirty="0"/>
              <a:t>() method</a:t>
            </a:r>
          </a:p>
          <a:p>
            <a:pPr lvl="1"/>
            <a:r>
              <a:rPr lang="en-US" dirty="0"/>
              <a:t>Takes an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Dictionary </a:t>
            </a:r>
            <a:r>
              <a:rPr lang="en-US" dirty="0"/>
              <a:t>as an argument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4953000" y="2133600"/>
            <a:ext cx="3726843" cy="3048000"/>
            <a:chOff x="5563746" y="2133600"/>
            <a:chExt cx="2437254" cy="1993309"/>
          </a:xfrm>
        </p:grpSpPr>
        <p:sp>
          <p:nvSpPr>
            <p:cNvPr id="6" name="Oval 5"/>
            <p:cNvSpPr/>
            <p:nvPr/>
          </p:nvSpPr>
          <p:spPr>
            <a:xfrm>
              <a:off x="6179128" y="2133600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+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5563746" y="2853463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6818754" y="2853463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*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6126028" y="3669709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543800" y="3669709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3</a:t>
              </a:r>
            </a:p>
          </p:txBody>
        </p:sp>
        <p:cxnSp>
          <p:nvCxnSpPr>
            <p:cNvPr id="11" name="Straight Arrow Connector 10"/>
            <p:cNvCxnSpPr>
              <a:stCxn id="6" idx="3"/>
              <a:endCxn id="7" idx="7"/>
            </p:cNvCxnSpPr>
            <p:nvPr/>
          </p:nvCxnSpPr>
          <p:spPr>
            <a:xfrm flipH="1">
              <a:off x="5953991" y="2523845"/>
              <a:ext cx="292092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6" idx="5"/>
              <a:endCxn id="8" idx="1"/>
            </p:cNvCxnSpPr>
            <p:nvPr/>
          </p:nvCxnSpPr>
          <p:spPr>
            <a:xfrm>
              <a:off x="6569373" y="2523845"/>
              <a:ext cx="316336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8" idx="3"/>
              <a:endCxn id="9" idx="7"/>
            </p:cNvCxnSpPr>
            <p:nvPr/>
          </p:nvCxnSpPr>
          <p:spPr>
            <a:xfrm flipH="1">
              <a:off x="6516273" y="3243708"/>
              <a:ext cx="36943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8" idx="5"/>
              <a:endCxn id="10" idx="1"/>
            </p:cNvCxnSpPr>
            <p:nvPr/>
          </p:nvCxnSpPr>
          <p:spPr>
            <a:xfrm>
              <a:off x="7208999" y="3243708"/>
              <a:ext cx="40175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2873141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SyntaxTreeNode</a:t>
            </a:r>
            <a:r>
              <a:rPr lang="en-US" dirty="0"/>
              <a:t> </a:t>
            </a:r>
            <a:r>
              <a:rPr lang="en-US" b="1" i="1" dirty="0"/>
              <a:t>subclasses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8768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Constant</a:t>
            </a:r>
          </a:p>
          <a:p>
            <a:pPr lvl="1"/>
            <a:r>
              <a:rPr lang="en-US" dirty="0"/>
              <a:t>A tree node representing a constant (1, false, “</a:t>
            </a:r>
            <a:r>
              <a:rPr lang="en-US" dirty="0" err="1"/>
              <a:t>fred</a:t>
            </a:r>
            <a:r>
              <a:rPr lang="en-US" dirty="0"/>
              <a:t>”, etc.)</a:t>
            </a:r>
          </a:p>
          <a:p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VariableReference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/>
            <a:r>
              <a:rPr lang="en-US" dirty="0"/>
              <a:t>Gives the current value of a variable</a:t>
            </a:r>
          </a:p>
          <a:p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VariableAssignment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/>
            <a:r>
              <a:rPr lang="en-US" dirty="0"/>
              <a:t>Changes value of said variable</a:t>
            </a:r>
          </a:p>
          <a:p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ArithmeticOperation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/>
            <a:r>
              <a:rPr lang="en-US" dirty="0"/>
              <a:t>Represents a +, -, *, or / expression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4953000" y="2133600"/>
            <a:ext cx="3726843" cy="3048000"/>
            <a:chOff x="5563746" y="2133600"/>
            <a:chExt cx="2437254" cy="1993309"/>
          </a:xfrm>
        </p:grpSpPr>
        <p:sp>
          <p:nvSpPr>
            <p:cNvPr id="6" name="Oval 5"/>
            <p:cNvSpPr/>
            <p:nvPr/>
          </p:nvSpPr>
          <p:spPr>
            <a:xfrm>
              <a:off x="6179128" y="2133600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+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5563746" y="2853463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6818754" y="2853463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*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6126028" y="3669709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543800" y="3669709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3</a:t>
              </a:r>
            </a:p>
          </p:txBody>
        </p:sp>
        <p:cxnSp>
          <p:nvCxnSpPr>
            <p:cNvPr id="11" name="Straight Arrow Connector 10"/>
            <p:cNvCxnSpPr>
              <a:stCxn id="6" idx="3"/>
              <a:endCxn id="7" idx="7"/>
            </p:cNvCxnSpPr>
            <p:nvPr/>
          </p:nvCxnSpPr>
          <p:spPr>
            <a:xfrm flipH="1">
              <a:off x="5953991" y="2523845"/>
              <a:ext cx="292092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6" idx="5"/>
              <a:endCxn id="8" idx="1"/>
            </p:cNvCxnSpPr>
            <p:nvPr/>
          </p:nvCxnSpPr>
          <p:spPr>
            <a:xfrm>
              <a:off x="6569373" y="2523845"/>
              <a:ext cx="316336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8" idx="3"/>
              <a:endCxn id="9" idx="7"/>
            </p:cNvCxnSpPr>
            <p:nvPr/>
          </p:nvCxnSpPr>
          <p:spPr>
            <a:xfrm flipH="1">
              <a:off x="6516273" y="3243708"/>
              <a:ext cx="36943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8" idx="5"/>
              <a:endCxn id="10" idx="1"/>
            </p:cNvCxnSpPr>
            <p:nvPr/>
          </p:nvCxnSpPr>
          <p:spPr>
            <a:xfrm>
              <a:off x="7208999" y="3243708"/>
              <a:ext cx="40175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2231426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SyntaxTreeNode</a:t>
            </a:r>
            <a:r>
              <a:rPr lang="en-US" dirty="0"/>
              <a:t> </a:t>
            </a:r>
            <a:r>
              <a:rPr lang="en-US" b="1" i="1" dirty="0"/>
              <a:t>subclasses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711198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Run</a:t>
            </a:r>
            <a:r>
              <a:rPr lang="en-US" dirty="0"/>
              <a:t>(environment) returns</a:t>
            </a:r>
          </a:p>
          <a:p>
            <a:r>
              <a:rPr lang="en-US" dirty="0"/>
              <a:t>For a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Constant</a:t>
            </a:r>
          </a:p>
          <a:p>
            <a:pPr lvl="1"/>
            <a:r>
              <a:rPr lang="en-US" dirty="0"/>
              <a:t>Whatever the constant is</a:t>
            </a:r>
          </a:p>
          <a:p>
            <a:r>
              <a:rPr lang="en-US" dirty="0"/>
              <a:t>For a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VariableReference</a:t>
            </a:r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  <a:p>
            <a:pPr lvl="1"/>
            <a:r>
              <a:rPr lang="en-US" dirty="0"/>
              <a:t>Looks up variable by name</a:t>
            </a:r>
            <a:br>
              <a:rPr lang="en-US" dirty="0"/>
            </a:br>
            <a:r>
              <a:rPr lang="en-US" dirty="0"/>
              <a:t>in dictionary and returns its value</a:t>
            </a:r>
          </a:p>
          <a:p>
            <a:r>
              <a:rPr lang="en-US" dirty="0"/>
              <a:t>For a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VariableAssignment</a:t>
            </a:r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  <a:p>
            <a:pPr lvl="1"/>
            <a:r>
              <a:rPr lang="en-US" dirty="0"/>
              <a:t>Updates value of variable in dictionary</a:t>
            </a:r>
          </a:p>
          <a:p>
            <a:pPr lvl="1"/>
            <a:r>
              <a:rPr lang="en-US" dirty="0"/>
              <a:t>And returns value</a:t>
            </a:r>
          </a:p>
          <a:p>
            <a:r>
              <a:rPr lang="en-US" dirty="0"/>
              <a:t>For an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ArithmeticOperation</a:t>
            </a:r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  <a:p>
            <a:pPr lvl="1"/>
            <a:r>
              <a:rPr lang="en-US" dirty="0"/>
              <a:t>Get the values of the children</a:t>
            </a:r>
          </a:p>
          <a:p>
            <a:pPr lvl="1"/>
            <a:r>
              <a:rPr lang="en-US" dirty="0"/>
              <a:t>Look at the name of the operation (it will be a string, like “+” or “*”)</a:t>
            </a:r>
          </a:p>
          <a:p>
            <a:pPr lvl="1"/>
            <a:r>
              <a:rPr lang="en-US" dirty="0"/>
              <a:t>Perform that operation on the values of the children and return the result</a:t>
            </a:r>
          </a:p>
          <a:p>
            <a:pPr lvl="1"/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4953000" y="2133600"/>
            <a:ext cx="3726843" cy="3048000"/>
            <a:chOff x="5563746" y="2133600"/>
            <a:chExt cx="2437254" cy="1993309"/>
          </a:xfrm>
        </p:grpSpPr>
        <p:sp>
          <p:nvSpPr>
            <p:cNvPr id="6" name="Oval 5"/>
            <p:cNvSpPr/>
            <p:nvPr/>
          </p:nvSpPr>
          <p:spPr>
            <a:xfrm>
              <a:off x="6179128" y="2133600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+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5563746" y="2853463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6818754" y="2853463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*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6126028" y="3669709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543800" y="3669709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3</a:t>
              </a:r>
            </a:p>
          </p:txBody>
        </p:sp>
        <p:cxnSp>
          <p:nvCxnSpPr>
            <p:cNvPr id="11" name="Straight Arrow Connector 10"/>
            <p:cNvCxnSpPr>
              <a:stCxn id="6" idx="3"/>
              <a:endCxn id="7" idx="7"/>
            </p:cNvCxnSpPr>
            <p:nvPr/>
          </p:nvCxnSpPr>
          <p:spPr>
            <a:xfrm flipH="1">
              <a:off x="5953991" y="2523845"/>
              <a:ext cx="292092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6" idx="5"/>
              <a:endCxn id="8" idx="1"/>
            </p:cNvCxnSpPr>
            <p:nvPr/>
          </p:nvCxnSpPr>
          <p:spPr>
            <a:xfrm>
              <a:off x="6569373" y="2523845"/>
              <a:ext cx="316336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8" idx="3"/>
              <a:endCxn id="9" idx="7"/>
            </p:cNvCxnSpPr>
            <p:nvPr/>
          </p:nvCxnSpPr>
          <p:spPr>
            <a:xfrm flipH="1">
              <a:off x="6516273" y="3243708"/>
              <a:ext cx="36943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8" idx="5"/>
              <a:endCxn id="10" idx="1"/>
            </p:cNvCxnSpPr>
            <p:nvPr/>
          </p:nvCxnSpPr>
          <p:spPr>
            <a:xfrm>
              <a:off x="7208999" y="3243708"/>
              <a:ext cx="40175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3569283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95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We’ve taken care of parsing </a:t>
            </a:r>
            <a:r>
              <a:rPr lang="en-US" dirty="0"/>
              <a:t>for you</a:t>
            </a:r>
          </a:p>
          <a:p>
            <a:pPr lvl="1"/>
            <a:r>
              <a:rPr lang="en-US" dirty="0"/>
              <a:t>You need only worry about it</a:t>
            </a:r>
          </a:p>
          <a:p>
            <a:pPr lvl="1"/>
            <a:r>
              <a:rPr lang="en-US" dirty="0"/>
              <a:t>Expressions will already be built for your from code in the level files</a:t>
            </a:r>
          </a:p>
          <a:p>
            <a:pPr>
              <a:spcBef>
                <a:spcPts val="1800"/>
              </a:spcBef>
            </a:pPr>
            <a:r>
              <a:rPr lang="en-US" dirty="0"/>
              <a:t>If you want to learn about it, it’s in the </a:t>
            </a:r>
            <a:r>
              <a:rPr lang="en-US"/>
              <a:t>Parsing folder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4953000" y="2133600"/>
            <a:ext cx="3726843" cy="3048000"/>
            <a:chOff x="5563746" y="2133600"/>
            <a:chExt cx="2437254" cy="1993309"/>
          </a:xfrm>
        </p:grpSpPr>
        <p:sp>
          <p:nvSpPr>
            <p:cNvPr id="6" name="Oval 5"/>
            <p:cNvSpPr/>
            <p:nvPr/>
          </p:nvSpPr>
          <p:spPr>
            <a:xfrm>
              <a:off x="6179128" y="2133600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+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5563746" y="2853463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6818754" y="2853463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*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6126028" y="3669709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543800" y="3669709"/>
              <a:ext cx="457200" cy="4572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3</a:t>
              </a:r>
            </a:p>
          </p:txBody>
        </p:sp>
        <p:cxnSp>
          <p:nvCxnSpPr>
            <p:cNvPr id="11" name="Straight Arrow Connector 10"/>
            <p:cNvCxnSpPr>
              <a:stCxn id="6" idx="3"/>
              <a:endCxn id="7" idx="7"/>
            </p:cNvCxnSpPr>
            <p:nvPr/>
          </p:nvCxnSpPr>
          <p:spPr>
            <a:xfrm flipH="1">
              <a:off x="5953991" y="2523845"/>
              <a:ext cx="292092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6" idx="5"/>
              <a:endCxn id="8" idx="1"/>
            </p:cNvCxnSpPr>
            <p:nvPr/>
          </p:nvCxnSpPr>
          <p:spPr>
            <a:xfrm>
              <a:off x="6569373" y="2523845"/>
              <a:ext cx="316336" cy="3965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8" idx="3"/>
              <a:endCxn id="9" idx="7"/>
            </p:cNvCxnSpPr>
            <p:nvPr/>
          </p:nvCxnSpPr>
          <p:spPr>
            <a:xfrm flipH="1">
              <a:off x="6516273" y="3243708"/>
              <a:ext cx="36943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8" idx="5"/>
              <a:endCxn id="10" idx="1"/>
            </p:cNvCxnSpPr>
            <p:nvPr/>
          </p:nvCxnSpPr>
          <p:spPr>
            <a:xfrm>
              <a:off x="7208999" y="3243708"/>
              <a:ext cx="401756" cy="4929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8945136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any questions?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018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5321</TotalTime>
  <Words>2397</Words>
  <Application>Microsoft Office PowerPoint</Application>
  <PresentationFormat>On-screen Show (4:3)</PresentationFormat>
  <Paragraphs>844</Paragraphs>
  <Slides>69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4" baseType="lpstr">
      <vt:lpstr>Arial</vt:lpstr>
      <vt:lpstr>Calibri</vt:lpstr>
      <vt:lpstr>Cambria Math</vt:lpstr>
      <vt:lpstr>Kootenay</vt:lpstr>
      <vt:lpstr>Office Theme</vt:lpstr>
      <vt:lpstr>Lecture 6 How does compilation and interpretation really work?</vt:lpstr>
      <vt:lpstr>Why study programming languages?</vt:lpstr>
      <vt:lpstr>Machine language</vt:lpstr>
      <vt:lpstr>Machine language</vt:lpstr>
      <vt:lpstr>Higher-level languages</vt:lpstr>
      <vt:lpstr>Division of labor</vt:lpstr>
      <vt:lpstr>Compilers and interpreters</vt:lpstr>
      <vt:lpstr>Anatomy of a programming language</vt:lpstr>
      <vt:lpstr>Simplified grammar for Racket</vt:lpstr>
      <vt:lpstr>(Over) simplified grammar for C-like languages</vt:lpstr>
      <vt:lpstr>Syntax trees (aka parse trees) (You knew trees had to be coming here somewhere, right?)</vt:lpstr>
      <vt:lpstr>Parsing</vt:lpstr>
      <vt:lpstr>Parsing</vt:lpstr>
      <vt:lpstr>Parsing</vt:lpstr>
      <vt:lpstr>Compositional semantics</vt:lpstr>
      <vt:lpstr>Compositional semantics</vt:lpstr>
      <vt:lpstr>Compositional semantics</vt:lpstr>
      <vt:lpstr>Compositional semantics</vt:lpstr>
      <vt:lpstr>Syntax-directed interpretation</vt:lpstr>
      <vt:lpstr>Syntax-directed interpretation</vt:lpstr>
      <vt:lpstr>Syntax-directed interpretation</vt:lpstr>
      <vt:lpstr>Syntax-directed interpretation</vt:lpstr>
      <vt:lpstr>Syntax-directed interpretation</vt:lpstr>
      <vt:lpstr>Syntax-directed interpretation</vt:lpstr>
      <vt:lpstr>Syntax-directed interpretation</vt:lpstr>
      <vt:lpstr>Syntax-directed interpretation</vt:lpstr>
      <vt:lpstr>Syntax-directed interpretation</vt:lpstr>
      <vt:lpstr>Syntax-directed interpretation</vt:lpstr>
      <vt:lpstr>Syntax-directed interpretation</vt:lpstr>
      <vt:lpstr>Syntax-directed interpretation</vt:lpstr>
      <vt:lpstr>Syntax-directed interpretation</vt:lpstr>
      <vt:lpstr>Syntax-directed interpretation</vt:lpstr>
      <vt:lpstr>Post-order traversal</vt:lpstr>
      <vt:lpstr>Handling variable references</vt:lpstr>
      <vt:lpstr>Environments</vt:lpstr>
      <vt:lpstr>Dictionaries</vt:lpstr>
      <vt:lpstr>Implementing dictionaries with association lists</vt:lpstr>
      <vt:lpstr>Implementing dictionaries with association lists</vt:lpstr>
      <vt:lpstr>Handling variable references</vt:lpstr>
      <vt:lpstr>Handling variable references</vt:lpstr>
      <vt:lpstr>Bleh!  This is ugly!</vt:lpstr>
      <vt:lpstr>Inheritance to the rescue!</vt:lpstr>
      <vt:lpstr>Compilation</vt:lpstr>
      <vt:lpstr>Compilation</vt:lpstr>
      <vt:lpstr>Stack machines (you knew we had to get stacks in here too…)</vt:lpstr>
      <vt:lpstr>Computing 1+2*3 on a stack machine</vt:lpstr>
      <vt:lpstr>Computing 1+2*3 on a stack machine</vt:lpstr>
      <vt:lpstr>Computing 1+2*3 on a stack machine</vt:lpstr>
      <vt:lpstr>Computing 1+2*3 on a stack machine</vt:lpstr>
      <vt:lpstr>Computing 1+2*3 on a stack machine</vt:lpstr>
      <vt:lpstr>Computing 1+2*3 on a stack machine</vt:lpstr>
      <vt:lpstr>Syntax-directed compilation</vt:lpstr>
      <vt:lpstr>Syntax-directed compilation</vt:lpstr>
      <vt:lpstr>Syntax-directed compilation</vt:lpstr>
      <vt:lpstr>Syntax-directed compilation</vt:lpstr>
      <vt:lpstr>Syntax-directed compilation</vt:lpstr>
      <vt:lpstr>Syntax-directed compilation</vt:lpstr>
      <vt:lpstr>Syntax-directed compilation</vt:lpstr>
      <vt:lpstr>Syntax-directed compilation</vt:lpstr>
      <vt:lpstr>Syntax-directed compilation</vt:lpstr>
      <vt:lpstr>Syntax-directed compilation</vt:lpstr>
      <vt:lpstr>Syntax-directed compilation</vt:lpstr>
      <vt:lpstr>trees rock!</vt:lpstr>
      <vt:lpstr>Assignment 2</vt:lpstr>
      <vt:lpstr>The SyntaxTreeNode class</vt:lpstr>
      <vt:lpstr>The SyntaxTreeNode subclasses</vt:lpstr>
      <vt:lpstr>The SyntaxTreeNode subclasses</vt:lpstr>
      <vt:lpstr>Parsing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 Structures and Algorithms</dc:title>
  <dc:creator>Ian Horswill</dc:creator>
  <cp:lastModifiedBy>MicrosoftAccount\ian@northwestern.edu</cp:lastModifiedBy>
  <cp:revision>274</cp:revision>
  <dcterms:created xsi:type="dcterms:W3CDTF">2010-03-27T22:31:10Z</dcterms:created>
  <dcterms:modified xsi:type="dcterms:W3CDTF">2019-04-19T17:15:06Z</dcterms:modified>
</cp:coreProperties>
</file>