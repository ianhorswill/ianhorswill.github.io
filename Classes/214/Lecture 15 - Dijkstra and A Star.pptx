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2"/>
  </p:notesMasterIdLst>
  <p:sldIdLst>
    <p:sldId id="256" r:id="rId2"/>
    <p:sldId id="258" r:id="rId3"/>
    <p:sldId id="259" r:id="rId4"/>
    <p:sldId id="262" r:id="rId5"/>
    <p:sldId id="263" r:id="rId6"/>
    <p:sldId id="277" r:id="rId7"/>
    <p:sldId id="278" r:id="rId8"/>
    <p:sldId id="279" r:id="rId9"/>
    <p:sldId id="416" r:id="rId10"/>
    <p:sldId id="417" r:id="rId11"/>
    <p:sldId id="296" r:id="rId12"/>
    <p:sldId id="419" r:id="rId13"/>
    <p:sldId id="364" r:id="rId14"/>
    <p:sldId id="365" r:id="rId15"/>
    <p:sldId id="418" r:id="rId16"/>
    <p:sldId id="366" r:id="rId17"/>
    <p:sldId id="367" r:id="rId18"/>
    <p:sldId id="368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375" r:id="rId32"/>
    <p:sldId id="370" r:id="rId33"/>
    <p:sldId id="374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413" r:id="rId56"/>
    <p:sldId id="410" r:id="rId57"/>
    <p:sldId id="411" r:id="rId58"/>
    <p:sldId id="412" r:id="rId59"/>
    <p:sldId id="414" r:id="rId60"/>
    <p:sldId id="415" r:id="rId6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1" d="100"/>
          <a:sy n="91" d="100"/>
        </p:scale>
        <p:origin x="615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Horswill" userId="889923f3-d809-4179-bf0c-f5c33c2c01a4" providerId="ADAL" clId="{613CFE0A-D288-44D4-8FDE-1C5CAC5C0227}"/>
    <pc:docChg chg="modSld">
      <pc:chgData name="Ian Horswill" userId="889923f3-d809-4179-bf0c-f5c33c2c01a4" providerId="ADAL" clId="{613CFE0A-D288-44D4-8FDE-1C5CAC5C0227}" dt="2023-04-06T04:13:21.561" v="0" actId="20577"/>
      <pc:docMkLst>
        <pc:docMk/>
      </pc:docMkLst>
      <pc:sldChg chg="modSp mod">
        <pc:chgData name="Ian Horswill" userId="889923f3-d809-4179-bf0c-f5c33c2c01a4" providerId="ADAL" clId="{613CFE0A-D288-44D4-8FDE-1C5CAC5C0227}" dt="2023-04-06T04:13:21.561" v="0" actId="20577"/>
        <pc:sldMkLst>
          <pc:docMk/>
          <pc:sldMk cId="2651015594" sldId="419"/>
        </pc:sldMkLst>
        <pc:spChg chg="mod">
          <ac:chgData name="Ian Horswill" userId="889923f3-d809-4179-bf0c-f5c33c2c01a4" providerId="ADAL" clId="{613CFE0A-D288-44D4-8FDE-1C5CAC5C0227}" dt="2023-04-06T04:13:21.561" v="0" actId="20577"/>
          <ac:spMkLst>
            <pc:docMk/>
            <pc:sldMk cId="2651015594" sldId="41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D3E7-C549-4407-9713-049056E9ED75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4051-E6B5-4F68-B648-F441DC832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1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28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36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9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8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9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7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74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76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13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31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63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28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83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36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0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59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762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78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31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13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49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29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069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0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604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94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60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176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291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959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379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325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858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458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010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65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210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012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46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787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592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554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704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89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4/5/2023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xkcd.com/835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114800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  <a:t>Lecture 15</a:t>
            </a:r>
            <a:b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  <a:t>Applications of priority queues:</a:t>
            </a:r>
            <a:b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  <a:t>Shortest paths in weighted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62600"/>
            <a:ext cx="6400800" cy="762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  <p:pic>
        <p:nvPicPr>
          <p:cNvPr id="1026" name="Picture 2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304800"/>
            <a:ext cx="5353050" cy="38862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87792" y="4191000"/>
            <a:ext cx="1327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http://xkcd.com/835/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wait in line to be processed</a:t>
            </a:r>
          </a:p>
          <a:p>
            <a:r>
              <a:rPr lang="en-US" dirty="0"/>
              <a:t>However, items have an associated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endParaRPr lang="en-US" dirty="0"/>
          </a:p>
          <a:p>
            <a:r>
              <a:rPr lang="en-US" dirty="0"/>
              <a:t>Slightly different API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ExtractMax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Returns highest priority object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4038600" cy="16356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77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wait in line to be processed</a:t>
            </a:r>
          </a:p>
          <a:p>
            <a:r>
              <a:rPr lang="en-US" dirty="0"/>
              <a:t>However, items have an associated 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endParaRPr lang="en-US" dirty="0"/>
          </a:p>
          <a:p>
            <a:r>
              <a:rPr lang="en-US" dirty="0"/>
              <a:t>Slightly different API</a:t>
            </a:r>
          </a:p>
          <a:p>
            <a:pPr lvl="1"/>
            <a:r>
              <a:rPr lang="en-US" dirty="0"/>
              <a:t>Insert(object,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dirty="0" err="1"/>
              <a:t>Extract</a:t>
            </a:r>
            <a:r>
              <a:rPr lang="en-US" b="1" dirty="0" err="1">
                <a:solidFill>
                  <a:srgbClr val="FF0000"/>
                </a:solidFill>
              </a:rPr>
              <a:t>Min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 priority queue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Returns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lowest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priority object</a:t>
            </a:r>
          </a:p>
          <a:p>
            <a:pPr lvl="2"/>
            <a:r>
              <a:rPr lang="en-US" dirty="0"/>
              <a:t>Except that in most applications, we usually want the lower “priorities” first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7149630" cy="289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68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Heaps are a simple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tree structure </a:t>
            </a:r>
            <a:r>
              <a:rPr lang="en-US" dirty="0"/>
              <a:t>for implementing priority queues</a:t>
            </a:r>
          </a:p>
          <a:p>
            <a:endParaRPr lang="en-US" dirty="0"/>
          </a:p>
          <a:p>
            <a:r>
              <a:rPr lang="en-US" dirty="0"/>
              <a:t>Rather than requiring their in-order </a:t>
            </a:r>
            <a:r>
              <a:rPr lang="en-US" dirty="0" err="1"/>
              <a:t>traveral</a:t>
            </a:r>
            <a:r>
              <a:rPr lang="en-US" dirty="0"/>
              <a:t> to be sorted</a:t>
            </a:r>
          </a:p>
          <a:p>
            <a:pPr lvl="1"/>
            <a:r>
              <a:rPr lang="en-US" dirty="0"/>
              <a:t>We just require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 nodes be larger than</a:t>
            </a:r>
            <a:r>
              <a:rPr lang="en-US" b="1" dirty="0"/>
              <a:t> </a:t>
            </a:r>
            <a:r>
              <a:rPr lang="en-US" dirty="0"/>
              <a:t>their child nodes</a:t>
            </a:r>
          </a:p>
          <a:p>
            <a:pPr lvl="1"/>
            <a:endParaRPr lang="en-US" dirty="0"/>
          </a:p>
          <a:p>
            <a:r>
              <a:rPr lang="en-US" dirty="0"/>
              <a:t>There are lots of exotic types of heaps</a:t>
            </a:r>
          </a:p>
          <a:p>
            <a:pPr lvl="1"/>
            <a:r>
              <a:rPr lang="en-US" dirty="0"/>
              <a:t>We’ll focus on binary heaps</a:t>
            </a:r>
          </a:p>
          <a:p>
            <a:pPr lvl="1"/>
            <a:r>
              <a:rPr lang="en-US" dirty="0"/>
              <a:t>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 binary trees </a:t>
            </a:r>
            <a:r>
              <a:rPr lang="en-US" dirty="0"/>
              <a:t>with the heap property</a:t>
            </a:r>
          </a:p>
          <a:p>
            <a:pPr lvl="1"/>
            <a:r>
              <a:rPr lang="en-US" dirty="0"/>
              <a:t>We’ll get to the completeness thing in a minute…</a:t>
            </a:r>
          </a:p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7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Proposition: </a:t>
            </a:r>
            <a:r>
              <a:rPr lang="en-US" dirty="0"/>
              <a:t>the largest element of a heap is always its root</a:t>
            </a:r>
          </a:p>
          <a:p>
            <a:pPr marL="0" indent="0">
              <a:buNone/>
            </a:pPr>
            <a:r>
              <a:rPr lang="en-US" b="1" dirty="0"/>
              <a:t>Proof: </a:t>
            </a:r>
          </a:p>
          <a:p>
            <a:r>
              <a:rPr lang="en-US" dirty="0"/>
              <a:t>Suppose some other element is the largest element</a:t>
            </a:r>
          </a:p>
          <a:p>
            <a:r>
              <a:rPr lang="en-US" dirty="0"/>
              <a:t>Since it isn’t the root, it must have a parent</a:t>
            </a:r>
          </a:p>
          <a:p>
            <a:r>
              <a:rPr lang="en-US" dirty="0"/>
              <a:t>Since it’s the largest element, it must be larger than its parent</a:t>
            </a:r>
          </a:p>
          <a:p>
            <a:r>
              <a:rPr lang="en-US" dirty="0"/>
              <a:t>But that contradicts the definition of a heap</a:t>
            </a:r>
          </a:p>
          <a:p>
            <a:r>
              <a:rPr lang="en-US" dirty="0"/>
              <a:t>So the largest element must be the root</a:t>
            </a:r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90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heap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a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  <a:r>
              <a:rPr lang="en-US" b="1" dirty="0"/>
              <a:t> </a:t>
            </a:r>
            <a:r>
              <a:rPr lang="en-US" dirty="0"/>
              <a:t>binary tree</a:t>
            </a:r>
          </a:p>
          <a:p>
            <a:pPr lvl="1"/>
            <a:r>
              <a:rPr lang="en-US" dirty="0"/>
              <a:t>That satisfies the heap property</a:t>
            </a:r>
          </a:p>
          <a:p>
            <a:pPr lvl="1"/>
            <a:endParaRPr lang="en-US" dirty="0"/>
          </a:p>
          <a:p>
            <a:r>
              <a:rPr lang="en-US" dirty="0"/>
              <a:t>Great!</a:t>
            </a:r>
          </a:p>
          <a:p>
            <a:r>
              <a:rPr lang="en-US" dirty="0"/>
              <a:t>How do we ensure that the heap is a complete binary tree?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2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turns out that any complete binary tree can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embedded an array </a:t>
            </a:r>
            <a:r>
              <a:rPr lang="en-US" dirty="0"/>
              <a:t>in a particularly cleaver way</a:t>
            </a:r>
          </a:p>
          <a:p>
            <a:endParaRPr lang="en-US" dirty="0"/>
          </a:p>
          <a:p>
            <a:r>
              <a:rPr lang="en-US" dirty="0"/>
              <a:t>We can compute</a:t>
            </a:r>
          </a:p>
          <a:p>
            <a:pPr lvl="1"/>
            <a:r>
              <a:rPr lang="en-US" dirty="0"/>
              <a:t>The position of its parent in the array,</a:t>
            </a:r>
          </a:p>
          <a:p>
            <a:pPr lvl="1"/>
            <a:r>
              <a:rPr lang="en-US" dirty="0"/>
              <a:t>and the positions of its children,</a:t>
            </a:r>
          </a:p>
          <a:p>
            <a:pPr lvl="1"/>
            <a:r>
              <a:rPr lang="en-US" dirty="0"/>
              <a:t>directly from its own position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Store it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breadth-first order</a:t>
                </a:r>
              </a:p>
              <a:p>
                <a:r>
                  <a:rPr lang="en-US" dirty="0"/>
                  <a:t>Store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root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first element</a:t>
                </a:r>
                <a:r>
                  <a:rPr lang="en-US" dirty="0"/>
                  <a:t> (element 0)</a:t>
                </a:r>
              </a:p>
              <a:p>
                <a:r>
                  <a:rPr lang="en-US" dirty="0"/>
                  <a:t>For any node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be its position in the array (for the root,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left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right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can be found at position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  <m:r>
                          <a:rPr lang="en-US" i="1" dirty="0" smtClean="0">
                            <a:latin typeface="Cambria Math"/>
                          </a:rPr>
                          <m:t>−1)/2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Trust me that this works :-)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  <a:blipFill rotWithShape="0">
                <a:blip r:embed="rId3"/>
                <a:stretch>
                  <a:fillRect l="-1762" t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367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insertion using the array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</a:t>
            </a:r>
            <a:r>
              <a:rPr lang="en-US" dirty="0" err="1"/>
              <a:t>A.size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&lt;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4039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dirty="0"/>
              <a:t>   A[0] = A[</a:t>
            </a:r>
            <a:r>
              <a:rPr lang="en-US" dirty="0" err="1"/>
              <a:t>A.size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2853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89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Hamster apocalypse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041"/>
            <a:ext cx="3429000" cy="452628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2020, a group of precocious 3</a:t>
            </a:r>
            <a:r>
              <a:rPr lang="en-US" baseline="30000" dirty="0"/>
              <a:t>rd</a:t>
            </a:r>
            <a:r>
              <a:rPr lang="en-US" dirty="0"/>
              <a:t> graders used a home CRISPR system to genetically engineer a race of </a:t>
            </a:r>
            <a:r>
              <a:rPr lang="en-US" dirty="0" err="1"/>
              <a:t>superhamsters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In 2021, you are the last surviving human in Chicago</a:t>
            </a:r>
          </a:p>
          <a:p>
            <a:pPr>
              <a:spcBef>
                <a:spcPts val="1800"/>
              </a:spcBef>
            </a:pPr>
            <a:r>
              <a:rPr lang="en-US" dirty="0"/>
              <a:t>You live on the entirely on the purple line, because the hamsters prefer Uber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96000"/>
            <a:ext cx="2349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http://ikkepedia.org/wiki/Hamster</a:t>
            </a:r>
          </a:p>
        </p:txBody>
      </p:sp>
    </p:spTree>
    <p:extLst>
      <p:ext uri="{BB962C8B-B14F-4D97-AF65-F5344CB8AC3E}">
        <p14:creationId xmlns:p14="http://schemas.microsoft.com/office/powerpoint/2010/main" val="265101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Route planning revisited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538106" y="304800"/>
            <a:ext cx="766364" cy="946666"/>
            <a:chOff x="759818" y="1644134"/>
            <a:chExt cx="766364" cy="946666"/>
          </a:xfrm>
        </p:grpSpPr>
        <p:sp>
          <p:nvSpPr>
            <p:cNvPr id="6" name="Oval 5"/>
            <p:cNvSpPr/>
            <p:nvPr/>
          </p:nvSpPr>
          <p:spPr>
            <a:xfrm>
              <a:off x="914400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9818" y="1644134"/>
              <a:ext cx="766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Foster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475666" y="2517001"/>
            <a:ext cx="1173271" cy="946666"/>
            <a:chOff x="1511290" y="1644134"/>
            <a:chExt cx="1173271" cy="946666"/>
          </a:xfrm>
        </p:grpSpPr>
        <p:sp>
          <p:nvSpPr>
            <p:cNvPr id="8" name="Oval 7"/>
            <p:cNvSpPr/>
            <p:nvPr/>
          </p:nvSpPr>
          <p:spPr>
            <a:xfrm>
              <a:off x="1869322" y="2133600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11290" y="1644134"/>
              <a:ext cx="1173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State/Lake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923098" y="5422900"/>
            <a:ext cx="1665842" cy="946666"/>
            <a:chOff x="2103202" y="1676400"/>
            <a:chExt cx="1665842" cy="946666"/>
          </a:xfrm>
        </p:grpSpPr>
        <p:sp>
          <p:nvSpPr>
            <p:cNvPr id="19" name="Oval 18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03202" y="1676400"/>
              <a:ext cx="16658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Adams/Wabash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834933" y="4218464"/>
            <a:ext cx="1842172" cy="946666"/>
            <a:chOff x="2015039" y="1676400"/>
            <a:chExt cx="1842172" cy="946666"/>
          </a:xfrm>
        </p:grpSpPr>
        <p:sp>
          <p:nvSpPr>
            <p:cNvPr id="22" name="Oval 21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15039" y="1676400"/>
              <a:ext cx="18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Madison/Wabash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880619" y="3209667"/>
            <a:ext cx="1750800" cy="946666"/>
            <a:chOff x="2060724" y="1676400"/>
            <a:chExt cx="1750800" cy="946666"/>
          </a:xfrm>
        </p:grpSpPr>
        <p:sp>
          <p:nvSpPr>
            <p:cNvPr id="25" name="Oval 24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060724" y="1676400"/>
              <a:ext cx="1750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Randolf</a:t>
              </a:r>
              <a:r>
                <a:rPr lang="en-US" dirty="0"/>
                <a:t>/Wabash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901258" y="2517001"/>
            <a:ext cx="1166281" cy="946666"/>
            <a:chOff x="2352982" y="1676400"/>
            <a:chExt cx="1166281" cy="946666"/>
          </a:xfrm>
        </p:grpSpPr>
        <p:sp>
          <p:nvSpPr>
            <p:cNvPr id="34" name="Oval 33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52982" y="1676400"/>
              <a:ext cx="1166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Clark/Lake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130923" y="4707930"/>
            <a:ext cx="838691" cy="946666"/>
            <a:chOff x="2516778" y="1676400"/>
            <a:chExt cx="838691" cy="946666"/>
          </a:xfrm>
        </p:grpSpPr>
        <p:sp>
          <p:nvSpPr>
            <p:cNvPr id="37" name="Oval 36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16778" y="167640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Quincy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474672" y="5758934"/>
            <a:ext cx="830677" cy="946666"/>
            <a:chOff x="2520785" y="1676400"/>
            <a:chExt cx="830677" cy="946666"/>
          </a:xfrm>
        </p:grpSpPr>
        <p:sp>
          <p:nvSpPr>
            <p:cNvPr id="40" name="Oval 39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20785" y="1676400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LaSalle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557061" y="5758934"/>
            <a:ext cx="828688" cy="946666"/>
            <a:chOff x="2521779" y="1676400"/>
            <a:chExt cx="828688" cy="946666"/>
          </a:xfrm>
        </p:grpSpPr>
        <p:sp>
          <p:nvSpPr>
            <p:cNvPr id="43" name="Oval 42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21779" y="1676400"/>
              <a:ext cx="8286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Library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600200" y="3407033"/>
            <a:ext cx="1900136" cy="946666"/>
            <a:chOff x="1986058" y="1676400"/>
            <a:chExt cx="1900136" cy="946666"/>
          </a:xfrm>
        </p:grpSpPr>
        <p:sp>
          <p:nvSpPr>
            <p:cNvPr id="46" name="Oval 45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986058" y="1676400"/>
              <a:ext cx="1900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Washington/Wells</a:t>
              </a:r>
            </a:p>
          </p:txBody>
        </p:sp>
      </p:grpSp>
      <p:cxnSp>
        <p:nvCxnSpPr>
          <p:cNvPr id="51" name="Straight Connector 50"/>
          <p:cNvCxnSpPr/>
          <p:nvPr/>
        </p:nvCxnSpPr>
        <p:spPr>
          <a:xfrm flipH="1">
            <a:off x="6756016" y="4156333"/>
            <a:ext cx="1" cy="5515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6756016" y="5165130"/>
            <a:ext cx="2" cy="7472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8" idx="0"/>
          </p:cNvCxnSpPr>
          <p:nvPr/>
        </p:nvCxnSpPr>
        <p:spPr>
          <a:xfrm rot="5400000">
            <a:off x="5614293" y="699471"/>
            <a:ext cx="1755001" cy="28589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5924294" y="5645276"/>
            <a:ext cx="107434" cy="155601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4118610" y="6477000"/>
            <a:ext cx="624195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2550267" y="5654596"/>
            <a:ext cx="1111142" cy="82240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2128418" y="4775546"/>
            <a:ext cx="843697" cy="3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2572315" y="3213016"/>
            <a:ext cx="661432" cy="70553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3712998" y="3235067"/>
            <a:ext cx="1120700" cy="1588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5290898" y="3235067"/>
            <a:ext cx="1465119" cy="46406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/>
          <p:cNvGrpSpPr/>
          <p:nvPr/>
        </p:nvGrpSpPr>
        <p:grpSpPr>
          <a:xfrm>
            <a:off x="133667" y="2482334"/>
            <a:ext cx="1923733" cy="946666"/>
            <a:chOff x="1974258" y="1676400"/>
            <a:chExt cx="1923733" cy="946666"/>
          </a:xfrm>
        </p:grpSpPr>
        <p:sp>
          <p:nvSpPr>
            <p:cNvPr id="77" name="Oval 76"/>
            <p:cNvSpPr/>
            <p:nvPr/>
          </p:nvSpPr>
          <p:spPr>
            <a:xfrm>
              <a:off x="2707522" y="2165866"/>
              <a:ext cx="457200" cy="457200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974258" y="1676400"/>
              <a:ext cx="1923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Merchandise Mart</a:t>
              </a:r>
            </a:p>
          </p:txBody>
        </p:sp>
      </p:grpSp>
      <p:cxnSp>
        <p:nvCxnSpPr>
          <p:cNvPr id="80" name="Elbow Connector 79"/>
          <p:cNvCxnSpPr/>
          <p:nvPr/>
        </p:nvCxnSpPr>
        <p:spPr>
          <a:xfrm rot="10800000">
            <a:off x="1095532" y="3429001"/>
            <a:ext cx="1226133" cy="696099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2259953" y="2137600"/>
            <a:ext cx="126978" cy="1998622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9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 planning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used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breadth-first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search before to find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</a:t>
            </a:r>
            <a:r>
              <a:rPr lang="en-US" dirty="0"/>
              <a:t>in a graph</a:t>
            </a:r>
          </a:p>
          <a:p>
            <a:endParaRPr lang="en-US" dirty="0"/>
          </a:p>
          <a:p>
            <a:r>
              <a:rPr lang="en-US" dirty="0"/>
              <a:t>But BFS treats each edge as being equal</a:t>
            </a:r>
          </a:p>
          <a:p>
            <a:endParaRPr lang="en-US" dirty="0"/>
          </a:p>
          <a:p>
            <a:r>
              <a:rPr lang="en-US" dirty="0"/>
              <a:t>In route planning, different edges take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different amounts of time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59154" y="1447800"/>
            <a:ext cx="5232446" cy="3962400"/>
            <a:chOff x="12101" y="304800"/>
            <a:chExt cx="8452411" cy="6400800"/>
          </a:xfrm>
        </p:grpSpPr>
        <p:grpSp>
          <p:nvGrpSpPr>
            <p:cNvPr id="12" name="Group 11"/>
            <p:cNvGrpSpPr/>
            <p:nvPr/>
          </p:nvGrpSpPr>
          <p:grpSpPr>
            <a:xfrm>
              <a:off x="7538106" y="304800"/>
              <a:ext cx="926406" cy="946666"/>
              <a:chOff x="759818" y="1644134"/>
              <a:chExt cx="926406" cy="94666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914400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9818" y="1644134"/>
                <a:ext cx="92640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Foster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81218" y="2517001"/>
              <a:ext cx="1362163" cy="946666"/>
              <a:chOff x="1416842" y="1644134"/>
              <a:chExt cx="1362163" cy="94666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869322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416842" y="1644134"/>
                <a:ext cx="1362163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State/Lake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809724" y="5422900"/>
              <a:ext cx="1892589" cy="946666"/>
              <a:chOff x="1989828" y="1676400"/>
              <a:chExt cx="1892589" cy="94666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89828" y="1676400"/>
                <a:ext cx="18925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Adams/Wabash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716504" y="4218464"/>
              <a:ext cx="2079030" cy="946666"/>
              <a:chOff x="1896610" y="1676400"/>
              <a:chExt cx="2079030" cy="946666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896610" y="1676400"/>
                <a:ext cx="207903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Madison/Wabash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766999" y="3209667"/>
              <a:ext cx="1978042" cy="946666"/>
              <a:chOff x="1947104" y="1676400"/>
              <a:chExt cx="1978042" cy="946666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947104" y="1676400"/>
                <a:ext cx="197804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err="1"/>
                  <a:t>Randolf</a:t>
                </a:r>
                <a:r>
                  <a:rPr lang="en-US" sz="1200" dirty="0"/>
                  <a:t>/Wabash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7098" y="2517001"/>
              <a:ext cx="1354602" cy="946666"/>
              <a:chOff x="2258822" y="1676400"/>
              <a:chExt cx="1354602" cy="9466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258822" y="1676400"/>
                <a:ext cx="135460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Clark/Lake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050242" y="4707930"/>
              <a:ext cx="1000052" cy="946666"/>
              <a:chOff x="2436097" y="1676400"/>
              <a:chExt cx="1000052" cy="946666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6097" y="1676400"/>
                <a:ext cx="100005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Quincy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393868" y="5758934"/>
              <a:ext cx="992284" cy="946666"/>
              <a:chOff x="2439981" y="1676400"/>
              <a:chExt cx="992284" cy="94666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439981" y="1676400"/>
                <a:ext cx="992284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LaSalle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478474" y="5758934"/>
              <a:ext cx="985860" cy="946666"/>
              <a:chOff x="2443192" y="1676400"/>
              <a:chExt cx="985860" cy="946666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443192" y="1676400"/>
                <a:ext cx="98586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Library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79522" y="3407033"/>
              <a:ext cx="2141489" cy="946666"/>
              <a:chOff x="1865380" y="1676400"/>
              <a:chExt cx="2141489" cy="946666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65380" y="1676400"/>
                <a:ext cx="21414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Washington/Wells</a:t>
                </a:r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flipH="1">
              <a:off x="6756016" y="4156333"/>
              <a:ext cx="1" cy="5515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6756016" y="5165130"/>
              <a:ext cx="2" cy="7472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>
              <a:stCxn id="6" idx="4"/>
              <a:endCxn id="8" idx="0"/>
            </p:cNvCxnSpPr>
            <p:nvPr/>
          </p:nvCxnSpPr>
          <p:spPr>
            <a:xfrm rot="5400000">
              <a:off x="5614293" y="699471"/>
              <a:ext cx="1755001" cy="285899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5400000">
              <a:off x="5924294" y="5645276"/>
              <a:ext cx="107434" cy="155601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/>
            <p:nvPr/>
          </p:nvCxnSpPr>
          <p:spPr>
            <a:xfrm rot="10800000">
              <a:off x="4118610" y="6477000"/>
              <a:ext cx="624195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rot="10800000">
              <a:off x="2550267" y="5654596"/>
              <a:ext cx="1111142" cy="82240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6200000" flipV="1">
              <a:off x="2128418" y="4775546"/>
              <a:ext cx="843697" cy="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/>
            <p:nvPr/>
          </p:nvCxnSpPr>
          <p:spPr>
            <a:xfrm rot="5400000" flipH="1" flipV="1">
              <a:off x="2572315" y="3213016"/>
              <a:ext cx="661432" cy="70553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3712998" y="3235067"/>
              <a:ext cx="1120700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5290898" y="3235067"/>
              <a:ext cx="1465119" cy="464066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12101" y="2482334"/>
              <a:ext cx="2166866" cy="946666"/>
              <a:chOff x="1852692" y="1676400"/>
              <a:chExt cx="2166866" cy="94666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52692" y="1676400"/>
                <a:ext cx="216686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Merchandise Mart</a:t>
                </a:r>
              </a:p>
            </p:txBody>
          </p:sp>
        </p:grpSp>
        <p:cxnSp>
          <p:nvCxnSpPr>
            <p:cNvPr id="80" name="Elbow Connector 79"/>
            <p:cNvCxnSpPr/>
            <p:nvPr/>
          </p:nvCxnSpPr>
          <p:spPr>
            <a:xfrm rot="10800000">
              <a:off x="1095532" y="3429001"/>
              <a:ext cx="1226133" cy="69609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/>
            <p:cNvCxnSpPr/>
            <p:nvPr/>
          </p:nvCxnSpPr>
          <p:spPr>
            <a:xfrm rot="16200000" flipH="1" flipV="1">
              <a:off x="2259953" y="2137600"/>
              <a:ext cx="126978" cy="1998622"/>
            </a:xfrm>
            <a:prstGeom prst="bentConnector4">
              <a:avLst>
                <a:gd name="adj1" fmla="val -180031"/>
                <a:gd name="adj2" fmla="val 5167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876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Breadth-first search for path finding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19600" cy="5029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 err="1"/>
              <a:t>BreadthFirstSearch</a:t>
            </a:r>
            <a:r>
              <a:rPr lang="en-US" sz="2000" dirty="0"/>
              <a:t>(start)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q = empty queue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q.Enqueue</a:t>
            </a:r>
            <a:r>
              <a:rPr lang="en-US" sz="2000" dirty="0"/>
              <a:t>(start)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  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start.distance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=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start.predecessor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= null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mark start visited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while q not empty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node = q.Dequeue()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for each neighbor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if c not visited {</a:t>
            </a:r>
            <a:br>
              <a:rPr lang="en-US" sz="2000" dirty="0"/>
            </a:br>
            <a:r>
              <a:rPr lang="en-US" sz="2000" dirty="0"/>
              <a:t>            </a:t>
            </a:r>
            <a:r>
              <a:rPr lang="en-US" sz="2000" dirty="0" err="1"/>
              <a:t>q.Enqueue</a:t>
            </a:r>
            <a:r>
              <a:rPr lang="en-US" sz="2000" dirty="0"/>
              <a:t>(c)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c.distance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= node.distance+1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          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c.predecessor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= node</a:t>
            </a:r>
            <a:br>
              <a:rPr lang="en-US" sz="2000" dirty="0"/>
            </a:br>
            <a:r>
              <a:rPr lang="en-US" sz="2000" dirty="0"/>
              <a:t>         }</a:t>
            </a:r>
            <a:br>
              <a:rPr lang="en-US" sz="2000" dirty="0"/>
            </a:br>
            <a:r>
              <a:rPr lang="en-US" sz="2000" dirty="0"/>
              <a:t>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}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963DC15-CE45-4EDA-8765-583884440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/>
          <a:p>
            <a:r>
              <a:rPr lang="en-US" dirty="0"/>
              <a:t>Visit nodes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order of increasing distance </a:t>
            </a:r>
            <a:r>
              <a:rPr lang="en-US" dirty="0"/>
              <a:t>from the start node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Each time you find a node, remember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</a:t>
            </a:r>
          </a:p>
          <a:p>
            <a:pPr lvl="1"/>
            <a:r>
              <a:rPr lang="en-US" dirty="0"/>
              <a:t>It has to 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closest neighbor</a:t>
            </a:r>
          </a:p>
          <a:p>
            <a:r>
              <a:rPr lang="en-US" dirty="0"/>
              <a:t>Reconstruct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path from predecessor</a:t>
            </a:r>
            <a:r>
              <a:rPr lang="en-US" dirty="0"/>
              <a:t> links</a:t>
            </a:r>
          </a:p>
        </p:txBody>
      </p:sp>
    </p:spTree>
    <p:extLst>
      <p:ext uri="{BB962C8B-B14F-4D97-AF65-F5344CB8AC3E}">
        <p14:creationId xmlns:p14="http://schemas.microsoft.com/office/powerpoint/2010/main" val="1995956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Route planning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can represent this by </a:t>
            </a:r>
            <a:r>
              <a:rPr lang="en-US" b="1" dirty="0"/>
              <a:t>weighting </a:t>
            </a:r>
            <a:r>
              <a:rPr lang="en-US" dirty="0"/>
              <a:t>edges with their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costs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We’ll assume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costs &gt; 0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Costs can represent</a:t>
            </a:r>
          </a:p>
          <a:p>
            <a:pPr lvl="1"/>
            <a:r>
              <a:rPr lang="en-US" dirty="0"/>
              <a:t>Time</a:t>
            </a:r>
          </a:p>
          <a:p>
            <a:pPr lvl="1"/>
            <a:r>
              <a:rPr lang="en-US" dirty="0"/>
              <a:t>Distance</a:t>
            </a:r>
          </a:p>
          <a:p>
            <a:pPr lvl="1"/>
            <a:r>
              <a:rPr lang="en-US" dirty="0"/>
              <a:t>Or any other quantity you’d like to minimize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486241" y="1600200"/>
            <a:ext cx="6339310" cy="4800600"/>
            <a:chOff x="12101" y="304800"/>
            <a:chExt cx="8452411" cy="6400800"/>
          </a:xfrm>
        </p:grpSpPr>
        <p:grpSp>
          <p:nvGrpSpPr>
            <p:cNvPr id="12" name="Group 11"/>
            <p:cNvGrpSpPr/>
            <p:nvPr/>
          </p:nvGrpSpPr>
          <p:grpSpPr>
            <a:xfrm>
              <a:off x="7538106" y="304800"/>
              <a:ext cx="926406" cy="946666"/>
              <a:chOff x="759818" y="1644134"/>
              <a:chExt cx="926406" cy="94666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914400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9818" y="1644134"/>
                <a:ext cx="92640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Foster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81218" y="2517001"/>
              <a:ext cx="1362163" cy="946666"/>
              <a:chOff x="1416842" y="1644134"/>
              <a:chExt cx="1362163" cy="94666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869322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416842" y="1644134"/>
                <a:ext cx="1362163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State/Lake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809724" y="5422900"/>
              <a:ext cx="1892589" cy="946666"/>
              <a:chOff x="1989828" y="1676400"/>
              <a:chExt cx="1892589" cy="94666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89828" y="1676400"/>
                <a:ext cx="18925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Adams/Wabash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716504" y="4218464"/>
              <a:ext cx="2079030" cy="946666"/>
              <a:chOff x="1896610" y="1676400"/>
              <a:chExt cx="2079030" cy="946666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896610" y="1676400"/>
                <a:ext cx="207903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Madison/Wabash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766999" y="3209667"/>
              <a:ext cx="1978042" cy="946666"/>
              <a:chOff x="1947104" y="1676400"/>
              <a:chExt cx="1978042" cy="946666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947104" y="1676400"/>
                <a:ext cx="197804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err="1"/>
                  <a:t>Randolf</a:t>
                </a:r>
                <a:r>
                  <a:rPr lang="en-US" sz="1200" dirty="0"/>
                  <a:t>/Wabash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7098" y="2517001"/>
              <a:ext cx="1354602" cy="946666"/>
              <a:chOff x="2258822" y="1676400"/>
              <a:chExt cx="1354602" cy="9466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258822" y="1676400"/>
                <a:ext cx="135460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Clark/Lake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050242" y="4707930"/>
              <a:ext cx="1000052" cy="946666"/>
              <a:chOff x="2436097" y="1676400"/>
              <a:chExt cx="1000052" cy="946666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6097" y="1676400"/>
                <a:ext cx="100005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Quincy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393868" y="5758934"/>
              <a:ext cx="992284" cy="946666"/>
              <a:chOff x="2439981" y="1676400"/>
              <a:chExt cx="992284" cy="94666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439981" y="1676400"/>
                <a:ext cx="992284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LaSalle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478474" y="5758934"/>
              <a:ext cx="985860" cy="946666"/>
              <a:chOff x="2443192" y="1676400"/>
              <a:chExt cx="985860" cy="946666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443192" y="1676400"/>
                <a:ext cx="98586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Library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79522" y="3407033"/>
              <a:ext cx="2141489" cy="946666"/>
              <a:chOff x="1865380" y="1676400"/>
              <a:chExt cx="2141489" cy="946666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65380" y="1676400"/>
                <a:ext cx="21414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Washington/Wells</a:t>
                </a:r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flipH="1">
              <a:off x="6756016" y="4156333"/>
              <a:ext cx="1" cy="5515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6756016" y="5165130"/>
              <a:ext cx="2" cy="7472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>
              <a:stCxn id="6" idx="4"/>
              <a:endCxn id="8" idx="0"/>
            </p:cNvCxnSpPr>
            <p:nvPr/>
          </p:nvCxnSpPr>
          <p:spPr>
            <a:xfrm rot="5400000">
              <a:off x="5614293" y="699471"/>
              <a:ext cx="1755001" cy="285899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5400000">
              <a:off x="5924294" y="5645276"/>
              <a:ext cx="107434" cy="155601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/>
            <p:nvPr/>
          </p:nvCxnSpPr>
          <p:spPr>
            <a:xfrm rot="10800000">
              <a:off x="4118610" y="6477000"/>
              <a:ext cx="624195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rot="10800000">
              <a:off x="2550267" y="5654596"/>
              <a:ext cx="1111142" cy="82240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6200000" flipV="1">
              <a:off x="2128418" y="4775546"/>
              <a:ext cx="843697" cy="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/>
            <p:nvPr/>
          </p:nvCxnSpPr>
          <p:spPr>
            <a:xfrm rot="5400000" flipH="1" flipV="1">
              <a:off x="2572315" y="3213016"/>
              <a:ext cx="661432" cy="70553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3712998" y="3235067"/>
              <a:ext cx="1120700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5290898" y="3235067"/>
              <a:ext cx="1465119" cy="464066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12101" y="2482334"/>
              <a:ext cx="2166866" cy="946666"/>
              <a:chOff x="1852692" y="1676400"/>
              <a:chExt cx="2166866" cy="94666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52692" y="1676400"/>
                <a:ext cx="216686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Merchandise Mart</a:t>
                </a:r>
              </a:p>
            </p:txBody>
          </p:sp>
        </p:grpSp>
        <p:cxnSp>
          <p:nvCxnSpPr>
            <p:cNvPr id="80" name="Elbow Connector 79"/>
            <p:cNvCxnSpPr/>
            <p:nvPr/>
          </p:nvCxnSpPr>
          <p:spPr>
            <a:xfrm rot="10800000">
              <a:off x="1095532" y="3429001"/>
              <a:ext cx="1226133" cy="69609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/>
            <p:cNvCxnSpPr/>
            <p:nvPr/>
          </p:nvCxnSpPr>
          <p:spPr>
            <a:xfrm rot="16200000" flipH="1" flipV="1">
              <a:off x="2259953" y="2137600"/>
              <a:ext cx="126978" cy="1998622"/>
            </a:xfrm>
            <a:prstGeom prst="bentConnector4">
              <a:avLst>
                <a:gd name="adj1" fmla="val -180031"/>
                <a:gd name="adj2" fmla="val 5167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4517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finding with edge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make a version of BFS that searches nodes</a:t>
            </a:r>
          </a:p>
          <a:p>
            <a:pPr lvl="1"/>
            <a:r>
              <a:rPr lang="en-US" dirty="0"/>
              <a:t>In order of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increasing total path cost</a:t>
            </a:r>
          </a:p>
          <a:p>
            <a:pPr lvl="1"/>
            <a:r>
              <a:rPr lang="en-US" dirty="0"/>
              <a:t>Rather than increasing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number of edges</a:t>
            </a:r>
          </a:p>
          <a:p>
            <a:pPr lvl="1"/>
            <a:endParaRPr lang="en-US" dirty="0"/>
          </a:p>
          <a:p>
            <a:r>
              <a:rPr lang="en-US" dirty="0"/>
              <a:t>Use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priority queue</a:t>
            </a:r>
            <a:r>
              <a:rPr lang="en-US" dirty="0"/>
              <a:t>!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Priority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of a node =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cost of path from start to that node</a:t>
            </a:r>
          </a:p>
        </p:txBody>
      </p:sp>
    </p:spTree>
    <p:extLst>
      <p:ext uri="{BB962C8B-B14F-4D97-AF65-F5344CB8AC3E}">
        <p14:creationId xmlns:p14="http://schemas.microsoft.com/office/powerpoint/2010/main" val="109362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Dijkstra’s</a:t>
            </a:r>
            <a:r>
              <a:rPr lang="en-US" dirty="0"/>
              <a:t> least-cost </a:t>
            </a:r>
            <a:r>
              <a:rPr lang="en-US"/>
              <a:t>path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/>
              <a:t>Dijkstra</a:t>
            </a:r>
            <a:r>
              <a:rPr lang="en-US" sz="2000" dirty="0"/>
              <a:t>(G, s, 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PQ = new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priority queue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Set all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node costs to infinity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</a:t>
            </a:r>
            <a:r>
              <a:rPr lang="en-US" sz="2000" dirty="0" err="1"/>
              <a:t>s.cost</a:t>
            </a:r>
            <a:r>
              <a:rPr lang="en-US" sz="2000" dirty="0"/>
              <a:t> =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for each node n in 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</a:t>
            </a:r>
            <a:r>
              <a:rPr lang="en-US" sz="2000" dirty="0" err="1"/>
              <a:t>PQ.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sz="2000" dirty="0"/>
              <a:t>(n, </a:t>
            </a:r>
            <a:r>
              <a:rPr lang="en-US" sz="2000" dirty="0" err="1"/>
              <a:t>n.cost</a:t>
            </a:r>
            <a:r>
              <a:rPr lang="en-US" sz="20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while PQ not empty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u = </a:t>
            </a:r>
            <a:r>
              <a:rPr lang="en-US" sz="2000" dirty="0" err="1"/>
              <a:t>PQ.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ExtractMin</a:t>
            </a:r>
            <a:r>
              <a:rPr lang="en-US" sz="2000" dirty="0"/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if u == e then done!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 each neighbor </a:t>
            </a:r>
            <a:r>
              <a:rPr lang="en-US" sz="2000" dirty="0"/>
              <a:t>v of u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w = weight of edge from u to v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newCost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u.cost+w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if </a:t>
            </a:r>
            <a:r>
              <a:rPr lang="en-US" sz="2000" dirty="0" err="1"/>
              <a:t>newCost</a:t>
            </a:r>
            <a:r>
              <a:rPr lang="en-US" sz="2000" dirty="0"/>
              <a:t>&lt;</a:t>
            </a:r>
            <a:r>
              <a:rPr lang="en-US" sz="2000" dirty="0" err="1"/>
              <a:t>v.cost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PQ.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DecreaseKey</a:t>
            </a:r>
            <a:r>
              <a:rPr lang="en-US" sz="2000" dirty="0"/>
              <a:t>(v, </a:t>
            </a:r>
            <a:r>
              <a:rPr lang="en-US" sz="2000" dirty="0" err="1"/>
              <a:t>newCost</a:t>
            </a:r>
            <a:r>
              <a:rPr lang="en-US" sz="20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v.cost</a:t>
            </a:r>
            <a:r>
              <a:rPr lang="en-US" sz="2000" dirty="0"/>
              <a:t> = </a:t>
            </a:r>
            <a:r>
              <a:rPr lang="en-US" sz="2000" dirty="0" err="1"/>
              <a:t>newCost</a:t>
            </a:r>
            <a:endParaRPr lang="en-US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v.predecessor</a:t>
            </a:r>
            <a:r>
              <a:rPr lang="en-US" sz="2000" dirty="0"/>
              <a:t> = u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B0A2D9-06AF-4645-83FC-43AACAEF157B}"/>
              </a:ext>
            </a:extLst>
          </p:cNvPr>
          <p:cNvSpPr txBox="1">
            <a:spLocks/>
          </p:cNvSpPr>
          <p:nvPr/>
        </p:nvSpPr>
        <p:spPr>
          <a:xfrm>
            <a:off x="4648200" y="1600200"/>
            <a:ext cx="4038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Same basic idea</a:t>
            </a:r>
          </a:p>
          <a:p>
            <a:r>
              <a:rPr lang="en-US" dirty="0"/>
              <a:t>Visit nodes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order of increasing distance </a:t>
            </a:r>
            <a:r>
              <a:rPr lang="en-US" dirty="0"/>
              <a:t>from the start node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But now distance =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total edge cost</a:t>
            </a:r>
          </a:p>
          <a:p>
            <a:r>
              <a:rPr lang="en-US" dirty="0"/>
              <a:t>Each time you find a node, remember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predecessor</a:t>
            </a:r>
          </a:p>
          <a:p>
            <a:pPr lvl="1"/>
            <a:r>
              <a:rPr lang="en-US" dirty="0"/>
              <a:t>But now it’s possible to find a long path to a node first</a:t>
            </a:r>
          </a:p>
          <a:p>
            <a:pPr lvl="1"/>
            <a:r>
              <a:rPr lang="en-US" dirty="0"/>
              <a:t>Then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find a shorter path later</a:t>
            </a:r>
          </a:p>
          <a:p>
            <a:pPr lvl="1"/>
            <a:r>
              <a:rPr lang="en-US" dirty="0"/>
              <a:t>So we have to be ready to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update distances </a:t>
            </a:r>
            <a:r>
              <a:rPr lang="en-US" dirty="0"/>
              <a:t>rather than just setting them once</a:t>
            </a:r>
          </a:p>
          <a:p>
            <a:r>
              <a:rPr lang="en-US" dirty="0"/>
              <a:t>Reconstruct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path from predecessor</a:t>
            </a:r>
            <a:r>
              <a:rPr lang="en-US" dirty="0"/>
              <a:t> links</a:t>
            </a:r>
          </a:p>
        </p:txBody>
      </p:sp>
    </p:spTree>
    <p:extLst>
      <p:ext uri="{BB962C8B-B14F-4D97-AF65-F5344CB8AC3E}">
        <p14:creationId xmlns:p14="http://schemas.microsoft.com/office/powerpoint/2010/main" val="1375159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minute… decrease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to add a new operation to our priority queue: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decreasing the priority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an item already in the queue</a:t>
            </a:r>
          </a:p>
          <a:p>
            <a:pPr lvl="1"/>
            <a:r>
              <a:rPr lang="en-US" dirty="0"/>
              <a:t>Note that since we’re using extract min, rather than extract max, decreasing the “priority” actually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moves it ahead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in the queue</a:t>
            </a:r>
          </a:p>
          <a:p>
            <a:endParaRPr lang="en-US" dirty="0"/>
          </a:p>
          <a:p>
            <a:r>
              <a:rPr lang="en-US" dirty="0"/>
              <a:t>How could we implement decrease key?</a:t>
            </a:r>
          </a:p>
        </p:txBody>
      </p:sp>
    </p:spTree>
    <p:extLst>
      <p:ext uri="{BB962C8B-B14F-4D97-AF65-F5344CB8AC3E}">
        <p14:creationId xmlns:p14="http://schemas.microsoft.com/office/powerpoint/2010/main" val="2698815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DecreaseKey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way we could do it would be to: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Remove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 (somehow)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Reinsert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it</a:t>
            </a:r>
          </a:p>
          <a:p>
            <a:pPr lvl="1"/>
            <a:endParaRPr lang="en-US" dirty="0"/>
          </a:p>
          <a:p>
            <a:r>
              <a:rPr lang="en-US" dirty="0"/>
              <a:t>But the insert algorithm</a:t>
            </a:r>
          </a:p>
          <a:p>
            <a:pPr lvl="1"/>
            <a:r>
              <a:rPr lang="en-US" dirty="0"/>
              <a:t>Adds it at the bottom of the heap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Swaps it upward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until its priority is lower than its parent</a:t>
            </a:r>
          </a:p>
          <a:p>
            <a:pPr lvl="2"/>
            <a:r>
              <a:rPr lang="en-US" dirty="0"/>
              <a:t>At least for a min heap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A.size</a:t>
            </a:r>
            <a:r>
              <a:rPr lang="en-US" dirty="0"/>
              <a:t> 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i = </a:t>
            </a:r>
            <a:r>
              <a:rPr lang="en-US" dirty="0" err="1"/>
              <a:t>A.size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while i&gt;0 and</a:t>
            </a:r>
            <a:br>
              <a:rPr lang="en-US" dirty="0"/>
            </a:br>
            <a:r>
              <a:rPr lang="en-US" dirty="0"/>
              <a:t>              A[Parent(i)] &gt;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DecreaseKey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So </a:t>
            </a:r>
            <a:r>
              <a:rPr lang="en-US" dirty="0" err="1"/>
              <a:t>DecreaseKey</a:t>
            </a:r>
            <a:r>
              <a:rPr lang="en-US" dirty="0"/>
              <a:t> is actually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easy</a:t>
            </a:r>
            <a:r>
              <a:rPr lang="en-US" dirty="0"/>
              <a:t>:</a:t>
            </a:r>
          </a:p>
          <a:p>
            <a:r>
              <a:rPr lang="en-US" dirty="0"/>
              <a:t>Just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move </a:t>
            </a:r>
            <a:r>
              <a:rPr lang="en-US" dirty="0"/>
              <a:t>the node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up</a:t>
            </a:r>
          </a:p>
          <a:p>
            <a:r>
              <a:rPr lang="en-US" dirty="0"/>
              <a:t>Until its in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right place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Just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copy the code for insert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remove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the part that starts by inserting it at the end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err="1"/>
              <a:t>DecreaseKey</a:t>
            </a:r>
            <a:r>
              <a:rPr lang="en-US" dirty="0"/>
              <a:t>(A, i, key)</a:t>
            </a:r>
          </a:p>
          <a:p>
            <a:pPr marL="0" indent="0">
              <a:buNone/>
            </a:pPr>
            <a:r>
              <a:rPr lang="en-US" dirty="0"/>
              <a:t>   while i&gt;0 and</a:t>
            </a:r>
            <a:br>
              <a:rPr lang="en-US" dirty="0"/>
            </a:br>
            <a:r>
              <a:rPr lang="en-US" dirty="0"/>
              <a:t>              A[Parent(i)] &gt; key</a:t>
            </a:r>
          </a:p>
          <a:p>
            <a:pPr marL="0" indent="0">
              <a:buNone/>
            </a:pPr>
            <a:r>
              <a:rPr lang="en-US" dirty="0"/>
              <a:t>        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02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DecreaseKey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Unfortunately, you need to know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where the node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lang="en-US" dirty="0"/>
              <a:t>stored in the heap</a:t>
            </a:r>
          </a:p>
          <a:p>
            <a:pPr lvl="1"/>
            <a:r>
              <a:rPr lang="en-US" dirty="0"/>
              <a:t>i.e. its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index </a:t>
            </a:r>
            <a:r>
              <a:rPr lang="en-US" dirty="0"/>
              <a:t>in the stupid heap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array</a:t>
            </a:r>
          </a:p>
          <a:p>
            <a:endParaRPr lang="en-US" dirty="0"/>
          </a:p>
          <a:p>
            <a:r>
              <a:rPr lang="en-US" dirty="0"/>
              <a:t>Best done by storing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index in the graph node </a:t>
            </a:r>
            <a:r>
              <a:rPr lang="en-US" dirty="0"/>
              <a:t>itself</a:t>
            </a:r>
          </a:p>
          <a:p>
            <a:endParaRPr lang="en-US" dirty="0"/>
          </a:p>
          <a:p>
            <a:r>
              <a:rPr lang="en-US" dirty="0"/>
              <a:t>Have to remember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update it </a:t>
            </a:r>
            <a:r>
              <a:rPr lang="en-US" dirty="0"/>
              <a:t>any time the node moves in the heap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 err="1"/>
              <a:t>DecreaseKey</a:t>
            </a:r>
            <a:r>
              <a:rPr lang="en-US" sz="3200" dirty="0"/>
              <a:t>(A, i, key)</a:t>
            </a:r>
          </a:p>
          <a:p>
            <a:pPr marL="0" indent="0">
              <a:buNone/>
            </a:pPr>
            <a:r>
              <a:rPr lang="en-US" sz="3200" dirty="0"/>
              <a:t>   while i&gt;0 and</a:t>
            </a:r>
            <a:br>
              <a:rPr lang="en-US" sz="3200" dirty="0"/>
            </a:br>
            <a:r>
              <a:rPr lang="en-US" sz="3200" dirty="0"/>
              <a:t>              A[Parent(i)] &gt; key</a:t>
            </a:r>
          </a:p>
          <a:p>
            <a:pPr marL="0" indent="0">
              <a:buNone/>
            </a:pPr>
            <a:r>
              <a:rPr lang="en-US" sz="3200" dirty="0"/>
              <a:t>        A[i] = A[Parent(i)]</a:t>
            </a:r>
          </a:p>
          <a:p>
            <a:pPr marL="0" indent="0">
              <a:buNone/>
            </a:pPr>
            <a:r>
              <a:rPr lang="en-US" sz="3200" dirty="0"/>
              <a:t>        i = Parent(i)</a:t>
            </a:r>
          </a:p>
          <a:p>
            <a:pPr marL="0" indent="0">
              <a:buNone/>
            </a:pPr>
            <a:r>
              <a:rPr lang="en-US" sz="3200" dirty="0"/>
              <a:t>    A[i] = key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957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Proving correctness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Notice we have two kinds of nodes</a:t>
            </a:r>
          </a:p>
          <a:p>
            <a:r>
              <a:rPr lang="en-US" dirty="0"/>
              <a:t>Nodes still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the queue</a:t>
            </a:r>
          </a:p>
          <a:p>
            <a:r>
              <a:rPr lang="en-US" dirty="0"/>
              <a:t>Nodes that have been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removed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(that we’re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done with</a:t>
            </a:r>
            <a:r>
              <a:rPr lang="en-US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Dijkstra</a:t>
            </a:r>
            <a:r>
              <a:rPr lang="en-US" sz="1600" dirty="0"/>
              <a:t>(G, s, e)</a:t>
            </a:r>
          </a:p>
          <a:p>
            <a:pPr marL="0" indent="0">
              <a:buNone/>
            </a:pPr>
            <a:r>
              <a:rPr lang="en-US" sz="1600" dirty="0"/>
              <a:t>   PQ = new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priority queue</a:t>
            </a:r>
          </a:p>
          <a:p>
            <a:pPr marL="0" indent="0">
              <a:buNone/>
            </a:pPr>
            <a:r>
              <a:rPr lang="en-US" sz="1600" dirty="0"/>
              <a:t>   Set all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node costs to infinity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s.cost</a:t>
            </a:r>
            <a:r>
              <a:rPr lang="en-US" sz="1600" dirty="0"/>
              <a:t> = 0</a:t>
            </a:r>
          </a:p>
          <a:p>
            <a:pPr marL="0" indent="0">
              <a:buNone/>
            </a:pPr>
            <a:r>
              <a:rPr lang="en-US" sz="1600" dirty="0"/>
              <a:t>   for each node n in G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sz="1600" dirty="0"/>
              <a:t>(n, </a:t>
            </a:r>
            <a:r>
              <a:rPr lang="en-US" sz="1600" dirty="0" err="1"/>
              <a:t>n.cost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while PQ not empty</a:t>
            </a:r>
          </a:p>
          <a:p>
            <a:pPr marL="0" indent="0">
              <a:buNone/>
            </a:pPr>
            <a:r>
              <a:rPr lang="en-US" sz="1600" dirty="0"/>
              <a:t>       u =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ExtractMin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       if u == e then done!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for each neighbor </a:t>
            </a:r>
            <a:r>
              <a:rPr lang="en-US" sz="1600" dirty="0"/>
              <a:t>v of u</a:t>
            </a:r>
          </a:p>
          <a:p>
            <a:pPr marL="0" indent="0">
              <a:buNone/>
            </a:pPr>
            <a:r>
              <a:rPr lang="en-US" sz="1600" dirty="0"/>
              <a:t>            w = weight of edge from u to v</a:t>
            </a:r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newCost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u.cost+w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/>
              <a:t>            if </a:t>
            </a:r>
            <a:r>
              <a:rPr lang="en-US" sz="1600" dirty="0" err="1"/>
              <a:t>newCost</a:t>
            </a:r>
            <a:r>
              <a:rPr lang="en-US" sz="1600" dirty="0"/>
              <a:t>&lt;</a:t>
            </a:r>
            <a:r>
              <a:rPr lang="en-US" sz="1600" dirty="0" err="1"/>
              <a:t>v.cost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DecreaseKey</a:t>
            </a:r>
            <a:r>
              <a:rPr lang="en-US" sz="1600" dirty="0"/>
              <a:t>(v, </a:t>
            </a:r>
            <a:r>
              <a:rPr lang="en-US" sz="1600" dirty="0" err="1"/>
              <a:t>newCost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v.cost</a:t>
            </a:r>
            <a:r>
              <a:rPr lang="en-US" sz="1600" dirty="0"/>
              <a:t> = </a:t>
            </a:r>
            <a:r>
              <a:rPr lang="en-US" sz="1600" dirty="0" err="1"/>
              <a:t>newCost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v.predecessor</a:t>
            </a:r>
            <a:r>
              <a:rPr lang="en-US" sz="1600" dirty="0"/>
              <a:t> = u</a:t>
            </a:r>
          </a:p>
        </p:txBody>
      </p:sp>
    </p:spTree>
    <p:extLst>
      <p:ext uri="{BB962C8B-B14F-4D97-AF65-F5344CB8AC3E}">
        <p14:creationId xmlns:p14="http://schemas.microsoft.com/office/powerpoint/2010/main" val="2755217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Invariants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all nodes v 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in the queue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</a:t>
            </a:r>
            <a:r>
              <a:rPr lang="en-US" dirty="0"/>
              <a:t>from the start node to v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 the queue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from the start to v </a:t>
            </a:r>
            <a:r>
              <a:rPr lang="en-US" dirty="0">
                <a:solidFill>
                  <a:schemeClr val="tx1"/>
                </a:solidFill>
              </a:rPr>
              <a:t>just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Dijkstra</a:t>
            </a:r>
            <a:r>
              <a:rPr lang="en-US" sz="1600" dirty="0"/>
              <a:t>(G, s, e)</a:t>
            </a:r>
          </a:p>
          <a:p>
            <a:pPr marL="0" indent="0">
              <a:buNone/>
            </a:pPr>
            <a:r>
              <a:rPr lang="en-US" sz="1600" dirty="0"/>
              <a:t>   PQ = new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priority queue</a:t>
            </a:r>
          </a:p>
          <a:p>
            <a:pPr marL="0" indent="0">
              <a:buNone/>
            </a:pPr>
            <a:r>
              <a:rPr lang="en-US" sz="1600" dirty="0"/>
              <a:t>   Set all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node costs to infinity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s.cost</a:t>
            </a:r>
            <a:r>
              <a:rPr lang="en-US" sz="1600" dirty="0"/>
              <a:t> = 0</a:t>
            </a:r>
          </a:p>
          <a:p>
            <a:pPr marL="0" indent="0">
              <a:buNone/>
            </a:pPr>
            <a:r>
              <a:rPr lang="en-US" sz="1600" dirty="0"/>
              <a:t>   for each node n in G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sz="1600" dirty="0"/>
              <a:t>(n, </a:t>
            </a:r>
            <a:r>
              <a:rPr lang="en-US" sz="1600" dirty="0" err="1"/>
              <a:t>n.cost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while PQ not empty</a:t>
            </a:r>
          </a:p>
          <a:p>
            <a:pPr marL="0" indent="0">
              <a:buNone/>
            </a:pPr>
            <a:r>
              <a:rPr lang="en-US" sz="1600" dirty="0"/>
              <a:t>       u =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ExtractMin</a:t>
            </a:r>
            <a:r>
              <a:rPr lang="en-US" sz="1600" dirty="0"/>
              <a:t>()</a:t>
            </a:r>
          </a:p>
          <a:p>
            <a:pPr marL="0" indent="0">
              <a:buNone/>
            </a:pPr>
            <a:r>
              <a:rPr lang="en-US" sz="1600" dirty="0"/>
              <a:t>       if u == e then done!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for each neighbor </a:t>
            </a:r>
            <a:r>
              <a:rPr lang="en-US" sz="1600" dirty="0"/>
              <a:t>v of u</a:t>
            </a:r>
          </a:p>
          <a:p>
            <a:pPr marL="0" indent="0">
              <a:buNone/>
            </a:pPr>
            <a:r>
              <a:rPr lang="en-US" sz="1600" dirty="0"/>
              <a:t>            w = weight of edge from u to v</a:t>
            </a:r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newCost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u.cost+w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/>
              <a:t>            if </a:t>
            </a:r>
            <a:r>
              <a:rPr lang="en-US" sz="1600" dirty="0" err="1"/>
              <a:t>newCost</a:t>
            </a:r>
            <a:r>
              <a:rPr lang="en-US" sz="1600" dirty="0"/>
              <a:t>&lt;</a:t>
            </a:r>
            <a:r>
              <a:rPr lang="en-US" sz="1600" dirty="0" err="1"/>
              <a:t>v.cost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PQ.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DecreaseKey</a:t>
            </a:r>
            <a:r>
              <a:rPr lang="en-US" sz="1600" dirty="0"/>
              <a:t>(v, </a:t>
            </a:r>
            <a:r>
              <a:rPr lang="en-US" sz="1600" dirty="0" err="1"/>
              <a:t>newCost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v.cost</a:t>
            </a:r>
            <a:r>
              <a:rPr lang="en-US" sz="1600" dirty="0"/>
              <a:t> = </a:t>
            </a:r>
            <a:r>
              <a:rPr lang="en-US" sz="1600" dirty="0" err="1"/>
              <a:t>newCost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    </a:t>
            </a:r>
            <a:r>
              <a:rPr lang="en-US" sz="1600" dirty="0" err="1"/>
              <a:t>v.predecessor</a:t>
            </a:r>
            <a:r>
              <a:rPr lang="en-US" sz="1600" dirty="0"/>
              <a:t> = u</a:t>
            </a:r>
          </a:p>
        </p:txBody>
      </p:sp>
    </p:spTree>
    <p:extLst>
      <p:ext uri="{BB962C8B-B14F-4D97-AF65-F5344CB8AC3E}">
        <p14:creationId xmlns:p14="http://schemas.microsoft.com/office/powerpoint/2010/main" val="1074827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all nodes v 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in the queue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</a:t>
            </a:r>
            <a:r>
              <a:rPr lang="en-US" dirty="0"/>
              <a:t>from the start node to v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 the queue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from the start to v </a:t>
            </a:r>
            <a:r>
              <a:rPr lang="en-US" dirty="0">
                <a:solidFill>
                  <a:schemeClr val="tx1"/>
                </a:solidFill>
              </a:rPr>
              <a:t>just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Base case: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only the start node </a:t>
                </a:r>
                <a:r>
                  <a:rPr lang="en-US" dirty="0"/>
                  <a:t>has been removed from the queue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Trivially true</a:t>
                </a:r>
              </a:p>
              <a:p>
                <a:pPr lvl="1"/>
                <a:r>
                  <a:rPr lang="en-US" dirty="0" err="1"/>
                  <a:t>dist</a:t>
                </a:r>
                <a:r>
                  <a:rPr lang="en-US" dirty="0"/>
                  <a:t>[start]=0</a:t>
                </a:r>
              </a:p>
              <a:p>
                <a:pPr lvl="1"/>
                <a:r>
                  <a:rPr lang="en-US" dirty="0" err="1"/>
                  <a:t>dist</a:t>
                </a:r>
                <a:r>
                  <a:rPr lang="en-US" dirty="0"/>
                  <a:t>[everything else]=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0">
                <a:blip r:embed="rId2"/>
                <a:stretch>
                  <a:fillRect l="-2719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81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all nodes v 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in the queue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</a:t>
            </a:r>
            <a:r>
              <a:rPr lang="en-US" dirty="0"/>
              <a:t>from the start node to v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 the queue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from the start to v </a:t>
            </a:r>
            <a:r>
              <a:rPr lang="en-US" dirty="0">
                <a:solidFill>
                  <a:schemeClr val="tx1"/>
                </a:solidFill>
              </a:rPr>
              <a:t>just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Inductive case:</a:t>
            </a:r>
          </a:p>
          <a:p>
            <a:r>
              <a:rPr lang="en-US" dirty="0"/>
              <a:t>Assume it’s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true for the currently visited nodes</a:t>
            </a:r>
          </a:p>
          <a:p>
            <a:r>
              <a:rPr lang="en-US" dirty="0"/>
              <a:t>Let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</a:t>
            </a:r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node </a:t>
            </a:r>
            <a:r>
              <a:rPr lang="en-US" dirty="0"/>
              <a:t>in the queue</a:t>
            </a:r>
          </a:p>
        </p:txBody>
      </p:sp>
    </p:spTree>
    <p:extLst>
      <p:ext uri="{BB962C8B-B14F-4D97-AF65-F5344CB8AC3E}">
        <p14:creationId xmlns:p14="http://schemas.microsoft.com/office/powerpoint/2010/main" val="320908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 all nodes v 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in the queue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</a:t>
            </a:r>
            <a:r>
              <a:rPr lang="en-US" dirty="0"/>
              <a:t>from the start node to v</a:t>
            </a:r>
          </a:p>
          <a:p>
            <a:r>
              <a:rPr lang="en-US" dirty="0"/>
              <a:t>If v is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 the queue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from the start to v </a:t>
            </a:r>
            <a:r>
              <a:rPr lang="en-US" dirty="0">
                <a:solidFill>
                  <a:schemeClr val="tx1"/>
                </a:solidFill>
              </a:rPr>
              <a:t>just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Inductive case:</a:t>
            </a:r>
          </a:p>
          <a:p>
            <a:r>
              <a:rPr lang="en-US" dirty="0"/>
              <a:t>Let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</a:t>
            </a:r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node </a:t>
            </a:r>
            <a:r>
              <a:rPr lang="en-US" dirty="0"/>
              <a:t>in the queue</a:t>
            </a:r>
          </a:p>
          <a:p>
            <a:r>
              <a:rPr lang="en-US" dirty="0"/>
              <a:t>Then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has the minimum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[]</a:t>
            </a:r>
            <a:r>
              <a:rPr lang="en-US" dirty="0"/>
              <a:t> among the nodes in the queue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[v]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to v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8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Inductive case:</a:t>
            </a:r>
          </a:p>
          <a:p>
            <a:r>
              <a:rPr lang="en-US" dirty="0"/>
              <a:t>Let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</a:t>
            </a:r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node </a:t>
            </a:r>
            <a:r>
              <a:rPr lang="en-US" dirty="0"/>
              <a:t>in the queue</a:t>
            </a:r>
          </a:p>
          <a:p>
            <a:r>
              <a:rPr lang="en-US" dirty="0"/>
              <a:t>Then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has the minimum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[]</a:t>
            </a:r>
            <a:r>
              <a:rPr lang="en-US" dirty="0"/>
              <a:t> among the nodes in the queue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[v]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to v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Claim:</a:t>
            </a:r>
          </a:p>
          <a:p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using any nodes</a:t>
            </a:r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Assume there’s a</a:t>
            </a:r>
            <a:r>
              <a:rPr lang="en-US" dirty="0">
                <a:solidFill>
                  <a:schemeClr val="tx1"/>
                </a:solidFill>
              </a:rPr>
              <a:t> shorter path</a:t>
            </a:r>
          </a:p>
          <a:p>
            <a:pPr lvl="1"/>
            <a:r>
              <a:rPr lang="en-US" dirty="0"/>
              <a:t>Case 1: the shorter path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contains a node in the queue</a:t>
            </a:r>
          </a:p>
          <a:p>
            <a:pPr lvl="2"/>
            <a:r>
              <a:rPr lang="en-US" dirty="0"/>
              <a:t>Then that node must be closer to start than v</a:t>
            </a:r>
          </a:p>
          <a:p>
            <a:pPr lvl="3"/>
            <a:r>
              <a:rPr lang="en-US" dirty="0"/>
              <a:t>Because edge costs &gt; 0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Contradicts (1)</a:t>
            </a:r>
          </a:p>
        </p:txBody>
      </p:sp>
    </p:spTree>
    <p:extLst>
      <p:ext uri="{BB962C8B-B14F-4D97-AF65-F5344CB8AC3E}">
        <p14:creationId xmlns:p14="http://schemas.microsoft.com/office/powerpoint/2010/main" val="10300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Inductive case:</a:t>
            </a:r>
          </a:p>
          <a:p>
            <a:r>
              <a:rPr lang="en-US" dirty="0"/>
              <a:t>Let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</a:t>
            </a:r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node </a:t>
            </a:r>
            <a:r>
              <a:rPr lang="en-US" dirty="0"/>
              <a:t>in the queue</a:t>
            </a:r>
          </a:p>
          <a:p>
            <a:r>
              <a:rPr lang="en-US" dirty="0"/>
              <a:t>Then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has the minimum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[]</a:t>
            </a:r>
            <a:r>
              <a:rPr lang="en-US" dirty="0"/>
              <a:t> among the nodes in the queue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[v]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to v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Claim:</a:t>
            </a:r>
          </a:p>
          <a:p>
            <a:r>
              <a:rPr lang="en-US" dirty="0" err="1"/>
              <a:t>dist</a:t>
            </a:r>
            <a:r>
              <a:rPr lang="en-US" dirty="0"/>
              <a:t>[v] is the length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 using any nodes</a:t>
            </a:r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Assume there’s a </a:t>
            </a:r>
            <a:r>
              <a:rPr lang="en-US" dirty="0">
                <a:solidFill>
                  <a:schemeClr val="tx1"/>
                </a:solidFill>
              </a:rPr>
              <a:t>shorter path</a:t>
            </a:r>
          </a:p>
          <a:p>
            <a:pPr lvl="1"/>
            <a:r>
              <a:rPr lang="en-US" dirty="0"/>
              <a:t>Case 2: the shorter path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contains </a:t>
            </a: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no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nodes from the queue</a:t>
            </a:r>
          </a:p>
          <a:p>
            <a:pPr lvl="2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Contradicts (2)</a:t>
            </a:r>
          </a:p>
        </p:txBody>
      </p:sp>
    </p:spTree>
    <p:extLst>
      <p:ext uri="{BB962C8B-B14F-4D97-AF65-F5344CB8AC3E}">
        <p14:creationId xmlns:p14="http://schemas.microsoft.com/office/powerpoint/2010/main" val="2512444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Inductive case:</a:t>
            </a:r>
          </a:p>
          <a:p>
            <a:r>
              <a:rPr lang="en-US" dirty="0"/>
              <a:t>Let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</a:t>
            </a:r>
            <a:r>
              <a:rPr lang="en-US" dirty="0"/>
              <a:t>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next node </a:t>
            </a:r>
            <a:r>
              <a:rPr lang="en-US" dirty="0"/>
              <a:t>in the queue</a:t>
            </a:r>
          </a:p>
          <a:p>
            <a:r>
              <a:rPr lang="en-US" dirty="0"/>
              <a:t>Then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 has the minimum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[]</a:t>
            </a:r>
            <a:r>
              <a:rPr lang="en-US" dirty="0"/>
              <a:t> among the nodes in the queue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[v]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the length of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</a:t>
            </a:r>
            <a:r>
              <a:rPr lang="en-US" dirty="0"/>
              <a:t>to v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using nodes not in the queue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257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Therefore: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inductive case holds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invariants hold</a:t>
            </a:r>
          </a:p>
          <a:p>
            <a:pPr lvl="1"/>
            <a:r>
              <a:rPr lang="en-US" dirty="0"/>
              <a:t>Including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when the queue is empty</a:t>
            </a:r>
          </a:p>
          <a:p>
            <a:pPr lvl="1"/>
            <a:r>
              <a:rPr lang="en-US" dirty="0"/>
              <a:t>At which point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dist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[] has the distances to all the nodes</a:t>
            </a:r>
          </a:p>
          <a:p>
            <a:r>
              <a:rPr lang="en-US" dirty="0"/>
              <a:t>The algorithm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correct </a:t>
            </a:r>
          </a:p>
        </p:txBody>
      </p:sp>
    </p:spTree>
    <p:extLst>
      <p:ext uri="{BB962C8B-B14F-4D97-AF65-F5344CB8AC3E}">
        <p14:creationId xmlns:p14="http://schemas.microsoft.com/office/powerpoint/2010/main" val="146799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Running </a:t>
            </a:r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486241" y="1600200"/>
            <a:ext cx="6339310" cy="4800600"/>
            <a:chOff x="12101" y="304800"/>
            <a:chExt cx="8452411" cy="6400800"/>
          </a:xfrm>
        </p:grpSpPr>
        <p:grpSp>
          <p:nvGrpSpPr>
            <p:cNvPr id="12" name="Group 11"/>
            <p:cNvGrpSpPr/>
            <p:nvPr/>
          </p:nvGrpSpPr>
          <p:grpSpPr>
            <a:xfrm>
              <a:off x="7538106" y="304800"/>
              <a:ext cx="926406" cy="946666"/>
              <a:chOff x="759818" y="1644134"/>
              <a:chExt cx="926406" cy="94666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914400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9818" y="1644134"/>
                <a:ext cx="92640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Foster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81218" y="2517001"/>
              <a:ext cx="1362163" cy="946666"/>
              <a:chOff x="1416842" y="1644134"/>
              <a:chExt cx="1362163" cy="94666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869322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416842" y="1644134"/>
                <a:ext cx="1362163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State/Lake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809724" y="5422900"/>
              <a:ext cx="1892589" cy="946666"/>
              <a:chOff x="1989828" y="1676400"/>
              <a:chExt cx="1892589" cy="94666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89828" y="1676400"/>
                <a:ext cx="18925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Adams/Wabash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716504" y="4218464"/>
              <a:ext cx="2079030" cy="946666"/>
              <a:chOff x="1896610" y="1676400"/>
              <a:chExt cx="2079030" cy="946666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896610" y="1676400"/>
                <a:ext cx="207903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Madison/Wabash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766999" y="3209667"/>
              <a:ext cx="1978042" cy="946666"/>
              <a:chOff x="1947104" y="1676400"/>
              <a:chExt cx="1978042" cy="946666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947104" y="1676400"/>
                <a:ext cx="197804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err="1"/>
                  <a:t>Randolf</a:t>
                </a:r>
                <a:r>
                  <a:rPr lang="en-US" sz="1200" dirty="0"/>
                  <a:t>/Wabash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7098" y="2517001"/>
              <a:ext cx="1354602" cy="946666"/>
              <a:chOff x="2258822" y="1676400"/>
              <a:chExt cx="1354602" cy="9466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258822" y="1676400"/>
                <a:ext cx="135460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Clark/Lake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050242" y="4707930"/>
              <a:ext cx="1000052" cy="946666"/>
              <a:chOff x="2436097" y="1676400"/>
              <a:chExt cx="1000052" cy="946666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6097" y="1676400"/>
                <a:ext cx="100005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Quincy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393868" y="5758934"/>
              <a:ext cx="992284" cy="946666"/>
              <a:chOff x="2439981" y="1676400"/>
              <a:chExt cx="992284" cy="94666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439981" y="1676400"/>
                <a:ext cx="992284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LaSalle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478474" y="5758934"/>
              <a:ext cx="985860" cy="946666"/>
              <a:chOff x="2443192" y="1676400"/>
              <a:chExt cx="985860" cy="946666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443192" y="1676400"/>
                <a:ext cx="98586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Library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79522" y="3407033"/>
              <a:ext cx="2141489" cy="946666"/>
              <a:chOff x="1865380" y="1676400"/>
              <a:chExt cx="2141489" cy="946666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65380" y="1676400"/>
                <a:ext cx="21414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Washington/Wells</a:t>
                </a:r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flipH="1">
              <a:off x="6756016" y="4156333"/>
              <a:ext cx="1" cy="5515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6756016" y="5165130"/>
              <a:ext cx="2" cy="7472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>
              <a:stCxn id="6" idx="4"/>
              <a:endCxn id="8" idx="0"/>
            </p:cNvCxnSpPr>
            <p:nvPr/>
          </p:nvCxnSpPr>
          <p:spPr>
            <a:xfrm rot="5400000">
              <a:off x="5614293" y="699471"/>
              <a:ext cx="1755001" cy="285899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5400000">
              <a:off x="5924294" y="5645276"/>
              <a:ext cx="107434" cy="155601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/>
            <p:nvPr/>
          </p:nvCxnSpPr>
          <p:spPr>
            <a:xfrm rot="10800000">
              <a:off x="4118610" y="6477000"/>
              <a:ext cx="624195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rot="10800000">
              <a:off x="2550267" y="5654596"/>
              <a:ext cx="1111142" cy="82240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6200000" flipV="1">
              <a:off x="2128418" y="4775546"/>
              <a:ext cx="843697" cy="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/>
            <p:nvPr/>
          </p:nvCxnSpPr>
          <p:spPr>
            <a:xfrm rot="5400000" flipH="1" flipV="1">
              <a:off x="2572315" y="3213016"/>
              <a:ext cx="661432" cy="70553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3712998" y="3235067"/>
              <a:ext cx="1120700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5290898" y="3235067"/>
              <a:ext cx="1465119" cy="464066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12101" y="2482334"/>
              <a:ext cx="2166866" cy="946666"/>
              <a:chOff x="1852692" y="1676400"/>
              <a:chExt cx="2166866" cy="94666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52692" y="1676400"/>
                <a:ext cx="216686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Merchandise Mart</a:t>
                </a:r>
              </a:p>
            </p:txBody>
          </p:sp>
        </p:grpSp>
        <p:cxnSp>
          <p:nvCxnSpPr>
            <p:cNvPr id="80" name="Elbow Connector 79"/>
            <p:cNvCxnSpPr/>
            <p:nvPr/>
          </p:nvCxnSpPr>
          <p:spPr>
            <a:xfrm rot="10800000">
              <a:off x="1095532" y="3429001"/>
              <a:ext cx="1226133" cy="69609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/>
            <p:cNvCxnSpPr/>
            <p:nvPr/>
          </p:nvCxnSpPr>
          <p:spPr>
            <a:xfrm rot="16200000" flipH="1" flipV="1">
              <a:off x="2259953" y="2137600"/>
              <a:ext cx="126978" cy="1998622"/>
            </a:xfrm>
            <a:prstGeom prst="bentConnector4">
              <a:avLst>
                <a:gd name="adj1" fmla="val -180031"/>
                <a:gd name="adj2" fmla="val 5167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85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node costs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486241" y="1600200"/>
            <a:ext cx="6339310" cy="4800600"/>
            <a:chOff x="12101" y="304800"/>
            <a:chExt cx="8452411" cy="6400800"/>
          </a:xfrm>
        </p:grpSpPr>
        <p:grpSp>
          <p:nvGrpSpPr>
            <p:cNvPr id="12" name="Group 11"/>
            <p:cNvGrpSpPr/>
            <p:nvPr/>
          </p:nvGrpSpPr>
          <p:grpSpPr>
            <a:xfrm>
              <a:off x="7538106" y="304800"/>
              <a:ext cx="926406" cy="946666"/>
              <a:chOff x="759818" y="1644134"/>
              <a:chExt cx="926406" cy="94666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914400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9818" y="1644134"/>
                <a:ext cx="92640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Foster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81218" y="2517001"/>
              <a:ext cx="1362163" cy="946666"/>
              <a:chOff x="1416842" y="1644134"/>
              <a:chExt cx="1362163" cy="94666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869322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416842" y="1644134"/>
                <a:ext cx="1362163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State/Lake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809724" y="5422900"/>
              <a:ext cx="1892589" cy="946666"/>
              <a:chOff x="1989828" y="1676400"/>
              <a:chExt cx="1892589" cy="94666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89828" y="1676400"/>
                <a:ext cx="18925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Adams/Wabash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716504" y="4218464"/>
              <a:ext cx="2079030" cy="946666"/>
              <a:chOff x="1896610" y="1676400"/>
              <a:chExt cx="2079030" cy="946666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896610" y="1676400"/>
                <a:ext cx="207903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Madison/Wabash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766999" y="3209667"/>
              <a:ext cx="1978042" cy="946666"/>
              <a:chOff x="1947104" y="1676400"/>
              <a:chExt cx="1978042" cy="946666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947104" y="1676400"/>
                <a:ext cx="197804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err="1"/>
                  <a:t>Randolf</a:t>
                </a:r>
                <a:r>
                  <a:rPr lang="en-US" sz="1200" dirty="0"/>
                  <a:t>/Wabash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7098" y="2517001"/>
              <a:ext cx="1354602" cy="946666"/>
              <a:chOff x="2258822" y="1676400"/>
              <a:chExt cx="1354602" cy="9466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258822" y="1676400"/>
                <a:ext cx="135460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Clark/Lake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050242" y="4707930"/>
              <a:ext cx="1000052" cy="946666"/>
              <a:chOff x="2436097" y="1676400"/>
              <a:chExt cx="1000052" cy="946666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6097" y="1676400"/>
                <a:ext cx="100005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Quincy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393868" y="5758934"/>
              <a:ext cx="992284" cy="946666"/>
              <a:chOff x="2439981" y="1676400"/>
              <a:chExt cx="992284" cy="94666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439981" y="1676400"/>
                <a:ext cx="992284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LaSalle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478474" y="5758934"/>
              <a:ext cx="985860" cy="946666"/>
              <a:chOff x="2443192" y="1676400"/>
              <a:chExt cx="985860" cy="946666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443192" y="1676400"/>
                <a:ext cx="98586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Library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79522" y="3407033"/>
              <a:ext cx="2141489" cy="946666"/>
              <a:chOff x="1865380" y="1676400"/>
              <a:chExt cx="2141489" cy="946666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65380" y="1676400"/>
                <a:ext cx="21414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Washington/Wells</a:t>
                </a:r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flipH="1">
              <a:off x="6756016" y="4156333"/>
              <a:ext cx="1" cy="5515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6756016" y="5165130"/>
              <a:ext cx="2" cy="7472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>
              <a:stCxn id="6" idx="4"/>
              <a:endCxn id="8" idx="0"/>
            </p:cNvCxnSpPr>
            <p:nvPr/>
          </p:nvCxnSpPr>
          <p:spPr>
            <a:xfrm rot="5400000">
              <a:off x="5614293" y="699471"/>
              <a:ext cx="1755001" cy="285899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5400000">
              <a:off x="5924294" y="5645276"/>
              <a:ext cx="107434" cy="155601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/>
            <p:nvPr/>
          </p:nvCxnSpPr>
          <p:spPr>
            <a:xfrm rot="10800000">
              <a:off x="4118610" y="6477000"/>
              <a:ext cx="624195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rot="10800000">
              <a:off x="2550267" y="5654596"/>
              <a:ext cx="1111142" cy="82240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6200000" flipV="1">
              <a:off x="2128418" y="4775546"/>
              <a:ext cx="843697" cy="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/>
            <p:nvPr/>
          </p:nvCxnSpPr>
          <p:spPr>
            <a:xfrm rot="5400000" flipH="1" flipV="1">
              <a:off x="2572315" y="3213016"/>
              <a:ext cx="661432" cy="70553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3712998" y="3235067"/>
              <a:ext cx="1120700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5290898" y="3235067"/>
              <a:ext cx="1465119" cy="464066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12101" y="2482334"/>
              <a:ext cx="2166866" cy="946666"/>
              <a:chOff x="1852692" y="1676400"/>
              <a:chExt cx="2166866" cy="94666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52692" y="1676400"/>
                <a:ext cx="216686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Merchandise Mart</a:t>
                </a:r>
              </a:p>
            </p:txBody>
          </p:sp>
        </p:grpSp>
        <p:cxnSp>
          <p:nvCxnSpPr>
            <p:cNvPr id="80" name="Elbow Connector 79"/>
            <p:cNvCxnSpPr/>
            <p:nvPr/>
          </p:nvCxnSpPr>
          <p:spPr>
            <a:xfrm rot="10800000">
              <a:off x="1095532" y="3429001"/>
              <a:ext cx="1226133" cy="69609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/>
            <p:cNvCxnSpPr/>
            <p:nvPr/>
          </p:nvCxnSpPr>
          <p:spPr>
            <a:xfrm rot="16200000" flipH="1" flipV="1">
              <a:off x="2259953" y="2137600"/>
              <a:ext cx="126978" cy="1998622"/>
            </a:xfrm>
            <a:prstGeom prst="bentConnector4">
              <a:avLst>
                <a:gd name="adj1" fmla="val -180031"/>
                <a:gd name="adj2" fmla="val 5167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7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priority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Foster (0)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Clark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 err="1"/>
              <a:t>Randolf</a:t>
            </a:r>
            <a:r>
              <a:rPr lang="en-US" dirty="0"/>
              <a:t> (∞)</a:t>
            </a:r>
          </a:p>
          <a:p>
            <a:r>
              <a:rPr lang="en-US" dirty="0"/>
              <a:t>State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486241" y="1600200"/>
            <a:ext cx="6339310" cy="4800600"/>
            <a:chOff x="12101" y="304800"/>
            <a:chExt cx="8452411" cy="6400800"/>
          </a:xfrm>
        </p:grpSpPr>
        <p:grpSp>
          <p:nvGrpSpPr>
            <p:cNvPr id="12" name="Group 11"/>
            <p:cNvGrpSpPr/>
            <p:nvPr/>
          </p:nvGrpSpPr>
          <p:grpSpPr>
            <a:xfrm>
              <a:off x="7538106" y="304800"/>
              <a:ext cx="926406" cy="946666"/>
              <a:chOff x="759818" y="1644134"/>
              <a:chExt cx="926406" cy="946666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914400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59818" y="1644134"/>
                <a:ext cx="92640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Foster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81218" y="2517001"/>
              <a:ext cx="1362163" cy="946666"/>
              <a:chOff x="1416842" y="1644134"/>
              <a:chExt cx="1362163" cy="946666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869322" y="2133600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416842" y="1644134"/>
                <a:ext cx="1362163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State/Lake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809724" y="5422900"/>
              <a:ext cx="1892589" cy="946666"/>
              <a:chOff x="1989828" y="1676400"/>
              <a:chExt cx="1892589" cy="94666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989828" y="1676400"/>
                <a:ext cx="18925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Adams/Wabash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5716504" y="4218464"/>
              <a:ext cx="2079030" cy="946666"/>
              <a:chOff x="1896610" y="1676400"/>
              <a:chExt cx="2079030" cy="946666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896610" y="1676400"/>
                <a:ext cx="207903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Madison/Wabash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766999" y="3209667"/>
              <a:ext cx="1978042" cy="946666"/>
              <a:chOff x="1947104" y="1676400"/>
              <a:chExt cx="1978042" cy="946666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947104" y="1676400"/>
                <a:ext cx="197804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err="1"/>
                  <a:t>Randolf</a:t>
                </a:r>
                <a:r>
                  <a:rPr lang="en-US" sz="1200" dirty="0"/>
                  <a:t>/Wabash</a:t>
                </a: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7098" y="2517001"/>
              <a:ext cx="1354602" cy="946666"/>
              <a:chOff x="2258822" y="1676400"/>
              <a:chExt cx="1354602" cy="9466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258822" y="1676400"/>
                <a:ext cx="135460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Clark/Lake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050242" y="4707930"/>
              <a:ext cx="1000052" cy="946666"/>
              <a:chOff x="2436097" y="1676400"/>
              <a:chExt cx="1000052" cy="946666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436097" y="1676400"/>
                <a:ext cx="1000052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Quincy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393868" y="5758934"/>
              <a:ext cx="992284" cy="946666"/>
              <a:chOff x="2439981" y="1676400"/>
              <a:chExt cx="992284" cy="946666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439981" y="1676400"/>
                <a:ext cx="992284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LaSalle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4478474" y="5758934"/>
              <a:ext cx="985860" cy="946666"/>
              <a:chOff x="2443192" y="1676400"/>
              <a:chExt cx="985860" cy="946666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2443192" y="1676400"/>
                <a:ext cx="985860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Library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479522" y="3407033"/>
              <a:ext cx="2141489" cy="946666"/>
              <a:chOff x="1865380" y="1676400"/>
              <a:chExt cx="2141489" cy="946666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865380" y="1676400"/>
                <a:ext cx="2141489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Washington/Wells</a:t>
                </a:r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flipH="1">
              <a:off x="6756016" y="4156333"/>
              <a:ext cx="1" cy="5515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 flipV="1">
              <a:off x="6756016" y="5165130"/>
              <a:ext cx="2" cy="7472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/>
            <p:cNvCxnSpPr>
              <a:stCxn id="6" idx="4"/>
              <a:endCxn id="8" idx="0"/>
            </p:cNvCxnSpPr>
            <p:nvPr/>
          </p:nvCxnSpPr>
          <p:spPr>
            <a:xfrm rot="5400000">
              <a:off x="5614293" y="699471"/>
              <a:ext cx="1755001" cy="285899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/>
            <p:nvPr/>
          </p:nvCxnSpPr>
          <p:spPr>
            <a:xfrm rot="5400000">
              <a:off x="5924294" y="5645276"/>
              <a:ext cx="107434" cy="155601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/>
            <p:nvPr/>
          </p:nvCxnSpPr>
          <p:spPr>
            <a:xfrm rot="10800000">
              <a:off x="4118610" y="6477000"/>
              <a:ext cx="624195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rot="10800000">
              <a:off x="2550267" y="5654596"/>
              <a:ext cx="1111142" cy="82240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/>
            <p:nvPr/>
          </p:nvCxnSpPr>
          <p:spPr>
            <a:xfrm rot="16200000" flipV="1">
              <a:off x="2128418" y="4775546"/>
              <a:ext cx="843697" cy="3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/>
            <p:nvPr/>
          </p:nvCxnSpPr>
          <p:spPr>
            <a:xfrm rot="5400000" flipH="1" flipV="1">
              <a:off x="2572315" y="3213016"/>
              <a:ext cx="661432" cy="70553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/>
            <p:nvPr/>
          </p:nvCxnSpPr>
          <p:spPr>
            <a:xfrm>
              <a:off x="3712998" y="3235067"/>
              <a:ext cx="1120700" cy="158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5290898" y="3235067"/>
              <a:ext cx="1465119" cy="464066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12101" y="2482334"/>
              <a:ext cx="2166866" cy="946666"/>
              <a:chOff x="1852692" y="1676400"/>
              <a:chExt cx="2166866" cy="946666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707522" y="2165866"/>
                <a:ext cx="457200" cy="4572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52692" y="1676400"/>
                <a:ext cx="2166866" cy="44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/>
                  <a:t>Merchandise Mart</a:t>
                </a:r>
              </a:p>
            </p:txBody>
          </p:sp>
        </p:grpSp>
        <p:cxnSp>
          <p:nvCxnSpPr>
            <p:cNvPr id="80" name="Elbow Connector 79"/>
            <p:cNvCxnSpPr/>
            <p:nvPr/>
          </p:nvCxnSpPr>
          <p:spPr>
            <a:xfrm rot="10800000">
              <a:off x="1095532" y="3429001"/>
              <a:ext cx="1226133" cy="69609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/>
            <p:cNvCxnSpPr/>
            <p:nvPr/>
          </p:nvCxnSpPr>
          <p:spPr>
            <a:xfrm rot="16200000" flipH="1" flipV="1">
              <a:off x="2259953" y="2137600"/>
              <a:ext cx="126978" cy="1998622"/>
            </a:xfrm>
            <a:prstGeom prst="bentConnector4">
              <a:avLst>
                <a:gd name="adj1" fmla="val -180031"/>
                <a:gd name="adj2" fmla="val 5167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476338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(Foster)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Clark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 err="1"/>
              <a:t>Randolf</a:t>
            </a:r>
            <a:r>
              <a:rPr lang="en-US" dirty="0"/>
              <a:t> (∞)</a:t>
            </a:r>
          </a:p>
          <a:p>
            <a:r>
              <a:rPr lang="en-US" dirty="0"/>
              <a:t>State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8" idx="0"/>
          </p:cNvCxnSpPr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1683071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State (20)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Clark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 err="1"/>
              <a:t>Randolf</a:t>
            </a:r>
            <a:r>
              <a:rPr lang="en-US" dirty="0"/>
              <a:t>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8" idx="0"/>
          </p:cNvCxnSpPr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006781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(State)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Clark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 err="1"/>
              <a:t>Randolf</a:t>
            </a:r>
            <a:r>
              <a:rPr lang="en-US" dirty="0"/>
              <a:t>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6" idx="4"/>
            <a:endCxn id="8" idx="0"/>
          </p:cNvCxnSpPr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1907071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Clark (21)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Randolf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(21)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29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(Clark)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 err="1"/>
              <a:t>Randolf</a:t>
            </a:r>
            <a:r>
              <a:rPr lang="en-US" dirty="0"/>
              <a:t> (21)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 err="1"/>
              <a:t>Mmart</a:t>
            </a:r>
            <a:r>
              <a:rPr lang="en-US" dirty="0"/>
              <a:t> (∞)</a:t>
            </a:r>
          </a:p>
          <a:p>
            <a:r>
              <a:rPr lang="en-US" dirty="0"/>
              <a:t>Quincy (∞)</a:t>
            </a:r>
          </a:p>
          <a:p>
            <a:r>
              <a:rPr lang="en-US" dirty="0"/>
              <a:t>Washington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028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 err="1"/>
              <a:t>Randolf</a:t>
            </a:r>
            <a:r>
              <a:rPr lang="en-US" dirty="0"/>
              <a:t> (21)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Wash (22)</a:t>
            </a:r>
            <a:endParaRPr lang="en-US" dirty="0"/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Mmart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(23)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/>
              <a:t>Quincy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239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</a:t>
            </a:r>
            <a:r>
              <a:rPr lang="en-US" dirty="0" err="1"/>
              <a:t>Randolf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 err="1"/>
              <a:t>Mmart</a:t>
            </a:r>
            <a:r>
              <a:rPr lang="en-US" dirty="0"/>
              <a:t> (22)</a:t>
            </a:r>
          </a:p>
          <a:p>
            <a:r>
              <a:rPr lang="en-US" dirty="0"/>
              <a:t>Wash (22)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Madison (∞)</a:t>
            </a:r>
          </a:p>
          <a:p>
            <a:r>
              <a:rPr lang="en-US" dirty="0"/>
              <a:t>Quincy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760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Wash (22)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Madison (22)</a:t>
            </a:r>
          </a:p>
          <a:p>
            <a:r>
              <a:rPr lang="en-US" dirty="0" err="1"/>
              <a:t>Mmart</a:t>
            </a:r>
            <a:r>
              <a:rPr lang="en-US" dirty="0"/>
              <a:t> (23)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Quincy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852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(Washington)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Madison (22)</a:t>
            </a:r>
          </a:p>
          <a:p>
            <a:r>
              <a:rPr lang="en-US" dirty="0" err="1"/>
              <a:t>Mmart</a:t>
            </a:r>
            <a:r>
              <a:rPr lang="en-US" dirty="0"/>
              <a:t> (23)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r>
              <a:rPr lang="en-US" dirty="0"/>
              <a:t>Quincy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965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Madison (22)</a:t>
            </a:r>
          </a:p>
          <a:p>
            <a:r>
              <a:rPr lang="en-US" dirty="0" err="1"/>
              <a:t>Mmart</a:t>
            </a:r>
            <a:r>
              <a:rPr lang="en-US" dirty="0"/>
              <a:t> (23)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Quincy (23)</a:t>
            </a:r>
            <a:r>
              <a:rPr lang="en-US" dirty="0"/>
              <a:t> 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687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(Madison)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 err="1"/>
              <a:t>Mmart</a:t>
            </a:r>
            <a:r>
              <a:rPr lang="en-US" dirty="0"/>
              <a:t> (23)</a:t>
            </a:r>
          </a:p>
          <a:p>
            <a:r>
              <a:rPr lang="en-US" dirty="0"/>
              <a:t>Quincy (23) </a:t>
            </a:r>
          </a:p>
          <a:p>
            <a:r>
              <a:rPr lang="en-US" dirty="0"/>
              <a:t>Adams (∞)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706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 err="1"/>
              <a:t>Mmart</a:t>
            </a:r>
            <a:r>
              <a:rPr lang="en-US" dirty="0"/>
              <a:t> (23)</a:t>
            </a:r>
          </a:p>
          <a:p>
            <a:r>
              <a:rPr lang="en-US" dirty="0"/>
              <a:t>Quincy (23) 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Adams (23)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368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</a:t>
            </a:r>
            <a:r>
              <a:rPr lang="en-US" dirty="0" err="1"/>
              <a:t>MMart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Quincy (23) </a:t>
            </a:r>
          </a:p>
          <a:p>
            <a:r>
              <a:rPr lang="en-US" dirty="0"/>
              <a:t>Adams (23)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1808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neighbors (no changes)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Quincy (23) </a:t>
            </a:r>
          </a:p>
          <a:p>
            <a:r>
              <a:rPr lang="en-US" dirty="0"/>
              <a:t>Adams (23)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7030A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min (Quincy)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Adams (23)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3413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Done!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0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Queue:</a:t>
            </a:r>
          </a:p>
          <a:p>
            <a:r>
              <a:rPr lang="en-US" dirty="0"/>
              <a:t>Adams (23)</a:t>
            </a:r>
          </a:p>
          <a:p>
            <a:r>
              <a:rPr lang="en-US" dirty="0"/>
              <a:t>LaSalle (∞)</a:t>
            </a:r>
          </a:p>
          <a:p>
            <a:r>
              <a:rPr lang="en-US" dirty="0"/>
              <a:t>Library (∞)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43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And we have</a:t>
            </a:r>
            <a:br>
              <a:rPr lang="en-US" dirty="0"/>
            </a:br>
            <a:r>
              <a:rPr lang="en-US" dirty="0"/>
              <a:t>our minimum cost path</a:t>
            </a:r>
          </a:p>
        </p:txBody>
      </p:sp>
      <p:sp>
        <p:nvSpPr>
          <p:cNvPr id="6" name="Oval 5"/>
          <p:cNvSpPr/>
          <p:nvPr/>
        </p:nvSpPr>
        <p:spPr>
          <a:xfrm>
            <a:off x="8246683" y="1967300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130746" y="1600200"/>
            <a:ext cx="69480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Foster</a:t>
            </a:r>
          </a:p>
        </p:txBody>
      </p:sp>
      <p:sp>
        <p:nvSpPr>
          <p:cNvPr id="8" name="Oval 7"/>
          <p:cNvSpPr/>
          <p:nvPr/>
        </p:nvSpPr>
        <p:spPr>
          <a:xfrm>
            <a:off x="6102440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763080" y="3259351"/>
            <a:ext cx="102162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State/Lake</a:t>
            </a:r>
          </a:p>
        </p:txBody>
      </p:sp>
      <p:sp>
        <p:nvSpPr>
          <p:cNvPr id="19" name="Oval 18"/>
          <p:cNvSpPr/>
          <p:nvPr/>
        </p:nvSpPr>
        <p:spPr>
          <a:xfrm>
            <a:off x="7372730" y="5805875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834459" y="5438775"/>
            <a:ext cx="141944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Adams/Wabash</a:t>
            </a:r>
          </a:p>
        </p:txBody>
      </p:sp>
      <p:sp>
        <p:nvSpPr>
          <p:cNvPr id="22" name="Oval 21"/>
          <p:cNvSpPr/>
          <p:nvPr/>
        </p:nvSpPr>
        <p:spPr>
          <a:xfrm>
            <a:off x="7372728" y="4902548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64544" y="4535448"/>
            <a:ext cx="155927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Madison/Wabash</a:t>
            </a:r>
          </a:p>
        </p:txBody>
      </p:sp>
      <p:sp>
        <p:nvSpPr>
          <p:cNvPr id="25" name="Oval 24"/>
          <p:cNvSpPr/>
          <p:nvPr/>
        </p:nvSpPr>
        <p:spPr>
          <a:xfrm>
            <a:off x="7372730" y="4145950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802416" y="3778850"/>
            <a:ext cx="148353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/>
              <a:t>Randolf</a:t>
            </a:r>
            <a:r>
              <a:rPr lang="en-US" sz="1200" dirty="0"/>
              <a:t>/Wabash</a:t>
            </a:r>
          </a:p>
        </p:txBody>
      </p:sp>
      <p:sp>
        <p:nvSpPr>
          <p:cNvPr id="34" name="Oval 33"/>
          <p:cNvSpPr/>
          <p:nvPr/>
        </p:nvSpPr>
        <p:spPr>
          <a:xfrm>
            <a:off x="4919014" y="3626451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582489" y="3259351"/>
            <a:ext cx="1015952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Clark/Lake</a:t>
            </a:r>
          </a:p>
        </p:txBody>
      </p:sp>
      <p:sp>
        <p:nvSpPr>
          <p:cNvPr id="37" name="Oval 36"/>
          <p:cNvSpPr/>
          <p:nvPr/>
        </p:nvSpPr>
        <p:spPr>
          <a:xfrm>
            <a:off x="4218416" y="5269648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014847" y="4902548"/>
            <a:ext cx="750039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Quincy</a:t>
            </a:r>
          </a:p>
        </p:txBody>
      </p:sp>
      <p:sp>
        <p:nvSpPr>
          <p:cNvPr id="40" name="Oval 39"/>
          <p:cNvSpPr/>
          <p:nvPr/>
        </p:nvSpPr>
        <p:spPr>
          <a:xfrm>
            <a:off x="5223223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022567" y="5690801"/>
            <a:ext cx="744213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LaSalle</a:t>
            </a:r>
          </a:p>
        </p:txBody>
      </p:sp>
      <p:sp>
        <p:nvSpPr>
          <p:cNvPr id="43" name="Oval 42"/>
          <p:cNvSpPr/>
          <p:nvPr/>
        </p:nvSpPr>
        <p:spPr>
          <a:xfrm>
            <a:off x="6034270" y="6057901"/>
            <a:ext cx="342900" cy="3429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836022" y="5690801"/>
            <a:ext cx="739395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Library</a:t>
            </a:r>
          </a:p>
        </p:txBody>
      </p:sp>
      <p:sp>
        <p:nvSpPr>
          <p:cNvPr id="46" name="Oval 45"/>
          <p:cNvSpPr/>
          <p:nvPr/>
        </p:nvSpPr>
        <p:spPr>
          <a:xfrm>
            <a:off x="4218414" y="4293975"/>
            <a:ext cx="342900" cy="3429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3586807" y="3926875"/>
            <a:ext cx="1606117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Washington/Wells</a:t>
            </a:r>
          </a:p>
        </p:txBody>
      </p:sp>
      <p:cxnSp>
        <p:nvCxnSpPr>
          <p:cNvPr id="61" name="Elbow Connector 60"/>
          <p:cNvCxnSpPr/>
          <p:nvPr/>
        </p:nvCxnSpPr>
        <p:spPr>
          <a:xfrm rot="5400000">
            <a:off x="6920387" y="5605557"/>
            <a:ext cx="80576" cy="1167011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0800000">
            <a:off x="5566124" y="6229350"/>
            <a:ext cx="468146" cy="1191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/>
          <p:cNvCxnSpPr/>
          <p:nvPr/>
        </p:nvCxnSpPr>
        <p:spPr>
          <a:xfrm rot="10800000">
            <a:off x="4389866" y="5612547"/>
            <a:ext cx="833357" cy="61680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127364" y="3600451"/>
            <a:ext cx="342900" cy="3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2486241" y="3233351"/>
            <a:ext cx="1625150" cy="335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Merchandise Mart</a:t>
            </a:r>
          </a:p>
        </p:txBody>
      </p:sp>
      <p:cxnSp>
        <p:nvCxnSpPr>
          <p:cNvPr id="80" name="Elbow Connector 79"/>
          <p:cNvCxnSpPr/>
          <p:nvPr/>
        </p:nvCxnSpPr>
        <p:spPr>
          <a:xfrm rot="10800000">
            <a:off x="3298814" y="3943351"/>
            <a:ext cx="919600" cy="522074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46011" y="2598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4746" y="3410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3384" y="6231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630" y="5084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9932" y="43105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2400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7571" y="58204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2317" y="62324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4086" y="307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99" y="41187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800" y="1752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76800" y="396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3789" y="42807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0731" y="52432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6164" y="3594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4746" y="41327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0532" y="4889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81485" y="57926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03755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14801" y="64008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∞</a:t>
            </a:r>
          </a:p>
        </p:txBody>
      </p:sp>
      <p:cxnSp>
        <p:nvCxnSpPr>
          <p:cNvPr id="76" name="Elbow Connector 75"/>
          <p:cNvCxnSpPr/>
          <p:nvPr/>
        </p:nvCxnSpPr>
        <p:spPr>
          <a:xfrm>
            <a:off x="5261915" y="3797900"/>
            <a:ext cx="840525" cy="1191"/>
          </a:xfrm>
          <a:prstGeom prst="bentConnector3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/>
          <p:nvPr/>
        </p:nvCxnSpPr>
        <p:spPr>
          <a:xfrm>
            <a:off x="6445340" y="3797900"/>
            <a:ext cx="1098840" cy="348050"/>
          </a:xfrm>
          <a:prstGeom prst="bentConnector2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/>
          <p:nvPr/>
        </p:nvCxnSpPr>
        <p:spPr>
          <a:xfrm rot="5400000">
            <a:off x="6687886" y="1896203"/>
            <a:ext cx="1316251" cy="2144243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rot="5400000" flipH="1" flipV="1">
            <a:off x="4406402" y="3781362"/>
            <a:ext cx="496074" cy="529151"/>
          </a:xfrm>
          <a:prstGeom prst="bentConnector2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/>
          <p:cNvCxnSpPr/>
          <p:nvPr/>
        </p:nvCxnSpPr>
        <p:spPr>
          <a:xfrm rot="16200000" flipH="1" flipV="1">
            <a:off x="4172130" y="2974800"/>
            <a:ext cx="95234" cy="1498967"/>
          </a:xfrm>
          <a:prstGeom prst="bentConnector4">
            <a:avLst>
              <a:gd name="adj1" fmla="val -180031"/>
              <a:gd name="adj2" fmla="val 51675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>
            <a:off x="7544179" y="4488850"/>
            <a:ext cx="1" cy="413698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16200000" flipV="1">
            <a:off x="4073479" y="4953259"/>
            <a:ext cx="632773" cy="2"/>
          </a:xfrm>
          <a:prstGeom prst="bentConnector3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 flipV="1">
            <a:off x="7544179" y="5245448"/>
            <a:ext cx="2" cy="5604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4164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long does it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Dijkstra</a:t>
            </a:r>
            <a:r>
              <a:rPr lang="en-US" dirty="0"/>
              <a:t>(G, s, e)</a:t>
            </a:r>
          </a:p>
          <a:p>
            <a:pPr marL="0" indent="0">
              <a:buNone/>
            </a:pPr>
            <a:r>
              <a:rPr lang="en-US" dirty="0"/>
              <a:t>   PQ = new priority queue</a:t>
            </a:r>
          </a:p>
          <a:p>
            <a:pPr marL="0" indent="0">
              <a:buNone/>
            </a:pPr>
            <a:r>
              <a:rPr lang="en-US" dirty="0"/>
              <a:t>   Set all node costs to infinity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s.cost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   for each node n in G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PQ.Insert</a:t>
            </a:r>
            <a:r>
              <a:rPr lang="en-US" dirty="0"/>
              <a:t>(n, </a:t>
            </a:r>
            <a:r>
              <a:rPr lang="en-US" dirty="0" err="1"/>
              <a:t>n.cost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while PQ not empty</a:t>
            </a:r>
          </a:p>
          <a:p>
            <a:pPr marL="0" indent="0">
              <a:buNone/>
            </a:pPr>
            <a:r>
              <a:rPr lang="en-US" dirty="0"/>
              <a:t>       u = </a:t>
            </a:r>
            <a:r>
              <a:rPr lang="en-US" dirty="0" err="1"/>
              <a:t>PQ.ExtractMin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if u == e then done!</a:t>
            </a:r>
          </a:p>
          <a:p>
            <a:pPr marL="0" indent="0">
              <a:buNone/>
            </a:pPr>
            <a:r>
              <a:rPr lang="en-US" dirty="0"/>
              <a:t>       for each neighbor v of u</a:t>
            </a:r>
          </a:p>
          <a:p>
            <a:pPr marL="0" indent="0">
              <a:buNone/>
            </a:pPr>
            <a:r>
              <a:rPr lang="en-US" dirty="0"/>
              <a:t>            w = weight of edge from u to v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newCost</a:t>
            </a:r>
            <a:r>
              <a:rPr lang="en-US" dirty="0"/>
              <a:t> = </a:t>
            </a:r>
            <a:r>
              <a:rPr lang="en-US" dirty="0" err="1"/>
              <a:t>u.cost+v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</a:t>
            </a:r>
            <a:r>
              <a:rPr lang="en-US" dirty="0" err="1"/>
              <a:t>newCost</a:t>
            </a:r>
            <a:r>
              <a:rPr lang="en-US" dirty="0"/>
              <a:t>&lt;</a:t>
            </a:r>
            <a:r>
              <a:rPr lang="en-US" dirty="0" err="1"/>
              <a:t>v.cost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PQ.DecreaseKey</a:t>
            </a:r>
            <a:r>
              <a:rPr lang="en-US" dirty="0"/>
              <a:t>(v, </a:t>
            </a:r>
            <a:r>
              <a:rPr lang="en-US" dirty="0" err="1"/>
              <a:t>newCost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v.cost</a:t>
            </a:r>
            <a:r>
              <a:rPr lang="en-US" dirty="0"/>
              <a:t> = </a:t>
            </a:r>
            <a:r>
              <a:rPr lang="en-US" dirty="0" err="1"/>
              <a:t>newCost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v.predecessor</a:t>
            </a:r>
            <a:r>
              <a:rPr lang="en-US" dirty="0"/>
              <a:t> = u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91200" y="19812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91200" y="22860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91200" y="25908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32004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91200" y="3810000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91200" y="4724400"/>
            <a:ext cx="0" cy="160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91200" y="5867400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5583866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5867400" y="1568301"/>
                <a:ext cx="1524000" cy="5105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r>
                  <a:rPr lang="en-US" sz="2000" dirty="0">
                    <a:latin typeface="+mn-lt"/>
                  </a:rPr>
                  <a:t>Runs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>
                    <a:latin typeface="+mn-lt"/>
                  </a:rPr>
                  <a:t>Once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 err="1">
                    <a:latin typeface="+mn-lt"/>
                  </a:rPr>
                  <a:t>Once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 err="1">
                    <a:latin typeface="+mn-lt"/>
                  </a:rPr>
                  <a:t>Once</a:t>
                </a: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br>
                  <a:rPr lang="en-US" sz="2000" dirty="0">
                    <a:latin typeface="+mn-lt"/>
                  </a:rPr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𝑉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𝑉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𝐸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568301"/>
                <a:ext cx="1524000" cy="5105400"/>
              </a:xfrm>
              <a:prstGeom prst="rect">
                <a:avLst/>
              </a:prstGeom>
              <a:blipFill rotWithShape="1">
                <a:blip r:embed="rId3"/>
                <a:stretch>
                  <a:fillRect l="-4400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65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long does it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Dijkstra</a:t>
            </a:r>
            <a:r>
              <a:rPr lang="en-US" dirty="0"/>
              <a:t>(G, s, e)</a:t>
            </a:r>
          </a:p>
          <a:p>
            <a:pPr marL="0" indent="0">
              <a:buNone/>
            </a:pPr>
            <a:r>
              <a:rPr lang="en-US" dirty="0"/>
              <a:t>   PQ = new priority queue</a:t>
            </a:r>
          </a:p>
          <a:p>
            <a:pPr marL="0" indent="0">
              <a:buNone/>
            </a:pPr>
            <a:r>
              <a:rPr lang="en-US" dirty="0"/>
              <a:t>   Set all node costs to infinity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s.cost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   for each node n in G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PQ.Insert</a:t>
            </a:r>
            <a:r>
              <a:rPr lang="en-US" dirty="0"/>
              <a:t>(n, </a:t>
            </a:r>
            <a:r>
              <a:rPr lang="en-US" dirty="0" err="1"/>
              <a:t>n.cost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while PQ not empty</a:t>
            </a:r>
          </a:p>
          <a:p>
            <a:pPr marL="0" indent="0">
              <a:buNone/>
            </a:pPr>
            <a:r>
              <a:rPr lang="en-US" dirty="0"/>
              <a:t>       u = </a:t>
            </a:r>
            <a:r>
              <a:rPr lang="en-US" dirty="0" err="1"/>
              <a:t>PQ.ExtractMin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if u == e then done!</a:t>
            </a:r>
          </a:p>
          <a:p>
            <a:pPr marL="0" indent="0">
              <a:buNone/>
            </a:pPr>
            <a:r>
              <a:rPr lang="en-US" dirty="0"/>
              <a:t>       for each neighbor v of u</a:t>
            </a:r>
          </a:p>
          <a:p>
            <a:pPr marL="0" indent="0">
              <a:buNone/>
            </a:pPr>
            <a:r>
              <a:rPr lang="en-US" dirty="0"/>
              <a:t>            w = weight of edge from u to v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newCost</a:t>
            </a:r>
            <a:r>
              <a:rPr lang="en-US" dirty="0"/>
              <a:t> = </a:t>
            </a:r>
            <a:r>
              <a:rPr lang="en-US" dirty="0" err="1"/>
              <a:t>u.cost+v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</a:t>
            </a:r>
            <a:r>
              <a:rPr lang="en-US" dirty="0" err="1"/>
              <a:t>newCost</a:t>
            </a:r>
            <a:r>
              <a:rPr lang="en-US" dirty="0"/>
              <a:t>&lt;</a:t>
            </a:r>
            <a:r>
              <a:rPr lang="en-US" dirty="0" err="1"/>
              <a:t>v.cost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PQ.DecreaseKey</a:t>
            </a:r>
            <a:r>
              <a:rPr lang="en-US" dirty="0"/>
              <a:t>(v, </a:t>
            </a:r>
            <a:r>
              <a:rPr lang="en-US" dirty="0" err="1"/>
              <a:t>newCost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v.cost</a:t>
            </a:r>
            <a:r>
              <a:rPr lang="en-US" dirty="0"/>
              <a:t> = </a:t>
            </a:r>
            <a:r>
              <a:rPr lang="en-US" dirty="0" err="1"/>
              <a:t>newCost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v.predecessor</a:t>
            </a:r>
            <a:r>
              <a:rPr lang="en-US" dirty="0"/>
              <a:t> = u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91200" y="19812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91200" y="22860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91200" y="25908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32004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91200" y="4724400"/>
            <a:ext cx="0" cy="76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91200" y="5941831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5651202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5867400" y="1568301"/>
                <a:ext cx="4648200" cy="5105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+mn-lt"/>
                  </a:rPr>
                  <a:t>Time per execution</a:t>
                </a:r>
                <a:br>
                  <a:rPr lang="en-US" sz="2000" dirty="0">
                    <a:latin typeface="+mn-lt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𝑂</m:t>
                      </m:r>
                      <m:r>
                        <a:rPr lang="en-US" sz="2000" b="0" i="1" dirty="0" smtClean="0">
                          <a:latin typeface="Cambria Math"/>
                        </a:rPr>
                        <m:t>(1)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𝑉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br>
                  <a:rPr lang="en-US" sz="2000" dirty="0">
                    <a:latin typeface="+mn-lt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𝑉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568301"/>
                <a:ext cx="4648200" cy="5105400"/>
              </a:xfrm>
              <a:prstGeom prst="rect">
                <a:avLst/>
              </a:prstGeom>
              <a:blipFill rotWithShape="1">
                <a:blip r:embed="rId3"/>
                <a:stretch>
                  <a:fillRect l="-1444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791200" y="3816928"/>
            <a:ext cx="0" cy="138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791200" y="4146699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798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long does it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Dijkstra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(G, s, e)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PQ = new priority queue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Set all node costs to infinity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s.cost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0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for each node n in G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PQ.Insert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(n,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n.cost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while PQ not empty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u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PQ.ExtractMin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if u == e then done!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for each neighbor v of u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w = weight of edge from u to v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newCost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u.cost+v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if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newCost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v.cost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PQ.DecreaseKey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(v,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newCost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v.cost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newCost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            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v.predecessor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= u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91200" y="19812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91200" y="22860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91200" y="25908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32004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91200" y="4724400"/>
            <a:ext cx="0" cy="76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91200" y="5941831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5651202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/>
              <p:cNvSpPr txBox="1">
                <a:spLocks/>
              </p:cNvSpPr>
              <p:nvPr/>
            </p:nvSpPr>
            <p:spPr>
              <a:xfrm>
                <a:off x="5867400" y="1568301"/>
                <a:ext cx="2514600" cy="5105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+mn-lt"/>
                  </a:rPr>
                  <a:t>Time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𝑂</m:t>
                      </m:r>
                      <m:r>
                        <a:rPr lang="en-US" sz="2000" b="0" i="1" dirty="0" smtClean="0">
                          <a:latin typeface="Cambria Math"/>
                        </a:rPr>
                        <m:t>(1)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𝑉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br>
                  <a:rPr lang="en-US" sz="2000" dirty="0">
                    <a:latin typeface="+mn-lt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𝑉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568301"/>
                <a:ext cx="2514600" cy="5105400"/>
              </a:xfrm>
              <a:prstGeom prst="rect">
                <a:avLst/>
              </a:prstGeom>
              <a:blipFill rotWithShape="1">
                <a:blip r:embed="rId3"/>
                <a:stretch>
                  <a:fillRect l="-2670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791200" y="3816928"/>
            <a:ext cx="0" cy="138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791200" y="4146699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91000" y="19812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91000" y="22860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191000" y="25908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191000" y="320040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191000" y="3810000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191000" y="4724400"/>
            <a:ext cx="0" cy="1600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191000" y="5867400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191000" y="5583866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4267200" y="1568301"/>
                <a:ext cx="1524000" cy="5105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r>
                  <a:rPr lang="en-US" sz="2000" dirty="0">
                    <a:latin typeface="+mn-lt"/>
                  </a:rPr>
                  <a:t>Runs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>
                    <a:latin typeface="+mn-lt"/>
                  </a:rPr>
                  <a:t>Once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 err="1">
                    <a:latin typeface="+mn-lt"/>
                  </a:rPr>
                  <a:t>Once</a:t>
                </a:r>
                <a:br>
                  <a:rPr lang="en-US" sz="2000" dirty="0">
                    <a:latin typeface="+mn-lt"/>
                  </a:rPr>
                </a:br>
                <a:r>
                  <a:rPr lang="en-US" sz="2000" dirty="0" err="1">
                    <a:latin typeface="+mn-lt"/>
                  </a:rPr>
                  <a:t>Once</a:t>
                </a: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br>
                  <a:rPr lang="en-US" sz="2000" dirty="0">
                    <a:latin typeface="+mn-lt"/>
                  </a:rPr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𝑉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𝑉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𝑂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𝐸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+mn-lt"/>
                  </a:rPr>
                  <a:t> times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568301"/>
                <a:ext cx="1524000" cy="5105400"/>
              </a:xfrm>
              <a:prstGeom prst="rect">
                <a:avLst/>
              </a:prstGeom>
              <a:blipFill rotWithShape="1">
                <a:blip r:embed="rId4"/>
                <a:stretch>
                  <a:fillRect l="-4000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/>
          <p:nvPr/>
        </p:nvCxnSpPr>
        <p:spPr>
          <a:xfrm>
            <a:off x="7086600" y="1979431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086600" y="2284231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086600" y="2589031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086600" y="3198631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086600" y="4722631"/>
            <a:ext cx="0" cy="762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086600" y="5940062"/>
            <a:ext cx="0" cy="533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086600" y="5649433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ontent Placeholder 2"/>
              <p:cNvSpPr txBox="1">
                <a:spLocks/>
              </p:cNvSpPr>
              <p:nvPr/>
            </p:nvSpPr>
            <p:spPr>
              <a:xfrm>
                <a:off x="7162800" y="1566532"/>
                <a:ext cx="2514600" cy="51054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otenay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+mn-lt"/>
                  </a:rPr>
                  <a:t>Total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𝑂</m:t>
                      </m:r>
                      <m:r>
                        <a:rPr lang="en-US" sz="2000" b="0" i="1" dirty="0" smtClean="0">
                          <a:latin typeface="Cambria Math"/>
                        </a:rPr>
                        <m:t>(1)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𝑉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(1)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/>
                            </a:rPr>
                            <m:t>Vlog</m:t>
                          </m:r>
                        </m:fName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𝑉</m:t>
                          </m:r>
                          <m:func>
                            <m:func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𝑉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𝑉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Elog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𝑉</m:t>
                          </m:r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spcBef>
                    <a:spcPts val="0"/>
                  </a:spcBef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𝑂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566532"/>
                <a:ext cx="2514600" cy="5105400"/>
              </a:xfrm>
              <a:prstGeom prst="rect">
                <a:avLst/>
              </a:prstGeom>
              <a:blipFill rotWithShape="1">
                <a:blip r:embed="rId5"/>
                <a:stretch>
                  <a:fillRect l="-2421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/>
          <p:nvPr/>
        </p:nvCxnSpPr>
        <p:spPr>
          <a:xfrm>
            <a:off x="7086600" y="3815159"/>
            <a:ext cx="0" cy="138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086600" y="4144930"/>
            <a:ext cx="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65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does it take?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𝑶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𝑶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𝑶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𝑬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/>
                        </a:rPr>
                        <m:t>𝑽</m:t>
                      </m:r>
                      <m:func>
                        <m:func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)+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𝑶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𝑬</m:t>
                          </m:r>
                          <m:func>
                            <m:funcPr>
                              <m:ctrlP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𝑽</m:t>
                              </m:r>
                              <m:r>
                                <a:rPr lang="en-US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b="0" i="0" smtClean="0">
                                      <a:latin typeface="Cambria Math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func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𝑬</m:t>
                          </m:r>
                        </m:e>
                      </m:d>
                      <m:func>
                        <m:func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func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6922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Searching for a path</a:t>
            </a:r>
            <a:br>
              <a:rPr lang="en-US" dirty="0"/>
            </a:br>
            <a:r>
              <a:rPr lang="en-US" dirty="0"/>
              <a:t>in a 4-connected grid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44922"/>
            <a:ext cx="6619875" cy="4732078"/>
          </a:xfrm>
        </p:spPr>
      </p:pic>
      <p:sp>
        <p:nvSpPr>
          <p:cNvPr id="6" name="TextBox 5"/>
          <p:cNvSpPr txBox="1"/>
          <p:nvPr/>
        </p:nvSpPr>
        <p:spPr>
          <a:xfrm>
            <a:off x="335281" y="6477000"/>
            <a:ext cx="6522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http://theory.stanford.edu/~amitp/GameProgramming/AStarComparison.html</a:t>
            </a:r>
          </a:p>
        </p:txBody>
      </p:sp>
    </p:spTree>
    <p:extLst>
      <p:ext uri="{BB962C8B-B14F-4D97-AF65-F5344CB8AC3E}">
        <p14:creationId xmlns:p14="http://schemas.microsoft.com/office/powerpoint/2010/main" val="4411145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 does a lot of useless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Dijkstra’s algorithm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blind search </a:t>
            </a:r>
            <a:r>
              <a:rPr lang="en-US" dirty="0"/>
              <a:t>algorithm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exhaustively </a:t>
            </a:r>
            <a:r>
              <a:rPr lang="en-US" dirty="0"/>
              <a:t>explores nodes in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increasing order of distance</a:t>
            </a:r>
          </a:p>
          <a:p>
            <a:pPr lvl="1"/>
            <a:r>
              <a:rPr lang="en-US" dirty="0"/>
              <a:t>Even if they’re in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opposite direction </a:t>
            </a:r>
            <a:r>
              <a:rPr lang="en-US" dirty="0"/>
              <a:t>from the goal!</a:t>
            </a:r>
          </a:p>
          <a:p>
            <a:r>
              <a:rPr lang="en-US" dirty="0"/>
              <a:t>Is there some way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biasing </a:t>
            </a:r>
            <a:r>
              <a:rPr lang="en-US" dirty="0"/>
              <a:t>the search toward more productive nodes?</a:t>
            </a:r>
          </a:p>
          <a:p>
            <a:pPr lvl="1"/>
            <a:r>
              <a:rPr lang="en-US" dirty="0"/>
              <a:t>Search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more promising</a:t>
            </a:r>
            <a:r>
              <a:rPr lang="en-US" dirty="0"/>
              <a:t> nodes first</a:t>
            </a:r>
          </a:p>
        </p:txBody>
      </p:sp>
    </p:spTree>
    <p:extLst>
      <p:ext uri="{BB962C8B-B14F-4D97-AF65-F5344CB8AC3E}">
        <p14:creationId xmlns:p14="http://schemas.microsoft.com/office/powerpoint/2010/main" val="41365611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 err="1"/>
                  <a:t>Dijsktra’s</a:t>
                </a:r>
                <a:r>
                  <a:rPr lang="en-US" dirty="0"/>
                  <a:t> algorithm sorts the queue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distance from the start node</a:t>
                </a:r>
              </a:p>
              <a:p>
                <a:pPr lvl="1"/>
                <a:r>
                  <a:rPr lang="en-US" dirty="0"/>
                  <a:t>And so searches in order of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increasing distance from start</a:t>
                </a:r>
              </a:p>
              <a:p>
                <a:r>
                  <a:rPr lang="en-US" dirty="0"/>
                  <a:t>Suppose you had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estimate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v’s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distance from the goal</a:t>
                </a:r>
              </a:p>
              <a:p>
                <a:pPr lvl="1"/>
                <a:r>
                  <a:rPr lang="en-US" dirty="0"/>
                  <a:t>Called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heuristic function</a:t>
                </a:r>
              </a:p>
              <a:p>
                <a:r>
                  <a:rPr lang="en-US" dirty="0"/>
                  <a:t>You could sort the priority queue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estimated total distance</a:t>
                </a:r>
              </a:p>
              <a:p>
                <a:pPr lvl="1"/>
                <a:r>
                  <a:rPr lang="en-US" dirty="0"/>
                  <a:t>(Known)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distance from start + estimated distance </a:t>
                </a:r>
                <a:r>
                  <a:rPr lang="en-US" dirty="0"/>
                  <a:t>to the goal</a:t>
                </a:r>
              </a:p>
              <a:p>
                <a:pPr lvl="1"/>
                <a:r>
                  <a:rPr lang="en-US" dirty="0"/>
                  <a:t>I.e.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</a:rPr>
                  <a:t>dist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[v]+h(v)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59" t="-2156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4900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Identical to Dijkstra, but uses </a:t>
                </a:r>
                <a:r>
                  <a:rPr lang="en-US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dist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[v]+h(v) </a:t>
                </a:r>
                <a:r>
                  <a:rPr lang="en-US" dirty="0"/>
                  <a:t>as the priority in the queue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Guaranteed to find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optimal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path provided that h(v)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never overestimates </a:t>
                </a:r>
                <a:r>
                  <a:rPr lang="en-US" dirty="0"/>
                  <a:t>the distance of v to the goal</a:t>
                </a:r>
              </a:p>
              <a:p>
                <a:pPr lvl="1"/>
                <a:r>
                  <a:rPr lang="en-US" dirty="0"/>
                  <a:t>The proof is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basically the same </a:t>
                </a:r>
                <a:r>
                  <a:rPr lang="en-US" dirty="0"/>
                  <a:t>as for Dijkstra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Standard algorithm used for computing paths in space (e.g. Google Maps)</a:t>
                </a:r>
              </a:p>
              <a:p>
                <a:pPr lvl="1"/>
                <a:r>
                  <a:rPr lang="en-US" dirty="0"/>
                  <a:t>Use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spatial distance </a:t>
                </a:r>
                <a:r>
                  <a:rPr lang="en-US" dirty="0"/>
                  <a:t>as heuristic function, i.e.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position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position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goal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3504" r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15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A* is way more efficient</a:t>
            </a:r>
            <a:br>
              <a:rPr lang="en-US" dirty="0"/>
            </a:br>
            <a:r>
              <a:rPr lang="en-US" sz="1800" dirty="0"/>
              <a:t>(when your problem has a heuristic function)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00200"/>
            <a:ext cx="6467475" cy="4623138"/>
          </a:xfrm>
        </p:spPr>
      </p:pic>
    </p:spTree>
    <p:extLst>
      <p:ext uri="{BB962C8B-B14F-4D97-AF65-F5344CB8AC3E}">
        <p14:creationId xmlns:p14="http://schemas.microsoft.com/office/powerpoint/2010/main" val="34324299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 chapter 24.3 (</a:t>
            </a:r>
            <a:r>
              <a:rPr lang="en-US"/>
              <a:t>Dijkstra’s Algorithm)</a:t>
            </a:r>
          </a:p>
        </p:txBody>
      </p:sp>
    </p:spTree>
    <p:extLst>
      <p:ext uri="{BB962C8B-B14F-4D97-AF65-F5344CB8AC3E}">
        <p14:creationId xmlns:p14="http://schemas.microsoft.com/office/powerpoint/2010/main" val="3159839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6823</TotalTime>
  <Words>4872</Words>
  <Application>Microsoft Office PowerPoint</Application>
  <PresentationFormat>On-screen Show (4:3)</PresentationFormat>
  <Paragraphs>1481</Paragraphs>
  <Slides>60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 Math</vt:lpstr>
      <vt:lpstr>Kootenay</vt:lpstr>
      <vt:lpstr>Office Theme</vt:lpstr>
      <vt:lpstr>Lecture 15 Applications of priority queues: Shortest paths in weighted graphs</vt:lpstr>
      <vt:lpstr>Priority queues</vt:lpstr>
      <vt:lpstr>Priority queues</vt:lpstr>
      <vt:lpstr>Heaps</vt:lpstr>
      <vt:lpstr>Heaps</vt:lpstr>
      <vt:lpstr>Binary heaps</vt:lpstr>
      <vt:lpstr>Embedding in an array</vt:lpstr>
      <vt:lpstr>Embedding in an array</vt:lpstr>
      <vt:lpstr>Heap insertion using the array representation</vt:lpstr>
      <vt:lpstr>Extracting an element</vt:lpstr>
      <vt:lpstr>Extracting an element</vt:lpstr>
      <vt:lpstr>Hamster apocalypse</vt:lpstr>
      <vt:lpstr>Route planning revisited</vt:lpstr>
      <vt:lpstr>Route planning revisited</vt:lpstr>
      <vt:lpstr>Breadth-first search for path finding</vt:lpstr>
      <vt:lpstr>Route planning revisited</vt:lpstr>
      <vt:lpstr>Path finding with edge costs</vt:lpstr>
      <vt:lpstr>Dijkstra’s least-cost path algorithm</vt:lpstr>
      <vt:lpstr>Wait a minute… decrease key?</vt:lpstr>
      <vt:lpstr>Implementing DecreaseKey</vt:lpstr>
      <vt:lpstr>Implementing DecreaseKey</vt:lpstr>
      <vt:lpstr>Implementing DecreaseKey</vt:lpstr>
      <vt:lpstr>Proving correctness</vt:lpstr>
      <vt:lpstr>Invariants</vt:lpstr>
      <vt:lpstr>Proof</vt:lpstr>
      <vt:lpstr>Proof</vt:lpstr>
      <vt:lpstr>Proof</vt:lpstr>
      <vt:lpstr>Proof</vt:lpstr>
      <vt:lpstr>Proof</vt:lpstr>
      <vt:lpstr>Proof</vt:lpstr>
      <vt:lpstr>Running Dijkstra’s algorithm</vt:lpstr>
      <vt:lpstr>Initialize node costs</vt:lpstr>
      <vt:lpstr>Initialize priority queue</vt:lpstr>
      <vt:lpstr>Extract min (Foster)</vt:lpstr>
      <vt:lpstr>Update neighbors</vt:lpstr>
      <vt:lpstr>Extract min (State)</vt:lpstr>
      <vt:lpstr>Update neighbors</vt:lpstr>
      <vt:lpstr>Extract min (Clark)</vt:lpstr>
      <vt:lpstr>Update neighbors</vt:lpstr>
      <vt:lpstr>Extract min (Randolf)</vt:lpstr>
      <vt:lpstr>Update neighbors</vt:lpstr>
      <vt:lpstr>Extract min (Washington)</vt:lpstr>
      <vt:lpstr>Update neighbors</vt:lpstr>
      <vt:lpstr>Extract min (Madison)</vt:lpstr>
      <vt:lpstr>Update neighbors</vt:lpstr>
      <vt:lpstr>Extract min (MMart)</vt:lpstr>
      <vt:lpstr>Update neighbors (no changes)</vt:lpstr>
      <vt:lpstr>Extract min (Quincy)</vt:lpstr>
      <vt:lpstr>Done!</vt:lpstr>
      <vt:lpstr>And we have our minimum cost path</vt:lpstr>
      <vt:lpstr>How long does it take?</vt:lpstr>
      <vt:lpstr>How long does it take?</vt:lpstr>
      <vt:lpstr>How long does it take?</vt:lpstr>
      <vt:lpstr>How long does it take?</vt:lpstr>
      <vt:lpstr>Searching for a path in a 4-connected grid</vt:lpstr>
      <vt:lpstr>Dijkstra does a lot of useless searching</vt:lpstr>
      <vt:lpstr>Heuristic search</vt:lpstr>
      <vt:lpstr>A* search</vt:lpstr>
      <vt:lpstr>A* is way more efficient (when your problem has a heuristic function)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274</cp:revision>
  <cp:lastPrinted>2010-06-04T14:52:17Z</cp:lastPrinted>
  <dcterms:created xsi:type="dcterms:W3CDTF">2010-03-27T22:31:10Z</dcterms:created>
  <dcterms:modified xsi:type="dcterms:W3CDTF">2023-04-06T04:13:29Z</dcterms:modified>
</cp:coreProperties>
</file>